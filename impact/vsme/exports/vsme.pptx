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3.jpeg" ContentType="image/jpeg"/>
  <Override PartName="/ppt/media/image4.png" ContentType="image/png"/>
  <Override PartName="/ppt/media/image12.jpeg" ContentType="image/jpeg"/>
  <Override PartName="/ppt/media/image5.svg" ContentType="image/svg"/>
  <Override PartName="/ppt/media/image9.svg" ContentType="image/svg"/>
  <Override PartName="/ppt/media/image11.svg" ContentType="image/svg"/>
  <Override PartName="/ppt/media/image19.png" ContentType="image/png"/>
  <Override PartName="/ppt/media/image2.png" ContentType="image/png"/>
  <Override PartName="/ppt/media/image18.png" ContentType="image/png"/>
  <Override PartName="/ppt/media/image15.jpeg" ContentType="image/jpeg"/>
  <Override PartName="/ppt/media/image16.png" ContentType="image/png"/>
  <Override PartName="/ppt/media/image14.jpeg" ContentType="image/jpeg"/>
  <Override PartName="/ppt/media/image3.png" ContentType="image/png"/>
  <Override PartName="/ppt/media/image1.jpeg" ContentType="image/jpeg"/>
  <Override PartName="/ppt/media/image6.png" ContentType="image/png"/>
  <Override PartName="/ppt/media/image10.png" ContentType="image/png"/>
  <Override PartName="/ppt/media/image17.png" ContentType="image/png"/>
  <Override PartName="/ppt/media/image8.png" ContentType="image/png"/>
  <Override PartName="/ppt/media/image7.svg" ContentType="image/svg"/>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4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60.xml" ContentType="application/vnd.openxmlformats-officedocument.presentationml.slide+xml"/>
  <Override PartName="/ppt/slides/slide18.xml" ContentType="application/vnd.openxmlformats-officedocument.presentationml.slide+xml"/>
  <Override PartName="/ppt/slides/slide61.xml" ContentType="application/vnd.openxmlformats-officedocument.presentationml.slide+xml"/>
  <Override PartName="/ppt/slides/slide19.xml" ContentType="application/vnd.openxmlformats-officedocument.presentationml.slide+xml"/>
  <Override PartName="/ppt/slides/slide62.xml" ContentType="application/vnd.openxmlformats-officedocument.presentationml.slide+xml"/>
  <Override PartName="/ppt/slides/slide26.xml" ContentType="application/vnd.openxmlformats-officedocument.presentationml.slide+xml"/>
  <Override PartName="/ppt/slides/slide63.xml" ContentType="application/vnd.openxmlformats-officedocument.presentationml.slide+xml"/>
  <Override PartName="/ppt/slides/slide27.xml" ContentType="application/vnd.openxmlformats-officedocument.presentationml.slide+xml"/>
  <Override PartName="/ppt/slides/slide64.xml" ContentType="application/vnd.openxmlformats-officedocument.presentationml.slide+xml"/>
  <Override PartName="/ppt/slides/slide77.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65.xml" ContentType="application/vnd.openxmlformats-officedocument.presentationml.slide+xml"/>
  <Override PartName="/ppt/slides/slide76.xml" ContentType="application/vnd.openxmlformats-officedocument.presentationml.slide+xml"/>
  <Override PartName="/ppt/slides/slide75.xml" ContentType="application/vnd.openxmlformats-officedocument.presentationml.slide+xml"/>
  <Override PartName="/ppt/slides/slide74.xml" ContentType="application/vnd.openxmlformats-officedocument.presentationml.slide+xml"/>
  <Override PartName="/ppt/slides/slide73.xml" ContentType="application/vnd.openxmlformats-officedocument.presentationml.slide+xml"/>
  <Override PartName="/ppt/slides/slide72.xml" ContentType="application/vnd.openxmlformats-officedocument.presentationml.slide+xml"/>
  <Override PartName="/ppt/slides/_rels/slide34.xml.rels" ContentType="application/vnd.openxmlformats-package.relationships+xml"/>
  <Override PartName="/ppt/slides/_rels/slide33.xml.rels" ContentType="application/vnd.openxmlformats-package.relationships+xml"/>
  <Override PartName="/ppt/slides/_rels/slide13.xml.rels" ContentType="application/vnd.openxmlformats-package.relationships+xml"/>
  <Override PartName="/ppt/slides/_rels/slide59.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49.xml.rels" ContentType="application/vnd.openxmlformats-package.relationships+xml"/>
  <Override PartName="/ppt/slides/_rels/slide12.xml.rels" ContentType="application/vnd.openxmlformats-package.relationships+xml"/>
  <Override PartName="/ppt/slides/_rels/slide5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48.xml.rels" ContentType="application/vnd.openxmlformats-package.relationships+xml"/>
  <Override PartName="/ppt/slides/_rels/slide11.xml.rels" ContentType="application/vnd.openxmlformats-package.relationships+xml"/>
  <Override PartName="/ppt/slides/_rels/slide57.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47.xml.rels" ContentType="application/vnd.openxmlformats-package.relationships+xml"/>
  <Override PartName="/ppt/slides/_rels/slide60.xml.rels" ContentType="application/vnd.openxmlformats-package.relationships+xml"/>
  <Override PartName="/ppt/slides/_rels/slide18.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61.xml.rels" ContentType="application/vnd.openxmlformats-package.relationships+xml"/>
  <Override PartName="/ppt/slides/_rels/slide19.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46.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37.xml.rels" ContentType="application/vnd.openxmlformats-package.relationships+xml"/>
  <Override PartName="/ppt/slides/_rels/slide56.xml.rels" ContentType="application/vnd.openxmlformats-package.relationships+xml"/>
  <Override PartName="/ppt/slides/_rels/slide2.xml.rels" ContentType="application/vnd.openxmlformats-package.relationships+xml"/>
  <Override PartName="/ppt/slides/_rels/slide44.xml.rels" ContentType="application/vnd.openxmlformats-package.relationships+xml"/>
  <Override PartName="/ppt/slides/_rels/slide55.xml.rels" ContentType="application/vnd.openxmlformats-package.relationships+xml"/>
  <Override PartName="/ppt/slides/_rels/slide43.xml.rels" ContentType="application/vnd.openxmlformats-package.relationships+xml"/>
  <Override PartName="/ppt/slides/_rels/slide54.xml.rels" ContentType="application/vnd.openxmlformats-package.relationships+xml"/>
  <Override PartName="/ppt/slides/_rels/slide42.xml.rels" ContentType="application/vnd.openxmlformats-package.relationships+xml"/>
  <Override PartName="/ppt/slides/_rels/slide16.xml.rels" ContentType="application/vnd.openxmlformats-package.relationships+xml"/>
  <Override PartName="/ppt/slides/_rels/slide53.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15.xml.rels" ContentType="application/vnd.openxmlformats-package.relationships+xml"/>
  <Override PartName="/ppt/slides/_rels/slide52.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77.xml.rels" ContentType="application/vnd.openxmlformats-package.relationships+xml"/>
  <Override PartName="/ppt/slides/_rels/slide14.xml.rels" ContentType="application/vnd.openxmlformats-package.relationships+xml"/>
  <Override PartName="/ppt/slides/_rels/slide51.xml.rels" ContentType="application/vnd.openxmlformats-package.relationships+xml"/>
  <Override PartName="/ppt/slides/_rels/slide50.xml.rels" ContentType="application/vnd.openxmlformats-package.relationships+xml"/>
  <Override PartName="/ppt/slides/_rels/slide45.xml.rels" ContentType="application/vnd.openxmlformats-package.relationships+xml"/>
  <Override PartName="/ppt/slides/_rels/slide62.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63.xml.rels" ContentType="application/vnd.openxmlformats-package.relationships+xml"/>
  <Override PartName="/ppt/slides/_rels/slide27.xml.rels" ContentType="application/vnd.openxmlformats-package.relationships+xml"/>
  <Override PartName="/ppt/slides/_rels/slide64.xml.rels" ContentType="application/vnd.openxmlformats-package.relationships+xml"/>
  <Override PartName="/ppt/slides/_rels/slide28.xml.rels" ContentType="application/vnd.openxmlformats-package.relationships+xml"/>
  <Override PartName="/ppt/slides/_rels/slide70.xml.rels" ContentType="application/vnd.openxmlformats-package.relationships+xml"/>
  <Override PartName="/ppt/slides/_rels/slide65.xml.rels" ContentType="application/vnd.openxmlformats-package.relationships+xml"/>
  <Override PartName="/ppt/slides/_rels/slide76.xml.rels" ContentType="application/vnd.openxmlformats-package.relationships+xml"/>
  <Override PartName="/ppt/slides/_rels/slide75.xml.rels" ContentType="application/vnd.openxmlformats-package.relationships+xml"/>
  <Override PartName="/ppt/slides/_rels/slide74.xml.rels" ContentType="application/vnd.openxmlformats-package.relationships+xml"/>
  <Override PartName="/ppt/slides/_rels/slide73.xml.rels" ContentType="application/vnd.openxmlformats-package.relationships+xml"/>
  <Override PartName="/ppt/slides/_rels/slide72.xml.rels" ContentType="application/vnd.openxmlformats-package.relationships+xml"/>
  <Override PartName="/ppt/slides/_rels/slide71.xml.rels" ContentType="application/vnd.openxmlformats-package.relationships+xml"/>
  <Override PartName="/ppt/slides/_rels/slide1.xml.rels" ContentType="application/vnd.openxmlformats-package.relationships+xml"/>
  <Override PartName="/ppt/slides/_rels/slide29.xml.rels" ContentType="application/vnd.openxmlformats-package.relationships+xml"/>
  <Override PartName="/ppt/slides/_rels/slide69.xml.rels" ContentType="application/vnd.openxmlformats-package.relationships+xml"/>
  <Override PartName="/ppt/slides/_rels/slide32.xml.rels" ContentType="application/vnd.openxmlformats-package.relationships+xml"/>
  <Override PartName="/ppt/slides/_rels/slide68.xml.rels" ContentType="application/vnd.openxmlformats-package.relationships+xml"/>
  <Override PartName="/ppt/slides/_rels/slide31.xml.rels" ContentType="application/vnd.openxmlformats-package.relationships+xml"/>
  <Override PartName="/ppt/slides/_rels/slide67.xml.rels" ContentType="application/vnd.openxmlformats-package.relationships+xml"/>
  <Override PartName="/ppt/slides/_rels/slide30.xml.rels" ContentType="application/vnd.openxmlformats-package.relationships+xml"/>
  <Override PartName="/ppt/slides/_rels/slide66.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slide71.xml" ContentType="application/vnd.openxmlformats-officedocument.presentationml.slide+xml"/>
  <Override PartName="/ppt/slides/slide29.xml" ContentType="application/vnd.openxmlformats-officedocument.presentationml.slide+xml"/>
  <Override PartName="/ppt/slides/slide69.xml" ContentType="application/vnd.openxmlformats-officedocument.presentationml.slide+xml"/>
  <Override PartName="/ppt/slides/slide32.xml" ContentType="application/vnd.openxmlformats-officedocument.presentationml.slide+xml"/>
  <Override PartName="/ppt/slides/slide68.xml" ContentType="application/vnd.openxmlformats-officedocument.presentationml.slide+xml"/>
  <Override PartName="/ppt/slides/slide31.xml" ContentType="application/vnd.openxmlformats-officedocument.presentationml.slide+xml"/>
  <Override PartName="/ppt/slides/slide67.xml" ContentType="application/vnd.openxmlformats-officedocument.presentationml.slide+xml"/>
  <Override PartName="/ppt/slides/slide30.xml" ContentType="application/vnd.openxmlformats-officedocument.presentationml.slide+xml"/>
  <Override PartName="/ppt/slides/slide66.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Slides/_rels/notesSlide77.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7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Lst>
  <p:sldSz cx="7559675" cy="10691813"/>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fr-FR" sz="4400" spc="-1" strike="noStrike">
                <a:solidFill>
                  <a:srgbClr val="000000"/>
                </a:solidFill>
                <a:latin typeface="Arial"/>
              </a:rPr>
              <a:t>C</a:t>
            </a:r>
            <a:r>
              <a:rPr b="0" lang="fr-FR" sz="4400" spc="-1" strike="noStrike">
                <a:solidFill>
                  <a:srgbClr val="000000"/>
                </a:solidFill>
                <a:latin typeface="Arial"/>
              </a:rPr>
              <a:t>li</a:t>
            </a:r>
            <a:r>
              <a:rPr b="0" lang="fr-FR" sz="4400" spc="-1" strike="noStrike">
                <a:solidFill>
                  <a:srgbClr val="000000"/>
                </a:solidFill>
                <a:latin typeface="Arial"/>
              </a:rPr>
              <a:t>q</a:t>
            </a:r>
            <a:r>
              <a:rPr b="0" lang="fr-FR" sz="4400" spc="-1" strike="noStrike">
                <a:solidFill>
                  <a:srgbClr val="000000"/>
                </a:solidFill>
                <a:latin typeface="Arial"/>
              </a:rPr>
              <a:t>u</a:t>
            </a:r>
            <a:r>
              <a:rPr b="0" lang="fr-FR" sz="4400" spc="-1" strike="noStrike">
                <a:solidFill>
                  <a:srgbClr val="000000"/>
                </a:solidFill>
                <a:latin typeface="Arial"/>
              </a:rPr>
              <a:t>e</a:t>
            </a:r>
            <a:r>
              <a:rPr b="0" lang="fr-FR" sz="4400" spc="-1" strike="noStrike">
                <a:solidFill>
                  <a:srgbClr val="000000"/>
                </a:solidFill>
                <a:latin typeface="Arial"/>
              </a:rPr>
              <a:t>z </a:t>
            </a:r>
            <a:r>
              <a:rPr b="0" lang="fr-FR" sz="4400" spc="-1" strike="noStrike">
                <a:solidFill>
                  <a:srgbClr val="000000"/>
                </a:solidFill>
                <a:latin typeface="Arial"/>
              </a:rPr>
              <a:t>p</a:t>
            </a:r>
            <a:r>
              <a:rPr b="0" lang="fr-FR" sz="4400" spc="-1" strike="noStrike">
                <a:solidFill>
                  <a:srgbClr val="000000"/>
                </a:solidFill>
                <a:latin typeface="Arial"/>
              </a:rPr>
              <a:t>o</a:t>
            </a:r>
            <a:r>
              <a:rPr b="0" lang="fr-FR" sz="4400" spc="-1" strike="noStrike">
                <a:solidFill>
                  <a:srgbClr val="000000"/>
                </a:solidFill>
                <a:latin typeface="Arial"/>
              </a:rPr>
              <a:t>u</a:t>
            </a:r>
            <a:r>
              <a:rPr b="0" lang="fr-FR" sz="4400" spc="-1" strike="noStrike">
                <a:solidFill>
                  <a:srgbClr val="000000"/>
                </a:solidFill>
                <a:latin typeface="Arial"/>
              </a:rPr>
              <a:t>r </a:t>
            </a:r>
            <a:r>
              <a:rPr b="0" lang="fr-FR" sz="4400" spc="-1" strike="noStrike">
                <a:solidFill>
                  <a:srgbClr val="000000"/>
                </a:solidFill>
                <a:latin typeface="Arial"/>
              </a:rPr>
              <a:t>d</a:t>
            </a:r>
            <a:r>
              <a:rPr b="0" lang="fr-FR" sz="4400" spc="-1" strike="noStrike">
                <a:solidFill>
                  <a:srgbClr val="000000"/>
                </a:solidFill>
                <a:latin typeface="Arial"/>
              </a:rPr>
              <a:t>é</a:t>
            </a:r>
            <a:r>
              <a:rPr b="0" lang="fr-FR" sz="4400" spc="-1" strike="noStrike">
                <a:solidFill>
                  <a:srgbClr val="000000"/>
                </a:solidFill>
                <a:latin typeface="Arial"/>
              </a:rPr>
              <a:t>p</a:t>
            </a:r>
            <a:r>
              <a:rPr b="0" lang="fr-FR" sz="4400" spc="-1" strike="noStrike">
                <a:solidFill>
                  <a:srgbClr val="000000"/>
                </a:solidFill>
                <a:latin typeface="Arial"/>
              </a:rPr>
              <a:t>l</a:t>
            </a:r>
            <a:r>
              <a:rPr b="0" lang="fr-FR" sz="4400" spc="-1" strike="noStrike">
                <a:solidFill>
                  <a:srgbClr val="000000"/>
                </a:solidFill>
                <a:latin typeface="Arial"/>
              </a:rPr>
              <a:t>a</a:t>
            </a:r>
            <a:r>
              <a:rPr b="0" lang="fr-FR" sz="4400" spc="-1" strike="noStrike">
                <a:solidFill>
                  <a:srgbClr val="000000"/>
                </a:solidFill>
                <a:latin typeface="Arial"/>
              </a:rPr>
              <a:t>c</a:t>
            </a:r>
            <a:r>
              <a:rPr b="0" lang="fr-FR" sz="4400" spc="-1" strike="noStrike">
                <a:solidFill>
                  <a:srgbClr val="000000"/>
                </a:solidFill>
                <a:latin typeface="Arial"/>
              </a:rPr>
              <a:t>e</a:t>
            </a:r>
            <a:r>
              <a:rPr b="0" lang="fr-FR" sz="4400" spc="-1" strike="noStrike">
                <a:solidFill>
                  <a:srgbClr val="000000"/>
                </a:solidFill>
                <a:latin typeface="Arial"/>
              </a:rPr>
              <a:t>r </a:t>
            </a:r>
            <a:r>
              <a:rPr b="0" lang="fr-FR" sz="4400" spc="-1" strike="noStrike">
                <a:solidFill>
                  <a:srgbClr val="000000"/>
                </a:solidFill>
                <a:latin typeface="Arial"/>
              </a:rPr>
              <a:t>l</a:t>
            </a:r>
            <a:r>
              <a:rPr b="0" lang="fr-FR" sz="4400" spc="-1" strike="noStrike">
                <a:solidFill>
                  <a:srgbClr val="000000"/>
                </a:solidFill>
                <a:latin typeface="Arial"/>
              </a:rPr>
              <a:t>a </a:t>
            </a:r>
            <a:r>
              <a:rPr b="0" lang="fr-FR" sz="4400" spc="-1" strike="noStrike">
                <a:solidFill>
                  <a:srgbClr val="000000"/>
                </a:solidFill>
                <a:latin typeface="Arial"/>
              </a:rPr>
              <a:t>d</a:t>
            </a:r>
            <a:r>
              <a:rPr b="0" lang="fr-FR" sz="4400" spc="-1" strike="noStrike">
                <a:solidFill>
                  <a:srgbClr val="000000"/>
                </a:solidFill>
                <a:latin typeface="Arial"/>
              </a:rPr>
              <a:t>i</a:t>
            </a:r>
            <a:r>
              <a:rPr b="0" lang="fr-FR" sz="4400" spc="-1" strike="noStrike">
                <a:solidFill>
                  <a:srgbClr val="000000"/>
                </a:solidFill>
                <a:latin typeface="Arial"/>
              </a:rPr>
              <a:t>a</a:t>
            </a:r>
            <a:r>
              <a:rPr b="0" lang="fr-FR" sz="4400" spc="-1" strike="noStrike">
                <a:solidFill>
                  <a:srgbClr val="000000"/>
                </a:solidFill>
                <a:latin typeface="Arial"/>
              </a:rPr>
              <a:t>p</a:t>
            </a:r>
            <a:r>
              <a:rPr b="0" lang="fr-FR" sz="4400" spc="-1" strike="noStrike">
                <a:solidFill>
                  <a:srgbClr val="000000"/>
                </a:solidFill>
                <a:latin typeface="Arial"/>
              </a:rPr>
              <a:t>o</a:t>
            </a:r>
            <a:endParaRPr b="0" lang="fr-FR" sz="4400" spc="-1" strike="noStrike">
              <a:solidFill>
                <a:srgbClr val="000000"/>
              </a:solidFill>
              <a:latin typeface="Arial"/>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fr-FR" sz="2000" spc="-1" strike="noStrike">
                <a:solidFill>
                  <a:srgbClr val="000000"/>
                </a:solidFill>
                <a:latin typeface="Arial"/>
              </a:rPr>
              <a:t>Cli</a:t>
            </a:r>
            <a:r>
              <a:rPr b="0" lang="fr-FR" sz="2000" spc="-1" strike="noStrike">
                <a:solidFill>
                  <a:srgbClr val="000000"/>
                </a:solidFill>
                <a:latin typeface="Arial"/>
              </a:rPr>
              <a:t>q</a:t>
            </a:r>
            <a:r>
              <a:rPr b="0" lang="fr-FR" sz="2000" spc="-1" strike="noStrike">
                <a:solidFill>
                  <a:srgbClr val="000000"/>
                </a:solidFill>
                <a:latin typeface="Arial"/>
              </a:rPr>
              <a:t>u</a:t>
            </a:r>
            <a:r>
              <a:rPr b="0" lang="fr-FR" sz="2000" spc="-1" strike="noStrike">
                <a:solidFill>
                  <a:srgbClr val="000000"/>
                </a:solidFill>
                <a:latin typeface="Arial"/>
              </a:rPr>
              <a:t>e</a:t>
            </a:r>
            <a:r>
              <a:rPr b="0" lang="fr-FR" sz="2000" spc="-1" strike="noStrike">
                <a:solidFill>
                  <a:srgbClr val="000000"/>
                </a:solidFill>
                <a:latin typeface="Arial"/>
              </a:rPr>
              <a:t>z</a:t>
            </a:r>
            <a:r>
              <a:rPr b="0" lang="fr-FR" sz="2000" spc="-1" strike="noStrike">
                <a:solidFill>
                  <a:srgbClr val="000000"/>
                </a:solidFill>
                <a:latin typeface="Arial"/>
              </a:rPr>
              <a:t> </a:t>
            </a:r>
            <a:r>
              <a:rPr b="0" lang="fr-FR" sz="2000" spc="-1" strike="noStrike">
                <a:solidFill>
                  <a:srgbClr val="000000"/>
                </a:solidFill>
                <a:latin typeface="Arial"/>
              </a:rPr>
              <a:t>p</a:t>
            </a:r>
            <a:r>
              <a:rPr b="0" lang="fr-FR" sz="2000" spc="-1" strike="noStrike">
                <a:solidFill>
                  <a:srgbClr val="000000"/>
                </a:solidFill>
                <a:latin typeface="Arial"/>
              </a:rPr>
              <a:t>o</a:t>
            </a:r>
            <a:r>
              <a:rPr b="0" lang="fr-FR" sz="2000" spc="-1" strike="noStrike">
                <a:solidFill>
                  <a:srgbClr val="000000"/>
                </a:solidFill>
                <a:latin typeface="Arial"/>
              </a:rPr>
              <a:t>u</a:t>
            </a:r>
            <a:r>
              <a:rPr b="0" lang="fr-FR" sz="2000" spc="-1" strike="noStrike">
                <a:solidFill>
                  <a:srgbClr val="000000"/>
                </a:solidFill>
                <a:latin typeface="Arial"/>
              </a:rPr>
              <a:t>r </a:t>
            </a:r>
            <a:r>
              <a:rPr b="0" lang="fr-FR" sz="2000" spc="-1" strike="noStrike">
                <a:solidFill>
                  <a:srgbClr val="000000"/>
                </a:solidFill>
                <a:latin typeface="Arial"/>
              </a:rPr>
              <a:t>m</a:t>
            </a:r>
            <a:r>
              <a:rPr b="0" lang="fr-FR" sz="2000" spc="-1" strike="noStrike">
                <a:solidFill>
                  <a:srgbClr val="000000"/>
                </a:solidFill>
                <a:latin typeface="Arial"/>
              </a:rPr>
              <a:t>o</a:t>
            </a:r>
            <a:r>
              <a:rPr b="0" lang="fr-FR" sz="2000" spc="-1" strike="noStrike">
                <a:solidFill>
                  <a:srgbClr val="000000"/>
                </a:solidFill>
                <a:latin typeface="Arial"/>
              </a:rPr>
              <a:t>d</a:t>
            </a:r>
            <a:r>
              <a:rPr b="0" lang="fr-FR" sz="2000" spc="-1" strike="noStrike">
                <a:solidFill>
                  <a:srgbClr val="000000"/>
                </a:solidFill>
                <a:latin typeface="Arial"/>
              </a:rPr>
              <a:t>i</a:t>
            </a:r>
            <a:r>
              <a:rPr b="0" lang="fr-FR" sz="2000" spc="-1" strike="noStrike">
                <a:solidFill>
                  <a:srgbClr val="000000"/>
                </a:solidFill>
                <a:latin typeface="Arial"/>
              </a:rPr>
              <a:t>f</a:t>
            </a:r>
            <a:r>
              <a:rPr b="0" lang="fr-FR" sz="2000" spc="-1" strike="noStrike">
                <a:solidFill>
                  <a:srgbClr val="000000"/>
                </a:solidFill>
                <a:latin typeface="Arial"/>
              </a:rPr>
              <a:t>i</a:t>
            </a:r>
            <a:r>
              <a:rPr b="0" lang="fr-FR" sz="2000" spc="-1" strike="noStrike">
                <a:solidFill>
                  <a:srgbClr val="000000"/>
                </a:solidFill>
                <a:latin typeface="Arial"/>
              </a:rPr>
              <a:t>e</a:t>
            </a:r>
            <a:r>
              <a:rPr b="0" lang="fr-FR" sz="2000" spc="-1" strike="noStrike">
                <a:solidFill>
                  <a:srgbClr val="000000"/>
                </a:solidFill>
                <a:latin typeface="Arial"/>
              </a:rPr>
              <a:t>r </a:t>
            </a:r>
            <a:r>
              <a:rPr b="0" lang="fr-FR" sz="2000" spc="-1" strike="noStrike">
                <a:solidFill>
                  <a:srgbClr val="000000"/>
                </a:solidFill>
                <a:latin typeface="Arial"/>
              </a:rPr>
              <a:t>l</a:t>
            </a:r>
            <a:r>
              <a:rPr b="0" lang="fr-FR" sz="2000" spc="-1" strike="noStrike">
                <a:solidFill>
                  <a:srgbClr val="000000"/>
                </a:solidFill>
                <a:latin typeface="Arial"/>
              </a:rPr>
              <a:t>e</a:t>
            </a:r>
            <a:r>
              <a:rPr b="0" lang="fr-FR" sz="2000" spc="-1" strike="noStrike">
                <a:solidFill>
                  <a:srgbClr val="000000"/>
                </a:solidFill>
                <a:latin typeface="Arial"/>
              </a:rPr>
              <a:t> </a:t>
            </a:r>
            <a:r>
              <a:rPr b="0" lang="fr-FR" sz="2000" spc="-1" strike="noStrike">
                <a:solidFill>
                  <a:srgbClr val="000000"/>
                </a:solidFill>
                <a:latin typeface="Arial"/>
              </a:rPr>
              <a:t>f</a:t>
            </a:r>
            <a:r>
              <a:rPr b="0" lang="fr-FR" sz="2000" spc="-1" strike="noStrike">
                <a:solidFill>
                  <a:srgbClr val="000000"/>
                </a:solidFill>
                <a:latin typeface="Arial"/>
              </a:rPr>
              <a:t>o</a:t>
            </a:r>
            <a:r>
              <a:rPr b="0" lang="fr-FR" sz="2000" spc="-1" strike="noStrike">
                <a:solidFill>
                  <a:srgbClr val="000000"/>
                </a:solidFill>
                <a:latin typeface="Arial"/>
              </a:rPr>
              <a:t>r</a:t>
            </a:r>
            <a:r>
              <a:rPr b="0" lang="fr-FR" sz="2000" spc="-1" strike="noStrike">
                <a:solidFill>
                  <a:srgbClr val="000000"/>
                </a:solidFill>
                <a:latin typeface="Arial"/>
              </a:rPr>
              <a:t>m</a:t>
            </a:r>
            <a:r>
              <a:rPr b="0" lang="fr-FR" sz="2000" spc="-1" strike="noStrike">
                <a:solidFill>
                  <a:srgbClr val="000000"/>
                </a:solidFill>
                <a:latin typeface="Arial"/>
              </a:rPr>
              <a:t>a</a:t>
            </a:r>
            <a:r>
              <a:rPr b="0" lang="fr-FR" sz="2000" spc="-1" strike="noStrike">
                <a:solidFill>
                  <a:srgbClr val="000000"/>
                </a:solidFill>
                <a:latin typeface="Arial"/>
              </a:rPr>
              <a:t>t </a:t>
            </a:r>
            <a:r>
              <a:rPr b="0" lang="fr-FR" sz="2000" spc="-1" strike="noStrike">
                <a:solidFill>
                  <a:srgbClr val="000000"/>
                </a:solidFill>
                <a:latin typeface="Arial"/>
              </a:rPr>
              <a:t>d</a:t>
            </a:r>
            <a:r>
              <a:rPr b="0" lang="fr-FR" sz="2000" spc="-1" strike="noStrike">
                <a:solidFill>
                  <a:srgbClr val="000000"/>
                </a:solidFill>
                <a:latin typeface="Arial"/>
              </a:rPr>
              <a:t>e</a:t>
            </a:r>
            <a:r>
              <a:rPr b="0" lang="fr-FR" sz="2000" spc="-1" strike="noStrike">
                <a:solidFill>
                  <a:srgbClr val="000000"/>
                </a:solidFill>
                <a:latin typeface="Arial"/>
              </a:rPr>
              <a:t>s</a:t>
            </a:r>
            <a:r>
              <a:rPr b="0" lang="fr-FR" sz="2000" spc="-1" strike="noStrike">
                <a:solidFill>
                  <a:srgbClr val="000000"/>
                </a:solidFill>
                <a:latin typeface="Arial"/>
              </a:rPr>
              <a:t> </a:t>
            </a:r>
            <a:r>
              <a:rPr b="0" lang="fr-FR" sz="2000" spc="-1" strike="noStrike">
                <a:solidFill>
                  <a:srgbClr val="000000"/>
                </a:solidFill>
                <a:latin typeface="Arial"/>
              </a:rPr>
              <a:t>n</a:t>
            </a:r>
            <a:r>
              <a:rPr b="0" lang="fr-FR" sz="2000" spc="-1" strike="noStrike">
                <a:solidFill>
                  <a:srgbClr val="000000"/>
                </a:solidFill>
                <a:latin typeface="Arial"/>
              </a:rPr>
              <a:t>o</a:t>
            </a:r>
            <a:r>
              <a:rPr b="0" lang="fr-FR" sz="2000" spc="-1" strike="noStrike">
                <a:solidFill>
                  <a:srgbClr val="000000"/>
                </a:solidFill>
                <a:latin typeface="Arial"/>
              </a:rPr>
              <a:t>t</a:t>
            </a:r>
            <a:r>
              <a:rPr b="0" lang="fr-FR" sz="2000" spc="-1" strike="noStrike">
                <a:solidFill>
                  <a:srgbClr val="000000"/>
                </a:solidFill>
                <a:latin typeface="Arial"/>
              </a:rPr>
              <a:t>e</a:t>
            </a:r>
            <a:r>
              <a:rPr b="0" lang="fr-FR" sz="2000" spc="-1" strike="noStrike">
                <a:solidFill>
                  <a:srgbClr val="000000"/>
                </a:solidFill>
                <a:latin typeface="Arial"/>
              </a:rPr>
              <a:t>s</a:t>
            </a:r>
            <a:endParaRPr b="0" lang="fr-FR" sz="2000" spc="-1" strike="noStrike">
              <a:solidFill>
                <a:srgbClr val="000000"/>
              </a:solidFill>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fr-FR" sz="1400" spc="-1" strike="noStrike">
                <a:solidFill>
                  <a:srgbClr val="000000"/>
                </a:solidFill>
                <a:latin typeface="Times New Roman"/>
              </a:rPr>
              <a:t>&lt;en-tête&gt;</a:t>
            </a:r>
            <a:endParaRPr b="0" lang="fr-FR" sz="1400" spc="-1" strike="noStrike">
              <a:solidFill>
                <a:srgbClr val="000000"/>
              </a:solidFill>
              <a:latin typeface="Times New Roman"/>
            </a:endParaRPr>
          </a:p>
        </p:txBody>
      </p:sp>
      <p:sp>
        <p:nvSpPr>
          <p:cNvPr id="7" name="PlaceHolder 4"/>
          <p:cNvSpPr>
            <a:spLocks noGrp="1"/>
          </p:cNvSpPr>
          <p:nvPr>
            <p:ph type="dt" idx="3"/>
          </p:nvPr>
        </p:nvSpPr>
        <p:spPr>
          <a:xfrm>
            <a:off x="4278960" y="0"/>
            <a:ext cx="3280680" cy="534240"/>
          </a:xfrm>
          <a:prstGeom prst="rect">
            <a:avLst/>
          </a:prstGeom>
          <a:noFill/>
          <a:ln w="0">
            <a:noFill/>
          </a:ln>
        </p:spPr>
        <p:txBody>
          <a:bodyPr lIns="0" rIns="0" tIns="0" bIns="0" anchor="t">
            <a:noAutofit/>
          </a:bodyPr>
          <a:lstStyle>
            <a:lvl1pPr indent="0" algn="r">
              <a:buNone/>
              <a:defRPr b="0" lang="fr-FR" sz="1400" spc="-1" strike="noStrike">
                <a:solidFill>
                  <a:srgbClr val="000000"/>
                </a:solidFill>
                <a:latin typeface="Times New Roman"/>
              </a:defRPr>
            </a:lvl1pPr>
          </a:lstStyle>
          <a:p>
            <a:pPr indent="0" algn="r">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
        <p:nvSpPr>
          <p:cNvPr id="8" name="PlaceHolder 5"/>
          <p:cNvSpPr>
            <a:spLocks noGrp="1"/>
          </p:cNvSpPr>
          <p:nvPr>
            <p:ph type="ftr" idx="4"/>
          </p:nvPr>
        </p:nvSpPr>
        <p:spPr>
          <a:xfrm>
            <a:off x="0" y="10157400"/>
            <a:ext cx="3280680" cy="534240"/>
          </a:xfrm>
          <a:prstGeom prst="rect">
            <a:avLst/>
          </a:prstGeom>
          <a:noFill/>
          <a:ln w="0">
            <a:noFill/>
          </a:ln>
        </p:spPr>
        <p:txBody>
          <a:bodyPr lIns="0" rIns="0" tIns="0" bIns="0" anchor="b">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9" name="PlaceHolder 6"/>
          <p:cNvSpPr>
            <a:spLocks noGrp="1"/>
          </p:cNvSpPr>
          <p:nvPr>
            <p:ph type="sldNum" idx="5"/>
          </p:nvPr>
        </p:nvSpPr>
        <p:spPr>
          <a:xfrm>
            <a:off x="4278960" y="10157400"/>
            <a:ext cx="3280680" cy="534240"/>
          </a:xfrm>
          <a:prstGeom prst="rect">
            <a:avLst/>
          </a:prstGeom>
          <a:noFill/>
          <a:ln w="0">
            <a:noFill/>
          </a:ln>
        </p:spPr>
        <p:txBody>
          <a:bodyPr lIns="0" rIns="0" tIns="0" bIns="0" anchor="b">
            <a:noAutofit/>
          </a:bodyPr>
          <a:lstStyle>
            <a:lvl1pPr indent="0" algn="r">
              <a:buNone/>
              <a:defRPr b="0" lang="fr-FR" sz="1400" spc="-1" strike="noStrike">
                <a:solidFill>
                  <a:srgbClr val="000000"/>
                </a:solidFill>
                <a:latin typeface="Times New Roman"/>
              </a:defRPr>
            </a:lvl1pPr>
          </a:lstStyle>
          <a:p>
            <a:pPr indent="0" algn="r">
              <a:buNone/>
            </a:pPr>
            <a:fld id="{C3B542A3-313B-4EE1-8AE0-30539B7B5CF7}"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1" name="PlaceHolder 1"/>
          <p:cNvSpPr>
            <a:spLocks noGrp="1"/>
          </p:cNvSpPr>
          <p:nvPr>
            <p:ph type="sldImg"/>
          </p:nvPr>
        </p:nvSpPr>
        <p:spPr>
          <a:xfrm>
            <a:off x="2338560" y="1143000"/>
            <a:ext cx="2176560" cy="3081600"/>
          </a:xfrm>
          <a:prstGeom prst="rect">
            <a:avLst/>
          </a:prstGeom>
          <a:ln w="0">
            <a:noFill/>
          </a:ln>
        </p:spPr>
      </p:sp>
      <p:sp>
        <p:nvSpPr>
          <p:cNvPr id="922" name="PlaceHolder 2"/>
          <p:cNvSpPr>
            <a:spLocks noGrp="1"/>
          </p:cNvSpPr>
          <p:nvPr>
            <p:ph type="body"/>
          </p:nvPr>
        </p:nvSpPr>
        <p:spPr>
          <a:xfrm>
            <a:off x="685800" y="4400640"/>
            <a:ext cx="5481720" cy="359568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923" name="PlaceHolder 3"/>
          <p:cNvSpPr>
            <a:spLocks noGrp="1"/>
          </p:cNvSpPr>
          <p:nvPr>
            <p:ph type="sldNum" idx="6"/>
          </p:nvPr>
        </p:nvSpPr>
        <p:spPr>
          <a:xfrm>
            <a:off x="3884760" y="8685360"/>
            <a:ext cx="2967120" cy="4539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FR" sz="1200" spc="-1" strike="noStrike">
                <a:solidFill>
                  <a:srgbClr val="000000"/>
                </a:solidFill>
                <a:latin typeface="Times New Roman"/>
              </a:defRPr>
            </a:lvl1pPr>
          </a:lstStyle>
          <a:p>
            <a:pPr indent="0" algn="r">
              <a:lnSpc>
                <a:spcPct val="100000"/>
              </a:lnSpc>
              <a:buNone/>
              <a:tabLst>
                <a:tab algn="l" pos="0"/>
              </a:tabLst>
            </a:pPr>
            <a:fld id="{B424BDAA-F3EB-40AA-9E47-D14F658948DC}" type="slidenum">
              <a:rPr b="0" lang="fr-FR"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4" name="PlaceHolder 1"/>
          <p:cNvSpPr>
            <a:spLocks noGrp="1"/>
          </p:cNvSpPr>
          <p:nvPr>
            <p:ph type="sldImg"/>
          </p:nvPr>
        </p:nvSpPr>
        <p:spPr>
          <a:xfrm>
            <a:off x="2338560" y="1143000"/>
            <a:ext cx="2176560" cy="3081600"/>
          </a:xfrm>
          <a:prstGeom prst="rect">
            <a:avLst/>
          </a:prstGeom>
          <a:ln w="0">
            <a:noFill/>
          </a:ln>
        </p:spPr>
      </p:sp>
      <p:sp>
        <p:nvSpPr>
          <p:cNvPr id="925" name="PlaceHolder 2"/>
          <p:cNvSpPr>
            <a:spLocks noGrp="1"/>
          </p:cNvSpPr>
          <p:nvPr>
            <p:ph type="body"/>
          </p:nvPr>
        </p:nvSpPr>
        <p:spPr>
          <a:xfrm>
            <a:off x="685800" y="4400640"/>
            <a:ext cx="5481720" cy="359568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926" name="PlaceHolder 3"/>
          <p:cNvSpPr>
            <a:spLocks noGrp="1"/>
          </p:cNvSpPr>
          <p:nvPr>
            <p:ph type="sldNum" idx="7"/>
          </p:nvPr>
        </p:nvSpPr>
        <p:spPr>
          <a:xfrm>
            <a:off x="3884760" y="8685360"/>
            <a:ext cx="2967120" cy="4539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fr-FR" sz="1200" spc="-1" strike="noStrike">
                <a:solidFill>
                  <a:srgbClr val="000000"/>
                </a:solidFill>
                <a:latin typeface="Times New Roman"/>
              </a:defRPr>
            </a:lvl1pPr>
          </a:lstStyle>
          <a:p>
            <a:pPr indent="0" algn="r">
              <a:lnSpc>
                <a:spcPct val="100000"/>
              </a:lnSpc>
              <a:buNone/>
              <a:tabLst>
                <a:tab algn="l" pos="0"/>
              </a:tabLst>
            </a:pPr>
            <a:fld id="{73703073-590A-407D-8F23-DB468B677D0A}" type="slidenum">
              <a:rPr b="0" lang="fr-FR"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FEA2BC27-5638-48E8-BECD-16F652F221F9}"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ftr" idx="1"/>
          </p:nvPr>
        </p:nvSpPr>
        <p:spPr>
          <a:xfrm>
            <a:off x="133200" y="10363320"/>
            <a:ext cx="2546640" cy="206280"/>
          </a:xfrm>
          <a:prstGeom prst="rect">
            <a:avLst/>
          </a:prstGeom>
          <a:noFill/>
          <a:ln w="0">
            <a:noFill/>
          </a:ln>
        </p:spPr>
        <p:txBody>
          <a:bodyPr lIns="90000" rIns="90000" tIns="45000" bIns="45000" anchor="t">
            <a:noAutofit/>
          </a:bodyPr>
          <a:lstStyle>
            <a:lvl1pPr indent="0" defTabSz="457200">
              <a:lnSpc>
                <a:spcPct val="100000"/>
              </a:lnSpc>
              <a:buNone/>
              <a:tabLst>
                <a:tab algn="l" pos="0"/>
              </a:tabLst>
              <a:defRPr b="0" lang="fr-FR" sz="700" spc="-1" strike="noStrike">
                <a:solidFill>
                  <a:schemeClr val="lt1">
                    <a:lumMod val="65000"/>
                  </a:schemeClr>
                </a:solidFill>
                <a:latin typeface="Marianne Light"/>
              </a:defRPr>
            </a:lvl1pPr>
          </a:lstStyle>
          <a:p>
            <a:pPr indent="0" defTabSz="457200">
              <a:lnSpc>
                <a:spcPct val="100000"/>
              </a:lnSpc>
              <a:buNone/>
              <a:tabLst>
                <a:tab algn="l" pos="0"/>
              </a:tabLst>
            </a:pPr>
            <a:r>
              <a:rPr b="0" lang="fr-FR" sz="700" spc="-1" strike="noStrike">
                <a:solidFill>
                  <a:schemeClr val="lt1">
                    <a:lumMod val="65000"/>
                  </a:schemeClr>
                </a:solidFill>
                <a:latin typeface="Marianne Light"/>
              </a:rPr>
              <a:t>&lt;pied de page&gt;</a:t>
            </a:r>
            <a:endParaRPr b="0" lang="fr-FR" sz="700" spc="-1" strike="noStrike">
              <a:solidFill>
                <a:srgbClr val="000000"/>
              </a:solidFill>
              <a:latin typeface="Times New Roman"/>
            </a:endParaRPr>
          </a:p>
        </p:txBody>
      </p:sp>
      <p:sp>
        <p:nvSpPr>
          <p:cNvPr id="1" name="PlaceHolder 2"/>
          <p:cNvSpPr>
            <a:spLocks noGrp="1"/>
          </p:cNvSpPr>
          <p:nvPr>
            <p:ph type="sldNum" idx="2"/>
          </p:nvPr>
        </p:nvSpPr>
        <p:spPr>
          <a:xfrm>
            <a:off x="4597560" y="10363320"/>
            <a:ext cx="2824200" cy="187560"/>
          </a:xfrm>
          <a:prstGeom prst="rect">
            <a:avLst/>
          </a:prstGeom>
          <a:noFill/>
          <a:ln w="0">
            <a:noFill/>
          </a:ln>
        </p:spPr>
        <p:txBody>
          <a:bodyPr lIns="90000" rIns="90000" tIns="45000" bIns="45000" anchor="t">
            <a:noAutofit/>
          </a:bodyPr>
          <a:lstStyle>
            <a:lvl1pPr indent="0" algn="r" defTabSz="457200">
              <a:lnSpc>
                <a:spcPct val="100000"/>
              </a:lnSpc>
              <a:buNone/>
              <a:tabLst>
                <a:tab algn="l" pos="0"/>
              </a:tabLst>
              <a:defRPr b="0" lang="en-FR" sz="700" spc="-1" strike="noStrike">
                <a:solidFill>
                  <a:schemeClr val="lt1">
                    <a:lumMod val="65000"/>
                  </a:schemeClr>
                </a:solidFill>
                <a:latin typeface="Marianne Light"/>
              </a:defRPr>
            </a:lvl1pPr>
          </a:lstStyle>
          <a:p>
            <a:pPr indent="0" algn="r" defTabSz="457200">
              <a:lnSpc>
                <a:spcPct val="100000"/>
              </a:lnSpc>
              <a:buNone/>
              <a:tabLst>
                <a:tab algn="l" pos="0"/>
              </a:tabLst>
            </a:pPr>
            <a:fld id="{49D3CE37-8B86-46F0-AFA5-7302B1AE844D}" type="slidenum">
              <a:rPr b="0" lang="en-FR" sz="700" spc="-1" strike="noStrike">
                <a:solidFill>
                  <a:schemeClr val="lt1">
                    <a:lumMod val="65000"/>
                  </a:schemeClr>
                </a:solidFill>
                <a:latin typeface="Marianne Light"/>
              </a:rPr>
              <a:t>&lt;numéro&gt;</a:t>
            </a:fld>
            <a:endParaRPr b="0" lang="fr-FR" sz="700" spc="-1" strike="noStrike">
              <a:solidFill>
                <a:srgbClr val="000000"/>
              </a:solidFill>
              <a:latin typeface="Times New Roman"/>
            </a:endParaRPr>
          </a:p>
        </p:txBody>
      </p:sp>
      <p:sp>
        <p:nvSpPr>
          <p:cNvPr id="2" name="PlaceHolder 3"/>
          <p:cNvSpPr>
            <a:spLocks noGrp="1"/>
          </p:cNvSpPr>
          <p:nvPr>
            <p:ph type="title"/>
          </p:nvPr>
        </p:nvSpPr>
        <p:spPr>
          <a:xfrm>
            <a:off x="377640" y="426240"/>
            <a:ext cx="6803280" cy="178488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a:t>
            </a:r>
            <a:r>
              <a:rPr b="0" lang="fr-FR" sz="4400" spc="-1" strike="noStrike">
                <a:solidFill>
                  <a:srgbClr val="000000"/>
                </a:solidFill>
                <a:latin typeface="Arial"/>
              </a:rPr>
              <a:t>qu</a:t>
            </a:r>
            <a:r>
              <a:rPr b="0" lang="fr-FR" sz="4400" spc="-1" strike="noStrike">
                <a:solidFill>
                  <a:srgbClr val="000000"/>
                </a:solidFill>
                <a:latin typeface="Arial"/>
              </a:rPr>
              <a:t>ez </a:t>
            </a:r>
            <a:r>
              <a:rPr b="0" lang="fr-FR" sz="4400" spc="-1" strike="noStrike">
                <a:solidFill>
                  <a:srgbClr val="000000"/>
                </a:solidFill>
                <a:latin typeface="Arial"/>
              </a:rPr>
              <a:t>po</a:t>
            </a:r>
            <a:r>
              <a:rPr b="0" lang="fr-FR" sz="4400" spc="-1" strike="noStrike">
                <a:solidFill>
                  <a:srgbClr val="000000"/>
                </a:solidFill>
                <a:latin typeface="Arial"/>
              </a:rPr>
              <a:t>ur </a:t>
            </a:r>
            <a:r>
              <a:rPr b="0" lang="fr-FR" sz="4400" spc="-1" strike="noStrike">
                <a:solidFill>
                  <a:srgbClr val="000000"/>
                </a:solidFill>
                <a:latin typeface="Arial"/>
              </a:rPr>
              <a:t>édi</a:t>
            </a:r>
            <a:r>
              <a:rPr b="0" lang="fr-FR" sz="4400" spc="-1" strike="noStrike">
                <a:solidFill>
                  <a:srgbClr val="000000"/>
                </a:solidFill>
                <a:latin typeface="Arial"/>
              </a:rPr>
              <a:t>ter </a:t>
            </a:r>
            <a:r>
              <a:rPr b="0" lang="fr-FR" sz="4400" spc="-1" strike="noStrike">
                <a:solidFill>
                  <a:srgbClr val="000000"/>
                </a:solidFill>
                <a:latin typeface="Arial"/>
              </a:rPr>
              <a:t>le </a:t>
            </a:r>
            <a:r>
              <a:rPr b="0" lang="fr-FR" sz="4400" spc="-1" strike="noStrike">
                <a:solidFill>
                  <a:srgbClr val="000000"/>
                </a:solidFill>
                <a:latin typeface="Arial"/>
              </a:rPr>
              <a:t>for</a:t>
            </a:r>
            <a:r>
              <a:rPr b="0" lang="fr-FR" sz="4400" spc="-1" strike="noStrike">
                <a:solidFill>
                  <a:srgbClr val="000000"/>
                </a:solidFill>
                <a:latin typeface="Arial"/>
              </a:rPr>
              <a:t>ma</a:t>
            </a:r>
            <a:r>
              <a:rPr b="0" lang="fr-FR" sz="4400" spc="-1" strike="noStrike">
                <a:solidFill>
                  <a:srgbClr val="000000"/>
                </a:solidFill>
                <a:latin typeface="Arial"/>
              </a:rPr>
              <a:t>t </a:t>
            </a:r>
            <a:r>
              <a:rPr b="0" lang="fr-FR" sz="4400" spc="-1" strike="noStrike">
                <a:solidFill>
                  <a:srgbClr val="000000"/>
                </a:solidFill>
                <a:latin typeface="Arial"/>
              </a:rPr>
              <a:t>du </a:t>
            </a:r>
            <a:r>
              <a:rPr b="0" lang="fr-FR" sz="4400" spc="-1" strike="noStrike">
                <a:solidFill>
                  <a:srgbClr val="000000"/>
                </a:solidFill>
                <a:latin typeface="Arial"/>
              </a:rPr>
              <a:t>tex</a:t>
            </a:r>
            <a:r>
              <a:rPr b="0" lang="fr-FR" sz="4400" spc="-1" strike="noStrike">
                <a:solidFill>
                  <a:srgbClr val="000000"/>
                </a:solidFill>
                <a:latin typeface="Arial"/>
              </a:rPr>
              <a:t>te-</a:t>
            </a:r>
            <a:r>
              <a:rPr b="0" lang="fr-FR" sz="4400" spc="-1" strike="noStrike">
                <a:solidFill>
                  <a:srgbClr val="000000"/>
                </a:solidFill>
                <a:latin typeface="Arial"/>
              </a:rPr>
              <a:t>titr</a:t>
            </a:r>
            <a:r>
              <a:rPr b="0" lang="fr-FR" sz="4400" spc="-1" strike="noStrike">
                <a:solidFill>
                  <a:srgbClr val="000000"/>
                </a:solidFill>
                <a:latin typeface="Arial"/>
              </a:rPr>
              <a:t>e</a:t>
            </a:r>
            <a:endParaRPr b="0" lang="fr-FR" sz="4400" spc="-1" strike="noStrike">
              <a:solidFill>
                <a:srgbClr val="000000"/>
              </a:solidFill>
              <a:latin typeface="Arial"/>
            </a:endParaRPr>
          </a:p>
        </p:txBody>
      </p:sp>
      <p:sp>
        <p:nvSpPr>
          <p:cNvPr id="3" name="PlaceHolder 4"/>
          <p:cNvSpPr>
            <a:spLocks noGrp="1"/>
          </p:cNvSpPr>
          <p:nvPr>
            <p:ph type="body"/>
          </p:nvPr>
        </p:nvSpPr>
        <p:spPr>
          <a:xfrm>
            <a:off x="377640" y="2501640"/>
            <a:ext cx="6803280" cy="6200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Cliquez pour éditer le format du plan de texte</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niveau de plan</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Troisième niveau de plan</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hyperlink" Target="file:///home/stephane/src/yaal/portail-rse/impact/vsme/exports/portail-rse.beta.gouv.fr" TargetMode="External"/><Relationship Id="rId5"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openxmlformats.org/officeDocument/2006/relationships/image" Target="../media/image11.svg"/><Relationship Id="rId10"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49.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53.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54.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55.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56.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57.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1.xml"/>
</Relationships>
</file>

<file path=ppt/slides/_rels/slide58.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slideLayout" Target="../slideLayouts/slideLayout1.xml"/>
</Relationships>
</file>

<file path=ppt/slides/_rels/slide59.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slideLayout" Target="../slideLayouts/slideLayout1.xml"/>
</Relationships>
</file>

<file path=ppt/slides/_rels/slide60.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slideLayout" Target="../slideLayouts/slideLayout1.xml"/>
</Relationships>
</file>

<file path=ppt/slides/_rels/slide61.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slideLayout" Target="../slideLayouts/slideLayout1.xml"/>
</Relationships>
</file>

<file path=ppt/slides/_rels/slide62.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slideLayout" Target="../slideLayouts/slideLayout1.xml"/>
</Relationships>
</file>

<file path=ppt/slides/_rels/slide63.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slideLayout" Target="../slideLayouts/slideLayout1.xml"/>
</Relationships>
</file>

<file path=ppt/slides/_rels/slide64.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slideLayout" Target="../slideLayouts/slideLayout1.xml"/>
</Relationships>
</file>

<file path=ppt/slides/_rels/slide65.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slideLayout" Target="../slideLayouts/slideLayout1.xml"/>
</Relationships>
</file>

<file path=ppt/slides/_rels/slide66.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slideLayout" Target="../slideLayouts/slideLayout1.xml"/>
</Relationships>
</file>

<file path=ppt/slides/_rels/slide67.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slideLayout" Target="../slideLayouts/slideLayout1.xml"/>
</Relationships>
</file>

<file path=ppt/slides/_rels/slide68.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slideLayout" Target="../slideLayouts/slideLayout1.xml"/>
</Relationships>
</file>

<file path=ppt/slides/_rels/slide69.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slideLayout" Target="../slideLayouts/slideLayout1.xml"/>
</Relationships>
</file>

<file path=ppt/slides/_rels/slide70.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slideLayout" Target="../slideLayouts/slideLayout1.xml"/>
</Relationships>
</file>

<file path=ppt/slides/_rels/slide71.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image" Target="../media/image16.png"/><Relationship Id="rId3" Type="http://schemas.openxmlformats.org/officeDocument/2006/relationships/slideLayout" Target="../slideLayouts/slideLayout1.xml"/>
</Relationships>
</file>

<file path=ppt/slides/_rels/slide72.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image" Target="../media/image17.png"/><Relationship Id="rId3" Type="http://schemas.openxmlformats.org/officeDocument/2006/relationships/slideLayout" Target="../slideLayouts/slideLayout1.xml"/>
</Relationships>
</file>

<file path=ppt/slides/_rels/slide73.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image" Target="../media/image17.png"/><Relationship Id="rId3" Type="http://schemas.openxmlformats.org/officeDocument/2006/relationships/slideLayout" Target="../slideLayouts/slideLayout1.xml"/>
</Relationships>
</file>

<file path=ppt/slides/_rels/slide74.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image" Target="../media/image17.png"/><Relationship Id="rId3" Type="http://schemas.openxmlformats.org/officeDocument/2006/relationships/slideLayout" Target="../slideLayouts/slideLayout1.xml"/>
</Relationships>
</file>

<file path=ppt/slides/_rels/slide75.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image" Target="../media/image17.png"/><Relationship Id="rId3" Type="http://schemas.openxmlformats.org/officeDocument/2006/relationships/slideLayout" Target="../slideLayouts/slideLayout1.xml"/>
</Relationships>
</file>

<file path=ppt/slides/_rels/slide76.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image" Target="../media/image17.png"/><Relationship Id="rId3" Type="http://schemas.openxmlformats.org/officeDocument/2006/relationships/slideLayout" Target="../slideLayouts/slideLayout1.xml"/>
</Relationships>
</file>

<file path=ppt/slides/_rels/slide77.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hyperlink" Target="file:///home/stephane/src/yaal/portail-rse/impact/vsme/exports/portail-rse.beta.gouv.fr" TargetMode="External"/><Relationship Id="rId5" Type="http://schemas.openxmlformats.org/officeDocument/2006/relationships/slideLayout" Target="../slideLayouts/slideLayout1.xml"/><Relationship Id="rId6" Type="http://schemas.openxmlformats.org/officeDocument/2006/relationships/notesSlide" Target="../notesSlides/notesSlide7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 name="Picture 4" descr="A building with trees reflected in windows&#10;&#10;AI-generated content may be incorrect."/>
          <p:cNvPicPr/>
          <p:nvPr/>
        </p:nvPicPr>
        <p:blipFill>
          <a:blip r:embed="rId1"/>
          <a:srcRect l="0" t="0" r="0" b="0"/>
          <a:stretch/>
        </p:blipFill>
        <p:spPr>
          <a:xfrm>
            <a:off x="0" y="0"/>
            <a:ext cx="7554960" cy="10686960"/>
          </a:xfrm>
          <a:prstGeom prst="rect">
            <a:avLst/>
          </a:prstGeom>
          <a:ln w="0">
            <a:noFill/>
          </a:ln>
        </p:spPr>
      </p:pic>
      <p:sp>
        <p:nvSpPr>
          <p:cNvPr id="11" name="Rectangle 5"/>
          <p:cNvSpPr/>
          <p:nvPr/>
        </p:nvSpPr>
        <p:spPr>
          <a:xfrm>
            <a:off x="0" y="0"/>
            <a:ext cx="7554960" cy="10686960"/>
          </a:xfrm>
          <a:prstGeom prst="rect">
            <a:avLst/>
          </a:prstGeom>
          <a:gradFill rotWithShape="0">
            <a:gsLst>
              <a:gs pos="14000">
                <a:srgbClr val="000000">
                  <a:alpha val="0"/>
                </a:srgbClr>
              </a:gs>
              <a:gs pos="100000">
                <a:srgbClr val="000000">
                  <a:alpha val="66000"/>
                </a:srgbClr>
              </a:gs>
            </a:gsLst>
            <a:lin ang="5400000"/>
          </a:gra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12" name="ZoneTexte 9"/>
          <p:cNvSpPr/>
          <p:nvPr/>
        </p:nvSpPr>
        <p:spPr>
          <a:xfrm>
            <a:off x="661680" y="8611920"/>
            <a:ext cx="6243120" cy="96732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20000"/>
              </a:lnSpc>
            </a:pPr>
            <a:r>
              <a:rPr b="1" lang="fr-FR" sz="2400" spc="-1" strike="noStrike">
                <a:solidFill>
                  <a:schemeClr val="lt1"/>
                </a:solidFill>
                <a:latin typeface="Marianne"/>
              </a:rPr>
              <a:t>NOM DE L’ENTREPRISE</a:t>
            </a:r>
            <a:endParaRPr b="0" lang="fr-FR" sz="2400" spc="-1" strike="noStrike">
              <a:solidFill>
                <a:srgbClr val="000000"/>
              </a:solidFill>
              <a:latin typeface="Arial"/>
            </a:endParaRPr>
          </a:p>
          <a:p>
            <a:pPr algn="r" defTabSz="457200">
              <a:lnSpc>
                <a:spcPct val="120000"/>
              </a:lnSpc>
            </a:pPr>
            <a:r>
              <a:rPr b="0" lang="fr-FR" sz="2400" spc="-1" strike="noStrike">
                <a:solidFill>
                  <a:schemeClr val="lt1"/>
                </a:solidFill>
                <a:latin typeface="Marianne Light"/>
              </a:rPr>
              <a:t>Rapport VSME 2025</a:t>
            </a:r>
            <a:endParaRPr b="0" lang="fr-FR" sz="2400" spc="-1" strike="noStrike">
              <a:solidFill>
                <a:srgbClr val="000000"/>
              </a:solidFill>
              <a:latin typeface="Arial"/>
            </a:endParaRPr>
          </a:p>
        </p:txBody>
      </p:sp>
      <p:grpSp>
        <p:nvGrpSpPr>
          <p:cNvPr id="13" name="Group 33"/>
          <p:cNvGrpSpPr/>
          <p:nvPr/>
        </p:nvGrpSpPr>
        <p:grpSpPr>
          <a:xfrm>
            <a:off x="4417200" y="658800"/>
            <a:ext cx="2487600" cy="965520"/>
            <a:chOff x="4417200" y="658800"/>
            <a:chExt cx="2487600" cy="965520"/>
          </a:xfrm>
        </p:grpSpPr>
        <p:sp>
          <p:nvSpPr>
            <p:cNvPr id="14" name="Rectangle 28"/>
            <p:cNvSpPr/>
            <p:nvPr/>
          </p:nvSpPr>
          <p:spPr>
            <a:xfrm>
              <a:off x="4417200" y="658800"/>
              <a:ext cx="2487600" cy="9651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pic>
          <p:nvPicPr>
            <p:cNvPr id="15" name="Picture 4" descr="Fichier:Ministère de l'Économie des Finances et de la ..."/>
            <p:cNvPicPr/>
            <p:nvPr/>
          </p:nvPicPr>
          <p:blipFill>
            <a:blip r:embed="rId2"/>
            <a:stretch/>
          </p:blipFill>
          <p:spPr>
            <a:xfrm>
              <a:off x="4425480" y="676800"/>
              <a:ext cx="1562760" cy="947520"/>
            </a:xfrm>
            <a:prstGeom prst="rect">
              <a:avLst/>
            </a:prstGeom>
            <a:ln w="0">
              <a:noFill/>
            </a:ln>
          </p:spPr>
        </p:pic>
        <p:pic>
          <p:nvPicPr>
            <p:cNvPr id="16" name="Picture 32" descr="A logo of a building and a couple of people hugging&#10;&#10;AI-generated content may be incorrect."/>
            <p:cNvPicPr/>
            <p:nvPr/>
          </p:nvPicPr>
          <p:blipFill>
            <a:blip r:embed="rId3"/>
            <a:stretch/>
          </p:blipFill>
          <p:spPr>
            <a:xfrm>
              <a:off x="6012360" y="823320"/>
              <a:ext cx="783000" cy="593280"/>
            </a:xfrm>
            <a:prstGeom prst="rect">
              <a:avLst/>
            </a:prstGeom>
            <a:ln w="0">
              <a:noFill/>
            </a:ln>
          </p:spPr>
        </p:pic>
      </p:grpSp>
      <p:sp>
        <p:nvSpPr>
          <p:cNvPr id="17" name="TextBox 2"/>
          <p:cNvSpPr/>
          <p:nvPr/>
        </p:nvSpPr>
        <p:spPr>
          <a:xfrm>
            <a:off x="4410000" y="9658080"/>
            <a:ext cx="2355480" cy="305640"/>
          </a:xfrm>
          <a:prstGeom prst="roundRect">
            <a:avLst>
              <a:gd name="adj" fmla="val 16667"/>
            </a:avLst>
          </a:prstGeom>
          <a:solidFill>
            <a:schemeClr val="dk1">
              <a:alpha val="25000"/>
            </a:schemeClr>
          </a:solidFill>
          <a:ln w="0">
            <a:solidFill>
              <a:srgbClr val="ffffff">
                <a:alpha val="50000"/>
              </a:srgbClr>
            </a:solid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solidFill>
                <a:latin typeface="Marianne Light"/>
                <a:ea typeface="Arial"/>
              </a:rPr>
              <a:t>Rapport généré avec Portail RSE</a:t>
            </a:r>
            <a:endParaRPr b="0" lang="fr-FR"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 name="Picture 3" descr="A building with trees reflected in windows&#10;&#10;AI-generated content may be incorrect."/>
          <p:cNvPicPr/>
          <p:nvPr/>
        </p:nvPicPr>
        <p:blipFill>
          <a:blip r:embed="rId1"/>
          <a:srcRect l="0" t="0" r="52021" b="0"/>
          <a:stretch/>
        </p:blipFill>
        <p:spPr>
          <a:xfrm>
            <a:off x="0" y="0"/>
            <a:ext cx="3617280" cy="10686960"/>
          </a:xfrm>
          <a:prstGeom prst="rect">
            <a:avLst/>
          </a:prstGeom>
          <a:ln w="0">
            <a:noFill/>
          </a:ln>
        </p:spPr>
      </p:pic>
      <p:sp>
        <p:nvSpPr>
          <p:cNvPr id="19" name="TextBox 16"/>
          <p:cNvSpPr/>
          <p:nvPr/>
        </p:nvSpPr>
        <p:spPr>
          <a:xfrm>
            <a:off x="3937680" y="2787120"/>
            <a:ext cx="3018600" cy="6460200"/>
          </a:xfrm>
          <a:prstGeom prst="rect">
            <a:avLst/>
          </a:prstGeom>
          <a:noFill/>
          <a:ln w="0">
            <a:noFill/>
          </a:ln>
        </p:spPr>
        <p:style>
          <a:lnRef idx="0"/>
          <a:fillRef idx="0"/>
          <a:effectRef idx="0"/>
          <a:fontRef idx="minor"/>
        </p:style>
        <p:txBody>
          <a:bodyPr lIns="90000" rIns="90000" tIns="45000" bIns="45000" anchor="t">
            <a:spAutoFit/>
          </a:bodyPr>
          <a:p>
            <a:pPr marL="11160" algn="just" defTabSz="457200">
              <a:lnSpc>
                <a:spcPct val="120000"/>
              </a:lnSpc>
              <a:spcAft>
                <a:spcPts val="601"/>
              </a:spcAft>
            </a:pPr>
            <a:r>
              <a:rPr b="0" lang="fr-FR" sz="1000" spc="-1" strike="noStrike">
                <a:solidFill>
                  <a:schemeClr val="dk1"/>
                </a:solidFill>
                <a:latin typeface="Marianne Light"/>
                <a:ea typeface="Arial"/>
              </a:rPr>
              <a:t>Dans un contexte de transition économique, sociale et environnementale accélérée, notre entreprise est consciente de la nécessité de renforcer la transparence de ses pratiques et de structurer sa démarche de durabilité. Le VSME, Voluntary Sustainability Reporting Standard for SMEs, offre un cadre volontaire de référence permettant aux petites et moyennes entreprises de formaliser et de communiquer leurs engagements, leurs impacts et leurs progrès en matière de durabilité.</a:t>
            </a:r>
            <a:endParaRPr b="0" lang="fr-FR" sz="1000" spc="-1" strike="noStrike">
              <a:solidFill>
                <a:srgbClr val="000000"/>
              </a:solidFill>
              <a:latin typeface="Arial"/>
            </a:endParaRPr>
          </a:p>
          <a:p>
            <a:pPr marL="11160" algn="just" defTabSz="457200">
              <a:lnSpc>
                <a:spcPct val="120000"/>
              </a:lnSpc>
              <a:spcAft>
                <a:spcPts val="601"/>
              </a:spcAft>
            </a:pPr>
            <a:r>
              <a:rPr b="0" lang="fr-FR" sz="1000" spc="-1" strike="noStrike">
                <a:solidFill>
                  <a:schemeClr val="dk1"/>
                </a:solidFill>
                <a:latin typeface="Marianne Light"/>
                <a:ea typeface="Arial"/>
              </a:rPr>
              <a:t>Ce rapport s’inscrit dans cette dynamique. Il a pour objectif de présenter de manière structurée les pratiques, politiques et indicateurs clés de notre entreprise en matière environnementale, sociale et de gouvernance (ESG), en tenant compte de sa taille, de son modèle économique et de ses enjeux spécifiques. Au-delà d’un exercice de reporting, ce document constitue un outil de pilotage interne, de dialogue avec nos parties prenantes et de valorisation des actions engagées.</a:t>
            </a:r>
            <a:endParaRPr b="0" lang="fr-FR" sz="1000" spc="-1" strike="noStrike">
              <a:solidFill>
                <a:srgbClr val="000000"/>
              </a:solidFill>
              <a:latin typeface="Arial"/>
            </a:endParaRPr>
          </a:p>
          <a:p>
            <a:pPr marL="11160" algn="just" defTabSz="457200">
              <a:lnSpc>
                <a:spcPct val="120000"/>
              </a:lnSpc>
              <a:spcAft>
                <a:spcPts val="601"/>
              </a:spcAft>
            </a:pPr>
            <a:r>
              <a:rPr b="0" lang="fr-FR" sz="1000" spc="-1" strike="noStrike">
                <a:solidFill>
                  <a:schemeClr val="dk1"/>
                </a:solidFill>
                <a:latin typeface="Marianne Light"/>
                <a:ea typeface="Arial"/>
              </a:rPr>
              <a:t>En s’appuyant sur le cadre VSME, notre entreprise adopte une approche proportionnée, pragmatique et progressive de la durabilité. Ce rapport reflète l’état actuel de notre démarche, identifie les principaux risques et opportunités liés aux enjeux ESG, et met en lumière les priorités stratégiques définies pour les années à venir. Il constitue une base de référence appelée à évoluer dans le temps, au rythme de la maturité de notre organisation et des évolutions de son environnement économique et réglementaire.</a:t>
            </a:r>
            <a:endParaRPr b="0" lang="fr-FR" sz="1000" spc="-1" strike="noStrike">
              <a:solidFill>
                <a:srgbClr val="000000"/>
              </a:solidFill>
              <a:latin typeface="Arial"/>
            </a:endParaRPr>
          </a:p>
        </p:txBody>
      </p:sp>
      <p:grpSp>
        <p:nvGrpSpPr>
          <p:cNvPr id="20" name="Group 17"/>
          <p:cNvGrpSpPr/>
          <p:nvPr/>
        </p:nvGrpSpPr>
        <p:grpSpPr>
          <a:xfrm>
            <a:off x="4417200" y="658800"/>
            <a:ext cx="2487600" cy="965520"/>
            <a:chOff x="4417200" y="658800"/>
            <a:chExt cx="2487600" cy="965520"/>
          </a:xfrm>
        </p:grpSpPr>
        <p:sp>
          <p:nvSpPr>
            <p:cNvPr id="21" name="Rectangle 18"/>
            <p:cNvSpPr/>
            <p:nvPr/>
          </p:nvSpPr>
          <p:spPr>
            <a:xfrm>
              <a:off x="4417200" y="658800"/>
              <a:ext cx="2487600" cy="9651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pic>
          <p:nvPicPr>
            <p:cNvPr id="22" name="Picture 4" descr="Fichier:Ministère de l'Économie des Finances et de la ..."/>
            <p:cNvPicPr/>
            <p:nvPr/>
          </p:nvPicPr>
          <p:blipFill>
            <a:blip r:embed="rId2"/>
            <a:stretch/>
          </p:blipFill>
          <p:spPr>
            <a:xfrm>
              <a:off x="4425480" y="676800"/>
              <a:ext cx="1562760" cy="947520"/>
            </a:xfrm>
            <a:prstGeom prst="rect">
              <a:avLst/>
            </a:prstGeom>
            <a:ln w="0">
              <a:noFill/>
            </a:ln>
          </p:spPr>
        </p:pic>
        <p:pic>
          <p:nvPicPr>
            <p:cNvPr id="23" name="Picture 20" descr="A logo of a building and a couple of people hugging&#10;&#10;AI-generated content may be incorrect."/>
            <p:cNvPicPr/>
            <p:nvPr/>
          </p:nvPicPr>
          <p:blipFill>
            <a:blip r:embed="rId3"/>
            <a:stretch/>
          </p:blipFill>
          <p:spPr>
            <a:xfrm>
              <a:off x="6012360" y="823320"/>
              <a:ext cx="783000" cy="593280"/>
            </a:xfrm>
            <a:prstGeom prst="rect">
              <a:avLst/>
            </a:prstGeom>
            <a:ln w="0">
              <a:noFill/>
            </a:ln>
          </p:spPr>
        </p:pic>
      </p:grpSp>
      <p:sp>
        <p:nvSpPr>
          <p:cNvPr id="24" name="TextBox 27"/>
          <p:cNvSpPr/>
          <p:nvPr/>
        </p:nvSpPr>
        <p:spPr>
          <a:xfrm>
            <a:off x="5236920" y="1577880"/>
            <a:ext cx="1590480" cy="209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FR" sz="700" spc="-1" strike="noStrike" u="sng">
                <a:solidFill>
                  <a:srgbClr val="467886"/>
                </a:solidFill>
                <a:uFillTx/>
                <a:latin typeface="Marianne Light"/>
                <a:hlinkClick r:id="rId4"/>
              </a:rPr>
              <a:t>portail-rse.beta.gouv.fr</a:t>
            </a:r>
            <a:endParaRPr b="0" lang="fr-FR" sz="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 name="Picture 1" descr="A building with trees reflected in windows&#10;&#10;AI-generated content may be incorrect."/>
          <p:cNvPicPr/>
          <p:nvPr/>
        </p:nvPicPr>
        <p:blipFill>
          <a:blip r:embed="rId1"/>
          <a:srcRect l="0" t="0" r="0" b="0"/>
          <a:stretch/>
        </p:blipFill>
        <p:spPr>
          <a:xfrm>
            <a:off x="0" y="0"/>
            <a:ext cx="7554960" cy="10686960"/>
          </a:xfrm>
          <a:prstGeom prst="rect">
            <a:avLst/>
          </a:prstGeom>
          <a:ln w="0">
            <a:noFill/>
          </a:ln>
        </p:spPr>
      </p:pic>
      <p:sp>
        <p:nvSpPr>
          <p:cNvPr id="26" name="Rectangle 9"/>
          <p:cNvSpPr/>
          <p:nvPr/>
        </p:nvSpPr>
        <p:spPr>
          <a:xfrm>
            <a:off x="132840" y="126000"/>
            <a:ext cx="7422120" cy="10435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grpSp>
        <p:nvGrpSpPr>
          <p:cNvPr id="27" name="Group 57"/>
          <p:cNvGrpSpPr/>
          <p:nvPr/>
        </p:nvGrpSpPr>
        <p:grpSpPr>
          <a:xfrm>
            <a:off x="666360" y="659880"/>
            <a:ext cx="6879960" cy="1717560"/>
            <a:chOff x="666360" y="659880"/>
            <a:chExt cx="6879960" cy="1717560"/>
          </a:xfrm>
        </p:grpSpPr>
        <p:sp>
          <p:nvSpPr>
            <p:cNvPr id="28" name="Round Same-side Corner of Rectangle 3"/>
            <p:cNvSpPr/>
            <p:nvPr/>
          </p:nvSpPr>
          <p:spPr>
            <a:xfrm rot="16200000">
              <a:off x="3988080" y="-2057040"/>
              <a:ext cx="236160" cy="6879960"/>
            </a:xfrm>
            <a:prstGeom prst="round2SameRect">
              <a:avLst>
                <a:gd name="adj1" fmla="val 26772"/>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chemeClr val="lt1">
                      <a:lumMod val="50000"/>
                    </a:schemeClr>
                  </a:solidFill>
                  <a:latin typeface="Marianne"/>
                </a:rPr>
                <a:t>B1</a:t>
              </a:r>
              <a:r>
                <a:rPr b="0" lang="fr-FR" sz="850" spc="-1" strike="noStrike">
                  <a:solidFill>
                    <a:schemeClr val="lt1">
                      <a:lumMod val="50000"/>
                    </a:schemeClr>
                  </a:solidFill>
                  <a:latin typeface="Marianne Medium"/>
                </a:rPr>
                <a:t> </a:t>
              </a:r>
              <a:r>
                <a:rPr b="0" lang="fr-FR" sz="850" spc="-1" strike="noStrike">
                  <a:solidFill>
                    <a:schemeClr val="lt1">
                      <a:lumMod val="50000"/>
                    </a:schemeClr>
                  </a:solidFill>
                  <a:latin typeface="Marianne"/>
                </a:rPr>
                <a:t>Base d’établissement</a:t>
              </a:r>
              <a:endParaRPr b="0" lang="fr-FR" sz="850" spc="-1" strike="noStrike">
                <a:solidFill>
                  <a:srgbClr val="000000"/>
                </a:solidFill>
                <a:latin typeface="Arial"/>
              </a:endParaRPr>
            </a:p>
          </p:txBody>
        </p:sp>
        <p:cxnSp>
          <p:nvCxnSpPr>
            <p:cNvPr id="29" name="Straight Connector 14"/>
            <p:cNvCxnSpPr/>
            <p:nvPr/>
          </p:nvCxnSpPr>
          <p:spPr>
            <a:xfrm>
              <a:off x="1298160" y="695520"/>
              <a:ext cx="4680" cy="426240"/>
            </a:xfrm>
            <a:prstGeom prst="straightConnector1">
              <a:avLst/>
            </a:prstGeom>
            <a:ln w="3175">
              <a:solidFill>
                <a:srgbClr val="a6a6a6"/>
              </a:solidFill>
              <a:round/>
            </a:ln>
          </p:spPr>
        </p:cxnSp>
        <p:sp>
          <p:nvSpPr>
            <p:cNvPr id="30" name="TextBox 15"/>
            <p:cNvSpPr/>
            <p:nvPr/>
          </p:nvSpPr>
          <p:spPr>
            <a:xfrm>
              <a:off x="1342440" y="659880"/>
              <a:ext cx="5605200" cy="528480"/>
            </a:xfrm>
            <a:prstGeom prst="rect">
              <a:avLst/>
            </a:prstGeom>
            <a:noFill/>
            <a:ln w="0">
              <a:noFill/>
            </a:ln>
          </p:spPr>
          <p:style>
            <a:lnRef idx="0"/>
            <a:fillRef idx="0"/>
            <a:effectRef idx="0"/>
            <a:fontRef idx="minor"/>
          </p:style>
          <p:txBody>
            <a:bodyPr lIns="90000" rIns="90000" tIns="45000" bIns="45000" anchor="t">
              <a:spAutoFit/>
            </a:bodyPr>
            <a:p>
              <a:pPr marL="11160" defTabSz="457200">
                <a:lnSpc>
                  <a:spcPct val="120000"/>
                </a:lnSpc>
              </a:pPr>
              <a:r>
                <a:rPr b="1" lang="fr-FR" sz="2400" spc="-1" strike="noStrike">
                  <a:solidFill>
                    <a:schemeClr val="dk1"/>
                  </a:solidFill>
                  <a:latin typeface="Marianne"/>
                  <a:ea typeface="Arial"/>
                </a:rPr>
                <a:t>Informations générales</a:t>
              </a:r>
              <a:endParaRPr b="0" lang="fr-FR" sz="2400" spc="-1" strike="noStrike">
                <a:solidFill>
                  <a:srgbClr val="000000"/>
                </a:solidFill>
                <a:latin typeface="Arial"/>
              </a:endParaRPr>
            </a:p>
          </p:txBody>
        </p:sp>
        <p:sp>
          <p:nvSpPr>
            <p:cNvPr id="31" name="Round Same-side Corner of Rectangle 21"/>
            <p:cNvSpPr/>
            <p:nvPr/>
          </p:nvSpPr>
          <p:spPr>
            <a:xfrm rot="16200000">
              <a:off x="3988080" y="-1764720"/>
              <a:ext cx="236160" cy="6879960"/>
            </a:xfrm>
            <a:prstGeom prst="round2SameRect">
              <a:avLst>
                <a:gd name="adj1" fmla="val 26772"/>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chemeClr val="lt1">
                      <a:lumMod val="50000"/>
                    </a:schemeClr>
                  </a:solidFill>
                  <a:latin typeface="Marianne"/>
                </a:rPr>
                <a:t>B2</a:t>
              </a:r>
              <a:r>
                <a:rPr b="0" lang="fr-FR" sz="850" spc="-1" strike="noStrike">
                  <a:solidFill>
                    <a:schemeClr val="lt1">
                      <a:lumMod val="50000"/>
                    </a:schemeClr>
                  </a:solidFill>
                  <a:latin typeface="Marianne Medium"/>
                </a:rPr>
                <a:t> </a:t>
              </a:r>
              <a:r>
                <a:rPr b="0" lang="fr-FR" sz="850" spc="-1" strike="noStrike">
                  <a:solidFill>
                    <a:schemeClr val="lt1">
                      <a:lumMod val="50000"/>
                    </a:schemeClr>
                  </a:solidFill>
                  <a:latin typeface="Marianne"/>
                </a:rPr>
                <a:t>Pratiques, politiques et initiatives futures pour une transition vers une économie plus durable</a:t>
              </a:r>
              <a:endParaRPr b="0" lang="fr-FR" sz="850" spc="-1" strike="noStrike">
                <a:solidFill>
                  <a:srgbClr val="000000"/>
                </a:solidFill>
                <a:latin typeface="Arial"/>
              </a:endParaRPr>
            </a:p>
          </p:txBody>
        </p:sp>
        <p:sp>
          <p:nvSpPr>
            <p:cNvPr id="32" name="Round Same-side Corner of Rectangle 22"/>
            <p:cNvSpPr/>
            <p:nvPr/>
          </p:nvSpPr>
          <p:spPr>
            <a:xfrm rot="16200000">
              <a:off x="3988080" y="-1472400"/>
              <a:ext cx="236160" cy="6879960"/>
            </a:xfrm>
            <a:prstGeom prst="round2SameRect">
              <a:avLst>
                <a:gd name="adj1" fmla="val 26772"/>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chemeClr val="lt1">
                      <a:lumMod val="50000"/>
                    </a:schemeClr>
                  </a:solidFill>
                  <a:latin typeface="Marianne"/>
                </a:rPr>
                <a:t>C1</a:t>
              </a:r>
              <a:r>
                <a:rPr b="0" lang="fr-FR" sz="850" spc="-1" strike="noStrike">
                  <a:solidFill>
                    <a:schemeClr val="lt1">
                      <a:lumMod val="50000"/>
                    </a:schemeClr>
                  </a:solidFill>
                  <a:latin typeface="Marianne Medium"/>
                </a:rPr>
                <a:t> </a:t>
              </a:r>
              <a:r>
                <a:rPr b="0" lang="fr-FR" sz="850" spc="-1" strike="noStrike">
                  <a:solidFill>
                    <a:schemeClr val="lt1">
                      <a:lumMod val="50000"/>
                    </a:schemeClr>
                  </a:solidFill>
                  <a:latin typeface="Marianne"/>
                </a:rPr>
                <a:t>Stratégie : modèle économique et initiatives liées à la durabilité </a:t>
              </a:r>
              <a:endParaRPr b="0" lang="fr-FR" sz="850" spc="-1" strike="noStrike">
                <a:solidFill>
                  <a:srgbClr val="000000"/>
                </a:solidFill>
                <a:latin typeface="Arial"/>
              </a:endParaRPr>
            </a:p>
          </p:txBody>
        </p:sp>
        <p:sp>
          <p:nvSpPr>
            <p:cNvPr id="33" name="Round Same-side Corner of Rectangle 23"/>
            <p:cNvSpPr/>
            <p:nvPr/>
          </p:nvSpPr>
          <p:spPr>
            <a:xfrm rot="16200000">
              <a:off x="3988080" y="-1180440"/>
              <a:ext cx="236160" cy="6879960"/>
            </a:xfrm>
            <a:prstGeom prst="round2SameRect">
              <a:avLst>
                <a:gd name="adj1" fmla="val 26772"/>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chemeClr val="lt1">
                      <a:lumMod val="50000"/>
                    </a:schemeClr>
                  </a:solidFill>
                  <a:latin typeface="Marianne"/>
                </a:rPr>
                <a:t>C2</a:t>
              </a:r>
              <a:r>
                <a:rPr b="0" lang="fr-FR" sz="850" spc="-1" strike="noStrike">
                  <a:solidFill>
                    <a:schemeClr val="lt1">
                      <a:lumMod val="50000"/>
                    </a:schemeClr>
                  </a:solidFill>
                  <a:latin typeface="Marianne Medium"/>
                </a:rPr>
                <a:t> </a:t>
              </a:r>
              <a:r>
                <a:rPr b="0" lang="fr-FR" sz="850" spc="-1" strike="noStrike">
                  <a:solidFill>
                    <a:schemeClr val="lt1">
                      <a:lumMod val="50000"/>
                    </a:schemeClr>
                  </a:solidFill>
                  <a:latin typeface="Marianne"/>
                </a:rPr>
                <a:t>Description des pratiques, des politiques et des initiatives futures pour une transition vers une économie plus durable</a:t>
              </a:r>
              <a:endParaRPr b="0" lang="fr-FR" sz="850" spc="-1" strike="noStrike">
                <a:solidFill>
                  <a:srgbClr val="000000"/>
                </a:solidFill>
                <a:latin typeface="Arial"/>
              </a:endParaRPr>
            </a:p>
          </p:txBody>
        </p:sp>
      </p:grpSp>
      <p:grpSp>
        <p:nvGrpSpPr>
          <p:cNvPr id="34" name="Group 58"/>
          <p:cNvGrpSpPr/>
          <p:nvPr/>
        </p:nvGrpSpPr>
        <p:grpSpPr>
          <a:xfrm>
            <a:off x="666360" y="2654640"/>
            <a:ext cx="6879960" cy="2617200"/>
            <a:chOff x="666360" y="2654640"/>
            <a:chExt cx="6879960" cy="2617200"/>
          </a:xfrm>
        </p:grpSpPr>
        <p:cxnSp>
          <p:nvCxnSpPr>
            <p:cNvPr id="35" name="Straight Connector 25"/>
            <p:cNvCxnSpPr/>
            <p:nvPr/>
          </p:nvCxnSpPr>
          <p:spPr>
            <a:xfrm>
              <a:off x="1298160" y="2690280"/>
              <a:ext cx="4680" cy="426240"/>
            </a:xfrm>
            <a:prstGeom prst="straightConnector1">
              <a:avLst/>
            </a:prstGeom>
            <a:ln w="3175">
              <a:solidFill>
                <a:srgbClr val="a6a6a6"/>
              </a:solidFill>
              <a:round/>
            </a:ln>
          </p:spPr>
        </p:cxnSp>
        <p:sp>
          <p:nvSpPr>
            <p:cNvPr id="36" name="TextBox 26"/>
            <p:cNvSpPr/>
            <p:nvPr/>
          </p:nvSpPr>
          <p:spPr>
            <a:xfrm>
              <a:off x="1342440" y="2654640"/>
              <a:ext cx="5605200" cy="528480"/>
            </a:xfrm>
            <a:prstGeom prst="rect">
              <a:avLst/>
            </a:prstGeom>
            <a:noFill/>
            <a:ln w="0">
              <a:noFill/>
            </a:ln>
          </p:spPr>
          <p:style>
            <a:lnRef idx="0"/>
            <a:fillRef idx="0"/>
            <a:effectRef idx="0"/>
            <a:fontRef idx="minor"/>
          </p:style>
          <p:txBody>
            <a:bodyPr lIns="90000" rIns="90000" tIns="45000" bIns="45000" anchor="t">
              <a:spAutoFit/>
            </a:bodyPr>
            <a:p>
              <a:pPr marL="11160" defTabSz="457200">
                <a:lnSpc>
                  <a:spcPct val="120000"/>
                </a:lnSpc>
              </a:pPr>
              <a:r>
                <a:rPr b="1" lang="fr-FR" sz="2400" spc="-1" strike="noStrike">
                  <a:solidFill>
                    <a:schemeClr val="dk1"/>
                  </a:solidFill>
                  <a:latin typeface="Marianne"/>
                  <a:ea typeface="Arial"/>
                </a:rPr>
                <a:t>Environnement</a:t>
              </a:r>
              <a:endParaRPr b="0" lang="fr-FR" sz="2400" spc="-1" strike="noStrike">
                <a:solidFill>
                  <a:srgbClr val="000000"/>
                </a:solidFill>
                <a:latin typeface="Arial"/>
              </a:endParaRPr>
            </a:p>
          </p:txBody>
        </p:sp>
        <p:sp>
          <p:nvSpPr>
            <p:cNvPr id="37" name="Round Same-side Corner of Rectangle 34"/>
            <p:cNvSpPr/>
            <p:nvPr/>
          </p:nvSpPr>
          <p:spPr>
            <a:xfrm rot="16200000">
              <a:off x="3988080" y="-34920"/>
              <a:ext cx="236160" cy="6879960"/>
            </a:xfrm>
            <a:prstGeom prst="round2SameRect">
              <a:avLst>
                <a:gd name="adj1" fmla="val 26772"/>
                <a:gd name="adj2" fmla="val 0"/>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145c30"/>
                  </a:solidFill>
                  <a:latin typeface="Marianne"/>
                </a:rPr>
                <a:t>B3</a:t>
              </a:r>
              <a:r>
                <a:rPr b="0" lang="fr-FR" sz="850" spc="-1" strike="noStrike">
                  <a:solidFill>
                    <a:srgbClr val="145c30"/>
                  </a:solidFill>
                  <a:latin typeface="Marianne Medium"/>
                </a:rPr>
                <a:t> </a:t>
              </a:r>
              <a:r>
                <a:rPr b="0" lang="fr-FR" sz="850" spc="-1" strike="noStrike">
                  <a:solidFill>
                    <a:srgbClr val="145c30"/>
                  </a:solidFill>
                  <a:latin typeface="Marianne"/>
                </a:rPr>
                <a:t>Énergie et émissions de gaz à effet de serre</a:t>
              </a:r>
              <a:endParaRPr b="0" lang="fr-FR" sz="850" spc="-1" strike="noStrike">
                <a:solidFill>
                  <a:srgbClr val="000000"/>
                </a:solidFill>
                <a:latin typeface="Arial"/>
              </a:endParaRPr>
            </a:p>
          </p:txBody>
        </p:sp>
        <p:sp>
          <p:nvSpPr>
            <p:cNvPr id="38" name="Round Same-side Corner of Rectangle 35"/>
            <p:cNvSpPr/>
            <p:nvPr/>
          </p:nvSpPr>
          <p:spPr>
            <a:xfrm rot="16200000">
              <a:off x="3988080" y="252720"/>
              <a:ext cx="236160" cy="6879960"/>
            </a:xfrm>
            <a:prstGeom prst="round2SameRect">
              <a:avLst>
                <a:gd name="adj1" fmla="val 26772"/>
                <a:gd name="adj2" fmla="val 0"/>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145c30"/>
                  </a:solidFill>
                  <a:latin typeface="Marianne"/>
                </a:rPr>
                <a:t>B4</a:t>
              </a:r>
              <a:r>
                <a:rPr b="0" lang="fr-FR" sz="850" spc="-1" strike="noStrike">
                  <a:solidFill>
                    <a:srgbClr val="145c30"/>
                  </a:solidFill>
                  <a:latin typeface="Marianne Medium"/>
                </a:rPr>
                <a:t> </a:t>
              </a:r>
              <a:r>
                <a:rPr b="0" lang="fr-FR" sz="850" spc="-1" strike="noStrike">
                  <a:solidFill>
                    <a:srgbClr val="145c30"/>
                  </a:solidFill>
                  <a:latin typeface="Marianne"/>
                </a:rPr>
                <a:t>Pollution de l’air, de l’eau et des sols </a:t>
              </a:r>
              <a:endParaRPr b="0" lang="fr-FR" sz="850" spc="-1" strike="noStrike">
                <a:solidFill>
                  <a:srgbClr val="000000"/>
                </a:solidFill>
                <a:latin typeface="Arial"/>
              </a:endParaRPr>
            </a:p>
          </p:txBody>
        </p:sp>
        <p:sp>
          <p:nvSpPr>
            <p:cNvPr id="39" name="Round Same-side Corner of Rectangle 36"/>
            <p:cNvSpPr/>
            <p:nvPr/>
          </p:nvSpPr>
          <p:spPr>
            <a:xfrm rot="16200000">
              <a:off x="3988080" y="544680"/>
              <a:ext cx="236160" cy="6879960"/>
            </a:xfrm>
            <a:prstGeom prst="round2SameRect">
              <a:avLst>
                <a:gd name="adj1" fmla="val 26772"/>
                <a:gd name="adj2" fmla="val 0"/>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145c30"/>
                  </a:solidFill>
                  <a:latin typeface="Marianne"/>
                </a:rPr>
                <a:t>B5</a:t>
              </a:r>
              <a:r>
                <a:rPr b="0" lang="fr-FR" sz="850" spc="-1" strike="noStrike">
                  <a:solidFill>
                    <a:srgbClr val="145c30"/>
                  </a:solidFill>
                  <a:latin typeface="Marianne Medium"/>
                </a:rPr>
                <a:t> </a:t>
              </a:r>
              <a:r>
                <a:rPr b="0" lang="fr-FR" sz="850" spc="-1" strike="noStrike">
                  <a:solidFill>
                    <a:srgbClr val="145c30"/>
                  </a:solidFill>
                  <a:latin typeface="Marianne"/>
                </a:rPr>
                <a:t>Biodiversité</a:t>
              </a:r>
              <a:endParaRPr b="0" lang="fr-FR" sz="850" spc="-1" strike="noStrike">
                <a:solidFill>
                  <a:srgbClr val="000000"/>
                </a:solidFill>
                <a:latin typeface="Arial"/>
              </a:endParaRPr>
            </a:p>
          </p:txBody>
        </p:sp>
        <p:sp>
          <p:nvSpPr>
            <p:cNvPr id="40" name="Round Same-side Corner of Rectangle 37"/>
            <p:cNvSpPr/>
            <p:nvPr/>
          </p:nvSpPr>
          <p:spPr>
            <a:xfrm rot="16200000">
              <a:off x="3988080" y="837000"/>
              <a:ext cx="236160" cy="6879960"/>
            </a:xfrm>
            <a:prstGeom prst="round2SameRect">
              <a:avLst>
                <a:gd name="adj1" fmla="val 26772"/>
                <a:gd name="adj2" fmla="val 0"/>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145c30"/>
                  </a:solidFill>
                  <a:latin typeface="Marianne"/>
                </a:rPr>
                <a:t>B6</a:t>
              </a:r>
              <a:r>
                <a:rPr b="0" lang="fr-FR" sz="850" spc="-1" strike="noStrike">
                  <a:solidFill>
                    <a:srgbClr val="145c30"/>
                  </a:solidFill>
                  <a:latin typeface="Marianne Medium"/>
                </a:rPr>
                <a:t> </a:t>
              </a:r>
              <a:r>
                <a:rPr b="0" lang="fr-FR" sz="850" spc="-1" strike="noStrike">
                  <a:solidFill>
                    <a:srgbClr val="145c30"/>
                  </a:solidFill>
                  <a:latin typeface="Marianne"/>
                </a:rPr>
                <a:t>Eau</a:t>
              </a:r>
              <a:endParaRPr b="0" lang="fr-FR" sz="850" spc="-1" strike="noStrike">
                <a:solidFill>
                  <a:srgbClr val="000000"/>
                </a:solidFill>
                <a:latin typeface="Arial"/>
              </a:endParaRPr>
            </a:p>
          </p:txBody>
        </p:sp>
        <p:sp>
          <p:nvSpPr>
            <p:cNvPr id="41" name="Round Same-side Corner of Rectangle 38"/>
            <p:cNvSpPr/>
            <p:nvPr/>
          </p:nvSpPr>
          <p:spPr>
            <a:xfrm rot="16200000">
              <a:off x="3988080" y="1129320"/>
              <a:ext cx="236160" cy="6879960"/>
            </a:xfrm>
            <a:prstGeom prst="round2SameRect">
              <a:avLst>
                <a:gd name="adj1" fmla="val 26772"/>
                <a:gd name="adj2" fmla="val 0"/>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145c30"/>
                  </a:solidFill>
                  <a:latin typeface="Marianne"/>
                </a:rPr>
                <a:t>B7</a:t>
              </a:r>
              <a:r>
                <a:rPr b="0" lang="fr-FR" sz="850" spc="-1" strike="noStrike">
                  <a:solidFill>
                    <a:srgbClr val="145c30"/>
                  </a:solidFill>
                  <a:latin typeface="Marianne Medium"/>
                </a:rPr>
                <a:t> </a:t>
              </a:r>
              <a:r>
                <a:rPr b="0" lang="fr-FR" sz="850" spc="-1" strike="noStrike">
                  <a:solidFill>
                    <a:srgbClr val="145c30"/>
                  </a:solidFill>
                  <a:latin typeface="Marianne"/>
                </a:rPr>
                <a:t>Utilisation des ressources, économie circulaire et gestion des déchets</a:t>
              </a:r>
              <a:endParaRPr b="0" lang="fr-FR" sz="850" spc="-1" strike="noStrike">
                <a:solidFill>
                  <a:srgbClr val="000000"/>
                </a:solidFill>
                <a:latin typeface="Arial"/>
              </a:endParaRPr>
            </a:p>
          </p:txBody>
        </p:sp>
        <p:sp>
          <p:nvSpPr>
            <p:cNvPr id="42" name="Round Same-side Corner of Rectangle 39"/>
            <p:cNvSpPr/>
            <p:nvPr/>
          </p:nvSpPr>
          <p:spPr>
            <a:xfrm rot="16200000">
              <a:off x="3988080" y="1421280"/>
              <a:ext cx="236160" cy="6879960"/>
            </a:xfrm>
            <a:prstGeom prst="round2SameRect">
              <a:avLst>
                <a:gd name="adj1" fmla="val 26772"/>
                <a:gd name="adj2" fmla="val 0"/>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145c30"/>
                  </a:solidFill>
                  <a:latin typeface="Marianne"/>
                </a:rPr>
                <a:t>C3</a:t>
              </a:r>
              <a:r>
                <a:rPr b="0" lang="fr-FR" sz="850" spc="-1" strike="noStrike">
                  <a:solidFill>
                    <a:srgbClr val="145c30"/>
                  </a:solidFill>
                  <a:latin typeface="Marianne"/>
                </a:rPr>
                <a:t> Cibles de réduction des émissions de GES et transition climatique</a:t>
              </a:r>
              <a:endParaRPr b="0" lang="fr-FR" sz="850" spc="-1" strike="noStrike">
                <a:solidFill>
                  <a:srgbClr val="000000"/>
                </a:solidFill>
                <a:latin typeface="Arial"/>
              </a:endParaRPr>
            </a:p>
          </p:txBody>
        </p:sp>
        <p:sp>
          <p:nvSpPr>
            <p:cNvPr id="43" name="Round Same-side Corner of Rectangle 40"/>
            <p:cNvSpPr/>
            <p:nvPr/>
          </p:nvSpPr>
          <p:spPr>
            <a:xfrm rot="16200000">
              <a:off x="3988080" y="1713600"/>
              <a:ext cx="236160" cy="6879960"/>
            </a:xfrm>
            <a:prstGeom prst="round2SameRect">
              <a:avLst>
                <a:gd name="adj1" fmla="val 26772"/>
                <a:gd name="adj2" fmla="val 0"/>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145c30"/>
                  </a:solidFill>
                  <a:latin typeface="Marianne"/>
                </a:rPr>
                <a:t>C4</a:t>
              </a:r>
              <a:r>
                <a:rPr b="0" lang="fr-FR" sz="850" spc="-1" strike="noStrike">
                  <a:solidFill>
                    <a:srgbClr val="145c30"/>
                  </a:solidFill>
                  <a:latin typeface="Marianne Medium"/>
                </a:rPr>
                <a:t> </a:t>
              </a:r>
              <a:r>
                <a:rPr b="0" lang="fr-FR" sz="850" spc="-1" strike="noStrike">
                  <a:solidFill>
                    <a:srgbClr val="145c30"/>
                  </a:solidFill>
                  <a:latin typeface="Marianne"/>
                </a:rPr>
                <a:t>Risques climatiques</a:t>
              </a:r>
              <a:endParaRPr b="0" lang="fr-FR" sz="850" spc="-1" strike="noStrike">
                <a:solidFill>
                  <a:srgbClr val="000000"/>
                </a:solidFill>
                <a:latin typeface="Arial"/>
              </a:endParaRPr>
            </a:p>
          </p:txBody>
        </p:sp>
      </p:grpSp>
      <p:grpSp>
        <p:nvGrpSpPr>
          <p:cNvPr id="44" name="Group 59"/>
          <p:cNvGrpSpPr/>
          <p:nvPr/>
        </p:nvGrpSpPr>
        <p:grpSpPr>
          <a:xfrm>
            <a:off x="666360" y="5553360"/>
            <a:ext cx="6879960" cy="2293920"/>
            <a:chOff x="666360" y="5553360"/>
            <a:chExt cx="6879960" cy="2293920"/>
          </a:xfrm>
        </p:grpSpPr>
        <p:cxnSp>
          <p:nvCxnSpPr>
            <p:cNvPr id="45" name="Straight Connector 42"/>
            <p:cNvCxnSpPr/>
            <p:nvPr/>
          </p:nvCxnSpPr>
          <p:spPr>
            <a:xfrm>
              <a:off x="1298160" y="5588640"/>
              <a:ext cx="4680" cy="426600"/>
            </a:xfrm>
            <a:prstGeom prst="straightConnector1">
              <a:avLst/>
            </a:prstGeom>
            <a:ln w="3175">
              <a:solidFill>
                <a:srgbClr val="a6a6a6"/>
              </a:solidFill>
              <a:round/>
            </a:ln>
          </p:spPr>
        </p:cxnSp>
        <p:sp>
          <p:nvSpPr>
            <p:cNvPr id="46" name="TextBox 43"/>
            <p:cNvSpPr/>
            <p:nvPr/>
          </p:nvSpPr>
          <p:spPr>
            <a:xfrm>
              <a:off x="1342440" y="5553360"/>
              <a:ext cx="5605200" cy="528480"/>
            </a:xfrm>
            <a:prstGeom prst="rect">
              <a:avLst/>
            </a:prstGeom>
            <a:noFill/>
            <a:ln w="0">
              <a:noFill/>
            </a:ln>
          </p:spPr>
          <p:style>
            <a:lnRef idx="0"/>
            <a:fillRef idx="0"/>
            <a:effectRef idx="0"/>
            <a:fontRef idx="minor"/>
          </p:style>
          <p:txBody>
            <a:bodyPr lIns="90000" rIns="90000" tIns="45000" bIns="45000" anchor="t">
              <a:spAutoFit/>
            </a:bodyPr>
            <a:p>
              <a:pPr marL="11160" defTabSz="457200">
                <a:lnSpc>
                  <a:spcPct val="120000"/>
                </a:lnSpc>
              </a:pPr>
              <a:r>
                <a:rPr b="1" lang="fr-FR" sz="2400" spc="-1" strike="noStrike">
                  <a:solidFill>
                    <a:schemeClr val="dk1"/>
                  </a:solidFill>
                  <a:latin typeface="Marianne"/>
                  <a:ea typeface="Arial"/>
                </a:rPr>
                <a:t>Social</a:t>
              </a:r>
              <a:endParaRPr b="0" lang="fr-FR" sz="2400" spc="-1" strike="noStrike">
                <a:solidFill>
                  <a:srgbClr val="000000"/>
                </a:solidFill>
                <a:latin typeface="Arial"/>
              </a:endParaRPr>
            </a:p>
          </p:txBody>
        </p:sp>
        <p:sp>
          <p:nvSpPr>
            <p:cNvPr id="47" name="Round Same-side Corner of Rectangle 44"/>
            <p:cNvSpPr/>
            <p:nvPr/>
          </p:nvSpPr>
          <p:spPr>
            <a:xfrm rot="16200000">
              <a:off x="3988080" y="2827800"/>
              <a:ext cx="236160" cy="6879960"/>
            </a:xfrm>
            <a:prstGeom prst="round2SameRect">
              <a:avLst>
                <a:gd name="adj1" fmla="val 26772"/>
                <a:gd name="adj2" fmla="val 0"/>
              </a:avLst>
            </a:prstGeom>
            <a:solidFill>
              <a:srgbClr val="ff5555">
                <a:alpha val="7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8d2f2f"/>
                  </a:solidFill>
                  <a:latin typeface="Marianne"/>
                </a:rPr>
                <a:t>B8</a:t>
              </a:r>
              <a:r>
                <a:rPr b="0" lang="fr-FR" sz="850" spc="-1" strike="noStrike">
                  <a:solidFill>
                    <a:srgbClr val="8d2f2f"/>
                  </a:solidFill>
                  <a:latin typeface="Marianne Medium"/>
                </a:rPr>
                <a:t> </a:t>
              </a:r>
              <a:r>
                <a:rPr b="0" lang="fr-FR" sz="850" spc="-1" strike="noStrike">
                  <a:solidFill>
                    <a:srgbClr val="8d2f2f"/>
                  </a:solidFill>
                  <a:latin typeface="Marianne"/>
                </a:rPr>
                <a:t>Effectifs : caractéristiques générales</a:t>
              </a:r>
              <a:endParaRPr b="0" lang="fr-FR" sz="850" spc="-1" strike="noStrike">
                <a:solidFill>
                  <a:srgbClr val="ffffff"/>
                </a:solidFill>
                <a:latin typeface="Arial"/>
              </a:endParaRPr>
            </a:p>
          </p:txBody>
        </p:sp>
        <p:sp>
          <p:nvSpPr>
            <p:cNvPr id="48" name="Round Same-side Corner of Rectangle 45"/>
            <p:cNvSpPr/>
            <p:nvPr/>
          </p:nvSpPr>
          <p:spPr>
            <a:xfrm rot="16200000">
              <a:off x="3988080" y="3120120"/>
              <a:ext cx="236160" cy="6879960"/>
            </a:xfrm>
            <a:prstGeom prst="round2SameRect">
              <a:avLst>
                <a:gd name="adj1" fmla="val 26772"/>
                <a:gd name="adj2" fmla="val 0"/>
              </a:avLst>
            </a:prstGeom>
            <a:solidFill>
              <a:srgbClr val="ff5555">
                <a:alpha val="7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8d2f2f"/>
                  </a:solidFill>
                  <a:latin typeface="Marianne"/>
                </a:rPr>
                <a:t>B9</a:t>
              </a:r>
              <a:r>
                <a:rPr b="0" lang="fr-FR" sz="850" spc="-1" strike="noStrike">
                  <a:solidFill>
                    <a:srgbClr val="8d2f2f"/>
                  </a:solidFill>
                  <a:latin typeface="Marianne Medium"/>
                </a:rPr>
                <a:t> </a:t>
              </a:r>
              <a:r>
                <a:rPr b="0" lang="fr-FR" sz="850" spc="-1" strike="noStrike">
                  <a:solidFill>
                    <a:srgbClr val="8d2f2f"/>
                  </a:solidFill>
                  <a:latin typeface="Marianne"/>
                </a:rPr>
                <a:t>Effectifs : santé et sécurité</a:t>
              </a:r>
              <a:endParaRPr b="0" lang="fr-FR" sz="850" spc="-1" strike="noStrike">
                <a:solidFill>
                  <a:srgbClr val="ffffff"/>
                </a:solidFill>
                <a:latin typeface="Arial"/>
              </a:endParaRPr>
            </a:p>
          </p:txBody>
        </p:sp>
        <p:sp>
          <p:nvSpPr>
            <p:cNvPr id="49" name="Round Same-side Corner of Rectangle 46"/>
            <p:cNvSpPr/>
            <p:nvPr/>
          </p:nvSpPr>
          <p:spPr>
            <a:xfrm rot="16200000">
              <a:off x="3988080" y="3412440"/>
              <a:ext cx="236160" cy="6879960"/>
            </a:xfrm>
            <a:prstGeom prst="round2SameRect">
              <a:avLst>
                <a:gd name="adj1" fmla="val 26772"/>
                <a:gd name="adj2" fmla="val 0"/>
              </a:avLst>
            </a:prstGeom>
            <a:solidFill>
              <a:srgbClr val="ff5555">
                <a:alpha val="7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8d2f2f"/>
                  </a:solidFill>
                  <a:latin typeface="Marianne"/>
                </a:rPr>
                <a:t>B10</a:t>
              </a:r>
              <a:r>
                <a:rPr b="0" lang="fr-FR" sz="850" spc="-1" strike="noStrike">
                  <a:solidFill>
                    <a:srgbClr val="8d2f2f"/>
                  </a:solidFill>
                  <a:latin typeface="Marianne Medium"/>
                </a:rPr>
                <a:t> </a:t>
              </a:r>
              <a:r>
                <a:rPr b="0" lang="fr-FR" sz="850" spc="-1" strike="noStrike">
                  <a:solidFill>
                    <a:srgbClr val="8d2f2f"/>
                  </a:solidFill>
                  <a:latin typeface="Marianne"/>
                </a:rPr>
                <a:t>Effectifs : rémunération, négociation collective et formation</a:t>
              </a:r>
              <a:endParaRPr b="0" lang="fr-FR" sz="850" spc="-1" strike="noStrike">
                <a:solidFill>
                  <a:srgbClr val="ffffff"/>
                </a:solidFill>
                <a:latin typeface="Arial"/>
              </a:endParaRPr>
            </a:p>
          </p:txBody>
        </p:sp>
        <p:sp>
          <p:nvSpPr>
            <p:cNvPr id="50" name="Round Same-side Corner of Rectangle 47"/>
            <p:cNvSpPr/>
            <p:nvPr/>
          </p:nvSpPr>
          <p:spPr>
            <a:xfrm rot="16200000">
              <a:off x="3988080" y="3704400"/>
              <a:ext cx="236160" cy="6879960"/>
            </a:xfrm>
            <a:prstGeom prst="round2SameRect">
              <a:avLst>
                <a:gd name="adj1" fmla="val 26772"/>
                <a:gd name="adj2" fmla="val 0"/>
              </a:avLst>
            </a:prstGeom>
            <a:solidFill>
              <a:srgbClr val="ff5555">
                <a:alpha val="7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8d2f2f"/>
                  </a:solidFill>
                  <a:latin typeface="Marianne"/>
                </a:rPr>
                <a:t>C5</a:t>
              </a:r>
              <a:r>
                <a:rPr b="0" lang="fr-FR" sz="850" spc="-1" strike="noStrike">
                  <a:solidFill>
                    <a:srgbClr val="8d2f2f"/>
                  </a:solidFill>
                  <a:latin typeface="Marianne Medium"/>
                </a:rPr>
                <a:t> </a:t>
              </a:r>
              <a:r>
                <a:rPr b="0" lang="fr-FR" sz="850" spc="-1" strike="noStrike">
                  <a:solidFill>
                    <a:srgbClr val="8d2f2f"/>
                  </a:solidFill>
                  <a:latin typeface="Marianne"/>
                </a:rPr>
                <a:t>Caractéristiques supplémentaires (générales) des effectifs</a:t>
              </a:r>
              <a:endParaRPr b="0" lang="fr-FR" sz="850" spc="-1" strike="noStrike">
                <a:solidFill>
                  <a:srgbClr val="ffffff"/>
                </a:solidFill>
                <a:latin typeface="Arial"/>
              </a:endParaRPr>
            </a:p>
          </p:txBody>
        </p:sp>
        <p:sp>
          <p:nvSpPr>
            <p:cNvPr id="51" name="Round Same-side Corner of Rectangle 48"/>
            <p:cNvSpPr/>
            <p:nvPr/>
          </p:nvSpPr>
          <p:spPr>
            <a:xfrm rot="16200000">
              <a:off x="3988080" y="3996720"/>
              <a:ext cx="236160" cy="6879960"/>
            </a:xfrm>
            <a:prstGeom prst="round2SameRect">
              <a:avLst>
                <a:gd name="adj1" fmla="val 26772"/>
                <a:gd name="adj2" fmla="val 0"/>
              </a:avLst>
            </a:prstGeom>
            <a:solidFill>
              <a:srgbClr val="ff5555">
                <a:alpha val="7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8d2f2f"/>
                  </a:solidFill>
                  <a:latin typeface="Marianne"/>
                </a:rPr>
                <a:t>C6</a:t>
              </a:r>
              <a:r>
                <a:rPr b="0" lang="fr-FR" sz="850" spc="-1" strike="noStrike">
                  <a:solidFill>
                    <a:srgbClr val="8d2f2f"/>
                  </a:solidFill>
                  <a:latin typeface="Marianne Medium"/>
                </a:rPr>
                <a:t> </a:t>
              </a:r>
              <a:r>
                <a:rPr b="0" lang="fr-FR" sz="850" spc="-1" strike="noStrike">
                  <a:solidFill>
                    <a:srgbClr val="8d2f2f"/>
                  </a:solidFill>
                  <a:latin typeface="Marianne"/>
                </a:rPr>
                <a:t>Informations complémentaires sur les effectifs de l'entreprise – Politiques et procédures en matière de droits de l’homme</a:t>
              </a:r>
              <a:endParaRPr b="0" lang="fr-FR" sz="850" spc="-1" strike="noStrike">
                <a:solidFill>
                  <a:srgbClr val="ffffff"/>
                </a:solidFill>
                <a:latin typeface="Arial"/>
              </a:endParaRPr>
            </a:p>
          </p:txBody>
        </p:sp>
        <p:sp>
          <p:nvSpPr>
            <p:cNvPr id="52" name="Round Same-side Corner of Rectangle 49"/>
            <p:cNvSpPr/>
            <p:nvPr/>
          </p:nvSpPr>
          <p:spPr>
            <a:xfrm rot="16200000">
              <a:off x="3988080" y="4289040"/>
              <a:ext cx="236160" cy="6879960"/>
            </a:xfrm>
            <a:prstGeom prst="round2SameRect">
              <a:avLst>
                <a:gd name="adj1" fmla="val 26772"/>
                <a:gd name="adj2" fmla="val 0"/>
              </a:avLst>
            </a:prstGeom>
            <a:solidFill>
              <a:srgbClr val="ff5555">
                <a:alpha val="7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8d2f2f"/>
                  </a:solidFill>
                  <a:latin typeface="Marianne"/>
                </a:rPr>
                <a:t>C7</a:t>
              </a:r>
              <a:r>
                <a:rPr b="0" lang="fr-FR" sz="850" spc="-1" strike="noStrike">
                  <a:solidFill>
                    <a:srgbClr val="8d2f2f"/>
                  </a:solidFill>
                  <a:latin typeface="Marianne Medium"/>
                </a:rPr>
                <a:t> </a:t>
              </a:r>
              <a:r>
                <a:rPr b="0" lang="fr-FR" sz="850" spc="-1" strike="noStrike">
                  <a:solidFill>
                    <a:srgbClr val="8d2f2f"/>
                  </a:solidFill>
                  <a:latin typeface="Marianne"/>
                </a:rPr>
                <a:t>Incidents graves en matière de droits de l’homme</a:t>
              </a:r>
              <a:endParaRPr b="0" lang="fr-FR" sz="850" spc="-1" strike="noStrike">
                <a:solidFill>
                  <a:srgbClr val="ffffff"/>
                </a:solidFill>
                <a:latin typeface="Arial"/>
              </a:endParaRPr>
            </a:p>
          </p:txBody>
        </p:sp>
      </p:grpSp>
      <p:grpSp>
        <p:nvGrpSpPr>
          <p:cNvPr id="53" name="Group 60"/>
          <p:cNvGrpSpPr/>
          <p:nvPr/>
        </p:nvGrpSpPr>
        <p:grpSpPr>
          <a:xfrm>
            <a:off x="666360" y="8128800"/>
            <a:ext cx="6879960" cy="1731600"/>
            <a:chOff x="666360" y="8128800"/>
            <a:chExt cx="6879960" cy="1731600"/>
          </a:xfrm>
        </p:grpSpPr>
        <p:sp>
          <p:nvSpPr>
            <p:cNvPr id="54" name="Round Same-side Corner of Rectangle 50"/>
            <p:cNvSpPr/>
            <p:nvPr/>
          </p:nvSpPr>
          <p:spPr>
            <a:xfrm rot="16200000">
              <a:off x="3988080" y="5425560"/>
              <a:ext cx="236160" cy="6879960"/>
            </a:xfrm>
            <a:prstGeom prst="round2SameRect">
              <a:avLst>
                <a:gd name="adj1" fmla="val 26772"/>
                <a:gd name="adj2" fmla="val 0"/>
              </a:avLst>
            </a:prstGeom>
            <a:solidFill>
              <a:srgbClr val="0175e9">
                <a:alpha val="7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064e9d"/>
                  </a:solidFill>
                  <a:latin typeface="Marianne"/>
                </a:rPr>
                <a:t>B11</a:t>
              </a:r>
              <a:r>
                <a:rPr b="0" lang="fr-FR" sz="850" spc="-1" strike="noStrike">
                  <a:solidFill>
                    <a:srgbClr val="064e9d"/>
                  </a:solidFill>
                  <a:latin typeface="Marianne Medium"/>
                </a:rPr>
                <a:t> </a:t>
              </a:r>
              <a:r>
                <a:rPr b="0" lang="fr-FR" sz="850" spc="-1" strike="noStrike">
                  <a:solidFill>
                    <a:srgbClr val="064e9d"/>
                  </a:solidFill>
                  <a:latin typeface="Marianne"/>
                </a:rPr>
                <a:t>Condamnations et amendes en matière de lutte contre la corruption et les actes de corruption</a:t>
              </a:r>
              <a:endParaRPr b="0" lang="fr-FR" sz="850" spc="-1" strike="noStrike">
                <a:solidFill>
                  <a:srgbClr val="ffffff"/>
                </a:solidFill>
                <a:latin typeface="Arial"/>
              </a:endParaRPr>
            </a:p>
          </p:txBody>
        </p:sp>
        <p:cxnSp>
          <p:nvCxnSpPr>
            <p:cNvPr id="55" name="Straight Connector 52"/>
            <p:cNvCxnSpPr/>
            <p:nvPr/>
          </p:nvCxnSpPr>
          <p:spPr>
            <a:xfrm>
              <a:off x="1246680" y="8164080"/>
              <a:ext cx="4680" cy="426240"/>
            </a:xfrm>
            <a:prstGeom prst="straightConnector1">
              <a:avLst/>
            </a:prstGeom>
            <a:ln w="3175">
              <a:solidFill>
                <a:srgbClr val="a6a6a6"/>
              </a:solidFill>
              <a:round/>
            </a:ln>
          </p:spPr>
        </p:cxnSp>
        <p:sp>
          <p:nvSpPr>
            <p:cNvPr id="56" name="TextBox 53"/>
            <p:cNvSpPr/>
            <p:nvPr/>
          </p:nvSpPr>
          <p:spPr>
            <a:xfrm>
              <a:off x="1290960" y="8128800"/>
              <a:ext cx="5605200" cy="528480"/>
            </a:xfrm>
            <a:prstGeom prst="rect">
              <a:avLst/>
            </a:prstGeom>
            <a:noFill/>
            <a:ln w="0">
              <a:noFill/>
            </a:ln>
          </p:spPr>
          <p:style>
            <a:lnRef idx="0"/>
            <a:fillRef idx="0"/>
            <a:effectRef idx="0"/>
            <a:fontRef idx="minor"/>
          </p:style>
          <p:txBody>
            <a:bodyPr lIns="90000" rIns="90000" tIns="45000" bIns="45000" anchor="t">
              <a:spAutoFit/>
            </a:bodyPr>
            <a:p>
              <a:pPr marL="11160" defTabSz="457200">
                <a:lnSpc>
                  <a:spcPct val="120000"/>
                </a:lnSpc>
              </a:pPr>
              <a:r>
                <a:rPr b="1" lang="fr-FR" sz="2400" spc="-1" strike="noStrike">
                  <a:solidFill>
                    <a:schemeClr val="dk1"/>
                  </a:solidFill>
                  <a:latin typeface="Marianne"/>
                  <a:ea typeface="Arial"/>
                </a:rPr>
                <a:t>Gouvernance</a:t>
              </a:r>
              <a:endParaRPr b="0" lang="fr-FR" sz="2400" spc="-1" strike="noStrike">
                <a:solidFill>
                  <a:srgbClr val="000000"/>
                </a:solidFill>
                <a:latin typeface="Arial"/>
              </a:endParaRPr>
            </a:p>
          </p:txBody>
        </p:sp>
        <p:sp>
          <p:nvSpPr>
            <p:cNvPr id="57" name="Round Same-side Corner of Rectangle 54"/>
            <p:cNvSpPr/>
            <p:nvPr/>
          </p:nvSpPr>
          <p:spPr>
            <a:xfrm rot="16200000">
              <a:off x="3988080" y="5717880"/>
              <a:ext cx="236160" cy="6879960"/>
            </a:xfrm>
            <a:prstGeom prst="round2SameRect">
              <a:avLst>
                <a:gd name="adj1" fmla="val 26772"/>
                <a:gd name="adj2" fmla="val 0"/>
              </a:avLst>
            </a:prstGeom>
            <a:solidFill>
              <a:srgbClr val="0175e9">
                <a:alpha val="7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064e9d"/>
                  </a:solidFill>
                  <a:latin typeface="Marianne"/>
                </a:rPr>
                <a:t>C8</a:t>
              </a:r>
              <a:r>
                <a:rPr b="0" lang="fr-FR" sz="850" spc="-1" strike="noStrike">
                  <a:solidFill>
                    <a:srgbClr val="064e9d"/>
                  </a:solidFill>
                  <a:latin typeface="Marianne Medium"/>
                </a:rPr>
                <a:t> </a:t>
              </a:r>
              <a:r>
                <a:rPr b="0" lang="fr-FR" sz="850" spc="-1" strike="noStrike">
                  <a:solidFill>
                    <a:srgbClr val="064e9d"/>
                  </a:solidFill>
                  <a:latin typeface="Marianne"/>
                </a:rPr>
                <a:t>Recettes de certains secteurs et exclusion des indices de référence de l'UE</a:t>
              </a:r>
              <a:endParaRPr b="0" lang="fr-FR" sz="850" spc="-1" strike="noStrike">
                <a:solidFill>
                  <a:srgbClr val="ffffff"/>
                </a:solidFill>
                <a:latin typeface="Arial"/>
              </a:endParaRPr>
            </a:p>
          </p:txBody>
        </p:sp>
        <p:sp>
          <p:nvSpPr>
            <p:cNvPr id="58" name="Round Same-side Corner of Rectangle 55"/>
            <p:cNvSpPr/>
            <p:nvPr/>
          </p:nvSpPr>
          <p:spPr>
            <a:xfrm rot="16200000">
              <a:off x="3988080" y="6010200"/>
              <a:ext cx="236160" cy="6879960"/>
            </a:xfrm>
            <a:prstGeom prst="round2SameRect">
              <a:avLst>
                <a:gd name="adj1" fmla="val 26772"/>
                <a:gd name="adj2" fmla="val 0"/>
              </a:avLst>
            </a:prstGeom>
            <a:solidFill>
              <a:srgbClr val="0175e9">
                <a:alpha val="7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064e9d"/>
                  </a:solidFill>
                  <a:latin typeface="Marianne"/>
                </a:rPr>
                <a:t>C8</a:t>
              </a:r>
              <a:r>
                <a:rPr b="0" lang="fr-FR" sz="850" spc="-1" strike="noStrike">
                  <a:solidFill>
                    <a:srgbClr val="064e9d"/>
                  </a:solidFill>
                  <a:latin typeface="Marianne Medium"/>
                </a:rPr>
                <a:t> </a:t>
              </a:r>
              <a:r>
                <a:rPr b="0" lang="fr-FR" sz="850" spc="-1" strike="noStrike">
                  <a:solidFill>
                    <a:srgbClr val="064e9d"/>
                  </a:solidFill>
                  <a:latin typeface="Marianne"/>
                </a:rPr>
                <a:t>Recettes de certains secteurs et exclusion des indices de référence de l'UE</a:t>
              </a:r>
              <a:endParaRPr b="0" lang="fr-FR" sz="850" spc="-1" strike="noStrike">
                <a:solidFill>
                  <a:srgbClr val="ffffff"/>
                </a:solidFill>
                <a:latin typeface="Arial"/>
              </a:endParaRPr>
            </a:p>
          </p:txBody>
        </p:sp>
        <p:sp>
          <p:nvSpPr>
            <p:cNvPr id="59" name="Round Same-side Corner of Rectangle 56"/>
            <p:cNvSpPr/>
            <p:nvPr/>
          </p:nvSpPr>
          <p:spPr>
            <a:xfrm rot="16200000">
              <a:off x="3988080" y="6302160"/>
              <a:ext cx="236160" cy="6879960"/>
            </a:xfrm>
            <a:prstGeom prst="round2SameRect">
              <a:avLst>
                <a:gd name="adj1" fmla="val 26772"/>
                <a:gd name="adj2" fmla="val 0"/>
              </a:avLst>
            </a:prstGeom>
            <a:solidFill>
              <a:srgbClr val="0175e9">
                <a:alpha val="7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064e9d"/>
                  </a:solidFill>
                  <a:latin typeface="Marianne"/>
                </a:rPr>
                <a:t>C9</a:t>
              </a:r>
              <a:r>
                <a:rPr b="0" lang="fr-FR" sz="850" spc="-1" strike="noStrike">
                  <a:solidFill>
                    <a:srgbClr val="064e9d"/>
                  </a:solidFill>
                  <a:latin typeface="Marianne Medium"/>
                </a:rPr>
                <a:t> </a:t>
              </a:r>
              <a:r>
                <a:rPr b="0" lang="fr-FR" sz="850" spc="-1" strike="noStrike">
                  <a:solidFill>
                    <a:srgbClr val="064e9d"/>
                  </a:solidFill>
                  <a:latin typeface="Marianne"/>
                </a:rPr>
                <a:t>Ratio femmes/hommes au sein de l'organe de gouvernance</a:t>
              </a:r>
              <a:endParaRPr b="0" lang="fr-FR" sz="850" spc="-1" strike="noStrike">
                <a:solidFill>
                  <a:srgbClr val="ffffff"/>
                </a:solidFill>
                <a:latin typeface="Arial"/>
              </a:endParaRPr>
            </a:p>
          </p:txBody>
        </p:sp>
      </p:grpSp>
      <p:pic>
        <p:nvPicPr>
          <p:cNvPr id="60" name="Graphic 5" descr=""/>
          <p:cNvPicPr/>
          <p:nvPr/>
        </p:nvPicPr>
        <p:blipFill>
          <a:blip r:embed="rId2">
            <a:extLst>
              <a:ext uri="{96DAC541-7B7A-43D3-8B79-37D633B846F1}">
                <asvg:svgBlip xmlns:asvg="http://schemas.microsoft.com/office/drawing/2016/SVG/main" r:embed="rId3"/>
              </a:ext>
            </a:extLst>
          </a:blip>
          <a:stretch/>
        </p:blipFill>
        <p:spPr>
          <a:xfrm>
            <a:off x="735120" y="2717280"/>
            <a:ext cx="391320" cy="391320"/>
          </a:xfrm>
          <a:prstGeom prst="rect">
            <a:avLst/>
          </a:prstGeom>
          <a:ln w="0">
            <a:noFill/>
          </a:ln>
        </p:spPr>
      </p:pic>
      <p:pic>
        <p:nvPicPr>
          <p:cNvPr id="61" name="Graphic 7" descr=""/>
          <p:cNvPicPr/>
          <p:nvPr/>
        </p:nvPicPr>
        <p:blipFill>
          <a:blip r:embed="rId4">
            <a:extLst>
              <a:ext uri="{96DAC541-7B7A-43D3-8B79-37D633B846F1}">
                <asvg:svgBlip xmlns:asvg="http://schemas.microsoft.com/office/drawing/2016/SVG/main" r:embed="rId5"/>
              </a:ext>
            </a:extLst>
          </a:blip>
          <a:stretch/>
        </p:blipFill>
        <p:spPr>
          <a:xfrm>
            <a:off x="735120" y="5606280"/>
            <a:ext cx="391320" cy="391320"/>
          </a:xfrm>
          <a:prstGeom prst="rect">
            <a:avLst/>
          </a:prstGeom>
          <a:ln w="0">
            <a:noFill/>
          </a:ln>
        </p:spPr>
      </p:pic>
      <p:pic>
        <p:nvPicPr>
          <p:cNvPr id="62" name="Graphic 11" descr=""/>
          <p:cNvPicPr/>
          <p:nvPr/>
        </p:nvPicPr>
        <p:blipFill>
          <a:blip r:embed="rId6">
            <a:extLst>
              <a:ext uri="{96DAC541-7B7A-43D3-8B79-37D633B846F1}">
                <asvg:svgBlip xmlns:asvg="http://schemas.microsoft.com/office/drawing/2016/SVG/main" r:embed="rId7"/>
              </a:ext>
            </a:extLst>
          </a:blip>
          <a:stretch/>
        </p:blipFill>
        <p:spPr>
          <a:xfrm>
            <a:off x="773280" y="8231400"/>
            <a:ext cx="355320" cy="355320"/>
          </a:xfrm>
          <a:prstGeom prst="rect">
            <a:avLst/>
          </a:prstGeom>
          <a:ln w="0">
            <a:noFill/>
          </a:ln>
        </p:spPr>
      </p:pic>
      <p:pic>
        <p:nvPicPr>
          <p:cNvPr id="63" name="Graphic 27" descr=""/>
          <p:cNvPicPr/>
          <p:nvPr/>
        </p:nvPicPr>
        <p:blipFill>
          <a:blip r:embed="rId8">
            <a:extLst>
              <a:ext uri="{96DAC541-7B7A-43D3-8B79-37D633B846F1}">
                <asvg:svgBlip xmlns:asvg="http://schemas.microsoft.com/office/drawing/2016/SVG/main" r:embed="rId9"/>
              </a:ext>
            </a:extLst>
          </a:blip>
          <a:stretch/>
        </p:blipFill>
        <p:spPr>
          <a:xfrm>
            <a:off x="735120" y="695880"/>
            <a:ext cx="391320" cy="391320"/>
          </a:xfrm>
          <a:prstGeom prst="rect">
            <a:avLst/>
          </a:prstGeom>
          <a:ln w="0">
            <a:noFill/>
          </a:ln>
        </p:spPr>
      </p:pic>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4" name="Picture 2" descr=""/>
          <p:cNvPicPr/>
          <p:nvPr/>
        </p:nvPicPr>
        <p:blipFill>
          <a:blip r:embed="rId1"/>
          <a:srcRect l="0" t="0" r="0" b="0"/>
          <a:stretch/>
        </p:blipFill>
        <p:spPr>
          <a:xfrm>
            <a:off x="-9000" y="0"/>
            <a:ext cx="7554960" cy="10773720"/>
          </a:xfrm>
          <a:prstGeom prst="rect">
            <a:avLst/>
          </a:prstGeom>
          <a:ln w="0">
            <a:noFill/>
          </a:ln>
        </p:spPr>
      </p:pic>
      <p:sp>
        <p:nvSpPr>
          <p:cNvPr id="65" name="Rectangle 9"/>
          <p:cNvSpPr/>
          <p:nvPr/>
        </p:nvSpPr>
        <p:spPr>
          <a:xfrm>
            <a:off x="0" y="3263400"/>
            <a:ext cx="7554960" cy="4160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66" name="Round Same-side Corner of Rectangle 3"/>
          <p:cNvSpPr/>
          <p:nvPr/>
        </p:nvSpPr>
        <p:spPr>
          <a:xfrm rot="16200000">
            <a:off x="3988080" y="1202040"/>
            <a:ext cx="236160" cy="6879960"/>
          </a:xfrm>
          <a:prstGeom prst="round2SameRect">
            <a:avLst>
              <a:gd name="adj1" fmla="val 26772"/>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chemeClr val="lt1">
                    <a:lumMod val="50000"/>
                  </a:schemeClr>
                </a:solidFill>
                <a:latin typeface="Marianne"/>
              </a:rPr>
              <a:t>B1</a:t>
            </a:r>
            <a:r>
              <a:rPr b="0" lang="fr-FR" sz="850" spc="-1" strike="noStrike">
                <a:solidFill>
                  <a:schemeClr val="lt1">
                    <a:lumMod val="50000"/>
                  </a:schemeClr>
                </a:solidFill>
                <a:latin typeface="Marianne Medium"/>
              </a:rPr>
              <a:t> </a:t>
            </a:r>
            <a:r>
              <a:rPr b="0" lang="fr-FR" sz="850" spc="-1" strike="noStrike">
                <a:solidFill>
                  <a:schemeClr val="lt1">
                    <a:lumMod val="50000"/>
                  </a:schemeClr>
                </a:solidFill>
                <a:latin typeface="Marianne"/>
              </a:rPr>
              <a:t>Base d’établissement</a:t>
            </a:r>
            <a:endParaRPr b="0" lang="fr-FR" sz="850" spc="-1" strike="noStrike">
              <a:solidFill>
                <a:srgbClr val="000000"/>
              </a:solidFill>
              <a:latin typeface="Arial"/>
            </a:endParaRPr>
          </a:p>
        </p:txBody>
      </p:sp>
      <p:cxnSp>
        <p:nvCxnSpPr>
          <p:cNvPr id="67" name="Straight Connector 14"/>
          <p:cNvCxnSpPr/>
          <p:nvPr/>
        </p:nvCxnSpPr>
        <p:spPr>
          <a:xfrm>
            <a:off x="1298160" y="3832560"/>
            <a:ext cx="4680" cy="426600"/>
          </a:xfrm>
          <a:prstGeom prst="straightConnector1">
            <a:avLst/>
          </a:prstGeom>
          <a:ln w="3175">
            <a:solidFill>
              <a:srgbClr val="a6a6a6"/>
            </a:solidFill>
            <a:round/>
          </a:ln>
        </p:spPr>
      </p:cxnSp>
      <p:sp>
        <p:nvSpPr>
          <p:cNvPr id="68" name="TextBox 15"/>
          <p:cNvSpPr/>
          <p:nvPr/>
        </p:nvSpPr>
        <p:spPr>
          <a:xfrm>
            <a:off x="1342440" y="3797280"/>
            <a:ext cx="5605200" cy="528480"/>
          </a:xfrm>
          <a:prstGeom prst="rect">
            <a:avLst/>
          </a:prstGeom>
          <a:noFill/>
          <a:ln w="0">
            <a:noFill/>
          </a:ln>
        </p:spPr>
        <p:style>
          <a:lnRef idx="0"/>
          <a:fillRef idx="0"/>
          <a:effectRef idx="0"/>
          <a:fontRef idx="minor"/>
        </p:style>
        <p:txBody>
          <a:bodyPr lIns="90000" rIns="90000" tIns="45000" bIns="45000" anchor="t">
            <a:spAutoFit/>
          </a:bodyPr>
          <a:p>
            <a:pPr marL="11160" defTabSz="457200">
              <a:lnSpc>
                <a:spcPct val="120000"/>
              </a:lnSpc>
            </a:pPr>
            <a:r>
              <a:rPr b="1" lang="fr-FR" sz="2400" spc="-1" strike="noStrike">
                <a:solidFill>
                  <a:schemeClr val="dk1"/>
                </a:solidFill>
                <a:latin typeface="Marianne"/>
                <a:ea typeface="Arial"/>
              </a:rPr>
              <a:t>Informations générales</a:t>
            </a:r>
            <a:endParaRPr b="0" lang="fr-FR" sz="2400" spc="-1" strike="noStrike">
              <a:solidFill>
                <a:srgbClr val="000000"/>
              </a:solidFill>
              <a:latin typeface="Arial"/>
            </a:endParaRPr>
          </a:p>
        </p:txBody>
      </p:sp>
      <p:sp>
        <p:nvSpPr>
          <p:cNvPr id="69" name="Round Same-side Corner of Rectangle 21"/>
          <p:cNvSpPr/>
          <p:nvPr/>
        </p:nvSpPr>
        <p:spPr>
          <a:xfrm rot="16200000">
            <a:off x="3988080" y="1494000"/>
            <a:ext cx="236160" cy="6879960"/>
          </a:xfrm>
          <a:prstGeom prst="round2SameRect">
            <a:avLst>
              <a:gd name="adj1" fmla="val 26772"/>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chemeClr val="lt1">
                    <a:lumMod val="50000"/>
                  </a:schemeClr>
                </a:solidFill>
                <a:latin typeface="Marianne"/>
              </a:rPr>
              <a:t>B2</a:t>
            </a:r>
            <a:r>
              <a:rPr b="0" lang="fr-FR" sz="850" spc="-1" strike="noStrike">
                <a:solidFill>
                  <a:schemeClr val="lt1">
                    <a:lumMod val="50000"/>
                  </a:schemeClr>
                </a:solidFill>
                <a:latin typeface="Marianne Medium"/>
              </a:rPr>
              <a:t> </a:t>
            </a:r>
            <a:r>
              <a:rPr b="0" lang="fr-FR" sz="850" spc="-1" strike="noStrike">
                <a:solidFill>
                  <a:schemeClr val="lt1">
                    <a:lumMod val="50000"/>
                  </a:schemeClr>
                </a:solidFill>
                <a:latin typeface="Marianne"/>
              </a:rPr>
              <a:t>Pratiques, politiques et initiatives futures pour une transition vers une économie plus durable</a:t>
            </a:r>
            <a:endParaRPr b="0" lang="fr-FR" sz="850" spc="-1" strike="noStrike">
              <a:solidFill>
                <a:srgbClr val="000000"/>
              </a:solidFill>
              <a:latin typeface="Arial"/>
            </a:endParaRPr>
          </a:p>
        </p:txBody>
      </p:sp>
      <p:sp>
        <p:nvSpPr>
          <p:cNvPr id="70" name="Round Same-side Corner of Rectangle 22"/>
          <p:cNvSpPr/>
          <p:nvPr/>
        </p:nvSpPr>
        <p:spPr>
          <a:xfrm rot="16200000">
            <a:off x="3988080" y="1786320"/>
            <a:ext cx="236160" cy="6879960"/>
          </a:xfrm>
          <a:prstGeom prst="round2SameRect">
            <a:avLst>
              <a:gd name="adj1" fmla="val 26772"/>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chemeClr val="lt1">
                    <a:lumMod val="50000"/>
                  </a:schemeClr>
                </a:solidFill>
                <a:latin typeface="Marianne"/>
              </a:rPr>
              <a:t>C1</a:t>
            </a:r>
            <a:r>
              <a:rPr b="0" lang="fr-FR" sz="850" spc="-1" strike="noStrike">
                <a:solidFill>
                  <a:schemeClr val="lt1">
                    <a:lumMod val="50000"/>
                  </a:schemeClr>
                </a:solidFill>
                <a:latin typeface="Marianne Medium"/>
              </a:rPr>
              <a:t> </a:t>
            </a:r>
            <a:r>
              <a:rPr b="0" lang="fr-FR" sz="850" spc="-1" strike="noStrike">
                <a:solidFill>
                  <a:schemeClr val="lt1">
                    <a:lumMod val="50000"/>
                  </a:schemeClr>
                </a:solidFill>
                <a:latin typeface="Marianne"/>
              </a:rPr>
              <a:t>Stratégie : modèle économique et initiatives liées à la durabilité </a:t>
            </a:r>
            <a:endParaRPr b="0" lang="fr-FR" sz="850" spc="-1" strike="noStrike">
              <a:solidFill>
                <a:srgbClr val="000000"/>
              </a:solidFill>
              <a:latin typeface="Arial"/>
            </a:endParaRPr>
          </a:p>
        </p:txBody>
      </p:sp>
      <p:sp>
        <p:nvSpPr>
          <p:cNvPr id="71" name="Round Same-side Corner of Rectangle 23"/>
          <p:cNvSpPr/>
          <p:nvPr/>
        </p:nvSpPr>
        <p:spPr>
          <a:xfrm rot="16200000">
            <a:off x="3988080" y="2078640"/>
            <a:ext cx="236160" cy="6879960"/>
          </a:xfrm>
          <a:prstGeom prst="round2SameRect">
            <a:avLst>
              <a:gd name="adj1" fmla="val 26772"/>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chemeClr val="lt1">
                    <a:lumMod val="50000"/>
                  </a:schemeClr>
                </a:solidFill>
                <a:latin typeface="Marianne"/>
              </a:rPr>
              <a:t>C2</a:t>
            </a:r>
            <a:r>
              <a:rPr b="0" lang="fr-FR" sz="850" spc="-1" strike="noStrike">
                <a:solidFill>
                  <a:schemeClr val="lt1">
                    <a:lumMod val="50000"/>
                  </a:schemeClr>
                </a:solidFill>
                <a:latin typeface="Marianne Medium"/>
              </a:rPr>
              <a:t> </a:t>
            </a:r>
            <a:r>
              <a:rPr b="0" lang="fr-FR" sz="850" spc="-1" strike="noStrike">
                <a:solidFill>
                  <a:schemeClr val="lt1">
                    <a:lumMod val="50000"/>
                  </a:schemeClr>
                </a:solidFill>
                <a:latin typeface="Marianne"/>
              </a:rPr>
              <a:t>Description des pratiques, des politiques et des initiatives futures pour une transition vers une économie plus durable</a:t>
            </a:r>
            <a:endParaRPr b="0" lang="fr-FR" sz="850" spc="-1" strike="noStrike">
              <a:solidFill>
                <a:srgbClr val="000000"/>
              </a:solidFill>
              <a:latin typeface="Arial"/>
            </a:endParaRPr>
          </a:p>
        </p:txBody>
      </p:sp>
      <p:pic>
        <p:nvPicPr>
          <p:cNvPr id="72" name="Graphic 27" descr=""/>
          <p:cNvPicPr/>
          <p:nvPr/>
        </p:nvPicPr>
        <p:blipFill>
          <a:blip r:embed="rId2">
            <a:extLst>
              <a:ext uri="{96DAC541-7B7A-43D3-8B79-37D633B846F1}">
                <asvg:svgBlip xmlns:asvg="http://schemas.microsoft.com/office/drawing/2016/SVG/main" r:embed="rId3"/>
              </a:ext>
            </a:extLst>
          </a:blip>
          <a:stretch/>
        </p:blipFill>
        <p:spPr>
          <a:xfrm>
            <a:off x="735120" y="3833280"/>
            <a:ext cx="391320" cy="391320"/>
          </a:xfrm>
          <a:prstGeom prst="rect">
            <a:avLst/>
          </a:prstGeom>
          <a:ln w="0">
            <a:noFill/>
          </a:ln>
        </p:spPr>
      </p:pic>
      <p:sp>
        <p:nvSpPr>
          <p:cNvPr id="73" name="TextBox 1"/>
          <p:cNvSpPr/>
          <p:nvPr/>
        </p:nvSpPr>
        <p:spPr>
          <a:xfrm>
            <a:off x="666360" y="5916600"/>
            <a:ext cx="6281280" cy="821160"/>
          </a:xfrm>
          <a:prstGeom prst="rect">
            <a:avLst/>
          </a:prstGeom>
          <a:noFill/>
          <a:ln w="0">
            <a:noFill/>
          </a:ln>
        </p:spPr>
        <p:style>
          <a:lnRef idx="0"/>
          <a:fillRef idx="0"/>
          <a:effectRef idx="0"/>
          <a:fontRef idx="minor"/>
        </p:style>
        <p:txBody>
          <a:bodyPr lIns="90000" rIns="90000" tIns="45000" bIns="45000" anchor="t">
            <a:spAutoFit/>
          </a:bodyPr>
          <a:p>
            <a:pPr marL="11160" algn="just" defTabSz="457200">
              <a:lnSpc>
                <a:spcPct val="120000"/>
              </a:lnSpc>
              <a:spcAft>
                <a:spcPts val="601"/>
              </a:spcAft>
            </a:pPr>
            <a:r>
              <a:rPr b="0" lang="fr-FR" sz="1000" spc="-1" strike="noStrike">
                <a:solidFill>
                  <a:schemeClr val="dk1"/>
                </a:solidFill>
                <a:latin typeface="Marianne Light"/>
                <a:ea typeface="Arial"/>
              </a:rPr>
              <a:t>Cette première partie présente les éléments de contexte nécessaires à la compréhension du profil de notre entreprise. Ce socle descriptif permet de situer les données et indicateurs présentés dans les autres parties, d’en assurer la cohérence et de garantir une lecture claire et proportionnée des métriques communiquées.</a:t>
            </a:r>
            <a:endParaRPr b="0" lang="fr-FR" sz="10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4" name="Picture 2" descr=""/>
          <p:cNvPicPr/>
          <p:nvPr/>
        </p:nvPicPr>
        <p:blipFill>
          <a:blip r:embed="rId1"/>
          <a:srcRect l="0" t="0" r="0" b="0"/>
          <a:stretch/>
        </p:blipFill>
        <p:spPr>
          <a:xfrm>
            <a:off x="-9000" y="0"/>
            <a:ext cx="7554960" cy="10773720"/>
          </a:xfrm>
          <a:prstGeom prst="rect">
            <a:avLst/>
          </a:prstGeom>
          <a:ln w="0">
            <a:noFill/>
          </a:ln>
        </p:spPr>
      </p:pic>
      <p:sp>
        <p:nvSpPr>
          <p:cNvPr id="75"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76" name="Rounded Rectangle 3"/>
          <p:cNvSpPr/>
          <p:nvPr/>
        </p:nvSpPr>
        <p:spPr>
          <a:xfrm rot="16200000">
            <a:off x="3985560" y="-322560"/>
            <a:ext cx="394560" cy="6151320"/>
          </a:xfrm>
          <a:prstGeom prst="roundRect">
            <a:avLst>
              <a:gd name="adj"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chemeClr val="lt1">
                    <a:lumMod val="50000"/>
                  </a:schemeClr>
                </a:solidFill>
                <a:latin typeface="Marianne"/>
              </a:rPr>
              <a:t>B1</a:t>
            </a:r>
            <a:r>
              <a:rPr b="0" lang="fr-FR" sz="1400" spc="-1" strike="noStrike">
                <a:solidFill>
                  <a:schemeClr val="lt1">
                    <a:lumMod val="50000"/>
                  </a:schemeClr>
                </a:solidFill>
                <a:latin typeface="Marianne Medium"/>
              </a:rPr>
              <a:t> </a:t>
            </a:r>
            <a:r>
              <a:rPr b="0" lang="fr-FR" sz="1400" spc="-1" strike="noStrike">
                <a:solidFill>
                  <a:schemeClr val="lt1">
                    <a:lumMod val="50000"/>
                  </a:schemeClr>
                </a:solidFill>
                <a:latin typeface="Marianne"/>
              </a:rPr>
              <a:t>Base d’établissement</a:t>
            </a:r>
            <a:endParaRPr b="0" lang="fr-FR" sz="1400" spc="-1" strike="noStrike">
              <a:solidFill>
                <a:srgbClr val="000000"/>
              </a:solidFill>
              <a:latin typeface="Arial"/>
            </a:endParaRPr>
          </a:p>
        </p:txBody>
      </p:sp>
      <p:grpSp>
        <p:nvGrpSpPr>
          <p:cNvPr id="77" name="Group 28"/>
          <p:cNvGrpSpPr/>
          <p:nvPr/>
        </p:nvGrpSpPr>
        <p:grpSpPr>
          <a:xfrm>
            <a:off x="330120" y="2525400"/>
            <a:ext cx="567360" cy="425880"/>
            <a:chOff x="330120" y="2525400"/>
            <a:chExt cx="567360" cy="425880"/>
          </a:xfrm>
        </p:grpSpPr>
        <p:cxnSp>
          <p:nvCxnSpPr>
            <p:cNvPr id="78" name="Straight Connector 17"/>
            <p:cNvCxnSpPr/>
            <p:nvPr/>
          </p:nvCxnSpPr>
          <p:spPr>
            <a:xfrm>
              <a:off x="893160" y="2525400"/>
              <a:ext cx="4680" cy="426240"/>
            </a:xfrm>
            <a:prstGeom prst="straightConnector1">
              <a:avLst/>
            </a:prstGeom>
            <a:ln w="3175">
              <a:solidFill>
                <a:srgbClr val="a6a6a6"/>
              </a:solidFill>
              <a:round/>
            </a:ln>
          </p:spPr>
        </p:cxnSp>
        <p:pic>
          <p:nvPicPr>
            <p:cNvPr id="79" name="Graphic 20" descr=""/>
            <p:cNvPicPr/>
            <p:nvPr/>
          </p:nvPicPr>
          <p:blipFill>
            <a:blip r:embed="rId2">
              <a:extLst>
                <a:ext uri="{96DAC541-7B7A-43D3-8B79-37D633B846F1}">
                  <asvg:svgBlip xmlns:asvg="http://schemas.microsoft.com/office/drawing/2016/SVG/main" r:embed="rId3"/>
                </a:ext>
              </a:extLst>
            </a:blip>
            <a:stretch/>
          </p:blipFill>
          <p:spPr>
            <a:xfrm>
              <a:off x="330120" y="2526120"/>
              <a:ext cx="391320" cy="391320"/>
            </a:xfrm>
            <a:prstGeom prst="rect">
              <a:avLst/>
            </a:prstGeom>
            <a:ln w="0">
              <a:noFill/>
            </a:ln>
          </p:spPr>
        </p:pic>
      </p:grpSp>
      <p:sp>
        <p:nvSpPr>
          <p:cNvPr id="80" name="TextBox 4"/>
          <p:cNvSpPr/>
          <p:nvPr/>
        </p:nvSpPr>
        <p:spPr>
          <a:xfrm>
            <a:off x="313920" y="187200"/>
            <a:ext cx="188712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Informations générales</a:t>
            </a:r>
            <a:endParaRPr b="0" lang="fr-FR" sz="1100" spc="-1" strike="noStrike">
              <a:solidFill>
                <a:srgbClr val="000000"/>
              </a:solidFill>
              <a:latin typeface="Arial"/>
            </a:endParaRPr>
          </a:p>
        </p:txBody>
      </p:sp>
      <p:sp>
        <p:nvSpPr>
          <p:cNvPr id="81" name="TextBox 5"/>
          <p:cNvSpPr/>
          <p:nvPr/>
        </p:nvSpPr>
        <p:spPr>
          <a:xfrm>
            <a:off x="3666600" y="187200"/>
            <a:ext cx="61776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Social</a:t>
            </a:r>
            <a:endParaRPr b="0" lang="fr-FR" sz="1100" spc="-1" strike="noStrike">
              <a:solidFill>
                <a:srgbClr val="ffffff"/>
              </a:solidFill>
              <a:latin typeface="Arial"/>
            </a:endParaRPr>
          </a:p>
        </p:txBody>
      </p:sp>
      <p:sp>
        <p:nvSpPr>
          <p:cNvPr id="82" name="TextBox 6"/>
          <p:cNvSpPr/>
          <p:nvPr/>
        </p:nvSpPr>
        <p:spPr>
          <a:xfrm>
            <a:off x="2293560" y="187200"/>
            <a:ext cx="124884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Environnement</a:t>
            </a:r>
            <a:endParaRPr b="0" lang="fr-FR" sz="1100" spc="-1" strike="noStrike">
              <a:solidFill>
                <a:srgbClr val="ffffff"/>
              </a:solidFill>
              <a:latin typeface="Arial"/>
            </a:endParaRPr>
          </a:p>
        </p:txBody>
      </p:sp>
      <p:sp>
        <p:nvSpPr>
          <p:cNvPr id="83" name="TextBox 7"/>
          <p:cNvSpPr/>
          <p:nvPr/>
        </p:nvSpPr>
        <p:spPr>
          <a:xfrm>
            <a:off x="4407840" y="187200"/>
            <a:ext cx="111780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Gouvernance</a:t>
            </a:r>
            <a:endParaRPr b="0" lang="fr-FR" sz="1100" spc="-1" strike="noStrike">
              <a:solidFill>
                <a:srgbClr val="ffffff"/>
              </a:solidFill>
              <a:latin typeface="Arial"/>
            </a:endParaRPr>
          </a:p>
        </p:txBody>
      </p:sp>
      <p:sp>
        <p:nvSpPr>
          <p:cNvPr id="84" name="B1-24-a"/>
          <p:cNvSpPr/>
          <p:nvPr/>
        </p:nvSpPr>
        <p:spPr>
          <a:xfrm>
            <a:off x="410400" y="3300120"/>
            <a:ext cx="3284640" cy="749520"/>
          </a:xfrm>
          <a:prstGeom prst="roundRect">
            <a:avLst>
              <a:gd name="adj" fmla="val 516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tabLst>
                <a:tab algn="l" pos="0"/>
              </a:tabLst>
            </a:pPr>
            <a:r>
              <a:rPr b="0" lang="fr-FR" sz="1200" spc="-1" strike="noStrike">
                <a:solidFill>
                  <a:srgbClr val="808080"/>
                </a:solidFill>
                <a:latin typeface="Marianne Light"/>
              </a:rPr>
              <a:t>Choix du module</a:t>
            </a:r>
            <a:endParaRPr b="0" lang="fr-FR" sz="1200" spc="-1" strike="noStrike">
              <a:solidFill>
                <a:srgbClr val="000000"/>
              </a:solidFill>
              <a:latin typeface="Arial"/>
            </a:endParaRPr>
          </a:p>
          <a:p>
            <a:pPr defTabSz="457200">
              <a:lnSpc>
                <a:spcPct val="100000"/>
              </a:lnSpc>
              <a:tabLst>
                <a:tab algn="l" pos="0"/>
              </a:tabLst>
            </a:pPr>
            <a:r>
              <a:rPr b="0" lang="fr-FR" sz="1200" spc="-1" strike="noStrike">
                <a:solidFill>
                  <a:srgbClr val="000000"/>
                </a:solidFill>
                <a:latin typeface="Marianne Medium"/>
              </a:rPr>
              <a:t>-</a:t>
            </a:r>
            <a:endParaRPr b="0" lang="fr-FR" sz="1200" spc="-1" strike="noStrike">
              <a:solidFill>
                <a:srgbClr val="000000"/>
              </a:solidFill>
              <a:latin typeface="Arial"/>
            </a:endParaRPr>
          </a:p>
        </p:txBody>
      </p:sp>
      <p:sp>
        <p:nvSpPr>
          <p:cNvPr id="85" name="B1-24-c"/>
          <p:cNvSpPr/>
          <p:nvPr/>
        </p:nvSpPr>
        <p:spPr>
          <a:xfrm>
            <a:off x="3859920" y="3300120"/>
            <a:ext cx="3284640" cy="749520"/>
          </a:xfrm>
          <a:prstGeom prst="roundRect">
            <a:avLst>
              <a:gd name="adj" fmla="val 516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tabLst>
                <a:tab algn="l" pos="0"/>
              </a:tabLst>
            </a:pPr>
            <a:r>
              <a:rPr b="0" lang="fr-FR" sz="1200" spc="-1" strike="noStrike">
                <a:solidFill>
                  <a:srgbClr val="808080"/>
                </a:solidFill>
                <a:latin typeface="Marianne Light"/>
              </a:rPr>
              <a:t>Type de périmètre</a:t>
            </a:r>
            <a:endParaRPr b="0" lang="fr-FR" sz="1200" spc="-1" strike="noStrike">
              <a:solidFill>
                <a:srgbClr val="000000"/>
              </a:solidFill>
              <a:latin typeface="Arial"/>
            </a:endParaRPr>
          </a:p>
          <a:p>
            <a:pPr defTabSz="457200">
              <a:lnSpc>
                <a:spcPct val="100000"/>
              </a:lnSpc>
              <a:tabLst>
                <a:tab algn="l" pos="0"/>
              </a:tabLst>
            </a:pPr>
            <a:r>
              <a:rPr b="0" lang="fr-FR" sz="1200" spc="-1" strike="noStrike">
                <a:solidFill>
                  <a:srgbClr val="000000"/>
                </a:solidFill>
                <a:latin typeface="Marianne Medium"/>
              </a:rPr>
              <a:t>-</a:t>
            </a:r>
            <a:endParaRPr b="0" lang="fr-FR" sz="1200" spc="-1" strike="noStrike">
              <a:solidFill>
                <a:srgbClr val="000000"/>
              </a:solidFill>
              <a:latin typeface="Arial"/>
            </a:endParaRPr>
          </a:p>
        </p:txBody>
      </p:sp>
      <p:sp>
        <p:nvSpPr>
          <p:cNvPr id="86" name="B1-24-e-iii"/>
          <p:cNvSpPr/>
          <p:nvPr/>
        </p:nvSpPr>
        <p:spPr>
          <a:xfrm>
            <a:off x="410400" y="7936560"/>
            <a:ext cx="3284640" cy="754920"/>
          </a:xfrm>
          <a:prstGeom prst="roundRect">
            <a:avLst>
              <a:gd name="adj" fmla="val 516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tabLst>
                <a:tab algn="l" pos="0"/>
              </a:tabLst>
            </a:pPr>
            <a:r>
              <a:rPr b="0" lang="fr-FR" sz="1200" spc="-1" strike="noStrike">
                <a:solidFill>
                  <a:srgbClr val="808080"/>
                </a:solidFill>
                <a:latin typeface="Marianne Light"/>
              </a:rPr>
              <a:t>Total du bilan (en euros)</a:t>
            </a:r>
            <a:endParaRPr b="0" lang="fr-FR" sz="1200" spc="-1" strike="noStrike">
              <a:solidFill>
                <a:srgbClr val="000000"/>
              </a:solidFill>
              <a:latin typeface="Arial"/>
            </a:endParaRPr>
          </a:p>
          <a:p>
            <a:pPr defTabSz="457200">
              <a:lnSpc>
                <a:spcPct val="100000"/>
              </a:lnSpc>
              <a:tabLst>
                <a:tab algn="l" pos="0"/>
              </a:tabLst>
            </a:pPr>
            <a:r>
              <a:rPr b="0" lang="fr-FR" sz="1200" spc="-1" strike="noStrike">
                <a:solidFill>
                  <a:srgbClr val="000000"/>
                </a:solidFill>
                <a:latin typeface="Marianne Medium"/>
              </a:rPr>
              <a:t>-</a:t>
            </a:r>
            <a:endParaRPr b="0" lang="fr-FR" sz="1200" spc="-1" strike="noStrike">
              <a:solidFill>
                <a:srgbClr val="000000"/>
              </a:solidFill>
              <a:latin typeface="Arial"/>
            </a:endParaRPr>
          </a:p>
        </p:txBody>
      </p:sp>
      <p:sp>
        <p:nvSpPr>
          <p:cNvPr id="87" name="B1-24-e-iv"/>
          <p:cNvSpPr/>
          <p:nvPr/>
        </p:nvSpPr>
        <p:spPr>
          <a:xfrm>
            <a:off x="3859920" y="7936560"/>
            <a:ext cx="3284640" cy="749520"/>
          </a:xfrm>
          <a:prstGeom prst="roundRect">
            <a:avLst>
              <a:gd name="adj" fmla="val 516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tabLst>
                <a:tab algn="l" pos="0"/>
              </a:tabLst>
            </a:pPr>
            <a:r>
              <a:rPr b="0" lang="fr-FR" sz="1200" spc="-1" strike="noStrike">
                <a:solidFill>
                  <a:srgbClr val="808080"/>
                </a:solidFill>
                <a:latin typeface="Marianne Light"/>
              </a:rPr>
              <a:t>Chiffre d'affaires (en euros)</a:t>
            </a:r>
            <a:endParaRPr b="0" lang="fr-FR" sz="1200" spc="-1" strike="noStrike">
              <a:solidFill>
                <a:srgbClr val="000000"/>
              </a:solidFill>
              <a:latin typeface="Arial"/>
            </a:endParaRPr>
          </a:p>
          <a:p>
            <a:pPr defTabSz="457200">
              <a:lnSpc>
                <a:spcPct val="100000"/>
              </a:lnSpc>
              <a:tabLst>
                <a:tab algn="l" pos="0"/>
              </a:tabLst>
            </a:pPr>
            <a:r>
              <a:rPr b="0" lang="fr-FR" sz="1200" spc="-1" strike="noStrike">
                <a:solidFill>
                  <a:srgbClr val="000000"/>
                </a:solidFill>
                <a:latin typeface="Marianne Medium"/>
              </a:rPr>
              <a:t>-</a:t>
            </a:r>
            <a:endParaRPr b="0" lang="fr-FR" sz="1200" spc="-1" strike="noStrike">
              <a:solidFill>
                <a:srgbClr val="000000"/>
              </a:solidFill>
              <a:latin typeface="Arial"/>
            </a:endParaRPr>
          </a:p>
        </p:txBody>
      </p:sp>
      <p:sp>
        <p:nvSpPr>
          <p:cNvPr id="88" name="B1-24-e-v_nombre_salaries"/>
          <p:cNvSpPr/>
          <p:nvPr/>
        </p:nvSpPr>
        <p:spPr>
          <a:xfrm>
            <a:off x="410400" y="8873280"/>
            <a:ext cx="3284640" cy="749520"/>
          </a:xfrm>
          <a:prstGeom prst="roundRect">
            <a:avLst>
              <a:gd name="adj" fmla="val 516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tabLst>
                <a:tab algn="l" pos="0"/>
              </a:tabLst>
            </a:pPr>
            <a:r>
              <a:rPr b="0" lang="fr-FR" sz="1200" spc="-1" strike="noStrike">
                <a:solidFill>
                  <a:srgbClr val="808080"/>
                </a:solidFill>
                <a:latin typeface="Marianne Light"/>
              </a:rPr>
              <a:t>Nombre de salariés</a:t>
            </a:r>
            <a:endParaRPr b="0" lang="fr-FR" sz="1200" spc="-1" strike="noStrike">
              <a:solidFill>
                <a:srgbClr val="000000"/>
              </a:solidFill>
              <a:latin typeface="Arial"/>
            </a:endParaRPr>
          </a:p>
          <a:p>
            <a:pPr defTabSz="457200">
              <a:lnSpc>
                <a:spcPct val="100000"/>
              </a:lnSpc>
              <a:tabLst>
                <a:tab algn="l" pos="0"/>
              </a:tabLst>
            </a:pPr>
            <a:r>
              <a:rPr b="0" lang="fr-FR" sz="1200" spc="-1" strike="noStrike">
                <a:solidFill>
                  <a:srgbClr val="000000"/>
                </a:solidFill>
                <a:latin typeface="Marianne Medium"/>
              </a:rPr>
              <a:t>-</a:t>
            </a:r>
            <a:endParaRPr b="0" lang="fr-FR" sz="1200" spc="-1" strike="noStrike">
              <a:solidFill>
                <a:srgbClr val="000000"/>
              </a:solidFill>
              <a:latin typeface="Arial"/>
            </a:endParaRPr>
          </a:p>
        </p:txBody>
      </p:sp>
      <p:sp>
        <p:nvSpPr>
          <p:cNvPr id="89" name="B1-24-e-i_forme_juridique"/>
          <p:cNvSpPr/>
          <p:nvPr/>
        </p:nvSpPr>
        <p:spPr>
          <a:xfrm>
            <a:off x="410400" y="4236840"/>
            <a:ext cx="6734160" cy="939600"/>
          </a:xfrm>
          <a:prstGeom prst="roundRect">
            <a:avLst>
              <a:gd name="adj" fmla="val 516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tabLst>
                <a:tab algn="l" pos="0"/>
              </a:tabLst>
            </a:pPr>
            <a:r>
              <a:rPr b="0" lang="fr-FR" sz="1200" spc="-1" strike="noStrike">
                <a:solidFill>
                  <a:srgbClr val="808080"/>
                </a:solidFill>
                <a:latin typeface="Marianne Light"/>
              </a:rPr>
              <a:t>Forme juridique</a:t>
            </a:r>
            <a:endParaRPr b="0" lang="fr-FR" sz="1200" spc="-1" strike="noStrike">
              <a:solidFill>
                <a:srgbClr val="000000"/>
              </a:solidFill>
              <a:latin typeface="Arial"/>
            </a:endParaRPr>
          </a:p>
          <a:p>
            <a:pPr defTabSz="457200">
              <a:lnSpc>
                <a:spcPct val="100000"/>
              </a:lnSpc>
              <a:tabLst>
                <a:tab algn="l" pos="0"/>
              </a:tabLst>
            </a:pPr>
            <a:r>
              <a:rPr b="0" lang="fr-FR" sz="1200" spc="-1" strike="noStrike">
                <a:solidFill>
                  <a:srgbClr val="000000"/>
                </a:solidFill>
                <a:latin typeface="Marianne Medium"/>
              </a:rPr>
              <a:t>-</a:t>
            </a:r>
            <a:endParaRPr b="0" lang="fr-FR" sz="1200" spc="-1" strike="noStrike">
              <a:solidFill>
                <a:srgbClr val="000000"/>
              </a:solidFill>
              <a:latin typeface="Arial"/>
            </a:endParaRPr>
          </a:p>
        </p:txBody>
      </p:sp>
      <p:sp>
        <p:nvSpPr>
          <p:cNvPr id="90" name="B1-24-e-i_coopérative"/>
          <p:cNvSpPr/>
          <p:nvPr/>
        </p:nvSpPr>
        <p:spPr>
          <a:xfrm>
            <a:off x="3859920" y="8873280"/>
            <a:ext cx="3284640" cy="749520"/>
          </a:xfrm>
          <a:prstGeom prst="roundRect">
            <a:avLst>
              <a:gd name="adj" fmla="val 516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tabLst>
                <a:tab algn="l" pos="0"/>
              </a:tabLst>
            </a:pPr>
            <a:r>
              <a:rPr b="0" lang="fr-FR" sz="1200" spc="-1" strike="noStrike">
                <a:solidFill>
                  <a:srgbClr val="808080"/>
                </a:solidFill>
                <a:latin typeface="Marianne Light"/>
              </a:rPr>
              <a:t>Coopérative</a:t>
            </a:r>
            <a:endParaRPr b="0" lang="fr-FR" sz="1200" spc="-1" strike="noStrike">
              <a:solidFill>
                <a:srgbClr val="000000"/>
              </a:solidFill>
              <a:latin typeface="Arial"/>
            </a:endParaRPr>
          </a:p>
          <a:p>
            <a:pPr defTabSz="457200">
              <a:lnSpc>
                <a:spcPct val="100000"/>
              </a:lnSpc>
              <a:tabLst>
                <a:tab algn="l" pos="0"/>
              </a:tabLst>
            </a:pPr>
            <a:r>
              <a:rPr b="0" lang="fr-FR" sz="1200" spc="-1" strike="noStrike">
                <a:solidFill>
                  <a:srgbClr val="000000"/>
                </a:solidFill>
                <a:latin typeface="Marianne Medium"/>
              </a:rPr>
              <a:t>-</a:t>
            </a:r>
            <a:endParaRPr b="0" lang="fr-FR" sz="1200" spc="-1" strike="noStrike">
              <a:solidFill>
                <a:srgbClr val="000000"/>
              </a:solidFill>
              <a:latin typeface="Arial"/>
            </a:endParaRPr>
          </a:p>
        </p:txBody>
      </p:sp>
      <p:sp>
        <p:nvSpPr>
          <p:cNvPr id="91" name="B1-24-e-ii"/>
          <p:cNvSpPr/>
          <p:nvPr/>
        </p:nvSpPr>
        <p:spPr>
          <a:xfrm>
            <a:off x="410400" y="5363640"/>
            <a:ext cx="6734160" cy="938520"/>
          </a:xfrm>
          <a:prstGeom prst="roundRect">
            <a:avLst>
              <a:gd name="adj" fmla="val 516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tabLst>
                <a:tab algn="l" pos="0"/>
              </a:tabLst>
            </a:pPr>
            <a:r>
              <a:rPr b="0" lang="fr-FR" sz="1200" spc="-1" strike="noStrike">
                <a:solidFill>
                  <a:srgbClr val="808080"/>
                </a:solidFill>
                <a:latin typeface="Marianne Light"/>
              </a:rPr>
              <a:t>Code(s) NACE</a:t>
            </a:r>
            <a:endParaRPr b="0" lang="fr-FR" sz="1200" spc="-1" strike="noStrike">
              <a:solidFill>
                <a:srgbClr val="000000"/>
              </a:solidFill>
              <a:latin typeface="Arial"/>
            </a:endParaRPr>
          </a:p>
          <a:p>
            <a:pPr defTabSz="457200">
              <a:lnSpc>
                <a:spcPct val="100000"/>
              </a:lnSpc>
              <a:tabLst>
                <a:tab algn="l" pos="0"/>
              </a:tabLst>
            </a:pPr>
            <a:r>
              <a:rPr b="0" lang="en-GB" sz="1200" spc="-1" strike="noStrike">
                <a:solidFill>
                  <a:srgbClr val="000000"/>
                </a:solidFill>
                <a:latin typeface="Marianne Medium"/>
              </a:rPr>
              <a:t>-</a:t>
            </a:r>
            <a:endParaRPr b="0" lang="fr-FR" sz="1200" spc="-1" strike="noStrike">
              <a:solidFill>
                <a:srgbClr val="000000"/>
              </a:solidFill>
              <a:latin typeface="Arial"/>
            </a:endParaRPr>
          </a:p>
        </p:txBody>
      </p:sp>
      <p:sp>
        <p:nvSpPr>
          <p:cNvPr id="92" name="B1-24-e-vi"/>
          <p:cNvSpPr/>
          <p:nvPr/>
        </p:nvSpPr>
        <p:spPr>
          <a:xfrm>
            <a:off x="410400" y="6489720"/>
            <a:ext cx="6734160" cy="1259280"/>
          </a:xfrm>
          <a:prstGeom prst="roundRect">
            <a:avLst>
              <a:gd name="adj" fmla="val 516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tabLst>
                <a:tab algn="l" pos="0"/>
              </a:tabLst>
            </a:pPr>
            <a:r>
              <a:rPr b="0" lang="fr-FR" sz="1200" spc="-1" strike="noStrike">
                <a:solidFill>
                  <a:srgbClr val="808080"/>
                </a:solidFill>
                <a:latin typeface="Marianne Light"/>
              </a:rPr>
              <a:t>Pays d'exercice</a:t>
            </a:r>
            <a:endParaRPr b="0" lang="fr-FR" sz="1200" spc="-1" strike="noStrike">
              <a:solidFill>
                <a:srgbClr val="000000"/>
              </a:solidFill>
              <a:latin typeface="Arial"/>
            </a:endParaRPr>
          </a:p>
          <a:p>
            <a:pPr defTabSz="457200">
              <a:lnSpc>
                <a:spcPct val="100000"/>
              </a:lnSpc>
              <a:tabLst>
                <a:tab algn="l" pos="0"/>
              </a:tabLst>
            </a:pPr>
            <a:r>
              <a:rPr b="0" lang="fr-FR" sz="1200" spc="-1" strike="noStrike">
                <a:solidFill>
                  <a:srgbClr val="000000"/>
                </a:solidFill>
                <a:latin typeface="Marianne Medium"/>
              </a:rPr>
              <a:t>-</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3" name="Picture 2" descr=""/>
          <p:cNvPicPr/>
          <p:nvPr/>
        </p:nvPicPr>
        <p:blipFill>
          <a:blip r:embed="rId1"/>
          <a:srcRect l="0" t="0" r="0" b="0"/>
          <a:stretch/>
        </p:blipFill>
        <p:spPr>
          <a:xfrm>
            <a:off x="-9000" y="0"/>
            <a:ext cx="7554960" cy="10773720"/>
          </a:xfrm>
          <a:prstGeom prst="rect">
            <a:avLst/>
          </a:prstGeom>
          <a:ln w="0">
            <a:noFill/>
          </a:ln>
        </p:spPr>
      </p:pic>
      <p:sp>
        <p:nvSpPr>
          <p:cNvPr id="94"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95" name="Rounded Rectangle 3"/>
          <p:cNvSpPr/>
          <p:nvPr/>
        </p:nvSpPr>
        <p:spPr>
          <a:xfrm rot="16200000">
            <a:off x="3985560" y="-322560"/>
            <a:ext cx="394560" cy="6151320"/>
          </a:xfrm>
          <a:prstGeom prst="roundRect">
            <a:avLst>
              <a:gd name="adj"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chemeClr val="lt1">
                    <a:lumMod val="50000"/>
                  </a:schemeClr>
                </a:solidFill>
                <a:latin typeface="Marianne"/>
              </a:rPr>
              <a:t>B1</a:t>
            </a:r>
            <a:r>
              <a:rPr b="0" lang="fr-FR" sz="1400" spc="-1" strike="noStrike">
                <a:solidFill>
                  <a:schemeClr val="lt1">
                    <a:lumMod val="50000"/>
                  </a:schemeClr>
                </a:solidFill>
                <a:latin typeface="Marianne Medium"/>
              </a:rPr>
              <a:t> </a:t>
            </a:r>
            <a:r>
              <a:rPr b="0" lang="fr-FR" sz="1400" spc="-1" strike="noStrike">
                <a:solidFill>
                  <a:schemeClr val="lt1">
                    <a:lumMod val="50000"/>
                  </a:schemeClr>
                </a:solidFill>
                <a:latin typeface="Marianne"/>
              </a:rPr>
              <a:t>Base d’établissement</a:t>
            </a:r>
            <a:endParaRPr b="0" lang="fr-FR" sz="1400" spc="-1" strike="noStrike">
              <a:solidFill>
                <a:srgbClr val="000000"/>
              </a:solidFill>
              <a:latin typeface="Arial"/>
            </a:endParaRPr>
          </a:p>
        </p:txBody>
      </p:sp>
      <p:grpSp>
        <p:nvGrpSpPr>
          <p:cNvPr id="96" name="Group 28"/>
          <p:cNvGrpSpPr/>
          <p:nvPr/>
        </p:nvGrpSpPr>
        <p:grpSpPr>
          <a:xfrm>
            <a:off x="330120" y="2525400"/>
            <a:ext cx="567360" cy="425880"/>
            <a:chOff x="330120" y="2525400"/>
            <a:chExt cx="567360" cy="425880"/>
          </a:xfrm>
        </p:grpSpPr>
        <p:cxnSp>
          <p:nvCxnSpPr>
            <p:cNvPr id="97" name="Straight Connector 17"/>
            <p:cNvCxnSpPr/>
            <p:nvPr/>
          </p:nvCxnSpPr>
          <p:spPr>
            <a:xfrm>
              <a:off x="893160" y="2525400"/>
              <a:ext cx="4680" cy="426240"/>
            </a:xfrm>
            <a:prstGeom prst="straightConnector1">
              <a:avLst/>
            </a:prstGeom>
            <a:ln w="3175">
              <a:solidFill>
                <a:srgbClr val="a6a6a6"/>
              </a:solidFill>
              <a:round/>
            </a:ln>
          </p:spPr>
        </p:cxnSp>
        <p:pic>
          <p:nvPicPr>
            <p:cNvPr id="98" name="Graphic 20" descr=""/>
            <p:cNvPicPr/>
            <p:nvPr/>
          </p:nvPicPr>
          <p:blipFill>
            <a:blip r:embed="rId2">
              <a:extLst>
                <a:ext uri="{96DAC541-7B7A-43D3-8B79-37D633B846F1}">
                  <asvg:svgBlip xmlns:asvg="http://schemas.microsoft.com/office/drawing/2016/SVG/main" r:embed="rId3"/>
                </a:ext>
              </a:extLst>
            </a:blip>
            <a:stretch/>
          </p:blipFill>
          <p:spPr>
            <a:xfrm>
              <a:off x="330120" y="2526120"/>
              <a:ext cx="391320" cy="391320"/>
            </a:xfrm>
            <a:prstGeom prst="rect">
              <a:avLst/>
            </a:prstGeom>
            <a:ln w="0">
              <a:noFill/>
            </a:ln>
          </p:spPr>
        </p:pic>
      </p:grpSp>
      <p:sp>
        <p:nvSpPr>
          <p:cNvPr id="99" name="TextBox 6"/>
          <p:cNvSpPr/>
          <p:nvPr/>
        </p:nvSpPr>
        <p:spPr>
          <a:xfrm>
            <a:off x="313920" y="187200"/>
            <a:ext cx="188712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Informations générales</a:t>
            </a:r>
            <a:endParaRPr b="0" lang="fr-FR" sz="1100" spc="-1" strike="noStrike">
              <a:solidFill>
                <a:srgbClr val="000000"/>
              </a:solidFill>
              <a:latin typeface="Arial"/>
            </a:endParaRPr>
          </a:p>
        </p:txBody>
      </p:sp>
      <p:sp>
        <p:nvSpPr>
          <p:cNvPr id="100" name="TextBox 7"/>
          <p:cNvSpPr/>
          <p:nvPr/>
        </p:nvSpPr>
        <p:spPr>
          <a:xfrm>
            <a:off x="3666600" y="187200"/>
            <a:ext cx="61776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Social</a:t>
            </a:r>
            <a:endParaRPr b="0" lang="fr-FR" sz="1100" spc="-1" strike="noStrike">
              <a:solidFill>
                <a:srgbClr val="ffffff"/>
              </a:solidFill>
              <a:latin typeface="Arial"/>
            </a:endParaRPr>
          </a:p>
        </p:txBody>
      </p:sp>
      <p:sp>
        <p:nvSpPr>
          <p:cNvPr id="101" name="TextBox 8"/>
          <p:cNvSpPr/>
          <p:nvPr/>
        </p:nvSpPr>
        <p:spPr>
          <a:xfrm>
            <a:off x="2293560" y="187200"/>
            <a:ext cx="124884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Environnement</a:t>
            </a:r>
            <a:endParaRPr b="0" lang="fr-FR" sz="1100" spc="-1" strike="noStrike">
              <a:solidFill>
                <a:srgbClr val="ffffff"/>
              </a:solidFill>
              <a:latin typeface="Arial"/>
            </a:endParaRPr>
          </a:p>
        </p:txBody>
      </p:sp>
      <p:sp>
        <p:nvSpPr>
          <p:cNvPr id="102" name="TextBox 9"/>
          <p:cNvSpPr/>
          <p:nvPr/>
        </p:nvSpPr>
        <p:spPr>
          <a:xfrm>
            <a:off x="4407840" y="187200"/>
            <a:ext cx="111780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Gouvernance</a:t>
            </a:r>
            <a:endParaRPr b="0" lang="fr-FR" sz="1100" spc="-1" strike="noStrike">
              <a:solidFill>
                <a:srgbClr val="ffffff"/>
              </a:solidFill>
              <a:latin typeface="Arial"/>
            </a:endParaRPr>
          </a:p>
        </p:txBody>
      </p:sp>
      <p:sp>
        <p:nvSpPr>
          <p:cNvPr id="103" name="B1-25_container"/>
          <p:cNvSpPr/>
          <p:nvPr/>
        </p:nvSpPr>
        <p:spPr>
          <a:xfrm>
            <a:off x="410400" y="3179520"/>
            <a:ext cx="6734160" cy="67924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08080"/>
                </a:solidFill>
                <a:latin typeface="Marianne Light"/>
              </a:rPr>
              <a:t>Liste des filiales incluses dans le rapport</a:t>
            </a:r>
            <a:endParaRPr b="0" lang="fr-FR" sz="1200" spc="-1" strike="noStrike">
              <a:solidFill>
                <a:srgbClr val="000000"/>
              </a:solidFill>
              <a:latin typeface="Arial"/>
            </a:endParaRPr>
          </a:p>
        </p:txBody>
      </p:sp>
      <p:graphicFrame>
        <p:nvGraphicFramePr>
          <p:cNvPr id="104" name="B1-25"/>
          <p:cNvGraphicFramePr/>
          <p:nvPr/>
        </p:nvGraphicFramePr>
        <p:xfrm>
          <a:off x="604080" y="3832920"/>
          <a:ext cx="6416640" cy="5992920"/>
        </p:xfrm>
        <a:graphic>
          <a:graphicData uri="http://schemas.openxmlformats.org/drawingml/2006/table">
            <a:tbl>
              <a:tblPr/>
              <a:tblGrid>
                <a:gridCol w="1283400"/>
                <a:gridCol w="1283400"/>
                <a:gridCol w="1283400"/>
                <a:gridCol w="1283400"/>
                <a:gridCol w="1283400"/>
              </a:tblGrid>
              <a:tr h="592200">
                <a:tc>
                  <a:txBody>
                    <a:bodyPr anchor="ctr">
                      <a:noAutofit/>
                    </a:bodyPr>
                    <a:p>
                      <a:pPr algn="ctr" defTabSz="756000">
                        <a:lnSpc>
                          <a:spcPct val="100000"/>
                        </a:lnSpc>
                      </a:pPr>
                      <a:r>
                        <a:rPr b="0" lang="en-FR" sz="1100" spc="-1" strike="noStrike">
                          <a:solidFill>
                            <a:schemeClr val="lt1">
                              <a:lumMod val="50000"/>
                            </a:schemeClr>
                          </a:solidFill>
                          <a:latin typeface="Marianne Light"/>
                        </a:rPr>
                        <a:t>Nom de la filiale</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38160">
                      <a:solidFill>
                        <a:srgbClr val="ffffff"/>
                      </a:solidFill>
                      <a:prstDash val="solid"/>
                    </a:lnB>
                    <a:solidFill>
                      <a:srgbClr val="ebeded"/>
                    </a:solidFill>
                  </a:tcPr>
                </a:tc>
                <a:tc>
                  <a:txBody>
                    <a:bodyPr anchor="ctr">
                      <a:noAutofit/>
                    </a:bodyPr>
                    <a:p>
                      <a:pPr algn="ctr" defTabSz="756000">
                        <a:lnSpc>
                          <a:spcPct val="100000"/>
                        </a:lnSpc>
                      </a:pPr>
                      <a:r>
                        <a:rPr b="0" lang="en-GB" sz="1100" spc="-1" strike="noStrike">
                          <a:solidFill>
                            <a:schemeClr val="lt1">
                              <a:lumMod val="50000"/>
                            </a:schemeClr>
                          </a:solidFill>
                          <a:latin typeface="Marianne Light"/>
                        </a:rPr>
                        <a:t>A</a:t>
                      </a:r>
                      <a:r>
                        <a:rPr b="0" lang="en-FR" sz="1100" spc="-1" strike="noStrike">
                          <a:solidFill>
                            <a:schemeClr val="lt1">
                              <a:lumMod val="50000"/>
                            </a:schemeClr>
                          </a:solidFill>
                          <a:latin typeface="Marianne Light"/>
                        </a:rPr>
                        <a:t>dresse légale</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38160">
                      <a:solidFill>
                        <a:srgbClr val="ffffff"/>
                      </a:solidFill>
                      <a:prstDash val="solid"/>
                    </a:lnB>
                    <a:solidFill>
                      <a:srgbClr val="ebeded"/>
                    </a:solidFill>
                  </a:tcPr>
                </a:tc>
                <a:tc>
                  <a:txBody>
                    <a:bodyPr anchor="ctr">
                      <a:noAutofit/>
                    </a:bodyPr>
                    <a:p>
                      <a:pPr algn="ctr" defTabSz="756000">
                        <a:lnSpc>
                          <a:spcPct val="100000"/>
                        </a:lnSpc>
                      </a:pPr>
                      <a:r>
                        <a:rPr b="0" lang="en-FR" sz="1100" spc="-1" strike="noStrike">
                          <a:solidFill>
                            <a:schemeClr val="lt1">
                              <a:lumMod val="50000"/>
                            </a:schemeClr>
                          </a:solidFill>
                          <a:latin typeface="Marianne Light"/>
                        </a:rPr>
                        <a:t>Pays</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38160">
                      <a:solidFill>
                        <a:srgbClr val="ffffff"/>
                      </a:solidFill>
                      <a:prstDash val="solid"/>
                    </a:lnB>
                    <a:solidFill>
                      <a:srgbClr val="ebeded"/>
                    </a:solidFill>
                  </a:tcPr>
                </a:tc>
                <a:tc>
                  <a:txBody>
                    <a:bodyPr anchor="ctr">
                      <a:noAutofit/>
                    </a:bodyPr>
                    <a:p>
                      <a:pPr algn="ctr" defTabSz="756000">
                        <a:lnSpc>
                          <a:spcPct val="100000"/>
                        </a:lnSpc>
                      </a:pPr>
                      <a:r>
                        <a:rPr b="0" lang="fr-FR" sz="1100" spc="-1" strike="noStrike">
                          <a:solidFill>
                            <a:schemeClr val="lt1">
                              <a:lumMod val="50000"/>
                            </a:schemeClr>
                          </a:solidFill>
                          <a:latin typeface="Marianne Light"/>
                        </a:rPr>
                        <a:t>Code postal</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38160">
                      <a:solidFill>
                        <a:srgbClr val="ffffff"/>
                      </a:solidFill>
                      <a:prstDash val="solid"/>
                    </a:lnB>
                    <a:solidFill>
                      <a:srgbClr val="ebeeed"/>
                    </a:solidFill>
                  </a:tcPr>
                </a:tc>
                <a:tc>
                  <a:txBody>
                    <a:bodyPr anchor="ctr">
                      <a:noAutofit/>
                    </a:bodyPr>
                    <a:p>
                      <a:pPr algn="ctr" defTabSz="756000">
                        <a:lnSpc>
                          <a:spcPct val="100000"/>
                        </a:lnSpc>
                      </a:pPr>
                      <a:r>
                        <a:rPr b="0" lang="fr-FR" sz="1100" spc="-1" strike="noStrike">
                          <a:solidFill>
                            <a:schemeClr val="lt1">
                              <a:lumMod val="50000"/>
                            </a:schemeClr>
                          </a:solidFill>
                          <a:latin typeface="Marianne Light"/>
                        </a:rPr>
                        <a:t>Commentaires</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38160">
                      <a:solidFill>
                        <a:srgbClr val="ffffff"/>
                      </a:solidFill>
                      <a:prstDash val="solid"/>
                    </a:lnB>
                    <a:solidFill>
                      <a:srgbClr val="ebeeed"/>
                    </a:solidFill>
                  </a:tcPr>
                </a:tc>
              </a:tr>
              <a:tr h="41544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41544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41544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41544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41544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41544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41544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41544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41544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41544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41544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41544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41544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2880">
                      <a:solidFill>
                        <a:srgbClr val="d9d9d9"/>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2880">
                      <a:solidFill>
                        <a:srgbClr val="d9d9d9"/>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2880">
                      <a:solidFill>
                        <a:srgbClr val="d9d9d9"/>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5" name="Picture 2" descr=""/>
          <p:cNvPicPr/>
          <p:nvPr/>
        </p:nvPicPr>
        <p:blipFill>
          <a:blip r:embed="rId1"/>
          <a:srcRect l="0" t="0" r="0" b="0"/>
          <a:stretch/>
        </p:blipFill>
        <p:spPr>
          <a:xfrm>
            <a:off x="-9000" y="0"/>
            <a:ext cx="7554960" cy="10773720"/>
          </a:xfrm>
          <a:prstGeom prst="rect">
            <a:avLst/>
          </a:prstGeom>
          <a:ln w="0">
            <a:noFill/>
          </a:ln>
        </p:spPr>
      </p:pic>
      <p:sp>
        <p:nvSpPr>
          <p:cNvPr id="106"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107" name="Rounded Rectangle 3"/>
          <p:cNvSpPr/>
          <p:nvPr/>
        </p:nvSpPr>
        <p:spPr>
          <a:xfrm rot="16200000">
            <a:off x="3985560" y="-322560"/>
            <a:ext cx="394560" cy="6151320"/>
          </a:xfrm>
          <a:prstGeom prst="roundRect">
            <a:avLst>
              <a:gd name="adj"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chemeClr val="lt1">
                    <a:lumMod val="50000"/>
                  </a:schemeClr>
                </a:solidFill>
                <a:latin typeface="Marianne"/>
              </a:rPr>
              <a:t>B1</a:t>
            </a:r>
            <a:r>
              <a:rPr b="0" lang="fr-FR" sz="1400" spc="-1" strike="noStrike">
                <a:solidFill>
                  <a:schemeClr val="lt1">
                    <a:lumMod val="50000"/>
                  </a:schemeClr>
                </a:solidFill>
                <a:latin typeface="Marianne Medium"/>
              </a:rPr>
              <a:t> </a:t>
            </a:r>
            <a:r>
              <a:rPr b="0" lang="fr-FR" sz="1400" spc="-1" strike="noStrike">
                <a:solidFill>
                  <a:schemeClr val="lt1">
                    <a:lumMod val="50000"/>
                  </a:schemeClr>
                </a:solidFill>
                <a:latin typeface="Marianne"/>
              </a:rPr>
              <a:t>Base d’établissement</a:t>
            </a:r>
            <a:endParaRPr b="0" lang="fr-FR" sz="1400" spc="-1" strike="noStrike">
              <a:solidFill>
                <a:srgbClr val="000000"/>
              </a:solidFill>
              <a:latin typeface="Arial"/>
            </a:endParaRPr>
          </a:p>
        </p:txBody>
      </p:sp>
      <p:grpSp>
        <p:nvGrpSpPr>
          <p:cNvPr id="108" name="Group 28"/>
          <p:cNvGrpSpPr/>
          <p:nvPr/>
        </p:nvGrpSpPr>
        <p:grpSpPr>
          <a:xfrm>
            <a:off x="330120" y="2525400"/>
            <a:ext cx="567360" cy="425880"/>
            <a:chOff x="330120" y="2525400"/>
            <a:chExt cx="567360" cy="425880"/>
          </a:xfrm>
        </p:grpSpPr>
        <p:cxnSp>
          <p:nvCxnSpPr>
            <p:cNvPr id="109" name="Straight Connector 17"/>
            <p:cNvCxnSpPr/>
            <p:nvPr/>
          </p:nvCxnSpPr>
          <p:spPr>
            <a:xfrm>
              <a:off x="893160" y="2525400"/>
              <a:ext cx="4680" cy="426240"/>
            </a:xfrm>
            <a:prstGeom prst="straightConnector1">
              <a:avLst/>
            </a:prstGeom>
            <a:ln w="3175">
              <a:solidFill>
                <a:srgbClr val="a6a6a6"/>
              </a:solidFill>
              <a:round/>
            </a:ln>
          </p:spPr>
        </p:cxnSp>
        <p:pic>
          <p:nvPicPr>
            <p:cNvPr id="110" name="Graphic 20" descr=""/>
            <p:cNvPicPr/>
            <p:nvPr/>
          </p:nvPicPr>
          <p:blipFill>
            <a:blip r:embed="rId2">
              <a:extLst>
                <a:ext uri="{96DAC541-7B7A-43D3-8B79-37D633B846F1}">
                  <asvg:svgBlip xmlns:asvg="http://schemas.microsoft.com/office/drawing/2016/SVG/main" r:embed="rId3"/>
                </a:ext>
              </a:extLst>
            </a:blip>
            <a:stretch/>
          </p:blipFill>
          <p:spPr>
            <a:xfrm>
              <a:off x="330120" y="2526120"/>
              <a:ext cx="391320" cy="391320"/>
            </a:xfrm>
            <a:prstGeom prst="rect">
              <a:avLst/>
            </a:prstGeom>
            <a:ln w="0">
              <a:noFill/>
            </a:ln>
          </p:spPr>
        </p:pic>
      </p:grpSp>
      <p:sp>
        <p:nvSpPr>
          <p:cNvPr id="111" name="TextBox 6"/>
          <p:cNvSpPr/>
          <p:nvPr/>
        </p:nvSpPr>
        <p:spPr>
          <a:xfrm>
            <a:off x="313920" y="187200"/>
            <a:ext cx="188712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Informations générales</a:t>
            </a:r>
            <a:endParaRPr b="0" lang="fr-FR" sz="1100" spc="-1" strike="noStrike">
              <a:solidFill>
                <a:srgbClr val="000000"/>
              </a:solidFill>
              <a:latin typeface="Arial"/>
            </a:endParaRPr>
          </a:p>
        </p:txBody>
      </p:sp>
      <p:sp>
        <p:nvSpPr>
          <p:cNvPr id="112" name="TextBox 7"/>
          <p:cNvSpPr/>
          <p:nvPr/>
        </p:nvSpPr>
        <p:spPr>
          <a:xfrm>
            <a:off x="3666600" y="187200"/>
            <a:ext cx="61776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Social</a:t>
            </a:r>
            <a:endParaRPr b="0" lang="fr-FR" sz="1100" spc="-1" strike="noStrike">
              <a:solidFill>
                <a:srgbClr val="ffffff"/>
              </a:solidFill>
              <a:latin typeface="Arial"/>
            </a:endParaRPr>
          </a:p>
        </p:txBody>
      </p:sp>
      <p:sp>
        <p:nvSpPr>
          <p:cNvPr id="113" name="TextBox 8"/>
          <p:cNvSpPr/>
          <p:nvPr/>
        </p:nvSpPr>
        <p:spPr>
          <a:xfrm>
            <a:off x="2293560" y="187200"/>
            <a:ext cx="124884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Environnement</a:t>
            </a:r>
            <a:endParaRPr b="0" lang="fr-FR" sz="1100" spc="-1" strike="noStrike">
              <a:solidFill>
                <a:srgbClr val="ffffff"/>
              </a:solidFill>
              <a:latin typeface="Arial"/>
            </a:endParaRPr>
          </a:p>
        </p:txBody>
      </p:sp>
      <p:sp>
        <p:nvSpPr>
          <p:cNvPr id="114" name="TextBox 9"/>
          <p:cNvSpPr/>
          <p:nvPr/>
        </p:nvSpPr>
        <p:spPr>
          <a:xfrm>
            <a:off x="4407840" y="187200"/>
            <a:ext cx="111780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Gouvernance</a:t>
            </a:r>
            <a:endParaRPr b="0" lang="fr-FR" sz="1100" spc="-1" strike="noStrike">
              <a:solidFill>
                <a:srgbClr val="ffffff"/>
              </a:solidFill>
              <a:latin typeface="Arial"/>
            </a:endParaRPr>
          </a:p>
        </p:txBody>
      </p:sp>
      <p:sp>
        <p:nvSpPr>
          <p:cNvPr id="115" name="B1-25_container"/>
          <p:cNvSpPr/>
          <p:nvPr/>
        </p:nvSpPr>
        <p:spPr>
          <a:xfrm>
            <a:off x="410400" y="3179520"/>
            <a:ext cx="6734160" cy="67924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08080"/>
                </a:solidFill>
                <a:latin typeface="Marianne Light"/>
              </a:rPr>
              <a:t>Liste des sites</a:t>
            </a:r>
            <a:endParaRPr b="0" lang="fr-FR" sz="1200" spc="-1" strike="noStrike">
              <a:solidFill>
                <a:srgbClr val="000000"/>
              </a:solidFill>
              <a:latin typeface="Arial"/>
            </a:endParaRPr>
          </a:p>
        </p:txBody>
      </p:sp>
      <p:graphicFrame>
        <p:nvGraphicFramePr>
          <p:cNvPr id="116" name="B1-25"/>
          <p:cNvGraphicFramePr/>
          <p:nvPr/>
        </p:nvGraphicFramePr>
        <p:xfrm>
          <a:off x="587880" y="3832920"/>
          <a:ext cx="6415560" cy="5992200"/>
        </p:xfrm>
        <a:graphic>
          <a:graphicData uri="http://schemas.openxmlformats.org/drawingml/2006/table">
            <a:tbl>
              <a:tblPr/>
              <a:tblGrid>
                <a:gridCol w="916560"/>
                <a:gridCol w="916560"/>
                <a:gridCol w="916560"/>
                <a:gridCol w="916560"/>
                <a:gridCol w="916560"/>
                <a:gridCol w="916560"/>
                <a:gridCol w="916560"/>
              </a:tblGrid>
              <a:tr h="592200">
                <a:tc>
                  <a:txBody>
                    <a:bodyPr anchor="ctr">
                      <a:noAutofit/>
                    </a:bodyPr>
                    <a:p>
                      <a:pPr algn="ctr" defTabSz="756000">
                        <a:lnSpc>
                          <a:spcPct val="100000"/>
                        </a:lnSpc>
                      </a:pPr>
                      <a:r>
                        <a:rPr b="0" lang="en-FR" sz="1100" spc="-1" strike="noStrike">
                          <a:solidFill>
                            <a:schemeClr val="lt1">
                              <a:lumMod val="50000"/>
                            </a:schemeClr>
                          </a:solidFill>
                          <a:latin typeface="Marianne Light"/>
                        </a:rPr>
                        <a:t>Numéro ID</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38160">
                      <a:solidFill>
                        <a:srgbClr val="ffffff"/>
                      </a:solidFill>
                      <a:prstDash val="solid"/>
                    </a:lnB>
                    <a:solidFill>
                      <a:srgbClr val="ebeded"/>
                    </a:solidFill>
                  </a:tcPr>
                </a:tc>
                <a:tc>
                  <a:txBody>
                    <a:bodyPr anchor="ctr">
                      <a:noAutofit/>
                    </a:bodyPr>
                    <a:p>
                      <a:pPr algn="ctr" defTabSz="756000">
                        <a:lnSpc>
                          <a:spcPct val="100000"/>
                        </a:lnSpc>
                      </a:pPr>
                      <a:r>
                        <a:rPr b="0" lang="fr-FR" sz="1100" spc="-1" strike="noStrike">
                          <a:solidFill>
                            <a:schemeClr val="lt1">
                              <a:lumMod val="50000"/>
                            </a:schemeClr>
                          </a:solidFill>
                          <a:latin typeface="Marianne Light"/>
                        </a:rPr>
                        <a:t>Nom du site</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38160">
                      <a:solidFill>
                        <a:srgbClr val="ffffff"/>
                      </a:solidFill>
                      <a:prstDash val="solid"/>
                    </a:lnB>
                    <a:solidFill>
                      <a:srgbClr val="ebeded"/>
                    </a:solidFill>
                  </a:tcPr>
                </a:tc>
                <a:tc>
                  <a:txBody>
                    <a:bodyPr anchor="ctr">
                      <a:noAutofit/>
                    </a:bodyPr>
                    <a:p>
                      <a:pPr algn="ctr" defTabSz="756000">
                        <a:lnSpc>
                          <a:spcPct val="100000"/>
                        </a:lnSpc>
                      </a:pPr>
                      <a:r>
                        <a:rPr b="0" lang="en-FR" sz="1100" spc="-1" strike="noStrike">
                          <a:solidFill>
                            <a:schemeClr val="lt1">
                              <a:lumMod val="50000"/>
                            </a:schemeClr>
                          </a:solidFill>
                          <a:latin typeface="Marianne Light"/>
                        </a:rPr>
                        <a:t>Adresse</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38160">
                      <a:solidFill>
                        <a:srgbClr val="ffffff"/>
                      </a:solidFill>
                      <a:prstDash val="solid"/>
                    </a:lnB>
                    <a:solidFill>
                      <a:srgbClr val="ebeded"/>
                    </a:solidFill>
                  </a:tcPr>
                </a:tc>
                <a:tc>
                  <a:txBody>
                    <a:bodyPr anchor="ctr">
                      <a:noAutofit/>
                    </a:bodyPr>
                    <a:p>
                      <a:pPr algn="ctr" defTabSz="756000">
                        <a:lnSpc>
                          <a:spcPct val="100000"/>
                        </a:lnSpc>
                      </a:pPr>
                      <a:r>
                        <a:rPr b="0" lang="fr-FR" sz="1100" spc="-1" strike="noStrike">
                          <a:solidFill>
                            <a:schemeClr val="lt1">
                              <a:lumMod val="50000"/>
                            </a:schemeClr>
                          </a:solidFill>
                          <a:latin typeface="Marianne Light"/>
                        </a:rPr>
                        <a:t>Code postal</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38160">
                      <a:solidFill>
                        <a:srgbClr val="ffffff"/>
                      </a:solidFill>
                      <a:prstDash val="solid"/>
                    </a:lnB>
                    <a:solidFill>
                      <a:srgbClr val="ebeeed"/>
                    </a:solidFill>
                  </a:tcPr>
                </a:tc>
                <a:tc>
                  <a:txBody>
                    <a:bodyPr anchor="ctr">
                      <a:noAutofit/>
                    </a:bodyPr>
                    <a:p>
                      <a:pPr algn="ctr" defTabSz="756000">
                        <a:lnSpc>
                          <a:spcPct val="100000"/>
                        </a:lnSpc>
                      </a:pPr>
                      <a:r>
                        <a:rPr b="0" lang="fr-FR" sz="1100" spc="-1" strike="noStrike">
                          <a:solidFill>
                            <a:schemeClr val="lt1">
                              <a:lumMod val="50000"/>
                            </a:schemeClr>
                          </a:solidFill>
                          <a:latin typeface="Marianne Light"/>
                        </a:rPr>
                        <a:t>Ville</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38160">
                      <a:solidFill>
                        <a:srgbClr val="ffffff"/>
                      </a:solidFill>
                      <a:prstDash val="solid"/>
                    </a:lnB>
                    <a:solidFill>
                      <a:srgbClr val="ebeeed"/>
                    </a:solidFill>
                  </a:tcPr>
                </a:tc>
                <a:tc>
                  <a:txBody>
                    <a:bodyPr anchor="ctr">
                      <a:noAutofit/>
                    </a:bodyPr>
                    <a:p>
                      <a:pPr algn="ctr" defTabSz="756000">
                        <a:lnSpc>
                          <a:spcPct val="100000"/>
                        </a:lnSpc>
                      </a:pPr>
                      <a:r>
                        <a:rPr b="0" lang="fr-FR" sz="1100" spc="-1" strike="noStrike">
                          <a:solidFill>
                            <a:schemeClr val="lt1">
                              <a:lumMod val="50000"/>
                            </a:schemeClr>
                          </a:solidFill>
                          <a:latin typeface="Marianne Light"/>
                        </a:rPr>
                        <a:t>Pays</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38160">
                      <a:solidFill>
                        <a:srgbClr val="ffffff"/>
                      </a:solidFill>
                      <a:prstDash val="solid"/>
                    </a:lnB>
                    <a:solidFill>
                      <a:srgbClr val="ebeeed"/>
                    </a:solidFill>
                  </a:tcPr>
                </a:tc>
                <a:tc>
                  <a:txBody>
                    <a:bodyPr anchor="ctr">
                      <a:noAutofit/>
                    </a:bodyPr>
                    <a:p>
                      <a:pPr algn="ctr" defTabSz="756000">
                        <a:lnSpc>
                          <a:spcPct val="100000"/>
                        </a:lnSpc>
                      </a:pPr>
                      <a:r>
                        <a:rPr b="0" lang="fr-FR" sz="1100" spc="-1" strike="noStrike">
                          <a:solidFill>
                            <a:schemeClr val="lt1">
                              <a:lumMod val="50000"/>
                            </a:schemeClr>
                          </a:solidFill>
                          <a:latin typeface="Marianne Light"/>
                        </a:rPr>
                        <a:t>Géolocali-sation</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38160">
                      <a:solidFill>
                        <a:srgbClr val="ffffff"/>
                      </a:solidFill>
                      <a:prstDash val="solid"/>
                    </a:lnB>
                    <a:solidFill>
                      <a:srgbClr val="ebeeed"/>
                    </a:solidFill>
                  </a:tcPr>
                </a:tc>
              </a:tr>
              <a:tr h="54000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54000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54000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54000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54000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54000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54000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54000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54000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54000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7" name="Picture 2" descr=""/>
          <p:cNvPicPr/>
          <p:nvPr/>
        </p:nvPicPr>
        <p:blipFill>
          <a:blip r:embed="rId1"/>
          <a:srcRect l="0" t="0" r="0" b="0"/>
          <a:stretch/>
        </p:blipFill>
        <p:spPr>
          <a:xfrm>
            <a:off x="-9000" y="0"/>
            <a:ext cx="7554960" cy="10773720"/>
          </a:xfrm>
          <a:prstGeom prst="rect">
            <a:avLst/>
          </a:prstGeom>
          <a:ln w="0">
            <a:noFill/>
          </a:ln>
        </p:spPr>
      </p:pic>
      <p:sp>
        <p:nvSpPr>
          <p:cNvPr id="118"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119" name="Rounded Rectangle 3"/>
          <p:cNvSpPr/>
          <p:nvPr/>
        </p:nvSpPr>
        <p:spPr>
          <a:xfrm rot="16200000">
            <a:off x="3985560" y="-322560"/>
            <a:ext cx="394560" cy="6151320"/>
          </a:xfrm>
          <a:prstGeom prst="roundRect">
            <a:avLst>
              <a:gd name="adj"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chemeClr val="lt1">
                    <a:lumMod val="50000"/>
                  </a:schemeClr>
                </a:solidFill>
                <a:latin typeface="Marianne"/>
              </a:rPr>
              <a:t>B1</a:t>
            </a:r>
            <a:r>
              <a:rPr b="0" lang="fr-FR" sz="1400" spc="-1" strike="noStrike">
                <a:solidFill>
                  <a:schemeClr val="lt1">
                    <a:lumMod val="50000"/>
                  </a:schemeClr>
                </a:solidFill>
                <a:latin typeface="Marianne Medium"/>
              </a:rPr>
              <a:t> </a:t>
            </a:r>
            <a:r>
              <a:rPr b="0" lang="fr-FR" sz="1400" spc="-1" strike="noStrike">
                <a:solidFill>
                  <a:schemeClr val="lt1">
                    <a:lumMod val="50000"/>
                  </a:schemeClr>
                </a:solidFill>
                <a:latin typeface="Marianne"/>
              </a:rPr>
              <a:t>Base d’établissement</a:t>
            </a:r>
            <a:endParaRPr b="0" lang="fr-FR" sz="1400" spc="-1" strike="noStrike">
              <a:solidFill>
                <a:srgbClr val="000000"/>
              </a:solidFill>
              <a:latin typeface="Arial"/>
            </a:endParaRPr>
          </a:p>
        </p:txBody>
      </p:sp>
      <p:grpSp>
        <p:nvGrpSpPr>
          <p:cNvPr id="120" name="Group 28"/>
          <p:cNvGrpSpPr/>
          <p:nvPr/>
        </p:nvGrpSpPr>
        <p:grpSpPr>
          <a:xfrm>
            <a:off x="330120" y="2525400"/>
            <a:ext cx="567360" cy="425880"/>
            <a:chOff x="330120" y="2525400"/>
            <a:chExt cx="567360" cy="425880"/>
          </a:xfrm>
        </p:grpSpPr>
        <p:cxnSp>
          <p:nvCxnSpPr>
            <p:cNvPr id="121" name="Straight Connector 17"/>
            <p:cNvCxnSpPr/>
            <p:nvPr/>
          </p:nvCxnSpPr>
          <p:spPr>
            <a:xfrm>
              <a:off x="893160" y="2525400"/>
              <a:ext cx="4680" cy="426240"/>
            </a:xfrm>
            <a:prstGeom prst="straightConnector1">
              <a:avLst/>
            </a:prstGeom>
            <a:ln w="3175">
              <a:solidFill>
                <a:srgbClr val="a6a6a6"/>
              </a:solidFill>
              <a:round/>
            </a:ln>
          </p:spPr>
        </p:cxnSp>
        <p:pic>
          <p:nvPicPr>
            <p:cNvPr id="122" name="Graphic 20" descr=""/>
            <p:cNvPicPr/>
            <p:nvPr/>
          </p:nvPicPr>
          <p:blipFill>
            <a:blip r:embed="rId2">
              <a:extLst>
                <a:ext uri="{96DAC541-7B7A-43D3-8B79-37D633B846F1}">
                  <asvg:svgBlip xmlns:asvg="http://schemas.microsoft.com/office/drawing/2016/SVG/main" r:embed="rId3"/>
                </a:ext>
              </a:extLst>
            </a:blip>
            <a:stretch/>
          </p:blipFill>
          <p:spPr>
            <a:xfrm>
              <a:off x="330120" y="2526120"/>
              <a:ext cx="391320" cy="391320"/>
            </a:xfrm>
            <a:prstGeom prst="rect">
              <a:avLst/>
            </a:prstGeom>
            <a:ln w="0">
              <a:noFill/>
            </a:ln>
          </p:spPr>
        </p:pic>
      </p:grpSp>
      <p:sp>
        <p:nvSpPr>
          <p:cNvPr id="123" name="TextBox 6"/>
          <p:cNvSpPr/>
          <p:nvPr/>
        </p:nvSpPr>
        <p:spPr>
          <a:xfrm>
            <a:off x="313920" y="187200"/>
            <a:ext cx="188712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Informations générales</a:t>
            </a:r>
            <a:endParaRPr b="0" lang="fr-FR" sz="1100" spc="-1" strike="noStrike">
              <a:solidFill>
                <a:srgbClr val="000000"/>
              </a:solidFill>
              <a:latin typeface="Arial"/>
            </a:endParaRPr>
          </a:p>
        </p:txBody>
      </p:sp>
      <p:sp>
        <p:nvSpPr>
          <p:cNvPr id="124" name="TextBox 7"/>
          <p:cNvSpPr/>
          <p:nvPr/>
        </p:nvSpPr>
        <p:spPr>
          <a:xfrm>
            <a:off x="3666600" y="187200"/>
            <a:ext cx="61776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Social</a:t>
            </a:r>
            <a:endParaRPr b="0" lang="fr-FR" sz="1100" spc="-1" strike="noStrike">
              <a:solidFill>
                <a:srgbClr val="ffffff"/>
              </a:solidFill>
              <a:latin typeface="Arial"/>
            </a:endParaRPr>
          </a:p>
        </p:txBody>
      </p:sp>
      <p:sp>
        <p:nvSpPr>
          <p:cNvPr id="125" name="TextBox 8"/>
          <p:cNvSpPr/>
          <p:nvPr/>
        </p:nvSpPr>
        <p:spPr>
          <a:xfrm>
            <a:off x="2293560" y="187200"/>
            <a:ext cx="124884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Environnement</a:t>
            </a:r>
            <a:endParaRPr b="0" lang="fr-FR" sz="1100" spc="-1" strike="noStrike">
              <a:solidFill>
                <a:srgbClr val="ffffff"/>
              </a:solidFill>
              <a:latin typeface="Arial"/>
            </a:endParaRPr>
          </a:p>
        </p:txBody>
      </p:sp>
      <p:sp>
        <p:nvSpPr>
          <p:cNvPr id="126" name="TextBox 9"/>
          <p:cNvSpPr/>
          <p:nvPr/>
        </p:nvSpPr>
        <p:spPr>
          <a:xfrm>
            <a:off x="4407840" y="187200"/>
            <a:ext cx="111780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Gouvernance</a:t>
            </a:r>
            <a:endParaRPr b="0" lang="fr-FR" sz="1100" spc="-1" strike="noStrike">
              <a:solidFill>
                <a:srgbClr val="ffffff"/>
              </a:solidFill>
              <a:latin typeface="Arial"/>
            </a:endParaRPr>
          </a:p>
        </p:txBody>
      </p:sp>
      <p:sp>
        <p:nvSpPr>
          <p:cNvPr id="127" name="B1-25_container"/>
          <p:cNvSpPr/>
          <p:nvPr/>
        </p:nvSpPr>
        <p:spPr>
          <a:xfrm>
            <a:off x="410400" y="3179520"/>
            <a:ext cx="6734160" cy="67924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08080"/>
                </a:solidFill>
                <a:latin typeface="Marianne Light"/>
              </a:rPr>
              <a:t>Certifications ou labels en matière de durabilité</a:t>
            </a:r>
            <a:endParaRPr b="0" lang="fr-FR" sz="1200" spc="-1" strike="noStrike">
              <a:solidFill>
                <a:srgbClr val="000000"/>
              </a:solidFill>
              <a:latin typeface="Arial"/>
            </a:endParaRPr>
          </a:p>
        </p:txBody>
      </p:sp>
      <p:graphicFrame>
        <p:nvGraphicFramePr>
          <p:cNvPr id="128" name="B1-25"/>
          <p:cNvGraphicFramePr/>
          <p:nvPr/>
        </p:nvGraphicFramePr>
        <p:xfrm>
          <a:off x="587880" y="3832920"/>
          <a:ext cx="6400440" cy="5992200"/>
        </p:xfrm>
        <a:graphic>
          <a:graphicData uri="http://schemas.openxmlformats.org/drawingml/2006/table">
            <a:tbl>
              <a:tblPr/>
              <a:tblGrid>
                <a:gridCol w="1280160"/>
                <a:gridCol w="1280160"/>
                <a:gridCol w="1280160"/>
                <a:gridCol w="1280160"/>
                <a:gridCol w="1280160"/>
              </a:tblGrid>
              <a:tr h="592200">
                <a:tc>
                  <a:txBody>
                    <a:bodyPr anchor="ctr">
                      <a:noAutofit/>
                    </a:bodyPr>
                    <a:p>
                      <a:pPr algn="ctr" defTabSz="756000">
                        <a:lnSpc>
                          <a:spcPct val="100000"/>
                        </a:lnSpc>
                      </a:pPr>
                      <a:r>
                        <a:rPr b="0" lang="fr-FR" sz="1100" spc="-1" strike="noStrike">
                          <a:solidFill>
                            <a:schemeClr val="lt1">
                              <a:lumMod val="50000"/>
                            </a:schemeClr>
                          </a:solidFill>
                          <a:latin typeface="Marianne Light"/>
                        </a:rPr>
                        <a:t>Nom du label ou certification</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38160">
                      <a:solidFill>
                        <a:srgbClr val="ffffff"/>
                      </a:solidFill>
                      <a:prstDash val="solid"/>
                    </a:lnB>
                    <a:solidFill>
                      <a:srgbClr val="ebeded"/>
                    </a:solidFill>
                  </a:tcPr>
                </a:tc>
                <a:tc>
                  <a:txBody>
                    <a:bodyPr anchor="ctr">
                      <a:noAutofit/>
                    </a:bodyPr>
                    <a:p>
                      <a:pPr algn="ctr" defTabSz="756000">
                        <a:lnSpc>
                          <a:spcPct val="100000"/>
                        </a:lnSpc>
                      </a:pPr>
                      <a:r>
                        <a:rPr b="0" lang="fr-FR" sz="1100" spc="-1" strike="noStrike">
                          <a:solidFill>
                            <a:schemeClr val="lt1">
                              <a:lumMod val="50000"/>
                            </a:schemeClr>
                          </a:solidFill>
                          <a:latin typeface="Marianne Light"/>
                        </a:rPr>
                        <a:t>Émetteur</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38160">
                      <a:solidFill>
                        <a:srgbClr val="ffffff"/>
                      </a:solidFill>
                      <a:prstDash val="solid"/>
                    </a:lnB>
                    <a:solidFill>
                      <a:srgbClr val="ebeded"/>
                    </a:solidFill>
                  </a:tcPr>
                </a:tc>
                <a:tc>
                  <a:txBody>
                    <a:bodyPr anchor="ctr">
                      <a:noAutofit/>
                    </a:bodyPr>
                    <a:p>
                      <a:pPr algn="ctr" defTabSz="756000">
                        <a:lnSpc>
                          <a:spcPct val="100000"/>
                        </a:lnSpc>
                        <a:tabLst>
                          <a:tab algn="l" pos="0"/>
                        </a:tabLst>
                      </a:pPr>
                      <a:r>
                        <a:rPr b="0" lang="fr-FR" sz="1100" spc="-1" strike="noStrike">
                          <a:solidFill>
                            <a:schemeClr val="lt1">
                              <a:lumMod val="50000"/>
                            </a:schemeClr>
                          </a:solidFill>
                          <a:latin typeface="Marianne Light"/>
                        </a:rPr>
                        <a:t>Date d’obtention</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38160">
                      <a:solidFill>
                        <a:srgbClr val="ffffff"/>
                      </a:solidFill>
                      <a:prstDash val="solid"/>
                    </a:lnB>
                    <a:solidFill>
                      <a:srgbClr val="ebeded"/>
                    </a:solidFill>
                  </a:tcPr>
                </a:tc>
                <a:tc>
                  <a:txBody>
                    <a:bodyPr anchor="ctr">
                      <a:noAutofit/>
                    </a:bodyPr>
                    <a:p>
                      <a:pPr algn="ctr" defTabSz="756000">
                        <a:lnSpc>
                          <a:spcPct val="100000"/>
                        </a:lnSpc>
                        <a:tabLst>
                          <a:tab algn="l" pos="0"/>
                        </a:tabLst>
                      </a:pPr>
                      <a:r>
                        <a:rPr b="0" lang="fr-FR" sz="1100" spc="-1" strike="noStrike">
                          <a:solidFill>
                            <a:schemeClr val="lt1">
                              <a:lumMod val="50000"/>
                            </a:schemeClr>
                          </a:solidFill>
                          <a:latin typeface="Marianne Light"/>
                        </a:rPr>
                        <a:t>Score ou niveau atteint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38160">
                      <a:solidFill>
                        <a:srgbClr val="ffffff"/>
                      </a:solidFill>
                      <a:prstDash val="solid"/>
                    </a:lnB>
                    <a:solidFill>
                      <a:srgbClr val="ebeeed"/>
                    </a:solidFill>
                  </a:tcPr>
                </a:tc>
                <a:tc>
                  <a:txBody>
                    <a:bodyPr anchor="ctr">
                      <a:noAutofit/>
                    </a:bodyPr>
                    <a:p>
                      <a:pPr algn="ctr" defTabSz="756000">
                        <a:lnSpc>
                          <a:spcPct val="100000"/>
                        </a:lnSpc>
                      </a:pPr>
                      <a:r>
                        <a:rPr b="0" lang="fr-FR" sz="1100" spc="-1" strike="noStrike">
                          <a:solidFill>
                            <a:schemeClr val="lt1">
                              <a:lumMod val="50000"/>
                            </a:schemeClr>
                          </a:solidFill>
                          <a:latin typeface="Marianne Light"/>
                        </a:rPr>
                        <a:t>Commentaire</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38160">
                      <a:solidFill>
                        <a:srgbClr val="ffffff"/>
                      </a:solidFill>
                      <a:prstDash val="solid"/>
                    </a:lnB>
                    <a:solidFill>
                      <a:srgbClr val="ebeeed"/>
                    </a:solidFill>
                  </a:tcPr>
                </a:tc>
              </a:tr>
              <a:tr h="54000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54000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54000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54000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54000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54000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54000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54000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54000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r h="540000">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12240">
                      <a:solidFill>
                        <a:srgbClr val="fffff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1" lang="en-FR" sz="1100" spc="-1" strike="noStrike">
                          <a:solidFill>
                            <a:srgbClr val="000000"/>
                          </a:solidFill>
                          <a:latin typeface="Marianne Light"/>
                        </a:rPr>
                        <a:t>-</a:t>
                      </a:r>
                      <a:endParaRPr b="0" lang="fr-FR" sz="1100" spc="-1" strike="noStrike">
                        <a:solidFill>
                          <a:srgbClr val="000000"/>
                        </a:solidFill>
                        <a:latin typeface="Arial"/>
                      </a:endParaRPr>
                    </a:p>
                  </a:txBody>
                  <a:tcPr anchor="ctr" marL="91440" marR="91440">
                    <a:lnL w="2880">
                      <a:solidFill>
                        <a:srgbClr val="bfbfbf"/>
                      </a:solidFill>
                      <a:prstDash val="solid"/>
                    </a:lnL>
                    <a:lnR w="2880">
                      <a:solidFill>
                        <a:srgbClr val="bfbfbf"/>
                      </a:solidFill>
                      <a:prstDash val="solid"/>
                    </a:lnR>
                    <a:lnT w="12240">
                      <a:solidFill>
                        <a:srgbClr val="ffffff"/>
                      </a:solidFill>
                      <a:prstDash val="solid"/>
                    </a:lnT>
                    <a:lnB w="12240">
                      <a:solidFill>
                        <a:srgbClr val="ffffff"/>
                      </a:solidFill>
                      <a:prstDash val="solid"/>
                    </a:lnB>
                    <a:solidFill>
                      <a:schemeClr val="lt1">
                        <a:lumMod val="95000"/>
                      </a:schemeClr>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9" name="Picture 5" descr=""/>
          <p:cNvPicPr/>
          <p:nvPr/>
        </p:nvPicPr>
        <p:blipFill>
          <a:blip r:embed="rId1"/>
          <a:srcRect l="0" t="0" r="0" b="0"/>
          <a:stretch/>
        </p:blipFill>
        <p:spPr>
          <a:xfrm>
            <a:off x="-9000" y="0"/>
            <a:ext cx="7554960" cy="10773720"/>
          </a:xfrm>
          <a:prstGeom prst="rect">
            <a:avLst/>
          </a:prstGeom>
          <a:ln w="0">
            <a:noFill/>
          </a:ln>
        </p:spPr>
      </p:pic>
      <p:sp>
        <p:nvSpPr>
          <p:cNvPr id="130" name="Rectangle 2"/>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131" name="Rounded Rectangle 17"/>
          <p:cNvSpPr/>
          <p:nvPr/>
        </p:nvSpPr>
        <p:spPr>
          <a:xfrm rot="16200000">
            <a:off x="3985560" y="-322560"/>
            <a:ext cx="394560" cy="6151320"/>
          </a:xfrm>
          <a:prstGeom prst="roundRect">
            <a:avLst>
              <a:gd name="adj"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chemeClr val="lt1">
                    <a:lumMod val="50000"/>
                  </a:schemeClr>
                </a:solidFill>
                <a:latin typeface="Marianne"/>
              </a:rPr>
              <a:t>B1</a:t>
            </a:r>
            <a:r>
              <a:rPr b="0" lang="fr-FR" sz="1400" spc="-1" strike="noStrike">
                <a:solidFill>
                  <a:schemeClr val="lt1">
                    <a:lumMod val="50000"/>
                  </a:schemeClr>
                </a:solidFill>
                <a:latin typeface="Marianne Medium"/>
              </a:rPr>
              <a:t> </a:t>
            </a:r>
            <a:r>
              <a:rPr b="0" lang="fr-FR" sz="1400" spc="-1" strike="noStrike">
                <a:solidFill>
                  <a:schemeClr val="lt1">
                    <a:lumMod val="50000"/>
                  </a:schemeClr>
                </a:solidFill>
                <a:latin typeface="Marianne"/>
              </a:rPr>
              <a:t>Base d’établissement</a:t>
            </a:r>
            <a:endParaRPr b="0" lang="fr-FR" sz="1400" spc="-1" strike="noStrike">
              <a:solidFill>
                <a:srgbClr val="000000"/>
              </a:solidFill>
              <a:latin typeface="Arial"/>
            </a:endParaRPr>
          </a:p>
        </p:txBody>
      </p:sp>
      <p:grpSp>
        <p:nvGrpSpPr>
          <p:cNvPr id="132" name="Group 2"/>
          <p:cNvGrpSpPr/>
          <p:nvPr/>
        </p:nvGrpSpPr>
        <p:grpSpPr>
          <a:xfrm>
            <a:off x="330120" y="2525400"/>
            <a:ext cx="567360" cy="425880"/>
            <a:chOff x="330120" y="2525400"/>
            <a:chExt cx="567360" cy="425880"/>
          </a:xfrm>
        </p:grpSpPr>
        <p:cxnSp>
          <p:nvCxnSpPr>
            <p:cNvPr id="133" name="Straight Connector 2"/>
            <p:cNvCxnSpPr/>
            <p:nvPr/>
          </p:nvCxnSpPr>
          <p:spPr>
            <a:xfrm>
              <a:off x="893160" y="2525400"/>
              <a:ext cx="4680" cy="426240"/>
            </a:xfrm>
            <a:prstGeom prst="straightConnector1">
              <a:avLst/>
            </a:prstGeom>
            <a:ln w="3175">
              <a:solidFill>
                <a:srgbClr val="a6a6a6"/>
              </a:solidFill>
              <a:round/>
            </a:ln>
          </p:spPr>
        </p:cxnSp>
        <p:pic>
          <p:nvPicPr>
            <p:cNvPr id="134" name="Graphic 2" descr=""/>
            <p:cNvPicPr/>
            <p:nvPr/>
          </p:nvPicPr>
          <p:blipFill>
            <a:blip r:embed="rId2">
              <a:extLst>
                <a:ext uri="{96DAC541-7B7A-43D3-8B79-37D633B846F1}">
                  <asvg:svgBlip xmlns:asvg="http://schemas.microsoft.com/office/drawing/2016/SVG/main" r:embed="rId3"/>
                </a:ext>
              </a:extLst>
            </a:blip>
            <a:stretch/>
          </p:blipFill>
          <p:spPr>
            <a:xfrm>
              <a:off x="330120" y="2526120"/>
              <a:ext cx="391320" cy="391320"/>
            </a:xfrm>
            <a:prstGeom prst="rect">
              <a:avLst/>
            </a:prstGeom>
            <a:ln w="0">
              <a:noFill/>
            </a:ln>
          </p:spPr>
        </p:pic>
      </p:grpSp>
      <p:sp>
        <p:nvSpPr>
          <p:cNvPr id="135" name="TextBox 14"/>
          <p:cNvSpPr/>
          <p:nvPr/>
        </p:nvSpPr>
        <p:spPr>
          <a:xfrm>
            <a:off x="429840" y="187200"/>
            <a:ext cx="188712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Informations générales</a:t>
            </a:r>
            <a:endParaRPr b="0" lang="fr-FR" sz="1100" spc="-1" strike="noStrike">
              <a:solidFill>
                <a:srgbClr val="000000"/>
              </a:solidFill>
              <a:latin typeface="Arial"/>
            </a:endParaRPr>
          </a:p>
        </p:txBody>
      </p:sp>
      <p:sp>
        <p:nvSpPr>
          <p:cNvPr id="136" name="TextBox 17"/>
          <p:cNvSpPr/>
          <p:nvPr/>
        </p:nvSpPr>
        <p:spPr>
          <a:xfrm>
            <a:off x="3666960" y="187200"/>
            <a:ext cx="61776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Social</a:t>
            </a:r>
            <a:endParaRPr b="0" lang="fr-FR" sz="1100" spc="-1" strike="noStrike">
              <a:solidFill>
                <a:srgbClr val="ffffff"/>
              </a:solidFill>
              <a:latin typeface="Arial"/>
            </a:endParaRPr>
          </a:p>
        </p:txBody>
      </p:sp>
      <p:sp>
        <p:nvSpPr>
          <p:cNvPr id="137" name="TextBox 18"/>
          <p:cNvSpPr/>
          <p:nvPr/>
        </p:nvSpPr>
        <p:spPr>
          <a:xfrm>
            <a:off x="2293920" y="187200"/>
            <a:ext cx="124884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Environnement</a:t>
            </a:r>
            <a:endParaRPr b="0" lang="fr-FR" sz="1100" spc="-1" strike="noStrike">
              <a:solidFill>
                <a:srgbClr val="ffffff"/>
              </a:solidFill>
              <a:latin typeface="Arial"/>
            </a:endParaRPr>
          </a:p>
        </p:txBody>
      </p:sp>
      <p:sp>
        <p:nvSpPr>
          <p:cNvPr id="138" name="TextBox 19"/>
          <p:cNvSpPr/>
          <p:nvPr/>
        </p:nvSpPr>
        <p:spPr>
          <a:xfrm>
            <a:off x="4407840" y="187200"/>
            <a:ext cx="111780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Gouvernance</a:t>
            </a:r>
            <a:endParaRPr b="0" lang="fr-FR" sz="1100" spc="-1" strike="noStrike">
              <a:solidFill>
                <a:srgbClr val="ffffff"/>
              </a:solidFill>
              <a:latin typeface="Arial"/>
            </a:endParaRPr>
          </a:p>
        </p:txBody>
      </p:sp>
      <p:sp>
        <p:nvSpPr>
          <p:cNvPr id="139" name="B1-25_container 2"/>
          <p:cNvSpPr/>
          <p:nvPr/>
        </p:nvSpPr>
        <p:spPr>
          <a:xfrm>
            <a:off x="410400" y="3179520"/>
            <a:ext cx="6734160" cy="113616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08080"/>
                </a:solidFill>
                <a:latin typeface="Marianne Light"/>
              </a:rPr>
              <a:t>Certifications ou labels en matière de durabilité</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Light"/>
              </a:rPr>
              <a:t>Non pertinent</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0" name="Picture 2" descr=""/>
          <p:cNvPicPr/>
          <p:nvPr/>
        </p:nvPicPr>
        <p:blipFill>
          <a:blip r:embed="rId1"/>
          <a:srcRect l="0" t="0" r="0" b="0"/>
          <a:stretch/>
        </p:blipFill>
        <p:spPr>
          <a:xfrm>
            <a:off x="-9000" y="0"/>
            <a:ext cx="7554960" cy="10773720"/>
          </a:xfrm>
          <a:prstGeom prst="rect">
            <a:avLst/>
          </a:prstGeom>
          <a:ln w="0">
            <a:noFill/>
          </a:ln>
        </p:spPr>
      </p:pic>
      <p:sp>
        <p:nvSpPr>
          <p:cNvPr id="141"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142" name="Rounded Rectangle 3"/>
          <p:cNvSpPr/>
          <p:nvPr/>
        </p:nvSpPr>
        <p:spPr>
          <a:xfrm rot="16200000">
            <a:off x="3856680" y="-190440"/>
            <a:ext cx="700920" cy="6151320"/>
          </a:xfrm>
          <a:prstGeom prst="roundRect">
            <a:avLst>
              <a:gd name="adj"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chemeClr val="lt1">
                    <a:lumMod val="50000"/>
                  </a:schemeClr>
                </a:solidFill>
                <a:latin typeface="Marianne"/>
              </a:rPr>
              <a:t>B2</a:t>
            </a:r>
            <a:r>
              <a:rPr b="0" lang="fr-FR" sz="1400" spc="-1" strike="noStrike">
                <a:solidFill>
                  <a:schemeClr val="lt1">
                    <a:lumMod val="50000"/>
                  </a:schemeClr>
                </a:solidFill>
                <a:latin typeface="Marianne Medium"/>
              </a:rPr>
              <a:t> </a:t>
            </a:r>
            <a:r>
              <a:rPr b="0" lang="fr-FR" sz="1400" spc="-1" strike="noStrike">
                <a:solidFill>
                  <a:schemeClr val="lt1">
                    <a:lumMod val="50000"/>
                  </a:schemeClr>
                </a:solidFill>
                <a:latin typeface="Marianne"/>
              </a:rPr>
              <a:t>Pratiques, politiques et initiatives futures pour une transition </a:t>
            </a:r>
            <a:br>
              <a:rPr sz="1400"/>
            </a:br>
            <a:r>
              <a:rPr b="0" lang="fr-FR" sz="1400" spc="-1" strike="noStrike">
                <a:solidFill>
                  <a:schemeClr val="lt1">
                    <a:lumMod val="50000"/>
                  </a:schemeClr>
                </a:solidFill>
                <a:latin typeface="Marianne"/>
              </a:rPr>
              <a:t>vers une économie plus durable</a:t>
            </a:r>
            <a:endParaRPr b="0" lang="fr-FR" sz="1400" spc="-1" strike="noStrike">
              <a:solidFill>
                <a:srgbClr val="000000"/>
              </a:solidFill>
              <a:latin typeface="Arial"/>
            </a:endParaRPr>
          </a:p>
        </p:txBody>
      </p:sp>
      <p:grpSp>
        <p:nvGrpSpPr>
          <p:cNvPr id="143" name="Group 28"/>
          <p:cNvGrpSpPr/>
          <p:nvPr/>
        </p:nvGrpSpPr>
        <p:grpSpPr>
          <a:xfrm>
            <a:off x="330120" y="2525400"/>
            <a:ext cx="567360" cy="709920"/>
            <a:chOff x="330120" y="2525400"/>
            <a:chExt cx="567360" cy="709920"/>
          </a:xfrm>
        </p:grpSpPr>
        <p:cxnSp>
          <p:nvCxnSpPr>
            <p:cNvPr id="144" name="Straight Connector 17"/>
            <p:cNvCxnSpPr/>
            <p:nvPr/>
          </p:nvCxnSpPr>
          <p:spPr>
            <a:xfrm>
              <a:off x="893160" y="2525400"/>
              <a:ext cx="4680" cy="710280"/>
            </a:xfrm>
            <a:prstGeom prst="straightConnector1">
              <a:avLst/>
            </a:prstGeom>
            <a:ln w="3175">
              <a:solidFill>
                <a:srgbClr val="a6a6a6"/>
              </a:solidFill>
              <a:round/>
            </a:ln>
          </p:spPr>
        </p:cxnSp>
        <p:pic>
          <p:nvPicPr>
            <p:cNvPr id="145" name="Graphic 20" descr=""/>
            <p:cNvPicPr/>
            <p:nvPr/>
          </p:nvPicPr>
          <p:blipFill>
            <a:blip r:embed="rId2">
              <a:extLst>
                <a:ext uri="{96DAC541-7B7A-43D3-8B79-37D633B846F1}">
                  <asvg:svgBlip xmlns:asvg="http://schemas.microsoft.com/office/drawing/2016/SVG/main" r:embed="rId3"/>
                </a:ext>
              </a:extLst>
            </a:blip>
            <a:stretch/>
          </p:blipFill>
          <p:spPr>
            <a:xfrm>
              <a:off x="330120" y="2526120"/>
              <a:ext cx="391320" cy="391320"/>
            </a:xfrm>
            <a:prstGeom prst="rect">
              <a:avLst/>
            </a:prstGeom>
            <a:ln w="0">
              <a:noFill/>
            </a:ln>
          </p:spPr>
        </p:pic>
      </p:grpSp>
      <p:sp>
        <p:nvSpPr>
          <p:cNvPr id="146" name="Rounded Rectangle 1"/>
          <p:cNvSpPr/>
          <p:nvPr/>
        </p:nvSpPr>
        <p:spPr>
          <a:xfrm>
            <a:off x="401400" y="3391560"/>
            <a:ext cx="6734160" cy="938520"/>
          </a:xfrm>
          <a:prstGeom prst="roundRect">
            <a:avLst>
              <a:gd name="adj" fmla="val 16456"/>
            </a:avLst>
          </a:prstGeom>
          <a:solidFill>
            <a:srgbClr val="f7eddc">
              <a:alpha val="46000"/>
            </a:srgbClr>
          </a:solidFill>
          <a:ln w="3175">
            <a:solidFill>
              <a:srgbClr val="d2b781"/>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08080"/>
                </a:solidFill>
                <a:latin typeface="Marianne Light"/>
              </a:rPr>
              <a:t>Participation effective à la gouvernance</a:t>
            </a:r>
            <a:endParaRPr b="0" lang="fr-FR" sz="1200" spc="-1" strike="noStrike">
              <a:solidFill>
                <a:srgbClr val="000000"/>
              </a:solidFill>
              <a:latin typeface="Arial"/>
            </a:endParaRPr>
          </a:p>
          <a:p>
            <a:pPr defTabSz="457200">
              <a:lnSpc>
                <a:spcPct val="100000"/>
              </a:lnSpc>
            </a:pPr>
            <a:r>
              <a:rPr b="0" lang="fr-CA" sz="1200" spc="-1" strike="noStrike">
                <a:solidFill>
                  <a:srgbClr val="d2b781"/>
                </a:solidFill>
                <a:latin typeface="Marianne"/>
              </a:rPr>
              <a:t>Cet indicateur n'est pas applicable car la forme juridique renseignée par l'entreprise n'est pas une coopérative.</a:t>
            </a:r>
            <a:endParaRPr b="0" lang="fr-FR" sz="1200" spc="-1" strike="noStrike">
              <a:solidFill>
                <a:srgbClr val="000000"/>
              </a:solidFill>
              <a:latin typeface="Arial"/>
            </a:endParaRPr>
          </a:p>
          <a:p>
            <a:pPr defTabSz="457200">
              <a:lnSpc>
                <a:spcPct val="100000"/>
              </a:lnSpc>
              <a:tabLst>
                <a:tab algn="l" pos="0"/>
              </a:tabLst>
            </a:pPr>
            <a:endParaRPr b="0" lang="fr-FR" sz="1200" spc="-1" strike="noStrike">
              <a:solidFill>
                <a:srgbClr val="000000"/>
              </a:solidFill>
              <a:latin typeface="Arial"/>
            </a:endParaRPr>
          </a:p>
        </p:txBody>
      </p:sp>
      <p:sp>
        <p:nvSpPr>
          <p:cNvPr id="147" name="TextBox 7"/>
          <p:cNvSpPr/>
          <p:nvPr/>
        </p:nvSpPr>
        <p:spPr>
          <a:xfrm>
            <a:off x="313920" y="187200"/>
            <a:ext cx="188712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Informations générales</a:t>
            </a:r>
            <a:endParaRPr b="0" lang="fr-FR" sz="1100" spc="-1" strike="noStrike">
              <a:solidFill>
                <a:srgbClr val="000000"/>
              </a:solidFill>
              <a:latin typeface="Arial"/>
            </a:endParaRPr>
          </a:p>
        </p:txBody>
      </p:sp>
      <p:sp>
        <p:nvSpPr>
          <p:cNvPr id="148" name="TextBox 8"/>
          <p:cNvSpPr/>
          <p:nvPr/>
        </p:nvSpPr>
        <p:spPr>
          <a:xfrm>
            <a:off x="3666600" y="187200"/>
            <a:ext cx="61776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Social</a:t>
            </a:r>
            <a:endParaRPr b="0" lang="fr-FR" sz="1100" spc="-1" strike="noStrike">
              <a:solidFill>
                <a:srgbClr val="ffffff"/>
              </a:solidFill>
              <a:latin typeface="Arial"/>
            </a:endParaRPr>
          </a:p>
        </p:txBody>
      </p:sp>
      <p:sp>
        <p:nvSpPr>
          <p:cNvPr id="149" name="TextBox 9"/>
          <p:cNvSpPr/>
          <p:nvPr/>
        </p:nvSpPr>
        <p:spPr>
          <a:xfrm>
            <a:off x="2293560" y="187200"/>
            <a:ext cx="124884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Environnement</a:t>
            </a:r>
            <a:endParaRPr b="0" lang="fr-FR" sz="1100" spc="-1" strike="noStrike">
              <a:solidFill>
                <a:srgbClr val="ffffff"/>
              </a:solidFill>
              <a:latin typeface="Arial"/>
            </a:endParaRPr>
          </a:p>
        </p:txBody>
      </p:sp>
      <p:sp>
        <p:nvSpPr>
          <p:cNvPr id="150" name="TextBox 10"/>
          <p:cNvSpPr/>
          <p:nvPr/>
        </p:nvSpPr>
        <p:spPr>
          <a:xfrm>
            <a:off x="4407840" y="187200"/>
            <a:ext cx="111780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Gouvernance</a:t>
            </a:r>
            <a:endParaRPr b="0" lang="fr-FR" sz="1100" spc="-1" strike="noStrike">
              <a:solidFill>
                <a:srgbClr val="ffffff"/>
              </a:solidFill>
              <a:latin typeface="Arial"/>
            </a:endParaRPr>
          </a:p>
        </p:txBody>
      </p:sp>
      <p:sp>
        <p:nvSpPr>
          <p:cNvPr id="151" name="Rounded Rectangle 2"/>
          <p:cNvSpPr/>
          <p:nvPr/>
        </p:nvSpPr>
        <p:spPr>
          <a:xfrm>
            <a:off x="401400" y="4495320"/>
            <a:ext cx="6734160" cy="938520"/>
          </a:xfrm>
          <a:prstGeom prst="roundRect">
            <a:avLst>
              <a:gd name="adj" fmla="val 15000"/>
            </a:avLst>
          </a:prstGeom>
          <a:solidFill>
            <a:srgbClr val="f7eddc">
              <a:alpha val="46000"/>
            </a:srgbClr>
          </a:solidFill>
          <a:ln w="3175">
            <a:solidFill>
              <a:srgbClr val="d2b781"/>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08080"/>
                </a:solidFill>
                <a:latin typeface="Marianne Light"/>
              </a:rPr>
              <a:t>Investissement dans l'économie sociale (en euros)</a:t>
            </a:r>
            <a:endParaRPr b="0" lang="fr-FR" sz="1200" spc="-1" strike="noStrike">
              <a:solidFill>
                <a:srgbClr val="000000"/>
              </a:solidFill>
              <a:latin typeface="Arial"/>
            </a:endParaRPr>
          </a:p>
          <a:p>
            <a:pPr defTabSz="457200">
              <a:lnSpc>
                <a:spcPct val="100000"/>
              </a:lnSpc>
            </a:pPr>
            <a:r>
              <a:rPr b="0" lang="fr-CA" sz="1200" spc="-1" strike="noStrike">
                <a:solidFill>
                  <a:srgbClr val="d2b781"/>
                </a:solidFill>
                <a:latin typeface="Marianne"/>
              </a:rPr>
              <a:t>Cet indicateur n'est pas applicable car la forme juridique renseignée par l'entreprise n'est pas une coopérative.</a:t>
            </a:r>
            <a:endParaRPr b="0" lang="fr-FR" sz="1200" spc="-1" strike="noStrike">
              <a:solidFill>
                <a:srgbClr val="000000"/>
              </a:solidFill>
              <a:latin typeface="Arial"/>
            </a:endParaRPr>
          </a:p>
        </p:txBody>
      </p:sp>
      <p:sp>
        <p:nvSpPr>
          <p:cNvPr id="152" name="Rounded Rectangle 6"/>
          <p:cNvSpPr/>
          <p:nvPr/>
        </p:nvSpPr>
        <p:spPr>
          <a:xfrm>
            <a:off x="401400" y="5636520"/>
            <a:ext cx="6734160" cy="938520"/>
          </a:xfrm>
          <a:prstGeom prst="roundRect">
            <a:avLst>
              <a:gd name="adj" fmla="val 15134"/>
            </a:avLst>
          </a:prstGeom>
          <a:solidFill>
            <a:srgbClr val="f7eddc">
              <a:alpha val="46000"/>
            </a:srgbClr>
          </a:solidFill>
          <a:ln w="3175">
            <a:solidFill>
              <a:srgbClr val="d2b781"/>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08080"/>
                </a:solidFill>
                <a:latin typeface="Marianne Light"/>
              </a:rPr>
              <a:t>Limites statutaires à la distribution des profits</a:t>
            </a:r>
            <a:endParaRPr b="0" lang="fr-FR" sz="1200" spc="-1" strike="noStrike">
              <a:solidFill>
                <a:srgbClr val="000000"/>
              </a:solidFill>
              <a:latin typeface="Arial"/>
            </a:endParaRPr>
          </a:p>
          <a:p>
            <a:pPr defTabSz="457200">
              <a:lnSpc>
                <a:spcPct val="100000"/>
              </a:lnSpc>
            </a:pPr>
            <a:r>
              <a:rPr b="0" lang="fr-CA" sz="1200" spc="-1" strike="noStrike">
                <a:solidFill>
                  <a:srgbClr val="d2b781"/>
                </a:solidFill>
                <a:latin typeface="Marianne"/>
              </a:rPr>
              <a:t>Cet indicateur n'est pas applicable car la forme juridique renseignée par l'entreprise n'est pas une coopérative.</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3" name="Picture 2" descr=""/>
          <p:cNvPicPr/>
          <p:nvPr/>
        </p:nvPicPr>
        <p:blipFill>
          <a:blip r:embed="rId1"/>
          <a:srcRect l="0" t="0" r="0" b="0"/>
          <a:stretch/>
        </p:blipFill>
        <p:spPr>
          <a:xfrm>
            <a:off x="-9000" y="0"/>
            <a:ext cx="7554960" cy="10773720"/>
          </a:xfrm>
          <a:prstGeom prst="rect">
            <a:avLst/>
          </a:prstGeom>
          <a:ln w="0">
            <a:noFill/>
          </a:ln>
        </p:spPr>
      </p:pic>
      <p:sp>
        <p:nvSpPr>
          <p:cNvPr id="154"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155" name="Rounded Rectangle 3"/>
          <p:cNvSpPr/>
          <p:nvPr/>
        </p:nvSpPr>
        <p:spPr>
          <a:xfrm rot="16200000">
            <a:off x="3856680" y="-190440"/>
            <a:ext cx="700920" cy="6151320"/>
          </a:xfrm>
          <a:prstGeom prst="roundRect">
            <a:avLst>
              <a:gd name="adj"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chemeClr val="lt1">
                    <a:lumMod val="50000"/>
                  </a:schemeClr>
                </a:solidFill>
                <a:latin typeface="Marianne"/>
              </a:rPr>
              <a:t>B2</a:t>
            </a:r>
            <a:r>
              <a:rPr b="0" lang="fr-FR" sz="1400" spc="-1" strike="noStrike">
                <a:solidFill>
                  <a:schemeClr val="lt1">
                    <a:lumMod val="50000"/>
                  </a:schemeClr>
                </a:solidFill>
                <a:latin typeface="Marianne Medium"/>
              </a:rPr>
              <a:t> </a:t>
            </a:r>
            <a:r>
              <a:rPr b="0" lang="fr-FR" sz="1400" spc="-1" strike="noStrike">
                <a:solidFill>
                  <a:schemeClr val="lt1">
                    <a:lumMod val="50000"/>
                  </a:schemeClr>
                </a:solidFill>
                <a:latin typeface="Marianne"/>
              </a:rPr>
              <a:t>Pratiques, politiques et initiatives futures pour une transition </a:t>
            </a:r>
            <a:br>
              <a:rPr sz="1400"/>
            </a:br>
            <a:r>
              <a:rPr b="0" lang="fr-FR" sz="1400" spc="-1" strike="noStrike">
                <a:solidFill>
                  <a:schemeClr val="lt1">
                    <a:lumMod val="50000"/>
                  </a:schemeClr>
                </a:solidFill>
                <a:latin typeface="Marianne"/>
              </a:rPr>
              <a:t>vers une économie plus durable</a:t>
            </a:r>
            <a:endParaRPr b="0" lang="fr-FR" sz="1400" spc="-1" strike="noStrike">
              <a:solidFill>
                <a:srgbClr val="000000"/>
              </a:solidFill>
              <a:latin typeface="Arial"/>
            </a:endParaRPr>
          </a:p>
        </p:txBody>
      </p:sp>
      <p:grpSp>
        <p:nvGrpSpPr>
          <p:cNvPr id="156" name="Group 28"/>
          <p:cNvGrpSpPr/>
          <p:nvPr/>
        </p:nvGrpSpPr>
        <p:grpSpPr>
          <a:xfrm>
            <a:off x="330120" y="2525400"/>
            <a:ext cx="567360" cy="709920"/>
            <a:chOff x="330120" y="2525400"/>
            <a:chExt cx="567360" cy="709920"/>
          </a:xfrm>
        </p:grpSpPr>
        <p:cxnSp>
          <p:nvCxnSpPr>
            <p:cNvPr id="157" name="Straight Connector 17"/>
            <p:cNvCxnSpPr/>
            <p:nvPr/>
          </p:nvCxnSpPr>
          <p:spPr>
            <a:xfrm>
              <a:off x="893160" y="2525400"/>
              <a:ext cx="4680" cy="710280"/>
            </a:xfrm>
            <a:prstGeom prst="straightConnector1">
              <a:avLst/>
            </a:prstGeom>
            <a:ln w="3175">
              <a:solidFill>
                <a:srgbClr val="a6a6a6"/>
              </a:solidFill>
              <a:round/>
            </a:ln>
          </p:spPr>
        </p:cxnSp>
        <p:pic>
          <p:nvPicPr>
            <p:cNvPr id="158" name="Graphic 20" descr=""/>
            <p:cNvPicPr/>
            <p:nvPr/>
          </p:nvPicPr>
          <p:blipFill>
            <a:blip r:embed="rId2">
              <a:extLst>
                <a:ext uri="{96DAC541-7B7A-43D3-8B79-37D633B846F1}">
                  <asvg:svgBlip xmlns:asvg="http://schemas.microsoft.com/office/drawing/2016/SVG/main" r:embed="rId3"/>
                </a:ext>
              </a:extLst>
            </a:blip>
            <a:stretch/>
          </p:blipFill>
          <p:spPr>
            <a:xfrm>
              <a:off x="330120" y="2526120"/>
              <a:ext cx="391320" cy="391320"/>
            </a:xfrm>
            <a:prstGeom prst="rect">
              <a:avLst/>
            </a:prstGeom>
            <a:ln w="0">
              <a:noFill/>
            </a:ln>
          </p:spPr>
        </p:pic>
      </p:grpSp>
      <p:sp>
        <p:nvSpPr>
          <p:cNvPr id="159" name="Rounded Rectangle 1"/>
          <p:cNvSpPr/>
          <p:nvPr/>
        </p:nvSpPr>
        <p:spPr>
          <a:xfrm>
            <a:off x="401400" y="3391560"/>
            <a:ext cx="6734160" cy="2465280"/>
          </a:xfrm>
          <a:prstGeom prst="roundRect">
            <a:avLst>
              <a:gd name="adj" fmla="val 6069"/>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08080"/>
                </a:solidFill>
                <a:latin typeface="Marianne Light"/>
              </a:rPr>
              <a:t>Participation effective à la gouvernance</a:t>
            </a:r>
            <a:endParaRPr b="0" lang="fr-FR" sz="1200" spc="-1" strike="noStrike">
              <a:solidFill>
                <a:srgbClr val="000000"/>
              </a:solidFill>
              <a:latin typeface="Arial"/>
            </a:endParaRPr>
          </a:p>
          <a:p>
            <a:pPr defTabSz="457200">
              <a:lnSpc>
                <a:spcPct val="100000"/>
              </a:lnSpc>
              <a:tabLst>
                <a:tab algn="l" pos="0"/>
              </a:tabLst>
            </a:pPr>
            <a:r>
              <a:rPr b="1" lang="fr-FR" sz="1200" spc="-1" strike="noStrike">
                <a:solidFill>
                  <a:srgbClr val="000000"/>
                </a:solidFill>
                <a:latin typeface="Marianne Medium"/>
              </a:rPr>
              <a:t>-</a:t>
            </a:r>
            <a:endParaRPr b="0" lang="fr-FR" sz="1200" spc="-1" strike="noStrike">
              <a:solidFill>
                <a:srgbClr val="000000"/>
              </a:solidFill>
              <a:latin typeface="Arial"/>
            </a:endParaRPr>
          </a:p>
        </p:txBody>
      </p:sp>
      <p:sp>
        <p:nvSpPr>
          <p:cNvPr id="160" name="TextBox 7"/>
          <p:cNvSpPr/>
          <p:nvPr/>
        </p:nvSpPr>
        <p:spPr>
          <a:xfrm>
            <a:off x="313920" y="187200"/>
            <a:ext cx="188712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Informations générales</a:t>
            </a:r>
            <a:endParaRPr b="0" lang="fr-FR" sz="1100" spc="-1" strike="noStrike">
              <a:solidFill>
                <a:srgbClr val="000000"/>
              </a:solidFill>
              <a:latin typeface="Arial"/>
            </a:endParaRPr>
          </a:p>
        </p:txBody>
      </p:sp>
      <p:sp>
        <p:nvSpPr>
          <p:cNvPr id="161" name="TextBox 8"/>
          <p:cNvSpPr/>
          <p:nvPr/>
        </p:nvSpPr>
        <p:spPr>
          <a:xfrm>
            <a:off x="3666600" y="187200"/>
            <a:ext cx="61776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Social</a:t>
            </a:r>
            <a:endParaRPr b="0" lang="fr-FR" sz="1100" spc="-1" strike="noStrike">
              <a:solidFill>
                <a:srgbClr val="ffffff"/>
              </a:solidFill>
              <a:latin typeface="Arial"/>
            </a:endParaRPr>
          </a:p>
        </p:txBody>
      </p:sp>
      <p:sp>
        <p:nvSpPr>
          <p:cNvPr id="162" name="TextBox 9"/>
          <p:cNvSpPr/>
          <p:nvPr/>
        </p:nvSpPr>
        <p:spPr>
          <a:xfrm>
            <a:off x="2293560" y="187200"/>
            <a:ext cx="124884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Environnement</a:t>
            </a:r>
            <a:endParaRPr b="0" lang="fr-FR" sz="1100" spc="-1" strike="noStrike">
              <a:solidFill>
                <a:srgbClr val="ffffff"/>
              </a:solidFill>
              <a:latin typeface="Arial"/>
            </a:endParaRPr>
          </a:p>
        </p:txBody>
      </p:sp>
      <p:sp>
        <p:nvSpPr>
          <p:cNvPr id="163" name="TextBox 10"/>
          <p:cNvSpPr/>
          <p:nvPr/>
        </p:nvSpPr>
        <p:spPr>
          <a:xfrm>
            <a:off x="4407840" y="187200"/>
            <a:ext cx="111780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Gouvernance</a:t>
            </a:r>
            <a:endParaRPr b="0" lang="fr-FR" sz="1100" spc="-1" strike="noStrike">
              <a:solidFill>
                <a:srgbClr val="ffffff"/>
              </a:solidFill>
              <a:latin typeface="Arial"/>
            </a:endParaRPr>
          </a:p>
        </p:txBody>
      </p:sp>
      <p:sp>
        <p:nvSpPr>
          <p:cNvPr id="164" name="Rounded Rectangle 2"/>
          <p:cNvSpPr/>
          <p:nvPr/>
        </p:nvSpPr>
        <p:spPr>
          <a:xfrm>
            <a:off x="401400" y="6042960"/>
            <a:ext cx="6734160" cy="938520"/>
          </a:xfrm>
          <a:prstGeom prst="roundRect">
            <a:avLst>
              <a:gd name="adj" fmla="val 15000"/>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08080"/>
                </a:solidFill>
                <a:latin typeface="Marianne Light"/>
              </a:rPr>
              <a:t>Investissement dans l'économie sociale (en euros)</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a:t>
            </a:r>
            <a:endParaRPr b="0" lang="fr-FR" sz="1200" spc="-1" strike="noStrike">
              <a:solidFill>
                <a:srgbClr val="000000"/>
              </a:solidFill>
              <a:latin typeface="Arial"/>
            </a:endParaRPr>
          </a:p>
        </p:txBody>
      </p:sp>
      <p:sp>
        <p:nvSpPr>
          <p:cNvPr id="165" name="Rounded Rectangle 6"/>
          <p:cNvSpPr/>
          <p:nvPr/>
        </p:nvSpPr>
        <p:spPr>
          <a:xfrm>
            <a:off x="401400" y="7164000"/>
            <a:ext cx="6734160" cy="2465280"/>
          </a:xfrm>
          <a:prstGeom prst="roundRect">
            <a:avLst>
              <a:gd name="adj" fmla="val 5408"/>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08080"/>
                </a:solidFill>
                <a:latin typeface="Marianne Light"/>
              </a:rPr>
              <a:t>Limites statutaires à la distribution des profits</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6" name="Picture 2" descr=""/>
          <p:cNvPicPr/>
          <p:nvPr/>
        </p:nvPicPr>
        <p:blipFill>
          <a:blip r:embed="rId1"/>
          <a:srcRect l="0" t="0" r="0" b="0"/>
          <a:stretch/>
        </p:blipFill>
        <p:spPr>
          <a:xfrm>
            <a:off x="-9000" y="0"/>
            <a:ext cx="7554960" cy="10773720"/>
          </a:xfrm>
          <a:prstGeom prst="rect">
            <a:avLst/>
          </a:prstGeom>
          <a:ln w="0">
            <a:noFill/>
          </a:ln>
        </p:spPr>
      </p:pic>
      <p:sp>
        <p:nvSpPr>
          <p:cNvPr id="167"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168" name="Rounded Rectangle 3"/>
          <p:cNvSpPr/>
          <p:nvPr/>
        </p:nvSpPr>
        <p:spPr>
          <a:xfrm rot="16200000">
            <a:off x="3856680" y="-190440"/>
            <a:ext cx="700920" cy="6151320"/>
          </a:xfrm>
          <a:prstGeom prst="roundRect">
            <a:avLst>
              <a:gd name="adj"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chemeClr val="lt1">
                    <a:lumMod val="50000"/>
                  </a:schemeClr>
                </a:solidFill>
                <a:latin typeface="Marianne"/>
              </a:rPr>
              <a:t>B2</a:t>
            </a:r>
            <a:r>
              <a:rPr b="0" lang="fr-FR" sz="1400" spc="-1" strike="noStrike">
                <a:solidFill>
                  <a:schemeClr val="lt1">
                    <a:lumMod val="50000"/>
                  </a:schemeClr>
                </a:solidFill>
                <a:latin typeface="Marianne Medium"/>
              </a:rPr>
              <a:t> </a:t>
            </a:r>
            <a:r>
              <a:rPr b="0" lang="fr-FR" sz="1400" spc="-1" strike="noStrike">
                <a:solidFill>
                  <a:schemeClr val="lt1">
                    <a:lumMod val="50000"/>
                  </a:schemeClr>
                </a:solidFill>
                <a:latin typeface="Marianne"/>
              </a:rPr>
              <a:t>Pratiques, politiques et initiatives futures pour une transition </a:t>
            </a:r>
            <a:br>
              <a:rPr sz="1400"/>
            </a:br>
            <a:r>
              <a:rPr b="0" lang="fr-FR" sz="1400" spc="-1" strike="noStrike">
                <a:solidFill>
                  <a:schemeClr val="lt1">
                    <a:lumMod val="50000"/>
                  </a:schemeClr>
                </a:solidFill>
                <a:latin typeface="Marianne"/>
              </a:rPr>
              <a:t>vers une économie plus durable</a:t>
            </a:r>
            <a:endParaRPr b="0" lang="fr-FR" sz="1400" spc="-1" strike="noStrike">
              <a:solidFill>
                <a:srgbClr val="000000"/>
              </a:solidFill>
              <a:latin typeface="Arial"/>
            </a:endParaRPr>
          </a:p>
        </p:txBody>
      </p:sp>
      <p:grpSp>
        <p:nvGrpSpPr>
          <p:cNvPr id="169" name="Group 28"/>
          <p:cNvGrpSpPr/>
          <p:nvPr/>
        </p:nvGrpSpPr>
        <p:grpSpPr>
          <a:xfrm>
            <a:off x="330120" y="2525400"/>
            <a:ext cx="567360" cy="709920"/>
            <a:chOff x="330120" y="2525400"/>
            <a:chExt cx="567360" cy="709920"/>
          </a:xfrm>
        </p:grpSpPr>
        <p:cxnSp>
          <p:nvCxnSpPr>
            <p:cNvPr id="170" name="Straight Connector 17"/>
            <p:cNvCxnSpPr/>
            <p:nvPr/>
          </p:nvCxnSpPr>
          <p:spPr>
            <a:xfrm>
              <a:off x="893160" y="2525400"/>
              <a:ext cx="4680" cy="710280"/>
            </a:xfrm>
            <a:prstGeom prst="straightConnector1">
              <a:avLst/>
            </a:prstGeom>
            <a:ln w="3175">
              <a:solidFill>
                <a:srgbClr val="a6a6a6"/>
              </a:solidFill>
              <a:round/>
            </a:ln>
          </p:spPr>
        </p:cxnSp>
        <p:pic>
          <p:nvPicPr>
            <p:cNvPr id="171" name="Graphic 20" descr=""/>
            <p:cNvPicPr/>
            <p:nvPr/>
          </p:nvPicPr>
          <p:blipFill>
            <a:blip r:embed="rId2">
              <a:extLst>
                <a:ext uri="{96DAC541-7B7A-43D3-8B79-37D633B846F1}">
                  <asvg:svgBlip xmlns:asvg="http://schemas.microsoft.com/office/drawing/2016/SVG/main" r:embed="rId3"/>
                </a:ext>
              </a:extLst>
            </a:blip>
            <a:stretch/>
          </p:blipFill>
          <p:spPr>
            <a:xfrm>
              <a:off x="330120" y="2526120"/>
              <a:ext cx="391320" cy="391320"/>
            </a:xfrm>
            <a:prstGeom prst="rect">
              <a:avLst/>
            </a:prstGeom>
            <a:ln w="0">
              <a:noFill/>
            </a:ln>
          </p:spPr>
        </p:pic>
      </p:grpSp>
      <p:sp>
        <p:nvSpPr>
          <p:cNvPr id="172" name="Rounded Rectangle 1"/>
          <p:cNvSpPr/>
          <p:nvPr/>
        </p:nvSpPr>
        <p:spPr>
          <a:xfrm>
            <a:off x="410400" y="3391560"/>
            <a:ext cx="6734160" cy="67978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tabLst>
                <a:tab algn="l" pos="0"/>
              </a:tabLst>
            </a:pPr>
            <a:r>
              <a:rPr b="0" lang="fr-FR" sz="1200" spc="-1" strike="noStrike">
                <a:solidFill>
                  <a:srgbClr val="808080"/>
                </a:solidFill>
                <a:latin typeface="Marianne Light"/>
              </a:rPr>
              <a:t>Déclaration des pratiques et politiques de durabilité</a:t>
            </a:r>
            <a:endParaRPr b="0" lang="fr-FR" sz="1200" spc="-1" strike="noStrike">
              <a:solidFill>
                <a:srgbClr val="000000"/>
              </a:solidFill>
              <a:latin typeface="Arial"/>
            </a:endParaRPr>
          </a:p>
        </p:txBody>
      </p:sp>
      <p:graphicFrame>
        <p:nvGraphicFramePr>
          <p:cNvPr id="173" name="Table 5"/>
          <p:cNvGraphicFramePr/>
          <p:nvPr/>
        </p:nvGraphicFramePr>
        <p:xfrm>
          <a:off x="605520" y="3955680"/>
          <a:ext cx="6381720" cy="6022080"/>
        </p:xfrm>
        <a:graphic>
          <a:graphicData uri="http://schemas.openxmlformats.org/drawingml/2006/table">
            <a:tbl>
              <a:tblPr/>
              <a:tblGrid>
                <a:gridCol w="2042640"/>
                <a:gridCol w="1446480"/>
                <a:gridCol w="1446480"/>
                <a:gridCol w="1446480"/>
              </a:tblGrid>
              <a:tr h="910080">
                <a:tc>
                  <a:txBody>
                    <a:bodyPr lIns="108000" rIns="108000" anchor="ctr">
                      <a:noAutofit/>
                    </a:bodyPr>
                    <a:p>
                      <a:pPr algn="ctr" defTabSz="756000">
                        <a:lnSpc>
                          <a:spcPct val="100000"/>
                        </a:lnSpc>
                      </a:pPr>
                      <a:r>
                        <a:rPr b="0" lang="fr-FR" sz="1100" spc="-1" strike="noStrike">
                          <a:solidFill>
                            <a:schemeClr val="lt1">
                              <a:lumMod val="50000"/>
                            </a:schemeClr>
                          </a:solidFill>
                          <a:latin typeface="Marianne Light"/>
                        </a:rPr>
                        <a:t>Enjeux de durabilité</a:t>
                      </a:r>
                      <a:endParaRPr b="0" lang="fr-FR" sz="1100" spc="-1" strike="noStrike">
                        <a:solidFill>
                          <a:srgbClr val="000000"/>
                        </a:solidFill>
                        <a:latin typeface="Arial"/>
                      </a:endParaRPr>
                    </a:p>
                  </a:txBody>
                  <a:tcPr anchor="ctr" marL="108000" marR="108000">
                    <a:lnL w="12240">
                      <a:solidFill>
                        <a:srgbClr val="fffff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chemeClr val="lt1">
                              <a:lumMod val="50000"/>
                            </a:schemeClr>
                          </a:solidFill>
                          <a:latin typeface="Marianne Light"/>
                        </a:rPr>
                        <a:t>Des pratiques/ politiques sont mises en œuvre ou envisagées</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chemeClr val="lt1">
                              <a:lumMod val="50000"/>
                            </a:schemeClr>
                          </a:solidFill>
                          <a:latin typeface="Marianne Light"/>
                        </a:rPr>
                        <a:t>Elles sont accessibles au public</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chemeClr val="lt1">
                              <a:lumMod val="50000"/>
                            </a:schemeClr>
                          </a:solidFill>
                          <a:latin typeface="Marianne Light"/>
                        </a:rPr>
                        <a:t>Des cibles ont été fixées</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r>
              <a:tr h="511200">
                <a:tc>
                  <a:txBody>
                    <a:bodyPr lIns="72000" rIns="72000" anchor="ctr">
                      <a:noAutofit/>
                    </a:bodyPr>
                    <a:p>
                      <a:pPr defTabSz="756000">
                        <a:lnSpc>
                          <a:spcPct val="100000"/>
                        </a:lnSpc>
                      </a:pPr>
                      <a:r>
                        <a:rPr b="0" lang="fr-FR" sz="1100" spc="-1" strike="noStrike">
                          <a:solidFill>
                            <a:schemeClr val="dk1"/>
                          </a:solidFill>
                          <a:latin typeface="Marianne Medium"/>
                        </a:rPr>
                        <a:t>Changement climatique</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2880">
                      <a:solidFill>
                        <a:srgbClr val="d9d9d9"/>
                      </a:solidFill>
                      <a:prstDash val="solid"/>
                    </a:lnR>
                    <a:lnT w="28080">
                      <a:solidFill>
                        <a:srgbClr val="ffffff"/>
                      </a:solidFill>
                      <a:prstDash val="solid"/>
                    </a:lnT>
                    <a:lnB w="12240">
                      <a:solidFill>
                        <a:srgbClr val="ffffff"/>
                      </a:solidFill>
                      <a:prstDash val="solid"/>
                    </a:lnB>
                    <a:solidFill>
                      <a:schemeClr val="lt1">
                        <a:lumMod val="95000"/>
                      </a:schemeClr>
                    </a:solidFill>
                  </a:tcPr>
                </a:tc>
              </a:tr>
              <a:tr h="511200">
                <a:tc>
                  <a:txBody>
                    <a:bodyPr lIns="72000" rIns="72000" anchor="ctr">
                      <a:noAutofit/>
                    </a:bodyPr>
                    <a:p>
                      <a:pPr defTabSz="756000">
                        <a:lnSpc>
                          <a:spcPct val="100000"/>
                        </a:lnSpc>
                      </a:pPr>
                      <a:r>
                        <a:rPr b="0" lang="fr-FR" sz="1100" spc="-1" strike="noStrike">
                          <a:solidFill>
                            <a:schemeClr val="dk1"/>
                          </a:solidFill>
                          <a:latin typeface="Marianne Medium"/>
                        </a:rPr>
                        <a:t>Pollution</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2880">
                      <a:solidFill>
                        <a:srgbClr val="d9d9d9"/>
                      </a:solidFill>
                      <a:prstDash val="solid"/>
                    </a:lnR>
                    <a:lnT w="12240">
                      <a:solidFill>
                        <a:srgbClr val="ffffff"/>
                      </a:solidFill>
                      <a:prstDash val="solid"/>
                    </a:lnT>
                    <a:lnB w="12240">
                      <a:solidFill>
                        <a:srgbClr val="ffffff"/>
                      </a:solidFill>
                      <a:prstDash val="solid"/>
                    </a:lnB>
                    <a:solidFill>
                      <a:schemeClr val="lt1">
                        <a:lumMod val="95000"/>
                      </a:schemeClr>
                    </a:solidFill>
                  </a:tcPr>
                </a:tc>
              </a:tr>
              <a:tr h="511200">
                <a:tc>
                  <a:txBody>
                    <a:bodyPr lIns="72000" rIns="72000" anchor="ctr">
                      <a:noAutofit/>
                    </a:bodyPr>
                    <a:p>
                      <a:pPr defTabSz="756000">
                        <a:lnSpc>
                          <a:spcPct val="100000"/>
                        </a:lnSpc>
                      </a:pPr>
                      <a:r>
                        <a:rPr b="0" lang="fr-FR" sz="1100" spc="-1" strike="noStrike">
                          <a:solidFill>
                            <a:schemeClr val="dk1"/>
                          </a:solidFill>
                          <a:latin typeface="Marianne Medium"/>
                        </a:rPr>
                        <a:t>Eau et ressources aquatiques et marines</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2880">
                      <a:solidFill>
                        <a:srgbClr val="d9d9d9"/>
                      </a:solidFill>
                      <a:prstDash val="solid"/>
                    </a:lnR>
                    <a:lnT w="12240">
                      <a:solidFill>
                        <a:srgbClr val="ffffff"/>
                      </a:solidFill>
                      <a:prstDash val="solid"/>
                    </a:lnT>
                    <a:lnB w="12240">
                      <a:solidFill>
                        <a:srgbClr val="ffffff"/>
                      </a:solidFill>
                      <a:prstDash val="solid"/>
                    </a:lnB>
                    <a:solidFill>
                      <a:schemeClr val="lt1">
                        <a:lumMod val="95000"/>
                      </a:schemeClr>
                    </a:solidFill>
                  </a:tcPr>
                </a:tc>
              </a:tr>
              <a:tr h="511200">
                <a:tc>
                  <a:txBody>
                    <a:bodyPr lIns="72000" rIns="72000" anchor="ctr">
                      <a:noAutofit/>
                    </a:bodyPr>
                    <a:p>
                      <a:pPr defTabSz="756000">
                        <a:lnSpc>
                          <a:spcPct val="100000"/>
                        </a:lnSpc>
                      </a:pPr>
                      <a:r>
                        <a:rPr b="0" lang="fr-FR" sz="1100" spc="-1" strike="noStrike">
                          <a:solidFill>
                            <a:schemeClr val="dk1"/>
                          </a:solidFill>
                          <a:latin typeface="Marianne Medium"/>
                        </a:rPr>
                        <a:t>Biodiversité et écosystèmes</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2880">
                      <a:solidFill>
                        <a:srgbClr val="d9d9d9"/>
                      </a:solidFill>
                      <a:prstDash val="solid"/>
                    </a:lnR>
                    <a:lnT w="12240">
                      <a:solidFill>
                        <a:srgbClr val="ffffff"/>
                      </a:solidFill>
                      <a:prstDash val="solid"/>
                    </a:lnT>
                    <a:lnB w="12240">
                      <a:solidFill>
                        <a:srgbClr val="ffffff"/>
                      </a:solidFill>
                      <a:prstDash val="solid"/>
                    </a:lnB>
                    <a:solidFill>
                      <a:schemeClr val="lt1">
                        <a:lumMod val="95000"/>
                      </a:schemeClr>
                    </a:solidFill>
                  </a:tcPr>
                </a:tc>
              </a:tr>
              <a:tr h="511200">
                <a:tc>
                  <a:txBody>
                    <a:bodyPr lIns="72000" rIns="72000" anchor="ctr">
                      <a:noAutofit/>
                    </a:bodyPr>
                    <a:p>
                      <a:pPr defTabSz="756000">
                        <a:lnSpc>
                          <a:spcPct val="100000"/>
                        </a:lnSpc>
                      </a:pPr>
                      <a:r>
                        <a:rPr b="0" lang="fr-FR" sz="1100" spc="-1" strike="noStrike">
                          <a:solidFill>
                            <a:schemeClr val="dk1"/>
                          </a:solidFill>
                          <a:latin typeface="Marianne Medium"/>
                        </a:rPr>
                        <a:t>Économie circulaire</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2880">
                      <a:solidFill>
                        <a:srgbClr val="d9d9d9"/>
                      </a:solidFill>
                      <a:prstDash val="solid"/>
                    </a:lnR>
                    <a:lnT w="12240">
                      <a:solidFill>
                        <a:srgbClr val="ffffff"/>
                      </a:solidFill>
                      <a:prstDash val="solid"/>
                    </a:lnT>
                    <a:lnB w="12240">
                      <a:solidFill>
                        <a:srgbClr val="ffffff"/>
                      </a:solidFill>
                      <a:prstDash val="solid"/>
                    </a:lnB>
                    <a:solidFill>
                      <a:schemeClr val="lt1">
                        <a:lumMod val="95000"/>
                      </a:schemeClr>
                    </a:solidFill>
                  </a:tcPr>
                </a:tc>
              </a:tr>
              <a:tr h="511200">
                <a:tc>
                  <a:txBody>
                    <a:bodyPr lIns="72000" rIns="72000" anchor="ctr">
                      <a:noAutofit/>
                    </a:bodyPr>
                    <a:p>
                      <a:pPr defTabSz="756000">
                        <a:lnSpc>
                          <a:spcPct val="100000"/>
                        </a:lnSpc>
                      </a:pPr>
                      <a:r>
                        <a:rPr b="0" lang="fr-FR" sz="1100" spc="-1" strike="noStrike">
                          <a:solidFill>
                            <a:schemeClr val="dk1"/>
                          </a:solidFill>
                          <a:latin typeface="Marianne Medium"/>
                        </a:rPr>
                        <a:t>Personnel propre à l'entreprise</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2880">
                      <a:solidFill>
                        <a:srgbClr val="d9d9d9"/>
                      </a:solidFill>
                      <a:prstDash val="solid"/>
                    </a:lnR>
                    <a:lnT w="12240">
                      <a:solidFill>
                        <a:srgbClr val="ffffff"/>
                      </a:solidFill>
                      <a:prstDash val="solid"/>
                    </a:lnT>
                    <a:lnB w="12240">
                      <a:solidFill>
                        <a:srgbClr val="ffffff"/>
                      </a:solidFill>
                      <a:prstDash val="solid"/>
                    </a:lnB>
                    <a:solidFill>
                      <a:schemeClr val="lt1">
                        <a:lumMod val="95000"/>
                      </a:schemeClr>
                    </a:solidFill>
                  </a:tcPr>
                </a:tc>
              </a:tr>
              <a:tr h="511200">
                <a:tc>
                  <a:txBody>
                    <a:bodyPr lIns="72000" rIns="72000" anchor="ctr">
                      <a:noAutofit/>
                    </a:bodyPr>
                    <a:p>
                      <a:pPr defTabSz="756000">
                        <a:lnSpc>
                          <a:spcPct val="100000"/>
                        </a:lnSpc>
                      </a:pPr>
                      <a:r>
                        <a:rPr b="0" lang="fr-FR" sz="1100" spc="-1" strike="noStrike">
                          <a:solidFill>
                            <a:schemeClr val="dk1"/>
                          </a:solidFill>
                          <a:latin typeface="Marianne Medium"/>
                        </a:rPr>
                        <a:t>Travailleurs dans la chaîne de valeur</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2880">
                      <a:solidFill>
                        <a:srgbClr val="d9d9d9"/>
                      </a:solidFill>
                      <a:prstDash val="solid"/>
                    </a:lnR>
                    <a:lnT w="12240">
                      <a:solidFill>
                        <a:srgbClr val="ffffff"/>
                      </a:solidFill>
                      <a:prstDash val="solid"/>
                    </a:lnT>
                    <a:lnB w="12240">
                      <a:solidFill>
                        <a:srgbClr val="ffffff"/>
                      </a:solidFill>
                      <a:prstDash val="solid"/>
                    </a:lnB>
                    <a:solidFill>
                      <a:schemeClr val="lt1">
                        <a:lumMod val="95000"/>
                      </a:schemeClr>
                    </a:solidFill>
                  </a:tcPr>
                </a:tc>
              </a:tr>
              <a:tr h="511200">
                <a:tc>
                  <a:txBody>
                    <a:bodyPr lIns="72000" rIns="72000" anchor="ctr">
                      <a:noAutofit/>
                    </a:bodyPr>
                    <a:p>
                      <a:pPr defTabSz="756000">
                        <a:lnSpc>
                          <a:spcPct val="100000"/>
                        </a:lnSpc>
                      </a:pPr>
                      <a:r>
                        <a:rPr b="0" lang="fr-FR" sz="1100" spc="-1" strike="noStrike">
                          <a:solidFill>
                            <a:schemeClr val="dk1"/>
                          </a:solidFill>
                          <a:latin typeface="Marianne Medium"/>
                        </a:rPr>
                        <a:t>Communautés affectées</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2880">
                      <a:solidFill>
                        <a:srgbClr val="d9d9d9"/>
                      </a:solidFill>
                      <a:prstDash val="solid"/>
                    </a:lnR>
                    <a:lnT w="12240">
                      <a:solidFill>
                        <a:srgbClr val="ffffff"/>
                      </a:solidFill>
                      <a:prstDash val="solid"/>
                    </a:lnT>
                    <a:lnB w="12240">
                      <a:solidFill>
                        <a:srgbClr val="ffffff"/>
                      </a:solidFill>
                      <a:prstDash val="solid"/>
                    </a:lnB>
                    <a:solidFill>
                      <a:schemeClr val="lt1">
                        <a:lumMod val="95000"/>
                      </a:schemeClr>
                    </a:solidFill>
                  </a:tcPr>
                </a:tc>
              </a:tr>
              <a:tr h="511200">
                <a:tc>
                  <a:txBody>
                    <a:bodyPr lIns="72000" rIns="72000" anchor="ctr">
                      <a:noAutofit/>
                    </a:bodyPr>
                    <a:p>
                      <a:pPr defTabSz="756000">
                        <a:lnSpc>
                          <a:spcPct val="100000"/>
                        </a:lnSpc>
                      </a:pPr>
                      <a:r>
                        <a:rPr b="0" lang="fr-FR" sz="1100" spc="-1" strike="noStrike">
                          <a:solidFill>
                            <a:schemeClr val="dk1"/>
                          </a:solidFill>
                          <a:latin typeface="Marianne Medium"/>
                        </a:rPr>
                        <a:t>Consommateurs et utilisateurs finaux</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2880">
                      <a:solidFill>
                        <a:srgbClr val="d9d9d9"/>
                      </a:solidFill>
                      <a:prstDash val="solid"/>
                    </a:lnR>
                    <a:lnT w="12240">
                      <a:solidFill>
                        <a:srgbClr val="ffffff"/>
                      </a:solidFill>
                      <a:prstDash val="solid"/>
                    </a:lnT>
                    <a:lnB w="12240">
                      <a:solidFill>
                        <a:srgbClr val="ffffff"/>
                      </a:solidFill>
                      <a:prstDash val="solid"/>
                    </a:lnB>
                    <a:solidFill>
                      <a:schemeClr val="lt1">
                        <a:lumMod val="95000"/>
                      </a:schemeClr>
                    </a:solidFill>
                  </a:tcPr>
                </a:tc>
              </a:tr>
              <a:tr h="511200">
                <a:tc>
                  <a:txBody>
                    <a:bodyPr lIns="72000" rIns="72000" anchor="ctr">
                      <a:noAutofit/>
                    </a:bodyPr>
                    <a:p>
                      <a:pPr defTabSz="756000">
                        <a:lnSpc>
                          <a:spcPct val="100000"/>
                        </a:lnSpc>
                      </a:pPr>
                      <a:r>
                        <a:rPr b="0" lang="fr-FR" sz="1100" spc="-1" strike="noStrike">
                          <a:solidFill>
                            <a:schemeClr val="dk1"/>
                          </a:solidFill>
                          <a:latin typeface="Marianne Medium"/>
                        </a:rPr>
                        <a:t>Conduite des affaires et lutte contre la corruption</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12240">
                      <a:solidFill>
                        <a:srgbClr val="ffffff"/>
                      </a:solidFill>
                      <a:prstDash val="solid"/>
                    </a:lnT>
                    <a:lnB w="2880">
                      <a:solidFill>
                        <a:srgbClr val="d9d9d9"/>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2880">
                      <a:solidFill>
                        <a:srgbClr val="d9d9d9"/>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2880">
                      <a:solidFill>
                        <a:srgbClr val="d9d9d9"/>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2880">
                      <a:solidFill>
                        <a:srgbClr val="d9d9d9"/>
                      </a:solidFill>
                      <a:prstDash val="solid"/>
                    </a:lnR>
                    <a:lnT w="12240">
                      <a:solidFill>
                        <a:srgbClr val="ffffff"/>
                      </a:solidFill>
                      <a:prstDash val="solid"/>
                    </a:lnT>
                    <a:lnB w="2880">
                      <a:solidFill>
                        <a:srgbClr val="d9d9d9"/>
                      </a:solidFill>
                      <a:prstDash val="solid"/>
                    </a:lnB>
                    <a:solidFill>
                      <a:schemeClr val="lt1">
                        <a:lumMod val="95000"/>
                      </a:schemeClr>
                    </a:solidFill>
                  </a:tcPr>
                </a:tc>
              </a:tr>
            </a:tbl>
          </a:graphicData>
        </a:graphic>
      </p:graphicFrame>
      <p:sp>
        <p:nvSpPr>
          <p:cNvPr id="174" name="TextBox 7"/>
          <p:cNvSpPr/>
          <p:nvPr/>
        </p:nvSpPr>
        <p:spPr>
          <a:xfrm>
            <a:off x="313920" y="187200"/>
            <a:ext cx="188712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Informations générales</a:t>
            </a:r>
            <a:endParaRPr b="0" lang="fr-FR" sz="1100" spc="-1" strike="noStrike">
              <a:solidFill>
                <a:srgbClr val="000000"/>
              </a:solidFill>
              <a:latin typeface="Arial"/>
            </a:endParaRPr>
          </a:p>
        </p:txBody>
      </p:sp>
      <p:sp>
        <p:nvSpPr>
          <p:cNvPr id="175" name="TextBox 8"/>
          <p:cNvSpPr/>
          <p:nvPr/>
        </p:nvSpPr>
        <p:spPr>
          <a:xfrm>
            <a:off x="3666600" y="187200"/>
            <a:ext cx="61776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Social</a:t>
            </a:r>
            <a:endParaRPr b="0" lang="fr-FR" sz="1100" spc="-1" strike="noStrike">
              <a:solidFill>
                <a:srgbClr val="ffffff"/>
              </a:solidFill>
              <a:latin typeface="Arial"/>
            </a:endParaRPr>
          </a:p>
        </p:txBody>
      </p:sp>
      <p:sp>
        <p:nvSpPr>
          <p:cNvPr id="176" name="TextBox 9"/>
          <p:cNvSpPr/>
          <p:nvPr/>
        </p:nvSpPr>
        <p:spPr>
          <a:xfrm>
            <a:off x="2293560" y="187200"/>
            <a:ext cx="124884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Environnement</a:t>
            </a:r>
            <a:endParaRPr b="0" lang="fr-FR" sz="1100" spc="-1" strike="noStrike">
              <a:solidFill>
                <a:srgbClr val="ffffff"/>
              </a:solidFill>
              <a:latin typeface="Arial"/>
            </a:endParaRPr>
          </a:p>
        </p:txBody>
      </p:sp>
      <p:sp>
        <p:nvSpPr>
          <p:cNvPr id="177" name="TextBox 10"/>
          <p:cNvSpPr/>
          <p:nvPr/>
        </p:nvSpPr>
        <p:spPr>
          <a:xfrm>
            <a:off x="4407840" y="187200"/>
            <a:ext cx="111780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Gouvernance</a:t>
            </a:r>
            <a:endParaRPr b="0" lang="fr-FR" sz="1100" spc="-1" strike="noStrike">
              <a:solidFill>
                <a:srgbClr val="ffffff"/>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8" name="Picture 2" descr=""/>
          <p:cNvPicPr/>
          <p:nvPr/>
        </p:nvPicPr>
        <p:blipFill>
          <a:blip r:embed="rId1"/>
          <a:srcRect l="0" t="0" r="0" b="0"/>
          <a:stretch/>
        </p:blipFill>
        <p:spPr>
          <a:xfrm>
            <a:off x="-9000" y="0"/>
            <a:ext cx="7554960" cy="10773720"/>
          </a:xfrm>
          <a:prstGeom prst="rect">
            <a:avLst/>
          </a:prstGeom>
          <a:ln w="0">
            <a:noFill/>
          </a:ln>
        </p:spPr>
      </p:pic>
      <p:sp>
        <p:nvSpPr>
          <p:cNvPr id="179"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180" name="Rounded Rectangle 3"/>
          <p:cNvSpPr/>
          <p:nvPr/>
        </p:nvSpPr>
        <p:spPr>
          <a:xfrm rot="16200000">
            <a:off x="3856680" y="-190440"/>
            <a:ext cx="700920" cy="6151320"/>
          </a:xfrm>
          <a:prstGeom prst="roundRect">
            <a:avLst>
              <a:gd name="adj"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chemeClr val="lt1">
                    <a:lumMod val="50000"/>
                  </a:schemeClr>
                </a:solidFill>
                <a:latin typeface="Marianne"/>
              </a:rPr>
              <a:t>B2</a:t>
            </a:r>
            <a:r>
              <a:rPr b="0" lang="fr-FR" sz="1400" spc="-1" strike="noStrike">
                <a:solidFill>
                  <a:schemeClr val="lt1">
                    <a:lumMod val="50000"/>
                  </a:schemeClr>
                </a:solidFill>
                <a:latin typeface="Marianne Medium"/>
              </a:rPr>
              <a:t> </a:t>
            </a:r>
            <a:r>
              <a:rPr b="0" lang="fr-FR" sz="1400" spc="-1" strike="noStrike">
                <a:solidFill>
                  <a:schemeClr val="lt1">
                    <a:lumMod val="50000"/>
                  </a:schemeClr>
                </a:solidFill>
                <a:latin typeface="Marianne"/>
              </a:rPr>
              <a:t>Pratiques, politiques et initiatives futures pour une transition </a:t>
            </a:r>
            <a:br>
              <a:rPr sz="1400"/>
            </a:br>
            <a:r>
              <a:rPr b="0" lang="fr-FR" sz="1400" spc="-1" strike="noStrike">
                <a:solidFill>
                  <a:schemeClr val="lt1">
                    <a:lumMod val="50000"/>
                  </a:schemeClr>
                </a:solidFill>
                <a:latin typeface="Marianne"/>
              </a:rPr>
              <a:t>vers une économie plus durable</a:t>
            </a:r>
            <a:endParaRPr b="0" lang="fr-FR" sz="1400" spc="-1" strike="noStrike">
              <a:solidFill>
                <a:srgbClr val="000000"/>
              </a:solidFill>
              <a:latin typeface="Arial"/>
            </a:endParaRPr>
          </a:p>
        </p:txBody>
      </p:sp>
      <p:grpSp>
        <p:nvGrpSpPr>
          <p:cNvPr id="181" name="Group 28"/>
          <p:cNvGrpSpPr/>
          <p:nvPr/>
        </p:nvGrpSpPr>
        <p:grpSpPr>
          <a:xfrm>
            <a:off x="330120" y="2525400"/>
            <a:ext cx="567360" cy="709920"/>
            <a:chOff x="330120" y="2525400"/>
            <a:chExt cx="567360" cy="709920"/>
          </a:xfrm>
        </p:grpSpPr>
        <p:cxnSp>
          <p:nvCxnSpPr>
            <p:cNvPr id="182" name="Straight Connector 17"/>
            <p:cNvCxnSpPr/>
            <p:nvPr/>
          </p:nvCxnSpPr>
          <p:spPr>
            <a:xfrm>
              <a:off x="893160" y="2525400"/>
              <a:ext cx="4680" cy="710280"/>
            </a:xfrm>
            <a:prstGeom prst="straightConnector1">
              <a:avLst/>
            </a:prstGeom>
            <a:ln w="3175">
              <a:solidFill>
                <a:srgbClr val="a6a6a6"/>
              </a:solidFill>
              <a:round/>
            </a:ln>
          </p:spPr>
        </p:cxnSp>
        <p:pic>
          <p:nvPicPr>
            <p:cNvPr id="183" name="Graphic 20" descr=""/>
            <p:cNvPicPr/>
            <p:nvPr/>
          </p:nvPicPr>
          <p:blipFill>
            <a:blip r:embed="rId2">
              <a:extLst>
                <a:ext uri="{96DAC541-7B7A-43D3-8B79-37D633B846F1}">
                  <asvg:svgBlip xmlns:asvg="http://schemas.microsoft.com/office/drawing/2016/SVG/main" r:embed="rId3"/>
                </a:ext>
              </a:extLst>
            </a:blip>
            <a:stretch/>
          </p:blipFill>
          <p:spPr>
            <a:xfrm>
              <a:off x="330120" y="2526120"/>
              <a:ext cx="391320" cy="391320"/>
            </a:xfrm>
            <a:prstGeom prst="rect">
              <a:avLst/>
            </a:prstGeom>
            <a:ln w="0">
              <a:noFill/>
            </a:ln>
          </p:spPr>
        </p:pic>
      </p:grpSp>
      <p:sp>
        <p:nvSpPr>
          <p:cNvPr id="184" name="Rounded Rectangle 1"/>
          <p:cNvSpPr/>
          <p:nvPr/>
        </p:nvSpPr>
        <p:spPr>
          <a:xfrm>
            <a:off x="410400" y="3342600"/>
            <a:ext cx="6734160" cy="68824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tabLst>
                <a:tab algn="l" pos="0"/>
              </a:tabLst>
            </a:pPr>
            <a:r>
              <a:rPr b="0" lang="fr-FR" sz="1200" spc="-1" strike="noStrike">
                <a:solidFill>
                  <a:srgbClr val="808080"/>
                </a:solidFill>
                <a:latin typeface="Marianne Light"/>
              </a:rPr>
              <a:t>Déclaration des pratiques et politiques de durabilité</a:t>
            </a:r>
            <a:endParaRPr b="0" lang="fr-FR" sz="1200" spc="-1" strike="noStrike">
              <a:solidFill>
                <a:srgbClr val="000000"/>
              </a:solidFill>
              <a:latin typeface="Arial"/>
            </a:endParaRPr>
          </a:p>
          <a:p>
            <a:pPr defTabSz="457200">
              <a:lnSpc>
                <a:spcPct val="100000"/>
              </a:lnSpc>
              <a:tabLst>
                <a:tab algn="l" pos="0"/>
              </a:tabLst>
            </a:pPr>
            <a:r>
              <a:rPr b="1" lang="fr-FR" sz="1200" spc="-1" strike="noStrike">
                <a:solidFill>
                  <a:srgbClr val="000000"/>
                </a:solidFill>
                <a:latin typeface="Marianne Medium"/>
              </a:rPr>
              <a:t>Non pertinent</a:t>
            </a:r>
            <a:endParaRPr b="0" lang="fr-FR" sz="1200" spc="-1" strike="noStrike">
              <a:solidFill>
                <a:srgbClr val="000000"/>
              </a:solidFill>
              <a:latin typeface="Arial"/>
            </a:endParaRPr>
          </a:p>
        </p:txBody>
      </p:sp>
      <p:sp>
        <p:nvSpPr>
          <p:cNvPr id="185" name="TextBox 7"/>
          <p:cNvSpPr/>
          <p:nvPr/>
        </p:nvSpPr>
        <p:spPr>
          <a:xfrm>
            <a:off x="313920" y="187200"/>
            <a:ext cx="188712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Informations générales</a:t>
            </a:r>
            <a:endParaRPr b="0" lang="fr-FR" sz="1100" spc="-1" strike="noStrike">
              <a:solidFill>
                <a:srgbClr val="000000"/>
              </a:solidFill>
              <a:latin typeface="Arial"/>
            </a:endParaRPr>
          </a:p>
        </p:txBody>
      </p:sp>
      <p:sp>
        <p:nvSpPr>
          <p:cNvPr id="186" name="TextBox 8"/>
          <p:cNvSpPr/>
          <p:nvPr/>
        </p:nvSpPr>
        <p:spPr>
          <a:xfrm>
            <a:off x="3666600" y="187200"/>
            <a:ext cx="61776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Social</a:t>
            </a:r>
            <a:endParaRPr b="0" lang="fr-FR" sz="1100" spc="-1" strike="noStrike">
              <a:solidFill>
                <a:srgbClr val="ffffff"/>
              </a:solidFill>
              <a:latin typeface="Arial"/>
            </a:endParaRPr>
          </a:p>
        </p:txBody>
      </p:sp>
      <p:sp>
        <p:nvSpPr>
          <p:cNvPr id="187" name="TextBox 9"/>
          <p:cNvSpPr/>
          <p:nvPr/>
        </p:nvSpPr>
        <p:spPr>
          <a:xfrm>
            <a:off x="2293560" y="187200"/>
            <a:ext cx="124884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Environnement</a:t>
            </a:r>
            <a:endParaRPr b="0" lang="fr-FR" sz="1100" spc="-1" strike="noStrike">
              <a:solidFill>
                <a:srgbClr val="ffffff"/>
              </a:solidFill>
              <a:latin typeface="Arial"/>
            </a:endParaRPr>
          </a:p>
        </p:txBody>
      </p:sp>
      <p:sp>
        <p:nvSpPr>
          <p:cNvPr id="188" name="TextBox 10"/>
          <p:cNvSpPr/>
          <p:nvPr/>
        </p:nvSpPr>
        <p:spPr>
          <a:xfrm>
            <a:off x="4407840" y="187200"/>
            <a:ext cx="111780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Gouvernance</a:t>
            </a:r>
            <a:endParaRPr b="0" lang="fr-FR" sz="1100" spc="-1" strike="noStrike">
              <a:solidFill>
                <a:srgbClr val="ffffff"/>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9" name="Picture 2" descr=""/>
          <p:cNvPicPr/>
          <p:nvPr/>
        </p:nvPicPr>
        <p:blipFill>
          <a:blip r:embed="rId1"/>
          <a:srcRect l="0" t="0" r="0" b="0"/>
          <a:stretch/>
        </p:blipFill>
        <p:spPr>
          <a:xfrm>
            <a:off x="-9000" y="0"/>
            <a:ext cx="7554960" cy="10773720"/>
          </a:xfrm>
          <a:prstGeom prst="rect">
            <a:avLst/>
          </a:prstGeom>
          <a:ln w="0">
            <a:noFill/>
          </a:ln>
        </p:spPr>
      </p:pic>
      <p:sp>
        <p:nvSpPr>
          <p:cNvPr id="190" name="Rectangle 16"/>
          <p:cNvSpPr/>
          <p:nvPr/>
        </p:nvSpPr>
        <p:spPr>
          <a:xfrm>
            <a:off x="0" y="22849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191" name="Rounded Rectangle 3"/>
          <p:cNvSpPr/>
          <p:nvPr/>
        </p:nvSpPr>
        <p:spPr>
          <a:xfrm rot="16200000">
            <a:off x="3985560" y="-322560"/>
            <a:ext cx="394560" cy="6151320"/>
          </a:xfrm>
          <a:prstGeom prst="roundRect">
            <a:avLst>
              <a:gd name="adj"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chemeClr val="lt1">
                    <a:lumMod val="50000"/>
                  </a:schemeClr>
                </a:solidFill>
                <a:latin typeface="Marianne"/>
              </a:rPr>
              <a:t>C1</a:t>
            </a:r>
            <a:r>
              <a:rPr b="0" lang="fr-FR" sz="1400" spc="-1" strike="noStrike">
                <a:solidFill>
                  <a:schemeClr val="lt1">
                    <a:lumMod val="50000"/>
                  </a:schemeClr>
                </a:solidFill>
                <a:latin typeface="Marianne Medium"/>
              </a:rPr>
              <a:t> </a:t>
            </a:r>
            <a:r>
              <a:rPr b="0" lang="fr-FR" sz="1400" spc="-1" strike="noStrike">
                <a:solidFill>
                  <a:schemeClr val="lt1">
                    <a:lumMod val="50000"/>
                  </a:schemeClr>
                </a:solidFill>
                <a:latin typeface="Marianne"/>
              </a:rPr>
              <a:t>Stratégie : modèle économique et initiatives liées à la durabilité </a:t>
            </a:r>
            <a:endParaRPr b="0" lang="fr-FR" sz="1400" spc="-1" strike="noStrike">
              <a:solidFill>
                <a:srgbClr val="000000"/>
              </a:solidFill>
              <a:latin typeface="Arial"/>
            </a:endParaRPr>
          </a:p>
        </p:txBody>
      </p:sp>
      <p:grpSp>
        <p:nvGrpSpPr>
          <p:cNvPr id="192" name="Group 28"/>
          <p:cNvGrpSpPr/>
          <p:nvPr/>
        </p:nvGrpSpPr>
        <p:grpSpPr>
          <a:xfrm>
            <a:off x="330120" y="2525400"/>
            <a:ext cx="567360" cy="425880"/>
            <a:chOff x="330120" y="2525400"/>
            <a:chExt cx="567360" cy="425880"/>
          </a:xfrm>
        </p:grpSpPr>
        <p:cxnSp>
          <p:nvCxnSpPr>
            <p:cNvPr id="193" name="Straight Connector 17"/>
            <p:cNvCxnSpPr/>
            <p:nvPr/>
          </p:nvCxnSpPr>
          <p:spPr>
            <a:xfrm>
              <a:off x="893160" y="2525400"/>
              <a:ext cx="4680" cy="426240"/>
            </a:xfrm>
            <a:prstGeom prst="straightConnector1">
              <a:avLst/>
            </a:prstGeom>
            <a:ln w="3175">
              <a:solidFill>
                <a:srgbClr val="a6a6a6"/>
              </a:solidFill>
              <a:round/>
            </a:ln>
          </p:spPr>
        </p:cxnSp>
        <p:pic>
          <p:nvPicPr>
            <p:cNvPr id="194" name="Graphic 20" descr=""/>
            <p:cNvPicPr/>
            <p:nvPr/>
          </p:nvPicPr>
          <p:blipFill>
            <a:blip r:embed="rId2">
              <a:extLst>
                <a:ext uri="{96DAC541-7B7A-43D3-8B79-37D633B846F1}">
                  <asvg:svgBlip xmlns:asvg="http://schemas.microsoft.com/office/drawing/2016/SVG/main" r:embed="rId3"/>
                </a:ext>
              </a:extLst>
            </a:blip>
            <a:stretch/>
          </p:blipFill>
          <p:spPr>
            <a:xfrm>
              <a:off x="330120" y="2526120"/>
              <a:ext cx="391320" cy="391320"/>
            </a:xfrm>
            <a:prstGeom prst="rect">
              <a:avLst/>
            </a:prstGeom>
            <a:ln w="0">
              <a:noFill/>
            </a:ln>
          </p:spPr>
        </p:pic>
      </p:grpSp>
      <p:sp>
        <p:nvSpPr>
          <p:cNvPr id="195" name="TextBox 4"/>
          <p:cNvSpPr/>
          <p:nvPr/>
        </p:nvSpPr>
        <p:spPr>
          <a:xfrm>
            <a:off x="313920" y="187200"/>
            <a:ext cx="188712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Informations générales</a:t>
            </a:r>
            <a:endParaRPr b="0" lang="fr-FR" sz="1100" spc="-1" strike="noStrike">
              <a:solidFill>
                <a:srgbClr val="000000"/>
              </a:solidFill>
              <a:latin typeface="Arial"/>
            </a:endParaRPr>
          </a:p>
        </p:txBody>
      </p:sp>
      <p:sp>
        <p:nvSpPr>
          <p:cNvPr id="196" name="TextBox 5"/>
          <p:cNvSpPr/>
          <p:nvPr/>
        </p:nvSpPr>
        <p:spPr>
          <a:xfrm>
            <a:off x="3666600" y="187200"/>
            <a:ext cx="61776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Social</a:t>
            </a:r>
            <a:endParaRPr b="0" lang="fr-FR" sz="1100" spc="-1" strike="noStrike">
              <a:solidFill>
                <a:srgbClr val="ffffff"/>
              </a:solidFill>
              <a:latin typeface="Arial"/>
            </a:endParaRPr>
          </a:p>
        </p:txBody>
      </p:sp>
      <p:sp>
        <p:nvSpPr>
          <p:cNvPr id="197" name="TextBox 6"/>
          <p:cNvSpPr/>
          <p:nvPr/>
        </p:nvSpPr>
        <p:spPr>
          <a:xfrm>
            <a:off x="2293560" y="187200"/>
            <a:ext cx="124884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Environnement</a:t>
            </a:r>
            <a:endParaRPr b="0" lang="fr-FR" sz="1100" spc="-1" strike="noStrike">
              <a:solidFill>
                <a:srgbClr val="ffffff"/>
              </a:solidFill>
              <a:latin typeface="Arial"/>
            </a:endParaRPr>
          </a:p>
        </p:txBody>
      </p:sp>
      <p:sp>
        <p:nvSpPr>
          <p:cNvPr id="198" name="TextBox 7"/>
          <p:cNvSpPr/>
          <p:nvPr/>
        </p:nvSpPr>
        <p:spPr>
          <a:xfrm>
            <a:off x="4407840" y="187200"/>
            <a:ext cx="111780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Gouvernance</a:t>
            </a:r>
            <a:endParaRPr b="0" lang="fr-FR" sz="1100" spc="-1" strike="noStrike">
              <a:solidFill>
                <a:srgbClr val="ffffff"/>
              </a:solidFill>
              <a:latin typeface="Arial"/>
            </a:endParaRPr>
          </a:p>
        </p:txBody>
      </p:sp>
      <p:sp>
        <p:nvSpPr>
          <p:cNvPr id="199" name="Rounded Rectangle 1"/>
          <p:cNvSpPr/>
          <p:nvPr/>
        </p:nvSpPr>
        <p:spPr>
          <a:xfrm>
            <a:off x="401400" y="3148200"/>
            <a:ext cx="6734160" cy="3417480"/>
          </a:xfrm>
          <a:prstGeom prst="roundRect">
            <a:avLst>
              <a:gd name="adj" fmla="val 6069"/>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08080"/>
                </a:solidFill>
                <a:latin typeface="Marianne Light"/>
              </a:rPr>
              <a:t>Produits et services proposés</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a:t>
            </a:r>
            <a:endParaRPr b="0" lang="fr-FR" sz="1200" spc="-1" strike="noStrike">
              <a:solidFill>
                <a:srgbClr val="000000"/>
              </a:solidFill>
              <a:latin typeface="Arial"/>
            </a:endParaRPr>
          </a:p>
        </p:txBody>
      </p:sp>
      <p:sp>
        <p:nvSpPr>
          <p:cNvPr id="200" name="Rounded Rectangle 8"/>
          <p:cNvSpPr/>
          <p:nvPr/>
        </p:nvSpPr>
        <p:spPr>
          <a:xfrm>
            <a:off x="419040" y="6722280"/>
            <a:ext cx="6734160" cy="3417480"/>
          </a:xfrm>
          <a:prstGeom prst="roundRect">
            <a:avLst>
              <a:gd name="adj" fmla="val 6069"/>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08080"/>
                </a:solidFill>
                <a:latin typeface="Marianne Light"/>
              </a:rPr>
              <a:t>Marchés sur lesquels l’entreprise exerce ses activités</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1" name="Picture 2" descr=""/>
          <p:cNvPicPr/>
          <p:nvPr/>
        </p:nvPicPr>
        <p:blipFill>
          <a:blip r:embed="rId1"/>
          <a:srcRect l="0" t="0" r="0" b="0"/>
          <a:stretch/>
        </p:blipFill>
        <p:spPr>
          <a:xfrm>
            <a:off x="-9000" y="0"/>
            <a:ext cx="7554960" cy="10773720"/>
          </a:xfrm>
          <a:prstGeom prst="rect">
            <a:avLst/>
          </a:prstGeom>
          <a:ln w="0">
            <a:noFill/>
          </a:ln>
        </p:spPr>
      </p:pic>
      <p:sp>
        <p:nvSpPr>
          <p:cNvPr id="202" name="Rectangle 16"/>
          <p:cNvSpPr/>
          <p:nvPr/>
        </p:nvSpPr>
        <p:spPr>
          <a:xfrm>
            <a:off x="0" y="22849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203" name="Rounded Rectangle 3"/>
          <p:cNvSpPr/>
          <p:nvPr/>
        </p:nvSpPr>
        <p:spPr>
          <a:xfrm rot="16200000">
            <a:off x="3985560" y="-322560"/>
            <a:ext cx="394560" cy="6151320"/>
          </a:xfrm>
          <a:prstGeom prst="roundRect">
            <a:avLst>
              <a:gd name="adj"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chemeClr val="lt1">
                    <a:lumMod val="50000"/>
                  </a:schemeClr>
                </a:solidFill>
                <a:latin typeface="Marianne"/>
              </a:rPr>
              <a:t>C1</a:t>
            </a:r>
            <a:r>
              <a:rPr b="0" lang="fr-FR" sz="1400" spc="-1" strike="noStrike">
                <a:solidFill>
                  <a:schemeClr val="lt1">
                    <a:lumMod val="50000"/>
                  </a:schemeClr>
                </a:solidFill>
                <a:latin typeface="Marianne Medium"/>
              </a:rPr>
              <a:t> </a:t>
            </a:r>
            <a:r>
              <a:rPr b="0" lang="fr-FR" sz="1400" spc="-1" strike="noStrike">
                <a:solidFill>
                  <a:schemeClr val="lt1">
                    <a:lumMod val="50000"/>
                  </a:schemeClr>
                </a:solidFill>
                <a:latin typeface="Marianne"/>
              </a:rPr>
              <a:t>Stratégie : modèle économique et initiatives liées à la durabilité </a:t>
            </a:r>
            <a:endParaRPr b="0" lang="fr-FR" sz="1400" spc="-1" strike="noStrike">
              <a:solidFill>
                <a:srgbClr val="000000"/>
              </a:solidFill>
              <a:latin typeface="Arial"/>
            </a:endParaRPr>
          </a:p>
        </p:txBody>
      </p:sp>
      <p:grpSp>
        <p:nvGrpSpPr>
          <p:cNvPr id="204" name="Group 28"/>
          <p:cNvGrpSpPr/>
          <p:nvPr/>
        </p:nvGrpSpPr>
        <p:grpSpPr>
          <a:xfrm>
            <a:off x="330120" y="2525400"/>
            <a:ext cx="567360" cy="425880"/>
            <a:chOff x="330120" y="2525400"/>
            <a:chExt cx="567360" cy="425880"/>
          </a:xfrm>
        </p:grpSpPr>
        <p:cxnSp>
          <p:nvCxnSpPr>
            <p:cNvPr id="205" name="Straight Connector 17"/>
            <p:cNvCxnSpPr/>
            <p:nvPr/>
          </p:nvCxnSpPr>
          <p:spPr>
            <a:xfrm>
              <a:off x="893160" y="2525400"/>
              <a:ext cx="4680" cy="426240"/>
            </a:xfrm>
            <a:prstGeom prst="straightConnector1">
              <a:avLst/>
            </a:prstGeom>
            <a:ln w="3175">
              <a:solidFill>
                <a:srgbClr val="a6a6a6"/>
              </a:solidFill>
              <a:round/>
            </a:ln>
          </p:spPr>
        </p:cxnSp>
        <p:pic>
          <p:nvPicPr>
            <p:cNvPr id="206" name="Graphic 20" descr=""/>
            <p:cNvPicPr/>
            <p:nvPr/>
          </p:nvPicPr>
          <p:blipFill>
            <a:blip r:embed="rId2">
              <a:extLst>
                <a:ext uri="{96DAC541-7B7A-43D3-8B79-37D633B846F1}">
                  <asvg:svgBlip xmlns:asvg="http://schemas.microsoft.com/office/drawing/2016/SVG/main" r:embed="rId3"/>
                </a:ext>
              </a:extLst>
            </a:blip>
            <a:stretch/>
          </p:blipFill>
          <p:spPr>
            <a:xfrm>
              <a:off x="330120" y="2526120"/>
              <a:ext cx="391320" cy="391320"/>
            </a:xfrm>
            <a:prstGeom prst="rect">
              <a:avLst/>
            </a:prstGeom>
            <a:ln w="0">
              <a:noFill/>
            </a:ln>
          </p:spPr>
        </p:pic>
      </p:grpSp>
      <p:sp>
        <p:nvSpPr>
          <p:cNvPr id="207" name="TextBox 4"/>
          <p:cNvSpPr/>
          <p:nvPr/>
        </p:nvSpPr>
        <p:spPr>
          <a:xfrm>
            <a:off x="313920" y="187200"/>
            <a:ext cx="188712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Informations générales</a:t>
            </a:r>
            <a:endParaRPr b="0" lang="fr-FR" sz="1100" spc="-1" strike="noStrike">
              <a:solidFill>
                <a:srgbClr val="000000"/>
              </a:solidFill>
              <a:latin typeface="Arial"/>
            </a:endParaRPr>
          </a:p>
        </p:txBody>
      </p:sp>
      <p:sp>
        <p:nvSpPr>
          <p:cNvPr id="208" name="TextBox 5"/>
          <p:cNvSpPr/>
          <p:nvPr/>
        </p:nvSpPr>
        <p:spPr>
          <a:xfrm>
            <a:off x="3666600" y="187200"/>
            <a:ext cx="61776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Social</a:t>
            </a:r>
            <a:endParaRPr b="0" lang="fr-FR" sz="1100" spc="-1" strike="noStrike">
              <a:solidFill>
                <a:srgbClr val="ffffff"/>
              </a:solidFill>
              <a:latin typeface="Arial"/>
            </a:endParaRPr>
          </a:p>
        </p:txBody>
      </p:sp>
      <p:sp>
        <p:nvSpPr>
          <p:cNvPr id="209" name="TextBox 6"/>
          <p:cNvSpPr/>
          <p:nvPr/>
        </p:nvSpPr>
        <p:spPr>
          <a:xfrm>
            <a:off x="2293560" y="187200"/>
            <a:ext cx="124884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Environnement</a:t>
            </a:r>
            <a:endParaRPr b="0" lang="fr-FR" sz="1100" spc="-1" strike="noStrike">
              <a:solidFill>
                <a:srgbClr val="ffffff"/>
              </a:solidFill>
              <a:latin typeface="Arial"/>
            </a:endParaRPr>
          </a:p>
        </p:txBody>
      </p:sp>
      <p:sp>
        <p:nvSpPr>
          <p:cNvPr id="210" name="TextBox 7"/>
          <p:cNvSpPr/>
          <p:nvPr/>
        </p:nvSpPr>
        <p:spPr>
          <a:xfrm>
            <a:off x="4407840" y="187200"/>
            <a:ext cx="111780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Gouvernance</a:t>
            </a:r>
            <a:endParaRPr b="0" lang="fr-FR" sz="1100" spc="-1" strike="noStrike">
              <a:solidFill>
                <a:srgbClr val="ffffff"/>
              </a:solidFill>
              <a:latin typeface="Arial"/>
            </a:endParaRPr>
          </a:p>
        </p:txBody>
      </p:sp>
      <p:sp>
        <p:nvSpPr>
          <p:cNvPr id="211" name="Rounded Rectangle 1"/>
          <p:cNvSpPr/>
          <p:nvPr/>
        </p:nvSpPr>
        <p:spPr>
          <a:xfrm>
            <a:off x="401400" y="3148200"/>
            <a:ext cx="6734160" cy="3417480"/>
          </a:xfrm>
          <a:prstGeom prst="roundRect">
            <a:avLst>
              <a:gd name="adj" fmla="val 6069"/>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08080"/>
                </a:solidFill>
                <a:latin typeface="Marianne Light"/>
              </a:rPr>
              <a:t>Principales relations d’affaires</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a:t>
            </a:r>
            <a:endParaRPr b="0" lang="fr-FR" sz="1200" spc="-1" strike="noStrike">
              <a:solidFill>
                <a:srgbClr val="000000"/>
              </a:solidFill>
              <a:latin typeface="Arial"/>
            </a:endParaRPr>
          </a:p>
        </p:txBody>
      </p:sp>
      <p:sp>
        <p:nvSpPr>
          <p:cNvPr id="212" name="Rounded Rectangle 8"/>
          <p:cNvSpPr/>
          <p:nvPr/>
        </p:nvSpPr>
        <p:spPr>
          <a:xfrm>
            <a:off x="401400" y="6695640"/>
            <a:ext cx="6734160" cy="3417480"/>
          </a:xfrm>
          <a:prstGeom prst="roundRect">
            <a:avLst>
              <a:gd name="adj" fmla="val 6069"/>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08080"/>
                </a:solidFill>
                <a:latin typeface="Marianne Light"/>
              </a:rPr>
              <a:t>Éléments clés liés aux enjeux de durabilité</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3" name="Picture 2" descr=""/>
          <p:cNvPicPr/>
          <p:nvPr/>
        </p:nvPicPr>
        <p:blipFill>
          <a:blip r:embed="rId1"/>
          <a:srcRect l="0" t="0" r="0" b="0"/>
          <a:stretch/>
        </p:blipFill>
        <p:spPr>
          <a:xfrm>
            <a:off x="-9000" y="0"/>
            <a:ext cx="7554960" cy="10773720"/>
          </a:xfrm>
          <a:prstGeom prst="rect">
            <a:avLst/>
          </a:prstGeom>
          <a:ln w="0">
            <a:noFill/>
          </a:ln>
        </p:spPr>
      </p:pic>
      <p:sp>
        <p:nvSpPr>
          <p:cNvPr id="214"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215" name="Rounded Rectangle 3"/>
          <p:cNvSpPr/>
          <p:nvPr/>
        </p:nvSpPr>
        <p:spPr>
          <a:xfrm rot="16200000">
            <a:off x="3856680" y="-190440"/>
            <a:ext cx="700920" cy="6151320"/>
          </a:xfrm>
          <a:prstGeom prst="roundRect">
            <a:avLst>
              <a:gd name="adj"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chemeClr val="lt1">
                    <a:lumMod val="50000"/>
                  </a:schemeClr>
                </a:solidFill>
                <a:latin typeface="Marianne"/>
              </a:rPr>
              <a:t>C2</a:t>
            </a:r>
            <a:r>
              <a:rPr b="0" lang="fr-FR" sz="1400" spc="-1" strike="noStrike">
                <a:solidFill>
                  <a:schemeClr val="lt1">
                    <a:lumMod val="50000"/>
                  </a:schemeClr>
                </a:solidFill>
                <a:latin typeface="Marianne Medium"/>
              </a:rPr>
              <a:t> </a:t>
            </a:r>
            <a:r>
              <a:rPr b="0" lang="fr-FR" sz="1400" spc="-1" strike="noStrike">
                <a:solidFill>
                  <a:schemeClr val="lt1">
                    <a:lumMod val="50000"/>
                  </a:schemeClr>
                </a:solidFill>
                <a:latin typeface="Marianne"/>
              </a:rPr>
              <a:t>Description des pratiques, des politiques et des initiatives futures pour une transition vers une économie plus durable</a:t>
            </a:r>
            <a:endParaRPr b="0" lang="fr-FR" sz="1400" spc="-1" strike="noStrike">
              <a:solidFill>
                <a:srgbClr val="000000"/>
              </a:solidFill>
              <a:latin typeface="Arial"/>
            </a:endParaRPr>
          </a:p>
        </p:txBody>
      </p:sp>
      <p:grpSp>
        <p:nvGrpSpPr>
          <p:cNvPr id="216" name="Group 28"/>
          <p:cNvGrpSpPr/>
          <p:nvPr/>
        </p:nvGrpSpPr>
        <p:grpSpPr>
          <a:xfrm>
            <a:off x="330120" y="2525400"/>
            <a:ext cx="567360" cy="709920"/>
            <a:chOff x="330120" y="2525400"/>
            <a:chExt cx="567360" cy="709920"/>
          </a:xfrm>
        </p:grpSpPr>
        <p:cxnSp>
          <p:nvCxnSpPr>
            <p:cNvPr id="217" name="Straight Connector 17"/>
            <p:cNvCxnSpPr/>
            <p:nvPr/>
          </p:nvCxnSpPr>
          <p:spPr>
            <a:xfrm>
              <a:off x="893160" y="2525400"/>
              <a:ext cx="4680" cy="710280"/>
            </a:xfrm>
            <a:prstGeom prst="straightConnector1">
              <a:avLst/>
            </a:prstGeom>
            <a:ln w="3175">
              <a:solidFill>
                <a:srgbClr val="a6a6a6"/>
              </a:solidFill>
              <a:round/>
            </a:ln>
          </p:spPr>
        </p:cxnSp>
        <p:pic>
          <p:nvPicPr>
            <p:cNvPr id="218" name="Graphic 20" descr=""/>
            <p:cNvPicPr/>
            <p:nvPr/>
          </p:nvPicPr>
          <p:blipFill>
            <a:blip r:embed="rId2">
              <a:extLst>
                <a:ext uri="{96DAC541-7B7A-43D3-8B79-37D633B846F1}">
                  <asvg:svgBlip xmlns:asvg="http://schemas.microsoft.com/office/drawing/2016/SVG/main" r:embed="rId3"/>
                </a:ext>
              </a:extLst>
            </a:blip>
            <a:stretch/>
          </p:blipFill>
          <p:spPr>
            <a:xfrm>
              <a:off x="330120" y="2526120"/>
              <a:ext cx="391320" cy="391320"/>
            </a:xfrm>
            <a:prstGeom prst="rect">
              <a:avLst/>
            </a:prstGeom>
            <a:ln w="0">
              <a:noFill/>
            </a:ln>
          </p:spPr>
        </p:pic>
      </p:grpSp>
      <p:sp>
        <p:nvSpPr>
          <p:cNvPr id="219" name="TextBox 4"/>
          <p:cNvSpPr/>
          <p:nvPr/>
        </p:nvSpPr>
        <p:spPr>
          <a:xfrm>
            <a:off x="313920" y="187200"/>
            <a:ext cx="188712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Informations générales</a:t>
            </a:r>
            <a:endParaRPr b="0" lang="fr-FR" sz="1100" spc="-1" strike="noStrike">
              <a:solidFill>
                <a:srgbClr val="000000"/>
              </a:solidFill>
              <a:latin typeface="Arial"/>
            </a:endParaRPr>
          </a:p>
        </p:txBody>
      </p:sp>
      <p:sp>
        <p:nvSpPr>
          <p:cNvPr id="220" name="TextBox 5"/>
          <p:cNvSpPr/>
          <p:nvPr/>
        </p:nvSpPr>
        <p:spPr>
          <a:xfrm>
            <a:off x="3666600" y="187200"/>
            <a:ext cx="61776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Social</a:t>
            </a:r>
            <a:endParaRPr b="0" lang="fr-FR" sz="1100" spc="-1" strike="noStrike">
              <a:solidFill>
                <a:srgbClr val="ffffff"/>
              </a:solidFill>
              <a:latin typeface="Arial"/>
            </a:endParaRPr>
          </a:p>
        </p:txBody>
      </p:sp>
      <p:sp>
        <p:nvSpPr>
          <p:cNvPr id="221" name="TextBox 6"/>
          <p:cNvSpPr/>
          <p:nvPr/>
        </p:nvSpPr>
        <p:spPr>
          <a:xfrm>
            <a:off x="2293560" y="187200"/>
            <a:ext cx="124884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Environnement</a:t>
            </a:r>
            <a:endParaRPr b="0" lang="fr-FR" sz="1100" spc="-1" strike="noStrike">
              <a:solidFill>
                <a:srgbClr val="ffffff"/>
              </a:solidFill>
              <a:latin typeface="Arial"/>
            </a:endParaRPr>
          </a:p>
        </p:txBody>
      </p:sp>
      <p:sp>
        <p:nvSpPr>
          <p:cNvPr id="222" name="TextBox 7"/>
          <p:cNvSpPr/>
          <p:nvPr/>
        </p:nvSpPr>
        <p:spPr>
          <a:xfrm>
            <a:off x="4407840" y="187200"/>
            <a:ext cx="111780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Gouvernance</a:t>
            </a:r>
            <a:endParaRPr b="0" lang="fr-FR" sz="1100" spc="-1" strike="noStrike">
              <a:solidFill>
                <a:srgbClr val="ffffff"/>
              </a:solidFill>
              <a:latin typeface="Arial"/>
            </a:endParaRPr>
          </a:p>
        </p:txBody>
      </p:sp>
      <p:sp>
        <p:nvSpPr>
          <p:cNvPr id="223" name="Rounded Rectangle 1"/>
          <p:cNvSpPr/>
          <p:nvPr/>
        </p:nvSpPr>
        <p:spPr>
          <a:xfrm>
            <a:off x="410400" y="3391560"/>
            <a:ext cx="6734160" cy="67978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tabLst>
                <a:tab algn="l" pos="0"/>
              </a:tabLst>
            </a:pPr>
            <a:r>
              <a:rPr b="0" lang="fr-FR" sz="1200" spc="-1" strike="noStrike">
                <a:solidFill>
                  <a:srgbClr val="808080"/>
                </a:solidFill>
                <a:latin typeface="Marianne Light"/>
              </a:rPr>
              <a:t>Description des pratiques et politiques de durabilité (1/5)</a:t>
            </a:r>
            <a:endParaRPr b="0" lang="fr-FR" sz="1200" spc="-1" strike="noStrike">
              <a:solidFill>
                <a:srgbClr val="000000"/>
              </a:solidFill>
              <a:latin typeface="Arial"/>
            </a:endParaRPr>
          </a:p>
        </p:txBody>
      </p:sp>
      <p:graphicFrame>
        <p:nvGraphicFramePr>
          <p:cNvPr id="224" name="Table 8"/>
          <p:cNvGraphicFramePr/>
          <p:nvPr/>
        </p:nvGraphicFramePr>
        <p:xfrm>
          <a:off x="605520" y="3955680"/>
          <a:ext cx="6381720" cy="6102360"/>
        </p:xfrm>
        <a:graphic>
          <a:graphicData uri="http://schemas.openxmlformats.org/drawingml/2006/table">
            <a:tbl>
              <a:tblPr/>
              <a:tblGrid>
                <a:gridCol w="1595520"/>
                <a:gridCol w="1595520"/>
                <a:gridCol w="1595520"/>
                <a:gridCol w="1595520"/>
              </a:tblGrid>
              <a:tr h="1153800">
                <a:tc>
                  <a:txBody>
                    <a:bodyPr lIns="108000" rIns="108000" anchor="ctr">
                      <a:noAutofit/>
                    </a:bodyPr>
                    <a:p>
                      <a:pPr algn="ctr" defTabSz="756000">
                        <a:lnSpc>
                          <a:spcPct val="100000"/>
                        </a:lnSpc>
                      </a:pPr>
                      <a:r>
                        <a:rPr b="0" lang="fr-FR" sz="1100" spc="-1" strike="noStrike">
                          <a:solidFill>
                            <a:schemeClr val="lt1">
                              <a:lumMod val="50000"/>
                            </a:schemeClr>
                          </a:solidFill>
                          <a:latin typeface="Marianne Light"/>
                        </a:rPr>
                        <a:t>Enjeux de durabilité</a:t>
                      </a:r>
                      <a:endParaRPr b="0" lang="fr-FR" sz="1100" spc="-1" strike="noStrike">
                        <a:solidFill>
                          <a:srgbClr val="000000"/>
                        </a:solidFill>
                        <a:latin typeface="Arial"/>
                      </a:endParaRPr>
                    </a:p>
                  </a:txBody>
                  <a:tcPr anchor="ctr" marL="108000" marR="108000">
                    <a:lnL w="12240">
                      <a:solidFill>
                        <a:srgbClr val="fffff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chemeClr val="lt1">
                              <a:lumMod val="50000"/>
                            </a:schemeClr>
                          </a:solidFill>
                          <a:latin typeface="Marianne Light"/>
                        </a:rPr>
                        <a:t>Description des pratiques, politiques ou initiatives futures</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chemeClr val="lt1">
                              <a:lumMod val="50000"/>
                            </a:schemeClr>
                          </a:solidFill>
                          <a:latin typeface="Marianne Light"/>
                        </a:rPr>
                        <a:t>Description des cibles définies</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chemeClr val="lt1">
                              <a:lumMod val="50000"/>
                            </a:schemeClr>
                          </a:solidFill>
                          <a:latin typeface="Marianne Light"/>
                        </a:rPr>
                        <a:t>Niveau hiérarchique le plus élevé responsable de la mise en œuvre des politiques</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r>
              <a:tr h="2474280">
                <a:tc>
                  <a:txBody>
                    <a:bodyPr lIns="72000" rIns="72000" anchor="ctr">
                      <a:noAutofit/>
                    </a:bodyPr>
                    <a:p>
                      <a:pPr defTabSz="756000">
                        <a:lnSpc>
                          <a:spcPct val="100000"/>
                        </a:lnSpc>
                      </a:pPr>
                      <a:r>
                        <a:rPr b="0" lang="fr-FR" sz="1100" spc="-1" strike="noStrike">
                          <a:solidFill>
                            <a:schemeClr val="dk1"/>
                          </a:solidFill>
                          <a:latin typeface="Marianne Medium"/>
                        </a:rPr>
                        <a:t>Changement climatique</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2880">
                      <a:solidFill>
                        <a:srgbClr val="d9d9d9"/>
                      </a:solidFill>
                      <a:prstDash val="solid"/>
                    </a:lnR>
                    <a:lnT w="28080">
                      <a:solidFill>
                        <a:srgbClr val="ffffff"/>
                      </a:solidFill>
                      <a:prstDash val="solid"/>
                    </a:lnT>
                    <a:lnB w="12240">
                      <a:solidFill>
                        <a:srgbClr val="ffffff"/>
                      </a:solidFill>
                      <a:prstDash val="solid"/>
                    </a:lnB>
                    <a:solidFill>
                      <a:schemeClr val="lt1">
                        <a:lumMod val="95000"/>
                      </a:schemeClr>
                    </a:solidFill>
                  </a:tcPr>
                </a:tc>
              </a:tr>
              <a:tr h="2474280">
                <a:tc>
                  <a:txBody>
                    <a:bodyPr lIns="72000" rIns="72000" anchor="ctr">
                      <a:noAutofit/>
                    </a:bodyPr>
                    <a:p>
                      <a:pPr defTabSz="756000">
                        <a:lnSpc>
                          <a:spcPct val="100000"/>
                        </a:lnSpc>
                      </a:pPr>
                      <a:r>
                        <a:rPr b="0" lang="fr-FR" sz="1100" spc="-1" strike="noStrike">
                          <a:solidFill>
                            <a:schemeClr val="dk1"/>
                          </a:solidFill>
                          <a:latin typeface="Marianne Medium"/>
                        </a:rPr>
                        <a:t>Pollution</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rgbClr val="000000"/>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rgbClr val="000000"/>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rgbClr val="000000"/>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2880">
                      <a:solidFill>
                        <a:srgbClr val="d9d9d9"/>
                      </a:solidFill>
                      <a:prstDash val="solid"/>
                    </a:lnR>
                    <a:lnT w="12240">
                      <a:solidFill>
                        <a:srgbClr val="ffffff"/>
                      </a:solidFill>
                      <a:prstDash val="solid"/>
                    </a:lnT>
                    <a:lnB w="12240">
                      <a:solidFill>
                        <a:srgbClr val="ffffff"/>
                      </a:solidFill>
                      <a:prstDash val="solid"/>
                    </a:lnB>
                    <a:solidFill>
                      <a:schemeClr val="lt1">
                        <a:lumMod val="95000"/>
                      </a:schemeClr>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5" name="Picture 2" descr=""/>
          <p:cNvPicPr/>
          <p:nvPr/>
        </p:nvPicPr>
        <p:blipFill>
          <a:blip r:embed="rId1"/>
          <a:srcRect l="0" t="0" r="0" b="0"/>
          <a:stretch/>
        </p:blipFill>
        <p:spPr>
          <a:xfrm>
            <a:off x="-9000" y="0"/>
            <a:ext cx="7554960" cy="10773720"/>
          </a:xfrm>
          <a:prstGeom prst="rect">
            <a:avLst/>
          </a:prstGeom>
          <a:ln w="0">
            <a:noFill/>
          </a:ln>
        </p:spPr>
      </p:pic>
      <p:sp>
        <p:nvSpPr>
          <p:cNvPr id="226"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227" name="Rounded Rectangle 3"/>
          <p:cNvSpPr/>
          <p:nvPr/>
        </p:nvSpPr>
        <p:spPr>
          <a:xfrm rot="16200000">
            <a:off x="3856680" y="-190440"/>
            <a:ext cx="700920" cy="6151320"/>
          </a:xfrm>
          <a:prstGeom prst="roundRect">
            <a:avLst>
              <a:gd name="adj"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chemeClr val="lt1">
                    <a:lumMod val="50000"/>
                  </a:schemeClr>
                </a:solidFill>
                <a:latin typeface="Marianne"/>
              </a:rPr>
              <a:t>C2</a:t>
            </a:r>
            <a:r>
              <a:rPr b="0" lang="fr-FR" sz="1400" spc="-1" strike="noStrike">
                <a:solidFill>
                  <a:schemeClr val="lt1">
                    <a:lumMod val="50000"/>
                  </a:schemeClr>
                </a:solidFill>
                <a:latin typeface="Marianne Medium"/>
              </a:rPr>
              <a:t> </a:t>
            </a:r>
            <a:r>
              <a:rPr b="0" lang="fr-FR" sz="1400" spc="-1" strike="noStrike">
                <a:solidFill>
                  <a:schemeClr val="lt1">
                    <a:lumMod val="50000"/>
                  </a:schemeClr>
                </a:solidFill>
                <a:latin typeface="Marianne"/>
              </a:rPr>
              <a:t>Description des pratiques, des politiques et des initiatives futures pour une transition vers une économie plus durable</a:t>
            </a:r>
            <a:endParaRPr b="0" lang="fr-FR" sz="1400" spc="-1" strike="noStrike">
              <a:solidFill>
                <a:srgbClr val="000000"/>
              </a:solidFill>
              <a:latin typeface="Arial"/>
            </a:endParaRPr>
          </a:p>
        </p:txBody>
      </p:sp>
      <p:grpSp>
        <p:nvGrpSpPr>
          <p:cNvPr id="228" name="Group 28"/>
          <p:cNvGrpSpPr/>
          <p:nvPr/>
        </p:nvGrpSpPr>
        <p:grpSpPr>
          <a:xfrm>
            <a:off x="330120" y="2525400"/>
            <a:ext cx="567360" cy="709920"/>
            <a:chOff x="330120" y="2525400"/>
            <a:chExt cx="567360" cy="709920"/>
          </a:xfrm>
        </p:grpSpPr>
        <p:cxnSp>
          <p:nvCxnSpPr>
            <p:cNvPr id="229" name="Straight Connector 17"/>
            <p:cNvCxnSpPr/>
            <p:nvPr/>
          </p:nvCxnSpPr>
          <p:spPr>
            <a:xfrm>
              <a:off x="893160" y="2525400"/>
              <a:ext cx="4680" cy="710280"/>
            </a:xfrm>
            <a:prstGeom prst="straightConnector1">
              <a:avLst/>
            </a:prstGeom>
            <a:ln w="3175">
              <a:solidFill>
                <a:srgbClr val="a6a6a6"/>
              </a:solidFill>
              <a:round/>
            </a:ln>
          </p:spPr>
        </p:cxnSp>
        <p:pic>
          <p:nvPicPr>
            <p:cNvPr id="230" name="Graphic 20" descr=""/>
            <p:cNvPicPr/>
            <p:nvPr/>
          </p:nvPicPr>
          <p:blipFill>
            <a:blip r:embed="rId2">
              <a:extLst>
                <a:ext uri="{96DAC541-7B7A-43D3-8B79-37D633B846F1}">
                  <asvg:svgBlip xmlns:asvg="http://schemas.microsoft.com/office/drawing/2016/SVG/main" r:embed="rId3"/>
                </a:ext>
              </a:extLst>
            </a:blip>
            <a:stretch/>
          </p:blipFill>
          <p:spPr>
            <a:xfrm>
              <a:off x="330120" y="2526120"/>
              <a:ext cx="391320" cy="391320"/>
            </a:xfrm>
            <a:prstGeom prst="rect">
              <a:avLst/>
            </a:prstGeom>
            <a:ln w="0">
              <a:noFill/>
            </a:ln>
          </p:spPr>
        </p:pic>
      </p:grpSp>
      <p:sp>
        <p:nvSpPr>
          <p:cNvPr id="231" name="TextBox 4"/>
          <p:cNvSpPr/>
          <p:nvPr/>
        </p:nvSpPr>
        <p:spPr>
          <a:xfrm>
            <a:off x="313920" y="187200"/>
            <a:ext cx="188712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Informations générales</a:t>
            </a:r>
            <a:endParaRPr b="0" lang="fr-FR" sz="1100" spc="-1" strike="noStrike">
              <a:solidFill>
                <a:srgbClr val="000000"/>
              </a:solidFill>
              <a:latin typeface="Arial"/>
            </a:endParaRPr>
          </a:p>
        </p:txBody>
      </p:sp>
      <p:sp>
        <p:nvSpPr>
          <p:cNvPr id="232" name="TextBox 5"/>
          <p:cNvSpPr/>
          <p:nvPr/>
        </p:nvSpPr>
        <p:spPr>
          <a:xfrm>
            <a:off x="3666600" y="187200"/>
            <a:ext cx="61776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Social</a:t>
            </a:r>
            <a:endParaRPr b="0" lang="fr-FR" sz="1100" spc="-1" strike="noStrike">
              <a:solidFill>
                <a:srgbClr val="ffffff"/>
              </a:solidFill>
              <a:latin typeface="Arial"/>
            </a:endParaRPr>
          </a:p>
        </p:txBody>
      </p:sp>
      <p:sp>
        <p:nvSpPr>
          <p:cNvPr id="233" name="TextBox 6"/>
          <p:cNvSpPr/>
          <p:nvPr/>
        </p:nvSpPr>
        <p:spPr>
          <a:xfrm>
            <a:off x="2293560" y="187200"/>
            <a:ext cx="124884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Environnement</a:t>
            </a:r>
            <a:endParaRPr b="0" lang="fr-FR" sz="1100" spc="-1" strike="noStrike">
              <a:solidFill>
                <a:srgbClr val="ffffff"/>
              </a:solidFill>
              <a:latin typeface="Arial"/>
            </a:endParaRPr>
          </a:p>
        </p:txBody>
      </p:sp>
      <p:sp>
        <p:nvSpPr>
          <p:cNvPr id="234" name="TextBox 7"/>
          <p:cNvSpPr/>
          <p:nvPr/>
        </p:nvSpPr>
        <p:spPr>
          <a:xfrm>
            <a:off x="4407840" y="187200"/>
            <a:ext cx="111780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Gouvernance</a:t>
            </a:r>
            <a:endParaRPr b="0" lang="fr-FR" sz="1100" spc="-1" strike="noStrike">
              <a:solidFill>
                <a:srgbClr val="ffffff"/>
              </a:solidFill>
              <a:latin typeface="Arial"/>
            </a:endParaRPr>
          </a:p>
        </p:txBody>
      </p:sp>
      <p:sp>
        <p:nvSpPr>
          <p:cNvPr id="235" name="Rounded Rectangle 1"/>
          <p:cNvSpPr/>
          <p:nvPr/>
        </p:nvSpPr>
        <p:spPr>
          <a:xfrm>
            <a:off x="410400" y="3391560"/>
            <a:ext cx="6734160" cy="67978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tabLst>
                <a:tab algn="l" pos="0"/>
              </a:tabLst>
            </a:pPr>
            <a:r>
              <a:rPr b="0" lang="fr-FR" sz="1200" spc="-1" strike="noStrike">
                <a:solidFill>
                  <a:srgbClr val="808080"/>
                </a:solidFill>
                <a:latin typeface="Marianne Light"/>
              </a:rPr>
              <a:t>Description des pratiques et politiques de durabilité (2/5)</a:t>
            </a:r>
            <a:endParaRPr b="0" lang="fr-FR" sz="1200" spc="-1" strike="noStrike">
              <a:solidFill>
                <a:srgbClr val="000000"/>
              </a:solidFill>
              <a:latin typeface="Arial"/>
            </a:endParaRPr>
          </a:p>
        </p:txBody>
      </p:sp>
      <p:graphicFrame>
        <p:nvGraphicFramePr>
          <p:cNvPr id="236" name="Table 8"/>
          <p:cNvGraphicFramePr/>
          <p:nvPr/>
        </p:nvGraphicFramePr>
        <p:xfrm>
          <a:off x="605520" y="3955680"/>
          <a:ext cx="6381720" cy="6102360"/>
        </p:xfrm>
        <a:graphic>
          <a:graphicData uri="http://schemas.openxmlformats.org/drawingml/2006/table">
            <a:tbl>
              <a:tblPr/>
              <a:tblGrid>
                <a:gridCol w="1595520"/>
                <a:gridCol w="1595520"/>
                <a:gridCol w="1595520"/>
                <a:gridCol w="1595520"/>
              </a:tblGrid>
              <a:tr h="1153800">
                <a:tc>
                  <a:txBody>
                    <a:bodyPr lIns="108000" rIns="108000" anchor="ctr">
                      <a:noAutofit/>
                    </a:bodyPr>
                    <a:p>
                      <a:pPr algn="ctr" defTabSz="756000">
                        <a:lnSpc>
                          <a:spcPct val="100000"/>
                        </a:lnSpc>
                      </a:pPr>
                      <a:r>
                        <a:rPr b="0" lang="fr-FR" sz="1100" spc="-1" strike="noStrike">
                          <a:solidFill>
                            <a:schemeClr val="lt1">
                              <a:lumMod val="50000"/>
                            </a:schemeClr>
                          </a:solidFill>
                          <a:latin typeface="Marianne Light"/>
                        </a:rPr>
                        <a:t>Enjeux de durabilité</a:t>
                      </a:r>
                      <a:endParaRPr b="0" lang="fr-FR" sz="1100" spc="-1" strike="noStrike">
                        <a:solidFill>
                          <a:srgbClr val="000000"/>
                        </a:solidFill>
                        <a:latin typeface="Arial"/>
                      </a:endParaRPr>
                    </a:p>
                  </a:txBody>
                  <a:tcPr anchor="ctr" marL="108000" marR="108000">
                    <a:lnL w="12240">
                      <a:solidFill>
                        <a:srgbClr val="fffff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chemeClr val="lt1">
                              <a:lumMod val="50000"/>
                            </a:schemeClr>
                          </a:solidFill>
                          <a:latin typeface="Marianne Light"/>
                        </a:rPr>
                        <a:t>Description des pratiques, politiques ou initiatives futures</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chemeClr val="lt1">
                              <a:lumMod val="50000"/>
                            </a:schemeClr>
                          </a:solidFill>
                          <a:latin typeface="Marianne Light"/>
                        </a:rPr>
                        <a:t>Description des cibles définies</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chemeClr val="lt1">
                              <a:lumMod val="50000"/>
                            </a:schemeClr>
                          </a:solidFill>
                          <a:latin typeface="Marianne Light"/>
                        </a:rPr>
                        <a:t>Niveau hiérarchique le plus élevé responsable de la mise en œuvre des politiques</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r>
              <a:tr h="2474280">
                <a:tc>
                  <a:txBody>
                    <a:bodyPr lIns="72000" rIns="72000" anchor="ctr">
                      <a:noAutofit/>
                    </a:bodyPr>
                    <a:p>
                      <a:pPr defTabSz="756000">
                        <a:lnSpc>
                          <a:spcPct val="100000"/>
                        </a:lnSpc>
                      </a:pPr>
                      <a:r>
                        <a:rPr b="0" lang="fr-FR" sz="1100" spc="-1" strike="noStrike">
                          <a:solidFill>
                            <a:schemeClr val="dk1"/>
                          </a:solidFill>
                          <a:latin typeface="Marianne Medium"/>
                        </a:rPr>
                        <a:t>Eau et ressources aquatiques et marines</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2880">
                      <a:solidFill>
                        <a:srgbClr val="d9d9d9"/>
                      </a:solidFill>
                      <a:prstDash val="solid"/>
                    </a:lnR>
                    <a:lnT w="28080">
                      <a:solidFill>
                        <a:srgbClr val="ffffff"/>
                      </a:solidFill>
                      <a:prstDash val="solid"/>
                    </a:lnT>
                    <a:lnB w="12240">
                      <a:solidFill>
                        <a:srgbClr val="ffffff"/>
                      </a:solidFill>
                      <a:prstDash val="solid"/>
                    </a:lnB>
                    <a:solidFill>
                      <a:schemeClr val="lt1">
                        <a:lumMod val="95000"/>
                      </a:schemeClr>
                    </a:solidFill>
                  </a:tcPr>
                </a:tc>
              </a:tr>
              <a:tr h="2474280">
                <a:tc>
                  <a:txBody>
                    <a:bodyPr lIns="72000" rIns="72000" anchor="ctr">
                      <a:noAutofit/>
                    </a:bodyPr>
                    <a:p>
                      <a:pPr defTabSz="756000">
                        <a:lnSpc>
                          <a:spcPct val="100000"/>
                        </a:lnSpc>
                      </a:pPr>
                      <a:r>
                        <a:rPr b="0" lang="fr-FR" sz="1100" spc="-1" strike="noStrike">
                          <a:solidFill>
                            <a:schemeClr val="dk1"/>
                          </a:solidFill>
                          <a:latin typeface="Marianne Medium"/>
                        </a:rPr>
                        <a:t>Biodiversité et écosystèmes</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rgbClr val="000000"/>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rgbClr val="000000"/>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rgbClr val="000000"/>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2880">
                      <a:solidFill>
                        <a:srgbClr val="d9d9d9"/>
                      </a:solidFill>
                      <a:prstDash val="solid"/>
                    </a:lnR>
                    <a:lnT w="12240">
                      <a:solidFill>
                        <a:srgbClr val="ffffff"/>
                      </a:solidFill>
                      <a:prstDash val="solid"/>
                    </a:lnT>
                    <a:lnB w="12240">
                      <a:solidFill>
                        <a:srgbClr val="ffffff"/>
                      </a:solidFill>
                      <a:prstDash val="solid"/>
                    </a:lnB>
                    <a:solidFill>
                      <a:schemeClr val="lt1">
                        <a:lumMod val="95000"/>
                      </a:schemeClr>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7" name="Picture 2" descr=""/>
          <p:cNvPicPr/>
          <p:nvPr/>
        </p:nvPicPr>
        <p:blipFill>
          <a:blip r:embed="rId1"/>
          <a:srcRect l="0" t="0" r="0" b="0"/>
          <a:stretch/>
        </p:blipFill>
        <p:spPr>
          <a:xfrm>
            <a:off x="-9000" y="0"/>
            <a:ext cx="7554960" cy="10773720"/>
          </a:xfrm>
          <a:prstGeom prst="rect">
            <a:avLst/>
          </a:prstGeom>
          <a:ln w="0">
            <a:noFill/>
          </a:ln>
        </p:spPr>
      </p:pic>
      <p:sp>
        <p:nvSpPr>
          <p:cNvPr id="238"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239" name="Rounded Rectangle 3"/>
          <p:cNvSpPr/>
          <p:nvPr/>
        </p:nvSpPr>
        <p:spPr>
          <a:xfrm rot="16200000">
            <a:off x="3856680" y="-190440"/>
            <a:ext cx="700920" cy="6151320"/>
          </a:xfrm>
          <a:prstGeom prst="roundRect">
            <a:avLst>
              <a:gd name="adj"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chemeClr val="lt1">
                    <a:lumMod val="50000"/>
                  </a:schemeClr>
                </a:solidFill>
                <a:latin typeface="Marianne"/>
              </a:rPr>
              <a:t>C2</a:t>
            </a:r>
            <a:r>
              <a:rPr b="0" lang="fr-FR" sz="1400" spc="-1" strike="noStrike">
                <a:solidFill>
                  <a:schemeClr val="lt1">
                    <a:lumMod val="50000"/>
                  </a:schemeClr>
                </a:solidFill>
                <a:latin typeface="Marianne Medium"/>
              </a:rPr>
              <a:t> </a:t>
            </a:r>
            <a:r>
              <a:rPr b="0" lang="fr-FR" sz="1400" spc="-1" strike="noStrike">
                <a:solidFill>
                  <a:schemeClr val="lt1">
                    <a:lumMod val="50000"/>
                  </a:schemeClr>
                </a:solidFill>
                <a:latin typeface="Marianne"/>
              </a:rPr>
              <a:t>Description des pratiques, des politiques et des initiatives futures pour une transition vers une économie plus durable</a:t>
            </a:r>
            <a:endParaRPr b="0" lang="fr-FR" sz="1400" spc="-1" strike="noStrike">
              <a:solidFill>
                <a:srgbClr val="000000"/>
              </a:solidFill>
              <a:latin typeface="Arial"/>
            </a:endParaRPr>
          </a:p>
        </p:txBody>
      </p:sp>
      <p:grpSp>
        <p:nvGrpSpPr>
          <p:cNvPr id="240" name="Group 28"/>
          <p:cNvGrpSpPr/>
          <p:nvPr/>
        </p:nvGrpSpPr>
        <p:grpSpPr>
          <a:xfrm>
            <a:off x="330120" y="2525400"/>
            <a:ext cx="567360" cy="709920"/>
            <a:chOff x="330120" y="2525400"/>
            <a:chExt cx="567360" cy="709920"/>
          </a:xfrm>
        </p:grpSpPr>
        <p:cxnSp>
          <p:nvCxnSpPr>
            <p:cNvPr id="241" name="Straight Connector 17"/>
            <p:cNvCxnSpPr/>
            <p:nvPr/>
          </p:nvCxnSpPr>
          <p:spPr>
            <a:xfrm>
              <a:off x="893160" y="2525400"/>
              <a:ext cx="4680" cy="710280"/>
            </a:xfrm>
            <a:prstGeom prst="straightConnector1">
              <a:avLst/>
            </a:prstGeom>
            <a:ln w="3175">
              <a:solidFill>
                <a:srgbClr val="a6a6a6"/>
              </a:solidFill>
              <a:round/>
            </a:ln>
          </p:spPr>
        </p:cxnSp>
        <p:pic>
          <p:nvPicPr>
            <p:cNvPr id="242" name="Graphic 20" descr=""/>
            <p:cNvPicPr/>
            <p:nvPr/>
          </p:nvPicPr>
          <p:blipFill>
            <a:blip r:embed="rId2">
              <a:extLst>
                <a:ext uri="{96DAC541-7B7A-43D3-8B79-37D633B846F1}">
                  <asvg:svgBlip xmlns:asvg="http://schemas.microsoft.com/office/drawing/2016/SVG/main" r:embed="rId3"/>
                </a:ext>
              </a:extLst>
            </a:blip>
            <a:stretch/>
          </p:blipFill>
          <p:spPr>
            <a:xfrm>
              <a:off x="330120" y="2526120"/>
              <a:ext cx="391320" cy="391320"/>
            </a:xfrm>
            <a:prstGeom prst="rect">
              <a:avLst/>
            </a:prstGeom>
            <a:ln w="0">
              <a:noFill/>
            </a:ln>
          </p:spPr>
        </p:pic>
      </p:grpSp>
      <p:sp>
        <p:nvSpPr>
          <p:cNvPr id="243" name="TextBox 4"/>
          <p:cNvSpPr/>
          <p:nvPr/>
        </p:nvSpPr>
        <p:spPr>
          <a:xfrm>
            <a:off x="313920" y="187200"/>
            <a:ext cx="188712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Informations générales</a:t>
            </a:r>
            <a:endParaRPr b="0" lang="fr-FR" sz="1100" spc="-1" strike="noStrike">
              <a:solidFill>
                <a:srgbClr val="000000"/>
              </a:solidFill>
              <a:latin typeface="Arial"/>
            </a:endParaRPr>
          </a:p>
        </p:txBody>
      </p:sp>
      <p:sp>
        <p:nvSpPr>
          <p:cNvPr id="244" name="TextBox 5"/>
          <p:cNvSpPr/>
          <p:nvPr/>
        </p:nvSpPr>
        <p:spPr>
          <a:xfrm>
            <a:off x="3666600" y="187200"/>
            <a:ext cx="61776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Social</a:t>
            </a:r>
            <a:endParaRPr b="0" lang="fr-FR" sz="1100" spc="-1" strike="noStrike">
              <a:solidFill>
                <a:srgbClr val="ffffff"/>
              </a:solidFill>
              <a:latin typeface="Arial"/>
            </a:endParaRPr>
          </a:p>
        </p:txBody>
      </p:sp>
      <p:sp>
        <p:nvSpPr>
          <p:cNvPr id="245" name="TextBox 6"/>
          <p:cNvSpPr/>
          <p:nvPr/>
        </p:nvSpPr>
        <p:spPr>
          <a:xfrm>
            <a:off x="2293560" y="187200"/>
            <a:ext cx="124884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Environnement</a:t>
            </a:r>
            <a:endParaRPr b="0" lang="fr-FR" sz="1100" spc="-1" strike="noStrike">
              <a:solidFill>
                <a:srgbClr val="ffffff"/>
              </a:solidFill>
              <a:latin typeface="Arial"/>
            </a:endParaRPr>
          </a:p>
        </p:txBody>
      </p:sp>
      <p:sp>
        <p:nvSpPr>
          <p:cNvPr id="246" name="TextBox 7"/>
          <p:cNvSpPr/>
          <p:nvPr/>
        </p:nvSpPr>
        <p:spPr>
          <a:xfrm>
            <a:off x="4407840" y="187200"/>
            <a:ext cx="111780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Gouvernance</a:t>
            </a:r>
            <a:endParaRPr b="0" lang="fr-FR" sz="1100" spc="-1" strike="noStrike">
              <a:solidFill>
                <a:srgbClr val="ffffff"/>
              </a:solidFill>
              <a:latin typeface="Arial"/>
            </a:endParaRPr>
          </a:p>
        </p:txBody>
      </p:sp>
      <p:sp>
        <p:nvSpPr>
          <p:cNvPr id="247" name="Rounded Rectangle 1"/>
          <p:cNvSpPr/>
          <p:nvPr/>
        </p:nvSpPr>
        <p:spPr>
          <a:xfrm>
            <a:off x="410400" y="3391560"/>
            <a:ext cx="6734160" cy="67978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tabLst>
                <a:tab algn="l" pos="0"/>
              </a:tabLst>
            </a:pPr>
            <a:r>
              <a:rPr b="0" lang="fr-FR" sz="1200" spc="-1" strike="noStrike">
                <a:solidFill>
                  <a:srgbClr val="808080"/>
                </a:solidFill>
                <a:latin typeface="Marianne Light"/>
              </a:rPr>
              <a:t>Description des pratiques et politiques de durabilité (3/5)</a:t>
            </a:r>
            <a:endParaRPr b="0" lang="fr-FR" sz="1200" spc="-1" strike="noStrike">
              <a:solidFill>
                <a:srgbClr val="000000"/>
              </a:solidFill>
              <a:latin typeface="Arial"/>
            </a:endParaRPr>
          </a:p>
        </p:txBody>
      </p:sp>
      <p:graphicFrame>
        <p:nvGraphicFramePr>
          <p:cNvPr id="248" name="Table 8"/>
          <p:cNvGraphicFramePr/>
          <p:nvPr/>
        </p:nvGraphicFramePr>
        <p:xfrm>
          <a:off x="605520" y="3955680"/>
          <a:ext cx="6381720" cy="6102360"/>
        </p:xfrm>
        <a:graphic>
          <a:graphicData uri="http://schemas.openxmlformats.org/drawingml/2006/table">
            <a:tbl>
              <a:tblPr/>
              <a:tblGrid>
                <a:gridCol w="1595520"/>
                <a:gridCol w="1595520"/>
                <a:gridCol w="1595520"/>
                <a:gridCol w="1595520"/>
              </a:tblGrid>
              <a:tr h="1153800">
                <a:tc>
                  <a:txBody>
                    <a:bodyPr lIns="108000" rIns="108000" anchor="ctr">
                      <a:noAutofit/>
                    </a:bodyPr>
                    <a:p>
                      <a:pPr algn="ctr" defTabSz="756000">
                        <a:lnSpc>
                          <a:spcPct val="100000"/>
                        </a:lnSpc>
                      </a:pPr>
                      <a:r>
                        <a:rPr b="0" lang="fr-FR" sz="1100" spc="-1" strike="noStrike">
                          <a:solidFill>
                            <a:schemeClr val="lt1">
                              <a:lumMod val="50000"/>
                            </a:schemeClr>
                          </a:solidFill>
                          <a:latin typeface="Marianne Light"/>
                        </a:rPr>
                        <a:t>Enjeux de durabilité</a:t>
                      </a:r>
                      <a:endParaRPr b="0" lang="fr-FR" sz="1100" spc="-1" strike="noStrike">
                        <a:solidFill>
                          <a:srgbClr val="000000"/>
                        </a:solidFill>
                        <a:latin typeface="Arial"/>
                      </a:endParaRPr>
                    </a:p>
                  </a:txBody>
                  <a:tcPr anchor="ctr" marL="108000" marR="108000">
                    <a:lnL w="12240">
                      <a:solidFill>
                        <a:srgbClr val="fffff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chemeClr val="lt1">
                              <a:lumMod val="50000"/>
                            </a:schemeClr>
                          </a:solidFill>
                          <a:latin typeface="Marianne Light"/>
                        </a:rPr>
                        <a:t>Description des pratiques, politiques ou initiatives futures</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chemeClr val="lt1">
                              <a:lumMod val="50000"/>
                            </a:schemeClr>
                          </a:solidFill>
                          <a:latin typeface="Marianne Light"/>
                        </a:rPr>
                        <a:t>Description des cibles définies</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chemeClr val="lt1">
                              <a:lumMod val="50000"/>
                            </a:schemeClr>
                          </a:solidFill>
                          <a:latin typeface="Marianne Light"/>
                        </a:rPr>
                        <a:t>Niveau hiérarchique le plus élevé responsable de la mise en œuvre des politiques</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r>
              <a:tr h="2474280">
                <a:tc>
                  <a:txBody>
                    <a:bodyPr lIns="72000" rIns="72000" anchor="ctr">
                      <a:noAutofit/>
                    </a:bodyPr>
                    <a:p>
                      <a:pPr defTabSz="756000">
                        <a:lnSpc>
                          <a:spcPct val="100000"/>
                        </a:lnSpc>
                      </a:pPr>
                      <a:r>
                        <a:rPr b="0" lang="fr-FR" sz="1100" spc="-1" strike="noStrike">
                          <a:solidFill>
                            <a:schemeClr val="dk1"/>
                          </a:solidFill>
                          <a:latin typeface="Marianne Medium"/>
                        </a:rPr>
                        <a:t>Économie circulaire</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2880">
                      <a:solidFill>
                        <a:srgbClr val="d9d9d9"/>
                      </a:solidFill>
                      <a:prstDash val="solid"/>
                    </a:lnR>
                    <a:lnT w="28080">
                      <a:solidFill>
                        <a:srgbClr val="ffffff"/>
                      </a:solidFill>
                      <a:prstDash val="solid"/>
                    </a:lnT>
                    <a:lnB w="12240">
                      <a:solidFill>
                        <a:srgbClr val="ffffff"/>
                      </a:solidFill>
                      <a:prstDash val="solid"/>
                    </a:lnB>
                    <a:solidFill>
                      <a:schemeClr val="lt1">
                        <a:lumMod val="95000"/>
                      </a:schemeClr>
                    </a:solidFill>
                  </a:tcPr>
                </a:tc>
              </a:tr>
              <a:tr h="2474280">
                <a:tc>
                  <a:txBody>
                    <a:bodyPr lIns="72000" rIns="72000" anchor="ctr">
                      <a:noAutofit/>
                    </a:bodyPr>
                    <a:p>
                      <a:pPr defTabSz="756000">
                        <a:lnSpc>
                          <a:spcPct val="100000"/>
                        </a:lnSpc>
                      </a:pPr>
                      <a:r>
                        <a:rPr b="0" lang="fr-FR" sz="1100" spc="-1" strike="noStrike">
                          <a:solidFill>
                            <a:schemeClr val="dk1"/>
                          </a:solidFill>
                          <a:latin typeface="Marianne Medium"/>
                        </a:rPr>
                        <a:t>Personnel propre à l'entreprise</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rgbClr val="000000"/>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rgbClr val="000000"/>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rgbClr val="000000"/>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2880">
                      <a:solidFill>
                        <a:srgbClr val="d9d9d9"/>
                      </a:solidFill>
                      <a:prstDash val="solid"/>
                    </a:lnR>
                    <a:lnT w="12240">
                      <a:solidFill>
                        <a:srgbClr val="ffffff"/>
                      </a:solidFill>
                      <a:prstDash val="solid"/>
                    </a:lnT>
                    <a:lnB w="12240">
                      <a:solidFill>
                        <a:srgbClr val="ffffff"/>
                      </a:solidFill>
                      <a:prstDash val="solid"/>
                    </a:lnB>
                    <a:solidFill>
                      <a:schemeClr val="lt1">
                        <a:lumMod val="95000"/>
                      </a:schemeClr>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9" name="Picture 2" descr=""/>
          <p:cNvPicPr/>
          <p:nvPr/>
        </p:nvPicPr>
        <p:blipFill>
          <a:blip r:embed="rId1"/>
          <a:srcRect l="0" t="0" r="0" b="0"/>
          <a:stretch/>
        </p:blipFill>
        <p:spPr>
          <a:xfrm>
            <a:off x="-9000" y="0"/>
            <a:ext cx="7554960" cy="10773720"/>
          </a:xfrm>
          <a:prstGeom prst="rect">
            <a:avLst/>
          </a:prstGeom>
          <a:ln w="0">
            <a:noFill/>
          </a:ln>
        </p:spPr>
      </p:pic>
      <p:sp>
        <p:nvSpPr>
          <p:cNvPr id="250"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251" name="Rounded Rectangle 3"/>
          <p:cNvSpPr/>
          <p:nvPr/>
        </p:nvSpPr>
        <p:spPr>
          <a:xfrm rot="16200000">
            <a:off x="3856680" y="-190440"/>
            <a:ext cx="700920" cy="6151320"/>
          </a:xfrm>
          <a:prstGeom prst="roundRect">
            <a:avLst>
              <a:gd name="adj"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chemeClr val="lt1">
                    <a:lumMod val="50000"/>
                  </a:schemeClr>
                </a:solidFill>
                <a:latin typeface="Marianne"/>
              </a:rPr>
              <a:t>C2</a:t>
            </a:r>
            <a:r>
              <a:rPr b="0" lang="fr-FR" sz="1400" spc="-1" strike="noStrike">
                <a:solidFill>
                  <a:schemeClr val="lt1">
                    <a:lumMod val="50000"/>
                  </a:schemeClr>
                </a:solidFill>
                <a:latin typeface="Marianne Medium"/>
              </a:rPr>
              <a:t> </a:t>
            </a:r>
            <a:r>
              <a:rPr b="0" lang="fr-FR" sz="1400" spc="-1" strike="noStrike">
                <a:solidFill>
                  <a:schemeClr val="lt1">
                    <a:lumMod val="50000"/>
                  </a:schemeClr>
                </a:solidFill>
                <a:latin typeface="Marianne"/>
              </a:rPr>
              <a:t>Description des pratiques, des politiques et des initiatives futures pour une transition vers une économie plus durable</a:t>
            </a:r>
            <a:endParaRPr b="0" lang="fr-FR" sz="1400" spc="-1" strike="noStrike">
              <a:solidFill>
                <a:srgbClr val="000000"/>
              </a:solidFill>
              <a:latin typeface="Arial"/>
            </a:endParaRPr>
          </a:p>
        </p:txBody>
      </p:sp>
      <p:grpSp>
        <p:nvGrpSpPr>
          <p:cNvPr id="252" name="Group 28"/>
          <p:cNvGrpSpPr/>
          <p:nvPr/>
        </p:nvGrpSpPr>
        <p:grpSpPr>
          <a:xfrm>
            <a:off x="330120" y="2525400"/>
            <a:ext cx="567360" cy="709920"/>
            <a:chOff x="330120" y="2525400"/>
            <a:chExt cx="567360" cy="709920"/>
          </a:xfrm>
        </p:grpSpPr>
        <p:cxnSp>
          <p:nvCxnSpPr>
            <p:cNvPr id="253" name="Straight Connector 17"/>
            <p:cNvCxnSpPr/>
            <p:nvPr/>
          </p:nvCxnSpPr>
          <p:spPr>
            <a:xfrm>
              <a:off x="893160" y="2525400"/>
              <a:ext cx="4680" cy="710280"/>
            </a:xfrm>
            <a:prstGeom prst="straightConnector1">
              <a:avLst/>
            </a:prstGeom>
            <a:ln w="3175">
              <a:solidFill>
                <a:srgbClr val="a6a6a6"/>
              </a:solidFill>
              <a:round/>
            </a:ln>
          </p:spPr>
        </p:cxnSp>
        <p:pic>
          <p:nvPicPr>
            <p:cNvPr id="254" name="Graphic 20" descr=""/>
            <p:cNvPicPr/>
            <p:nvPr/>
          </p:nvPicPr>
          <p:blipFill>
            <a:blip r:embed="rId2">
              <a:extLst>
                <a:ext uri="{96DAC541-7B7A-43D3-8B79-37D633B846F1}">
                  <asvg:svgBlip xmlns:asvg="http://schemas.microsoft.com/office/drawing/2016/SVG/main" r:embed="rId3"/>
                </a:ext>
              </a:extLst>
            </a:blip>
            <a:stretch/>
          </p:blipFill>
          <p:spPr>
            <a:xfrm>
              <a:off x="330120" y="2526120"/>
              <a:ext cx="391320" cy="391320"/>
            </a:xfrm>
            <a:prstGeom prst="rect">
              <a:avLst/>
            </a:prstGeom>
            <a:ln w="0">
              <a:noFill/>
            </a:ln>
          </p:spPr>
        </p:pic>
      </p:grpSp>
      <p:sp>
        <p:nvSpPr>
          <p:cNvPr id="255" name="TextBox 4"/>
          <p:cNvSpPr/>
          <p:nvPr/>
        </p:nvSpPr>
        <p:spPr>
          <a:xfrm>
            <a:off x="313920" y="187200"/>
            <a:ext cx="188712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Informations générales</a:t>
            </a:r>
            <a:endParaRPr b="0" lang="fr-FR" sz="1100" spc="-1" strike="noStrike">
              <a:solidFill>
                <a:srgbClr val="000000"/>
              </a:solidFill>
              <a:latin typeface="Arial"/>
            </a:endParaRPr>
          </a:p>
        </p:txBody>
      </p:sp>
      <p:sp>
        <p:nvSpPr>
          <p:cNvPr id="256" name="TextBox 5"/>
          <p:cNvSpPr/>
          <p:nvPr/>
        </p:nvSpPr>
        <p:spPr>
          <a:xfrm>
            <a:off x="3666600" y="187200"/>
            <a:ext cx="61776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Social</a:t>
            </a:r>
            <a:endParaRPr b="0" lang="fr-FR" sz="1100" spc="-1" strike="noStrike">
              <a:solidFill>
                <a:srgbClr val="ffffff"/>
              </a:solidFill>
              <a:latin typeface="Arial"/>
            </a:endParaRPr>
          </a:p>
        </p:txBody>
      </p:sp>
      <p:sp>
        <p:nvSpPr>
          <p:cNvPr id="257" name="TextBox 6"/>
          <p:cNvSpPr/>
          <p:nvPr/>
        </p:nvSpPr>
        <p:spPr>
          <a:xfrm>
            <a:off x="2293560" y="187200"/>
            <a:ext cx="124884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Environnement</a:t>
            </a:r>
            <a:endParaRPr b="0" lang="fr-FR" sz="1100" spc="-1" strike="noStrike">
              <a:solidFill>
                <a:srgbClr val="ffffff"/>
              </a:solidFill>
              <a:latin typeface="Arial"/>
            </a:endParaRPr>
          </a:p>
        </p:txBody>
      </p:sp>
      <p:sp>
        <p:nvSpPr>
          <p:cNvPr id="258" name="TextBox 7"/>
          <p:cNvSpPr/>
          <p:nvPr/>
        </p:nvSpPr>
        <p:spPr>
          <a:xfrm>
            <a:off x="4407840" y="187200"/>
            <a:ext cx="111780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Gouvernance</a:t>
            </a:r>
            <a:endParaRPr b="0" lang="fr-FR" sz="1100" spc="-1" strike="noStrike">
              <a:solidFill>
                <a:srgbClr val="ffffff"/>
              </a:solidFill>
              <a:latin typeface="Arial"/>
            </a:endParaRPr>
          </a:p>
        </p:txBody>
      </p:sp>
      <p:sp>
        <p:nvSpPr>
          <p:cNvPr id="259" name="Rounded Rectangle 1"/>
          <p:cNvSpPr/>
          <p:nvPr/>
        </p:nvSpPr>
        <p:spPr>
          <a:xfrm>
            <a:off x="410400" y="3391560"/>
            <a:ext cx="6734160" cy="67978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tabLst>
                <a:tab algn="l" pos="0"/>
              </a:tabLst>
            </a:pPr>
            <a:r>
              <a:rPr b="0" lang="fr-FR" sz="1200" spc="-1" strike="noStrike">
                <a:solidFill>
                  <a:srgbClr val="808080"/>
                </a:solidFill>
                <a:latin typeface="Marianne Light"/>
              </a:rPr>
              <a:t>Description des pratiques et politiques de durabilité (4/5)</a:t>
            </a:r>
            <a:endParaRPr b="0" lang="fr-FR" sz="1200" spc="-1" strike="noStrike">
              <a:solidFill>
                <a:srgbClr val="000000"/>
              </a:solidFill>
              <a:latin typeface="Arial"/>
            </a:endParaRPr>
          </a:p>
        </p:txBody>
      </p:sp>
      <p:graphicFrame>
        <p:nvGraphicFramePr>
          <p:cNvPr id="260" name="Table 8"/>
          <p:cNvGraphicFramePr/>
          <p:nvPr/>
        </p:nvGraphicFramePr>
        <p:xfrm>
          <a:off x="605520" y="3955680"/>
          <a:ext cx="6381720" cy="6102360"/>
        </p:xfrm>
        <a:graphic>
          <a:graphicData uri="http://schemas.openxmlformats.org/drawingml/2006/table">
            <a:tbl>
              <a:tblPr/>
              <a:tblGrid>
                <a:gridCol w="1595520"/>
                <a:gridCol w="1595520"/>
                <a:gridCol w="1595520"/>
                <a:gridCol w="1595520"/>
              </a:tblGrid>
              <a:tr h="1153800">
                <a:tc>
                  <a:txBody>
                    <a:bodyPr lIns="108000" rIns="108000" anchor="ctr">
                      <a:noAutofit/>
                    </a:bodyPr>
                    <a:p>
                      <a:pPr algn="ctr" defTabSz="756000">
                        <a:lnSpc>
                          <a:spcPct val="100000"/>
                        </a:lnSpc>
                      </a:pPr>
                      <a:r>
                        <a:rPr b="0" lang="fr-FR" sz="1100" spc="-1" strike="noStrike">
                          <a:solidFill>
                            <a:schemeClr val="lt1">
                              <a:lumMod val="50000"/>
                            </a:schemeClr>
                          </a:solidFill>
                          <a:latin typeface="Marianne Light"/>
                        </a:rPr>
                        <a:t>Enjeux de durabilité</a:t>
                      </a:r>
                      <a:endParaRPr b="0" lang="fr-FR" sz="1100" spc="-1" strike="noStrike">
                        <a:solidFill>
                          <a:srgbClr val="000000"/>
                        </a:solidFill>
                        <a:latin typeface="Arial"/>
                      </a:endParaRPr>
                    </a:p>
                  </a:txBody>
                  <a:tcPr anchor="ctr" marL="108000" marR="108000">
                    <a:lnL w="12240">
                      <a:solidFill>
                        <a:srgbClr val="fffff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chemeClr val="lt1">
                              <a:lumMod val="50000"/>
                            </a:schemeClr>
                          </a:solidFill>
                          <a:latin typeface="Marianne Light"/>
                        </a:rPr>
                        <a:t>Description des pratiques, politiques ou initiatives futures</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chemeClr val="lt1">
                              <a:lumMod val="50000"/>
                            </a:schemeClr>
                          </a:solidFill>
                          <a:latin typeface="Marianne Light"/>
                        </a:rPr>
                        <a:t>Description des cibles définies</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chemeClr val="lt1">
                              <a:lumMod val="50000"/>
                            </a:schemeClr>
                          </a:solidFill>
                          <a:latin typeface="Marianne Light"/>
                        </a:rPr>
                        <a:t>Niveau hiérarchique le plus élevé responsable de la mise en œuvre des politiques</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r>
              <a:tr h="2474280">
                <a:tc>
                  <a:txBody>
                    <a:bodyPr lIns="72000" rIns="72000" anchor="ctr">
                      <a:noAutofit/>
                    </a:bodyPr>
                    <a:p>
                      <a:pPr defTabSz="756000">
                        <a:lnSpc>
                          <a:spcPct val="100000"/>
                        </a:lnSpc>
                        <a:tabLst>
                          <a:tab algn="l" pos="0"/>
                        </a:tabLst>
                      </a:pPr>
                      <a:r>
                        <a:rPr b="0" lang="fr-FR" sz="1100" spc="-1" strike="noStrike">
                          <a:solidFill>
                            <a:schemeClr val="dk1"/>
                          </a:solidFill>
                          <a:latin typeface="Marianne Medium"/>
                        </a:rPr>
                        <a:t>Travailleurs dans la chaîne de valeur</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2880">
                      <a:solidFill>
                        <a:srgbClr val="d9d9d9"/>
                      </a:solidFill>
                      <a:prstDash val="solid"/>
                    </a:lnR>
                    <a:lnT w="28080">
                      <a:solidFill>
                        <a:srgbClr val="ffffff"/>
                      </a:solidFill>
                      <a:prstDash val="solid"/>
                    </a:lnT>
                    <a:lnB w="12240">
                      <a:solidFill>
                        <a:srgbClr val="ffffff"/>
                      </a:solidFill>
                      <a:prstDash val="solid"/>
                    </a:lnB>
                    <a:solidFill>
                      <a:schemeClr val="lt1">
                        <a:lumMod val="95000"/>
                      </a:schemeClr>
                    </a:solidFill>
                  </a:tcPr>
                </a:tc>
              </a:tr>
              <a:tr h="2474280">
                <a:tc>
                  <a:txBody>
                    <a:bodyPr lIns="72000" rIns="72000" anchor="ctr">
                      <a:noAutofit/>
                    </a:bodyPr>
                    <a:p>
                      <a:pPr defTabSz="756000">
                        <a:lnSpc>
                          <a:spcPct val="100000"/>
                        </a:lnSpc>
                      </a:pPr>
                      <a:r>
                        <a:rPr b="0" lang="fr-FR" sz="1100" spc="-1" strike="noStrike">
                          <a:solidFill>
                            <a:schemeClr val="dk1"/>
                          </a:solidFill>
                          <a:latin typeface="Marianne Medium"/>
                        </a:rPr>
                        <a:t>Communautés affectées</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rgbClr val="000000"/>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rgbClr val="000000"/>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rgbClr val="000000"/>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2880">
                      <a:solidFill>
                        <a:srgbClr val="d9d9d9"/>
                      </a:solidFill>
                      <a:prstDash val="solid"/>
                    </a:lnR>
                    <a:lnT w="12240">
                      <a:solidFill>
                        <a:srgbClr val="ffffff"/>
                      </a:solidFill>
                      <a:prstDash val="solid"/>
                    </a:lnT>
                    <a:lnB w="12240">
                      <a:solidFill>
                        <a:srgbClr val="ffffff"/>
                      </a:solidFill>
                      <a:prstDash val="solid"/>
                    </a:lnB>
                    <a:solidFill>
                      <a:schemeClr val="lt1">
                        <a:lumMod val="95000"/>
                      </a:schemeClr>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1" name="Picture 2" descr=""/>
          <p:cNvPicPr/>
          <p:nvPr/>
        </p:nvPicPr>
        <p:blipFill>
          <a:blip r:embed="rId1"/>
          <a:srcRect l="0" t="0" r="0" b="0"/>
          <a:stretch/>
        </p:blipFill>
        <p:spPr>
          <a:xfrm>
            <a:off x="-9000" y="0"/>
            <a:ext cx="7554960" cy="10773720"/>
          </a:xfrm>
          <a:prstGeom prst="rect">
            <a:avLst/>
          </a:prstGeom>
          <a:ln w="0">
            <a:noFill/>
          </a:ln>
        </p:spPr>
      </p:pic>
      <p:sp>
        <p:nvSpPr>
          <p:cNvPr id="262"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263" name="Rounded Rectangle 3"/>
          <p:cNvSpPr/>
          <p:nvPr/>
        </p:nvSpPr>
        <p:spPr>
          <a:xfrm rot="16200000">
            <a:off x="3856680" y="-190440"/>
            <a:ext cx="700920" cy="6151320"/>
          </a:xfrm>
          <a:prstGeom prst="roundRect">
            <a:avLst>
              <a:gd name="adj"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chemeClr val="lt1">
                    <a:lumMod val="50000"/>
                  </a:schemeClr>
                </a:solidFill>
                <a:latin typeface="Marianne"/>
              </a:rPr>
              <a:t>C2</a:t>
            </a:r>
            <a:r>
              <a:rPr b="0" lang="fr-FR" sz="1400" spc="-1" strike="noStrike">
                <a:solidFill>
                  <a:schemeClr val="lt1">
                    <a:lumMod val="50000"/>
                  </a:schemeClr>
                </a:solidFill>
                <a:latin typeface="Marianne Medium"/>
              </a:rPr>
              <a:t> </a:t>
            </a:r>
            <a:r>
              <a:rPr b="0" lang="fr-FR" sz="1400" spc="-1" strike="noStrike">
                <a:solidFill>
                  <a:schemeClr val="lt1">
                    <a:lumMod val="50000"/>
                  </a:schemeClr>
                </a:solidFill>
                <a:latin typeface="Marianne"/>
              </a:rPr>
              <a:t>Description des pratiques, des politiques et des initiatives futures pour une transition vers une économie plus durable</a:t>
            </a:r>
            <a:endParaRPr b="0" lang="fr-FR" sz="1400" spc="-1" strike="noStrike">
              <a:solidFill>
                <a:srgbClr val="000000"/>
              </a:solidFill>
              <a:latin typeface="Arial"/>
            </a:endParaRPr>
          </a:p>
        </p:txBody>
      </p:sp>
      <p:grpSp>
        <p:nvGrpSpPr>
          <p:cNvPr id="264" name="Group 28"/>
          <p:cNvGrpSpPr/>
          <p:nvPr/>
        </p:nvGrpSpPr>
        <p:grpSpPr>
          <a:xfrm>
            <a:off x="330120" y="2525400"/>
            <a:ext cx="567360" cy="709920"/>
            <a:chOff x="330120" y="2525400"/>
            <a:chExt cx="567360" cy="709920"/>
          </a:xfrm>
        </p:grpSpPr>
        <p:cxnSp>
          <p:nvCxnSpPr>
            <p:cNvPr id="265" name="Straight Connector 17"/>
            <p:cNvCxnSpPr/>
            <p:nvPr/>
          </p:nvCxnSpPr>
          <p:spPr>
            <a:xfrm>
              <a:off x="893160" y="2525400"/>
              <a:ext cx="4680" cy="710280"/>
            </a:xfrm>
            <a:prstGeom prst="straightConnector1">
              <a:avLst/>
            </a:prstGeom>
            <a:ln w="3175">
              <a:solidFill>
                <a:srgbClr val="a6a6a6"/>
              </a:solidFill>
              <a:round/>
            </a:ln>
          </p:spPr>
        </p:cxnSp>
        <p:pic>
          <p:nvPicPr>
            <p:cNvPr id="266" name="Graphic 20" descr=""/>
            <p:cNvPicPr/>
            <p:nvPr/>
          </p:nvPicPr>
          <p:blipFill>
            <a:blip r:embed="rId2">
              <a:extLst>
                <a:ext uri="{96DAC541-7B7A-43D3-8B79-37D633B846F1}">
                  <asvg:svgBlip xmlns:asvg="http://schemas.microsoft.com/office/drawing/2016/SVG/main" r:embed="rId3"/>
                </a:ext>
              </a:extLst>
            </a:blip>
            <a:stretch/>
          </p:blipFill>
          <p:spPr>
            <a:xfrm>
              <a:off x="330120" y="2526120"/>
              <a:ext cx="391320" cy="391320"/>
            </a:xfrm>
            <a:prstGeom prst="rect">
              <a:avLst/>
            </a:prstGeom>
            <a:ln w="0">
              <a:noFill/>
            </a:ln>
          </p:spPr>
        </p:pic>
      </p:grpSp>
      <p:sp>
        <p:nvSpPr>
          <p:cNvPr id="267" name="TextBox 4"/>
          <p:cNvSpPr/>
          <p:nvPr/>
        </p:nvSpPr>
        <p:spPr>
          <a:xfrm>
            <a:off x="313920" y="187200"/>
            <a:ext cx="188712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Informations générales</a:t>
            </a:r>
            <a:endParaRPr b="0" lang="fr-FR" sz="1100" spc="-1" strike="noStrike">
              <a:solidFill>
                <a:srgbClr val="000000"/>
              </a:solidFill>
              <a:latin typeface="Arial"/>
            </a:endParaRPr>
          </a:p>
        </p:txBody>
      </p:sp>
      <p:sp>
        <p:nvSpPr>
          <p:cNvPr id="268" name="TextBox 5"/>
          <p:cNvSpPr/>
          <p:nvPr/>
        </p:nvSpPr>
        <p:spPr>
          <a:xfrm>
            <a:off x="3666600" y="187200"/>
            <a:ext cx="61776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Social</a:t>
            </a:r>
            <a:endParaRPr b="0" lang="fr-FR" sz="1100" spc="-1" strike="noStrike">
              <a:solidFill>
                <a:srgbClr val="ffffff"/>
              </a:solidFill>
              <a:latin typeface="Arial"/>
            </a:endParaRPr>
          </a:p>
        </p:txBody>
      </p:sp>
      <p:sp>
        <p:nvSpPr>
          <p:cNvPr id="269" name="TextBox 6"/>
          <p:cNvSpPr/>
          <p:nvPr/>
        </p:nvSpPr>
        <p:spPr>
          <a:xfrm>
            <a:off x="2293560" y="187200"/>
            <a:ext cx="124884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Environnement</a:t>
            </a:r>
            <a:endParaRPr b="0" lang="fr-FR" sz="1100" spc="-1" strike="noStrike">
              <a:solidFill>
                <a:srgbClr val="ffffff"/>
              </a:solidFill>
              <a:latin typeface="Arial"/>
            </a:endParaRPr>
          </a:p>
        </p:txBody>
      </p:sp>
      <p:sp>
        <p:nvSpPr>
          <p:cNvPr id="270" name="TextBox 7"/>
          <p:cNvSpPr/>
          <p:nvPr/>
        </p:nvSpPr>
        <p:spPr>
          <a:xfrm>
            <a:off x="4407840" y="187200"/>
            <a:ext cx="111780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Gouvernance</a:t>
            </a:r>
            <a:endParaRPr b="0" lang="fr-FR" sz="1100" spc="-1" strike="noStrike">
              <a:solidFill>
                <a:srgbClr val="ffffff"/>
              </a:solidFill>
              <a:latin typeface="Arial"/>
            </a:endParaRPr>
          </a:p>
        </p:txBody>
      </p:sp>
      <p:sp>
        <p:nvSpPr>
          <p:cNvPr id="271" name="Rounded Rectangle 1"/>
          <p:cNvSpPr/>
          <p:nvPr/>
        </p:nvSpPr>
        <p:spPr>
          <a:xfrm>
            <a:off x="410400" y="3391560"/>
            <a:ext cx="6734160" cy="67978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tabLst>
                <a:tab algn="l" pos="0"/>
              </a:tabLst>
            </a:pPr>
            <a:r>
              <a:rPr b="0" lang="fr-FR" sz="1200" spc="-1" strike="noStrike">
                <a:solidFill>
                  <a:srgbClr val="808080"/>
                </a:solidFill>
                <a:latin typeface="Marianne Light"/>
              </a:rPr>
              <a:t>Description des pratiques et politiques de durabilité (5/5)</a:t>
            </a:r>
            <a:endParaRPr b="0" lang="fr-FR" sz="1200" spc="-1" strike="noStrike">
              <a:solidFill>
                <a:srgbClr val="000000"/>
              </a:solidFill>
              <a:latin typeface="Arial"/>
            </a:endParaRPr>
          </a:p>
        </p:txBody>
      </p:sp>
      <p:graphicFrame>
        <p:nvGraphicFramePr>
          <p:cNvPr id="272" name="Table 8"/>
          <p:cNvGraphicFramePr/>
          <p:nvPr/>
        </p:nvGraphicFramePr>
        <p:xfrm>
          <a:off x="605520" y="3955680"/>
          <a:ext cx="6381720" cy="6102360"/>
        </p:xfrm>
        <a:graphic>
          <a:graphicData uri="http://schemas.openxmlformats.org/drawingml/2006/table">
            <a:tbl>
              <a:tblPr/>
              <a:tblGrid>
                <a:gridCol w="1595520"/>
                <a:gridCol w="1595520"/>
                <a:gridCol w="1595520"/>
                <a:gridCol w="1595520"/>
              </a:tblGrid>
              <a:tr h="1153800">
                <a:tc>
                  <a:txBody>
                    <a:bodyPr lIns="108000" rIns="108000" anchor="ctr">
                      <a:noAutofit/>
                    </a:bodyPr>
                    <a:p>
                      <a:pPr algn="ctr" defTabSz="756000">
                        <a:lnSpc>
                          <a:spcPct val="100000"/>
                        </a:lnSpc>
                      </a:pPr>
                      <a:r>
                        <a:rPr b="0" lang="fr-FR" sz="1100" spc="-1" strike="noStrike">
                          <a:solidFill>
                            <a:schemeClr val="lt1">
                              <a:lumMod val="50000"/>
                            </a:schemeClr>
                          </a:solidFill>
                          <a:latin typeface="Marianne Light"/>
                        </a:rPr>
                        <a:t>Enjeux de durabilité</a:t>
                      </a:r>
                      <a:endParaRPr b="0" lang="fr-FR" sz="1100" spc="-1" strike="noStrike">
                        <a:solidFill>
                          <a:srgbClr val="000000"/>
                        </a:solidFill>
                        <a:latin typeface="Arial"/>
                      </a:endParaRPr>
                    </a:p>
                  </a:txBody>
                  <a:tcPr anchor="ctr" marL="108000" marR="108000">
                    <a:lnL w="12240">
                      <a:solidFill>
                        <a:srgbClr val="fffff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chemeClr val="lt1">
                              <a:lumMod val="50000"/>
                            </a:schemeClr>
                          </a:solidFill>
                          <a:latin typeface="Marianne Light"/>
                        </a:rPr>
                        <a:t>Description des pratiques, politiques ou initiatives futures</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chemeClr val="lt1">
                              <a:lumMod val="50000"/>
                            </a:schemeClr>
                          </a:solidFill>
                          <a:latin typeface="Marianne Light"/>
                        </a:rPr>
                        <a:t>Description des cibles définies</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chemeClr val="lt1">
                              <a:lumMod val="50000"/>
                            </a:schemeClr>
                          </a:solidFill>
                          <a:latin typeface="Marianne Light"/>
                        </a:rPr>
                        <a:t>Niveau hiérarchique le plus élevé responsable de la mise en œuvre des politiques</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r>
              <a:tr h="2474280">
                <a:tc>
                  <a:txBody>
                    <a:bodyPr lIns="72000" rIns="72000" anchor="ctr">
                      <a:noAutofit/>
                    </a:bodyPr>
                    <a:p>
                      <a:pPr defTabSz="756000">
                        <a:lnSpc>
                          <a:spcPct val="100000"/>
                        </a:lnSpc>
                      </a:pPr>
                      <a:r>
                        <a:rPr b="0" lang="fr-FR" sz="1100" spc="-1" strike="noStrike">
                          <a:solidFill>
                            <a:schemeClr val="dk1"/>
                          </a:solidFill>
                          <a:latin typeface="Marianne Medium"/>
                        </a:rPr>
                        <a:t>Consommateurs et utilisateurs finaux</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2880">
                      <a:solidFill>
                        <a:srgbClr val="d9d9d9"/>
                      </a:solidFill>
                      <a:prstDash val="solid"/>
                    </a:lnR>
                    <a:lnT w="28080">
                      <a:solidFill>
                        <a:srgbClr val="ffffff"/>
                      </a:solidFill>
                      <a:prstDash val="solid"/>
                    </a:lnT>
                    <a:lnB w="12240">
                      <a:solidFill>
                        <a:srgbClr val="ffffff"/>
                      </a:solidFill>
                      <a:prstDash val="solid"/>
                    </a:lnB>
                    <a:solidFill>
                      <a:schemeClr val="lt1">
                        <a:lumMod val="95000"/>
                      </a:schemeClr>
                    </a:solidFill>
                  </a:tcPr>
                </a:tc>
              </a:tr>
              <a:tr h="2474280">
                <a:tc>
                  <a:txBody>
                    <a:bodyPr lIns="72000" rIns="72000" anchor="ctr">
                      <a:noAutofit/>
                    </a:bodyPr>
                    <a:p>
                      <a:pPr defTabSz="756000">
                        <a:lnSpc>
                          <a:spcPct val="100000"/>
                        </a:lnSpc>
                      </a:pPr>
                      <a:r>
                        <a:rPr b="0" lang="fr-FR" sz="1100" spc="-1" strike="noStrike">
                          <a:solidFill>
                            <a:schemeClr val="dk1"/>
                          </a:solidFill>
                          <a:latin typeface="Marianne Medium"/>
                        </a:rPr>
                        <a:t>Conduite des affaires et lutte contre la corruption</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rgbClr val="000000"/>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rgbClr val="000000"/>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rgbClr val="000000"/>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2880">
                      <a:solidFill>
                        <a:srgbClr val="d9d9d9"/>
                      </a:solidFill>
                      <a:prstDash val="solid"/>
                    </a:lnR>
                    <a:lnT w="12240">
                      <a:solidFill>
                        <a:srgbClr val="ffffff"/>
                      </a:solidFill>
                      <a:prstDash val="solid"/>
                    </a:lnT>
                    <a:lnB w="12240">
                      <a:solidFill>
                        <a:srgbClr val="ffffff"/>
                      </a:solidFill>
                      <a:prstDash val="solid"/>
                    </a:lnB>
                    <a:solidFill>
                      <a:schemeClr val="lt1">
                        <a:lumMod val="95000"/>
                      </a:schemeClr>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3" name="Picture 2" descr=""/>
          <p:cNvPicPr/>
          <p:nvPr/>
        </p:nvPicPr>
        <p:blipFill>
          <a:blip r:embed="rId1"/>
          <a:srcRect l="0" t="0" r="0" b="0"/>
          <a:stretch/>
        </p:blipFill>
        <p:spPr>
          <a:xfrm>
            <a:off x="-9000" y="0"/>
            <a:ext cx="7554960" cy="10773720"/>
          </a:xfrm>
          <a:prstGeom prst="rect">
            <a:avLst/>
          </a:prstGeom>
          <a:ln w="0">
            <a:noFill/>
          </a:ln>
        </p:spPr>
      </p:pic>
      <p:sp>
        <p:nvSpPr>
          <p:cNvPr id="274"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275" name="Rounded Rectangle 3"/>
          <p:cNvSpPr/>
          <p:nvPr/>
        </p:nvSpPr>
        <p:spPr>
          <a:xfrm rot="16200000">
            <a:off x="3856680" y="-190440"/>
            <a:ext cx="700920" cy="6151320"/>
          </a:xfrm>
          <a:prstGeom prst="roundRect">
            <a:avLst>
              <a:gd name="adj" fmla="val 1666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chemeClr val="lt1">
                    <a:lumMod val="50000"/>
                  </a:schemeClr>
                </a:solidFill>
                <a:latin typeface="Marianne"/>
              </a:rPr>
              <a:t>C2</a:t>
            </a:r>
            <a:r>
              <a:rPr b="0" lang="fr-FR" sz="1400" spc="-1" strike="noStrike">
                <a:solidFill>
                  <a:schemeClr val="lt1">
                    <a:lumMod val="50000"/>
                  </a:schemeClr>
                </a:solidFill>
                <a:latin typeface="Marianne Medium"/>
              </a:rPr>
              <a:t> </a:t>
            </a:r>
            <a:r>
              <a:rPr b="0" lang="fr-FR" sz="1400" spc="-1" strike="noStrike">
                <a:solidFill>
                  <a:schemeClr val="lt1">
                    <a:lumMod val="50000"/>
                  </a:schemeClr>
                </a:solidFill>
                <a:latin typeface="Marianne"/>
              </a:rPr>
              <a:t>Description des pratiques, des politiques et des initiatives futures pour une transition vers une économie plus durable</a:t>
            </a:r>
            <a:endParaRPr b="0" lang="fr-FR" sz="1400" spc="-1" strike="noStrike">
              <a:solidFill>
                <a:srgbClr val="000000"/>
              </a:solidFill>
              <a:latin typeface="Arial"/>
            </a:endParaRPr>
          </a:p>
        </p:txBody>
      </p:sp>
      <p:grpSp>
        <p:nvGrpSpPr>
          <p:cNvPr id="276" name="Group 28"/>
          <p:cNvGrpSpPr/>
          <p:nvPr/>
        </p:nvGrpSpPr>
        <p:grpSpPr>
          <a:xfrm>
            <a:off x="330120" y="2525400"/>
            <a:ext cx="567360" cy="709920"/>
            <a:chOff x="330120" y="2525400"/>
            <a:chExt cx="567360" cy="709920"/>
          </a:xfrm>
        </p:grpSpPr>
        <p:cxnSp>
          <p:nvCxnSpPr>
            <p:cNvPr id="277" name="Straight Connector 17"/>
            <p:cNvCxnSpPr/>
            <p:nvPr/>
          </p:nvCxnSpPr>
          <p:spPr>
            <a:xfrm>
              <a:off x="893160" y="2525400"/>
              <a:ext cx="4680" cy="710280"/>
            </a:xfrm>
            <a:prstGeom prst="straightConnector1">
              <a:avLst/>
            </a:prstGeom>
            <a:ln w="3175">
              <a:solidFill>
                <a:srgbClr val="a6a6a6"/>
              </a:solidFill>
              <a:round/>
            </a:ln>
          </p:spPr>
        </p:cxnSp>
        <p:pic>
          <p:nvPicPr>
            <p:cNvPr id="278" name="Graphic 20" descr=""/>
            <p:cNvPicPr/>
            <p:nvPr/>
          </p:nvPicPr>
          <p:blipFill>
            <a:blip r:embed="rId2">
              <a:extLst>
                <a:ext uri="{96DAC541-7B7A-43D3-8B79-37D633B846F1}">
                  <asvg:svgBlip xmlns:asvg="http://schemas.microsoft.com/office/drawing/2016/SVG/main" r:embed="rId3"/>
                </a:ext>
              </a:extLst>
            </a:blip>
            <a:stretch/>
          </p:blipFill>
          <p:spPr>
            <a:xfrm>
              <a:off x="330120" y="2526120"/>
              <a:ext cx="391320" cy="391320"/>
            </a:xfrm>
            <a:prstGeom prst="rect">
              <a:avLst/>
            </a:prstGeom>
            <a:ln w="0">
              <a:noFill/>
            </a:ln>
          </p:spPr>
        </p:pic>
      </p:grpSp>
      <p:sp>
        <p:nvSpPr>
          <p:cNvPr id="279" name="TextBox 4"/>
          <p:cNvSpPr/>
          <p:nvPr/>
        </p:nvSpPr>
        <p:spPr>
          <a:xfrm>
            <a:off x="313920" y="187200"/>
            <a:ext cx="188712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Informations générales</a:t>
            </a:r>
            <a:endParaRPr b="0" lang="fr-FR" sz="1100" spc="-1" strike="noStrike">
              <a:solidFill>
                <a:srgbClr val="000000"/>
              </a:solidFill>
              <a:latin typeface="Arial"/>
            </a:endParaRPr>
          </a:p>
        </p:txBody>
      </p:sp>
      <p:sp>
        <p:nvSpPr>
          <p:cNvPr id="280" name="TextBox 5"/>
          <p:cNvSpPr/>
          <p:nvPr/>
        </p:nvSpPr>
        <p:spPr>
          <a:xfrm>
            <a:off x="3666600" y="187200"/>
            <a:ext cx="61776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Social</a:t>
            </a:r>
            <a:endParaRPr b="0" lang="fr-FR" sz="1100" spc="-1" strike="noStrike">
              <a:solidFill>
                <a:srgbClr val="ffffff"/>
              </a:solidFill>
              <a:latin typeface="Arial"/>
            </a:endParaRPr>
          </a:p>
        </p:txBody>
      </p:sp>
      <p:sp>
        <p:nvSpPr>
          <p:cNvPr id="281" name="TextBox 6"/>
          <p:cNvSpPr/>
          <p:nvPr/>
        </p:nvSpPr>
        <p:spPr>
          <a:xfrm>
            <a:off x="2293560" y="187200"/>
            <a:ext cx="124884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Environnement</a:t>
            </a:r>
            <a:endParaRPr b="0" lang="fr-FR" sz="1100" spc="-1" strike="noStrike">
              <a:solidFill>
                <a:srgbClr val="ffffff"/>
              </a:solidFill>
              <a:latin typeface="Arial"/>
            </a:endParaRPr>
          </a:p>
        </p:txBody>
      </p:sp>
      <p:sp>
        <p:nvSpPr>
          <p:cNvPr id="282" name="TextBox 7"/>
          <p:cNvSpPr/>
          <p:nvPr/>
        </p:nvSpPr>
        <p:spPr>
          <a:xfrm>
            <a:off x="4407840" y="187200"/>
            <a:ext cx="1117800" cy="305280"/>
          </a:xfrm>
          <a:prstGeom prst="roundRect">
            <a:avLst>
              <a:gd name="adj" fmla="val 16667"/>
            </a:avLst>
          </a:prstGeom>
          <a:solidFill>
            <a:schemeClr val="dk1">
              <a:alpha val="16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79000"/>
                  </a:schemeClr>
                </a:solidFill>
                <a:latin typeface="Marianne Light"/>
                <a:ea typeface="Arial"/>
              </a:rPr>
              <a:t>Gouvernance</a:t>
            </a:r>
            <a:endParaRPr b="0" lang="fr-FR" sz="1100" spc="-1" strike="noStrike">
              <a:solidFill>
                <a:srgbClr val="ffffff"/>
              </a:solidFill>
              <a:latin typeface="Arial"/>
            </a:endParaRPr>
          </a:p>
        </p:txBody>
      </p:sp>
      <p:sp>
        <p:nvSpPr>
          <p:cNvPr id="283" name="Rounded Rectangle 1"/>
          <p:cNvSpPr/>
          <p:nvPr/>
        </p:nvSpPr>
        <p:spPr>
          <a:xfrm>
            <a:off x="410400" y="3391560"/>
            <a:ext cx="6734160" cy="930960"/>
          </a:xfrm>
          <a:prstGeom prst="roundRect">
            <a:avLst>
              <a:gd name="adj" fmla="val 10829"/>
            </a:avLst>
          </a:prstGeom>
          <a:solidFill>
            <a:srgbClr val="f7eddc">
              <a:alpha val="46000"/>
            </a:srgbClr>
          </a:solidFill>
          <a:ln w="3175">
            <a:solidFill>
              <a:srgbClr val="d2b781"/>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08080"/>
                </a:solidFill>
                <a:latin typeface="Marianne Light"/>
              </a:rPr>
              <a:t>Description des pratiques et politiques de durabilité</a:t>
            </a:r>
            <a:endParaRPr b="0" lang="fr-FR" sz="1200" spc="-1" strike="noStrike">
              <a:solidFill>
                <a:srgbClr val="000000"/>
              </a:solidFill>
              <a:latin typeface="Arial"/>
            </a:endParaRPr>
          </a:p>
          <a:p>
            <a:pPr defTabSz="457200">
              <a:lnSpc>
                <a:spcPct val="100000"/>
              </a:lnSpc>
            </a:pPr>
            <a:r>
              <a:rPr b="0" lang="fr-CA" sz="1200" spc="-1" strike="noStrike">
                <a:solidFill>
                  <a:srgbClr val="d2b781"/>
                </a:solidFill>
                <a:latin typeface="Marianne"/>
              </a:rPr>
              <a:t>Cet indicateur n'est pas applicable car l'entreprise n'a pas déclaré de pratiques, politiques ou initiatives futures en matière de durabilité.</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4" name="Picture 4" descr="Green leaves on the trees in spring"/>
          <p:cNvPicPr/>
          <p:nvPr/>
        </p:nvPicPr>
        <p:blipFill>
          <a:blip r:embed="rId1"/>
          <a:srcRect l="0" t="0" r="0" b="0"/>
          <a:stretch/>
        </p:blipFill>
        <p:spPr>
          <a:xfrm>
            <a:off x="0" y="0"/>
            <a:ext cx="7554960" cy="10686960"/>
          </a:xfrm>
          <a:prstGeom prst="rect">
            <a:avLst/>
          </a:prstGeom>
          <a:ln w="0">
            <a:noFill/>
          </a:ln>
        </p:spPr>
      </p:pic>
      <p:grpSp>
        <p:nvGrpSpPr>
          <p:cNvPr id="285" name="Group 34"/>
          <p:cNvGrpSpPr/>
          <p:nvPr/>
        </p:nvGrpSpPr>
        <p:grpSpPr>
          <a:xfrm>
            <a:off x="0" y="2794680"/>
            <a:ext cx="7554960" cy="5097600"/>
            <a:chOff x="0" y="2794680"/>
            <a:chExt cx="7554960" cy="5097600"/>
          </a:xfrm>
        </p:grpSpPr>
        <p:sp>
          <p:nvSpPr>
            <p:cNvPr id="286" name="Rectangle 9"/>
            <p:cNvSpPr/>
            <p:nvPr/>
          </p:nvSpPr>
          <p:spPr>
            <a:xfrm>
              <a:off x="0" y="2794680"/>
              <a:ext cx="7554960" cy="5097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287" name="TextBox 1"/>
            <p:cNvSpPr/>
            <p:nvPr/>
          </p:nvSpPr>
          <p:spPr>
            <a:xfrm>
              <a:off x="666360" y="6361560"/>
              <a:ext cx="6281280" cy="821160"/>
            </a:xfrm>
            <a:prstGeom prst="rect">
              <a:avLst/>
            </a:prstGeom>
            <a:noFill/>
            <a:ln w="0">
              <a:noFill/>
            </a:ln>
          </p:spPr>
          <p:style>
            <a:lnRef idx="0"/>
            <a:fillRef idx="0"/>
            <a:effectRef idx="0"/>
            <a:fontRef idx="minor"/>
          </p:style>
          <p:txBody>
            <a:bodyPr lIns="90000" rIns="90000" tIns="45000" bIns="45000" anchor="t">
              <a:spAutoFit/>
            </a:bodyPr>
            <a:p>
              <a:pPr marL="11160" algn="just" defTabSz="457200">
                <a:lnSpc>
                  <a:spcPct val="120000"/>
                </a:lnSpc>
                <a:spcAft>
                  <a:spcPts val="601"/>
                </a:spcAft>
              </a:pPr>
              <a:r>
                <a:rPr b="0" lang="fr-FR" sz="1000" spc="-1" strike="noStrike">
                  <a:solidFill>
                    <a:schemeClr val="dk1"/>
                  </a:solidFill>
                  <a:latin typeface="Marianne Light"/>
                  <a:ea typeface="Arial"/>
                </a:rPr>
                <a:t>Les métriques environnementales constituent un pilier essentiel du reporting VSME pour notre entreprise, car elles permettent d’évaluer de manière structurée les impacts, les risques et les opportunités liés à nos activités. Elles offrent une base factuelle pour suivre notre performance environnementale dans le temps, comparer les résultats et orienter nos décisions stratégiques. </a:t>
              </a:r>
              <a:endParaRPr b="0" lang="fr-FR" sz="1000" spc="-1" strike="noStrike">
                <a:solidFill>
                  <a:srgbClr val="000000"/>
                </a:solidFill>
                <a:latin typeface="Arial"/>
              </a:endParaRPr>
            </a:p>
          </p:txBody>
        </p:sp>
        <p:cxnSp>
          <p:nvCxnSpPr>
            <p:cNvPr id="288" name="Straight Connector 20"/>
            <p:cNvCxnSpPr/>
            <p:nvPr/>
          </p:nvCxnSpPr>
          <p:spPr>
            <a:xfrm>
              <a:off x="1298160" y="3353760"/>
              <a:ext cx="4680" cy="426240"/>
            </a:xfrm>
            <a:prstGeom prst="straightConnector1">
              <a:avLst/>
            </a:prstGeom>
            <a:ln w="3175">
              <a:solidFill>
                <a:srgbClr val="a6a6a6"/>
              </a:solidFill>
              <a:round/>
            </a:ln>
          </p:spPr>
        </p:cxnSp>
        <p:sp>
          <p:nvSpPr>
            <p:cNvPr id="289" name="TextBox 24"/>
            <p:cNvSpPr/>
            <p:nvPr/>
          </p:nvSpPr>
          <p:spPr>
            <a:xfrm>
              <a:off x="1342440" y="3318480"/>
              <a:ext cx="5605200" cy="528480"/>
            </a:xfrm>
            <a:prstGeom prst="rect">
              <a:avLst/>
            </a:prstGeom>
            <a:noFill/>
            <a:ln w="0">
              <a:noFill/>
            </a:ln>
          </p:spPr>
          <p:style>
            <a:lnRef idx="0"/>
            <a:fillRef idx="0"/>
            <a:effectRef idx="0"/>
            <a:fontRef idx="minor"/>
          </p:style>
          <p:txBody>
            <a:bodyPr lIns="90000" rIns="90000" tIns="45000" bIns="45000" anchor="t">
              <a:spAutoFit/>
            </a:bodyPr>
            <a:p>
              <a:pPr marL="11160" defTabSz="457200">
                <a:lnSpc>
                  <a:spcPct val="120000"/>
                </a:lnSpc>
              </a:pPr>
              <a:r>
                <a:rPr b="1" lang="fr-FR" sz="2400" spc="-1" strike="noStrike">
                  <a:solidFill>
                    <a:schemeClr val="dk1"/>
                  </a:solidFill>
                  <a:latin typeface="Marianne"/>
                  <a:ea typeface="Arial"/>
                </a:rPr>
                <a:t>Environnement</a:t>
              </a:r>
              <a:endParaRPr b="0" lang="fr-FR" sz="2400" spc="-1" strike="noStrike">
                <a:solidFill>
                  <a:srgbClr val="000000"/>
                </a:solidFill>
                <a:latin typeface="Arial"/>
              </a:endParaRPr>
            </a:p>
          </p:txBody>
        </p:sp>
        <p:sp>
          <p:nvSpPr>
            <p:cNvPr id="290" name="Round Same-side Corner of Rectangle 25"/>
            <p:cNvSpPr/>
            <p:nvPr/>
          </p:nvSpPr>
          <p:spPr>
            <a:xfrm rot="16200000">
              <a:off x="3988080" y="774000"/>
              <a:ext cx="236160" cy="6879960"/>
            </a:xfrm>
            <a:prstGeom prst="round2SameRect">
              <a:avLst>
                <a:gd name="adj1" fmla="val 26772"/>
                <a:gd name="adj2" fmla="val 0"/>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145c30"/>
                  </a:solidFill>
                  <a:latin typeface="Marianne"/>
                </a:rPr>
                <a:t>B3</a:t>
              </a:r>
              <a:r>
                <a:rPr b="0" lang="fr-FR" sz="850" spc="-1" strike="noStrike">
                  <a:solidFill>
                    <a:srgbClr val="145c30"/>
                  </a:solidFill>
                  <a:latin typeface="Marianne Medium"/>
                </a:rPr>
                <a:t> </a:t>
              </a:r>
              <a:r>
                <a:rPr b="0" lang="fr-FR" sz="850" spc="-1" strike="noStrike">
                  <a:solidFill>
                    <a:srgbClr val="145c30"/>
                  </a:solidFill>
                  <a:latin typeface="Marianne"/>
                </a:rPr>
                <a:t>Énergie et émissions de gaz à effet de serre</a:t>
              </a:r>
              <a:endParaRPr b="0" lang="fr-FR" sz="850" spc="-1" strike="noStrike">
                <a:solidFill>
                  <a:srgbClr val="000000"/>
                </a:solidFill>
                <a:latin typeface="Arial"/>
              </a:endParaRPr>
            </a:p>
          </p:txBody>
        </p:sp>
        <p:sp>
          <p:nvSpPr>
            <p:cNvPr id="291" name="Round Same-side Corner of Rectangle 26"/>
            <p:cNvSpPr/>
            <p:nvPr/>
          </p:nvSpPr>
          <p:spPr>
            <a:xfrm rot="16200000">
              <a:off x="3988080" y="1065960"/>
              <a:ext cx="236160" cy="6879960"/>
            </a:xfrm>
            <a:prstGeom prst="round2SameRect">
              <a:avLst>
                <a:gd name="adj1" fmla="val 26772"/>
                <a:gd name="adj2" fmla="val 0"/>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145c30"/>
                  </a:solidFill>
                  <a:latin typeface="Marianne"/>
                </a:rPr>
                <a:t>B4</a:t>
              </a:r>
              <a:r>
                <a:rPr b="0" lang="fr-FR" sz="850" spc="-1" strike="noStrike">
                  <a:solidFill>
                    <a:srgbClr val="145c30"/>
                  </a:solidFill>
                  <a:latin typeface="Marianne Medium"/>
                </a:rPr>
                <a:t> </a:t>
              </a:r>
              <a:r>
                <a:rPr b="0" lang="fr-FR" sz="850" spc="-1" strike="noStrike">
                  <a:solidFill>
                    <a:srgbClr val="145c30"/>
                  </a:solidFill>
                  <a:latin typeface="Marianne"/>
                </a:rPr>
                <a:t>Pollution de l’air, de l’eau et des sols </a:t>
              </a:r>
              <a:endParaRPr b="0" lang="fr-FR" sz="850" spc="-1" strike="noStrike">
                <a:solidFill>
                  <a:srgbClr val="000000"/>
                </a:solidFill>
                <a:latin typeface="Arial"/>
              </a:endParaRPr>
            </a:p>
          </p:txBody>
        </p:sp>
        <p:sp>
          <p:nvSpPr>
            <p:cNvPr id="292" name="Round Same-side Corner of Rectangle 28"/>
            <p:cNvSpPr/>
            <p:nvPr/>
          </p:nvSpPr>
          <p:spPr>
            <a:xfrm rot="16200000">
              <a:off x="3988080" y="1358280"/>
              <a:ext cx="236160" cy="6879960"/>
            </a:xfrm>
            <a:prstGeom prst="round2SameRect">
              <a:avLst>
                <a:gd name="adj1" fmla="val 26772"/>
                <a:gd name="adj2" fmla="val 0"/>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145c30"/>
                  </a:solidFill>
                  <a:latin typeface="Marianne"/>
                </a:rPr>
                <a:t>B5</a:t>
              </a:r>
              <a:r>
                <a:rPr b="0" lang="fr-FR" sz="850" spc="-1" strike="noStrike">
                  <a:solidFill>
                    <a:srgbClr val="145c30"/>
                  </a:solidFill>
                  <a:latin typeface="Marianne Medium"/>
                </a:rPr>
                <a:t> </a:t>
              </a:r>
              <a:r>
                <a:rPr b="0" lang="fr-FR" sz="850" spc="-1" strike="noStrike">
                  <a:solidFill>
                    <a:srgbClr val="145c30"/>
                  </a:solidFill>
                  <a:latin typeface="Marianne"/>
                </a:rPr>
                <a:t>Biodiversité</a:t>
              </a:r>
              <a:endParaRPr b="0" lang="fr-FR" sz="850" spc="-1" strike="noStrike">
                <a:solidFill>
                  <a:srgbClr val="000000"/>
                </a:solidFill>
                <a:latin typeface="Arial"/>
              </a:endParaRPr>
            </a:p>
          </p:txBody>
        </p:sp>
        <p:sp>
          <p:nvSpPr>
            <p:cNvPr id="293" name="Round Same-side Corner of Rectangle 29"/>
            <p:cNvSpPr/>
            <p:nvPr/>
          </p:nvSpPr>
          <p:spPr>
            <a:xfrm rot="16200000">
              <a:off x="3988080" y="1650600"/>
              <a:ext cx="236160" cy="6879960"/>
            </a:xfrm>
            <a:prstGeom prst="round2SameRect">
              <a:avLst>
                <a:gd name="adj1" fmla="val 26772"/>
                <a:gd name="adj2" fmla="val 0"/>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145c30"/>
                  </a:solidFill>
                  <a:latin typeface="Marianne"/>
                </a:rPr>
                <a:t>B6</a:t>
              </a:r>
              <a:r>
                <a:rPr b="0" lang="fr-FR" sz="850" spc="-1" strike="noStrike">
                  <a:solidFill>
                    <a:srgbClr val="145c30"/>
                  </a:solidFill>
                  <a:latin typeface="Marianne Medium"/>
                </a:rPr>
                <a:t> </a:t>
              </a:r>
              <a:r>
                <a:rPr b="0" lang="fr-FR" sz="850" spc="-1" strike="noStrike">
                  <a:solidFill>
                    <a:srgbClr val="145c30"/>
                  </a:solidFill>
                  <a:latin typeface="Marianne"/>
                </a:rPr>
                <a:t>Eau</a:t>
              </a:r>
              <a:endParaRPr b="0" lang="fr-FR" sz="850" spc="-1" strike="noStrike">
                <a:solidFill>
                  <a:srgbClr val="000000"/>
                </a:solidFill>
                <a:latin typeface="Arial"/>
              </a:endParaRPr>
            </a:p>
          </p:txBody>
        </p:sp>
        <p:sp>
          <p:nvSpPr>
            <p:cNvPr id="294" name="Round Same-side Corner of Rectangle 30"/>
            <p:cNvSpPr/>
            <p:nvPr/>
          </p:nvSpPr>
          <p:spPr>
            <a:xfrm rot="16200000">
              <a:off x="3988080" y="1942560"/>
              <a:ext cx="236160" cy="6879960"/>
            </a:xfrm>
            <a:prstGeom prst="round2SameRect">
              <a:avLst>
                <a:gd name="adj1" fmla="val 26772"/>
                <a:gd name="adj2" fmla="val 0"/>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145c30"/>
                  </a:solidFill>
                  <a:latin typeface="Marianne"/>
                </a:rPr>
                <a:t>B7</a:t>
              </a:r>
              <a:r>
                <a:rPr b="0" lang="fr-FR" sz="850" spc="-1" strike="noStrike">
                  <a:solidFill>
                    <a:srgbClr val="145c30"/>
                  </a:solidFill>
                  <a:latin typeface="Marianne Medium"/>
                </a:rPr>
                <a:t> </a:t>
              </a:r>
              <a:r>
                <a:rPr b="0" lang="fr-FR" sz="850" spc="-1" strike="noStrike">
                  <a:solidFill>
                    <a:srgbClr val="145c30"/>
                  </a:solidFill>
                  <a:latin typeface="Marianne"/>
                </a:rPr>
                <a:t>Utilisation des ressources, économie circulaire et gestion des déchets</a:t>
              </a:r>
              <a:endParaRPr b="0" lang="fr-FR" sz="850" spc="-1" strike="noStrike">
                <a:solidFill>
                  <a:srgbClr val="000000"/>
                </a:solidFill>
                <a:latin typeface="Arial"/>
              </a:endParaRPr>
            </a:p>
          </p:txBody>
        </p:sp>
        <p:sp>
          <p:nvSpPr>
            <p:cNvPr id="295" name="Round Same-side Corner of Rectangle 31"/>
            <p:cNvSpPr/>
            <p:nvPr/>
          </p:nvSpPr>
          <p:spPr>
            <a:xfrm rot="16200000">
              <a:off x="3988080" y="2234880"/>
              <a:ext cx="236160" cy="6879960"/>
            </a:xfrm>
            <a:prstGeom prst="round2SameRect">
              <a:avLst>
                <a:gd name="adj1" fmla="val 26772"/>
                <a:gd name="adj2" fmla="val 0"/>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145c30"/>
                  </a:solidFill>
                  <a:latin typeface="Marianne"/>
                </a:rPr>
                <a:t>C3</a:t>
              </a:r>
              <a:r>
                <a:rPr b="0" lang="fr-FR" sz="850" spc="-1" strike="noStrike">
                  <a:solidFill>
                    <a:srgbClr val="145c30"/>
                  </a:solidFill>
                  <a:latin typeface="Marianne"/>
                </a:rPr>
                <a:t> Cibles de réduction des émissions de GES et transition climatique</a:t>
              </a:r>
              <a:endParaRPr b="0" lang="fr-FR" sz="850" spc="-1" strike="noStrike">
                <a:solidFill>
                  <a:srgbClr val="000000"/>
                </a:solidFill>
                <a:latin typeface="Arial"/>
              </a:endParaRPr>
            </a:p>
          </p:txBody>
        </p:sp>
        <p:sp>
          <p:nvSpPr>
            <p:cNvPr id="296" name="Round Same-side Corner of Rectangle 32"/>
            <p:cNvSpPr/>
            <p:nvPr/>
          </p:nvSpPr>
          <p:spPr>
            <a:xfrm rot="16200000">
              <a:off x="3988080" y="2527200"/>
              <a:ext cx="236160" cy="6879960"/>
            </a:xfrm>
            <a:prstGeom prst="round2SameRect">
              <a:avLst>
                <a:gd name="adj1" fmla="val 26772"/>
                <a:gd name="adj2" fmla="val 0"/>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145c30"/>
                  </a:solidFill>
                  <a:latin typeface="Marianne"/>
                </a:rPr>
                <a:t>C4</a:t>
              </a:r>
              <a:r>
                <a:rPr b="0" lang="fr-FR" sz="850" spc="-1" strike="noStrike">
                  <a:solidFill>
                    <a:srgbClr val="145c30"/>
                  </a:solidFill>
                  <a:latin typeface="Marianne Medium"/>
                </a:rPr>
                <a:t> </a:t>
              </a:r>
              <a:r>
                <a:rPr b="0" lang="fr-FR" sz="850" spc="-1" strike="noStrike">
                  <a:solidFill>
                    <a:srgbClr val="145c30"/>
                  </a:solidFill>
                  <a:latin typeface="Marianne"/>
                </a:rPr>
                <a:t>Risques climatiques</a:t>
              </a:r>
              <a:endParaRPr b="0" lang="fr-FR" sz="850" spc="-1" strike="noStrike">
                <a:solidFill>
                  <a:srgbClr val="000000"/>
                </a:solidFill>
                <a:latin typeface="Arial"/>
              </a:endParaRPr>
            </a:p>
          </p:txBody>
        </p:sp>
        <p:pic>
          <p:nvPicPr>
            <p:cNvPr id="297" name="Graphic 33" descr=""/>
            <p:cNvPicPr/>
            <p:nvPr/>
          </p:nvPicPr>
          <p:blipFill>
            <a:blip r:embed="rId2">
              <a:extLst>
                <a:ext uri="{96DAC541-7B7A-43D3-8B79-37D633B846F1}">
                  <asvg:svgBlip xmlns:asvg="http://schemas.microsoft.com/office/drawing/2016/SVG/main" r:embed="rId3"/>
                </a:ext>
              </a:extLst>
            </a:blip>
            <a:stretch/>
          </p:blipFill>
          <p:spPr>
            <a:xfrm>
              <a:off x="735120" y="3381120"/>
              <a:ext cx="391320" cy="391320"/>
            </a:xfrm>
            <a:prstGeom prst="rect">
              <a:avLst/>
            </a:prstGeom>
            <a:ln w="0">
              <a:noFill/>
            </a:ln>
          </p:spPr>
        </p:pic>
      </p:gr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8"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299"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300" name="Rounded Rectangle 3"/>
          <p:cNvSpPr/>
          <p:nvPr/>
        </p:nvSpPr>
        <p:spPr>
          <a:xfrm rot="16200000">
            <a:off x="3985560" y="-322560"/>
            <a:ext cx="39456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145c30"/>
                </a:solidFill>
                <a:latin typeface="Marianne"/>
              </a:rPr>
              <a:t>B3</a:t>
            </a:r>
            <a:r>
              <a:rPr b="0" lang="fr-FR" sz="1400" spc="-1" strike="noStrike">
                <a:solidFill>
                  <a:srgbClr val="145c30"/>
                </a:solidFill>
                <a:latin typeface="Marianne Medium"/>
              </a:rPr>
              <a:t> </a:t>
            </a:r>
            <a:r>
              <a:rPr b="0" lang="fr-FR" sz="1400" spc="-1" strike="noStrike">
                <a:solidFill>
                  <a:srgbClr val="145c30"/>
                </a:solidFill>
                <a:latin typeface="Marianne"/>
              </a:rPr>
              <a:t>Énergie et émissions de gaz à effet de serre</a:t>
            </a:r>
            <a:endParaRPr b="0" lang="fr-FR" sz="1400" spc="-1" strike="noStrike">
              <a:solidFill>
                <a:srgbClr val="000000"/>
              </a:solidFill>
              <a:latin typeface="Arial"/>
            </a:endParaRPr>
          </a:p>
        </p:txBody>
      </p:sp>
      <p:cxnSp>
        <p:nvCxnSpPr>
          <p:cNvPr id="301" name="Straight Connector 17"/>
          <p:cNvCxnSpPr/>
          <p:nvPr/>
        </p:nvCxnSpPr>
        <p:spPr>
          <a:xfrm>
            <a:off x="893160" y="2525400"/>
            <a:ext cx="4680" cy="426240"/>
          </a:xfrm>
          <a:prstGeom prst="straightConnector1">
            <a:avLst/>
          </a:prstGeom>
          <a:ln w="3175">
            <a:solidFill>
              <a:srgbClr val="a6a6a6"/>
            </a:solidFill>
            <a:round/>
          </a:ln>
        </p:spPr>
      </p:cxnSp>
      <p:pic>
        <p:nvPicPr>
          <p:cNvPr id="302"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303" name="Rounded Rectangle 4"/>
          <p:cNvSpPr/>
          <p:nvPr/>
        </p:nvSpPr>
        <p:spPr>
          <a:xfrm>
            <a:off x="410400" y="3190320"/>
            <a:ext cx="6734160" cy="1939320"/>
          </a:xfrm>
          <a:prstGeom prst="roundRect">
            <a:avLst>
              <a:gd name="adj" fmla="val 5526"/>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Consommation d’électricité</a:t>
            </a:r>
            <a:endParaRPr b="0" lang="fr-FR" sz="1200" spc="-1" strike="noStrike">
              <a:solidFill>
                <a:srgbClr val="000000"/>
              </a:solidFill>
              <a:latin typeface="Arial"/>
            </a:endParaRPr>
          </a:p>
        </p:txBody>
      </p:sp>
      <p:sp>
        <p:nvSpPr>
          <p:cNvPr id="304" name="Rounded Rectangle 6"/>
          <p:cNvSpPr/>
          <p:nvPr/>
        </p:nvSpPr>
        <p:spPr>
          <a:xfrm>
            <a:off x="410400" y="5269680"/>
            <a:ext cx="6734160" cy="1939320"/>
          </a:xfrm>
          <a:prstGeom prst="roundRect">
            <a:avLst>
              <a:gd name="adj" fmla="val 567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Consommation de combustibles</a:t>
            </a:r>
            <a:endParaRPr b="0" lang="fr-FR" sz="1200" spc="-1" strike="noStrike">
              <a:solidFill>
                <a:srgbClr val="000000"/>
              </a:solidFill>
              <a:latin typeface="Arial"/>
            </a:endParaRPr>
          </a:p>
        </p:txBody>
      </p:sp>
      <p:sp>
        <p:nvSpPr>
          <p:cNvPr id="305"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306" name="TextBox 9"/>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307" name="TextBox 11"/>
          <p:cNvSpPr/>
          <p:nvPr/>
        </p:nvSpPr>
        <p:spPr>
          <a:xfrm>
            <a:off x="225828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308" name="TextBox 12"/>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graphicFrame>
        <p:nvGraphicFramePr>
          <p:cNvPr id="309" name="Table 13"/>
          <p:cNvGraphicFramePr/>
          <p:nvPr/>
        </p:nvGraphicFramePr>
        <p:xfrm>
          <a:off x="605520" y="3727080"/>
          <a:ext cx="6381720" cy="1229400"/>
        </p:xfrm>
        <a:graphic>
          <a:graphicData uri="http://schemas.openxmlformats.org/drawingml/2006/table">
            <a:tbl>
              <a:tblPr/>
              <a:tblGrid>
                <a:gridCol w="1595520"/>
                <a:gridCol w="1595520"/>
                <a:gridCol w="1595520"/>
                <a:gridCol w="1595520"/>
              </a:tblGrid>
              <a:tr h="585720">
                <a:tc>
                  <a:txBody>
                    <a:bodyPr lIns="108000" rIns="108000" anchor="ctr">
                      <a:noAutofit/>
                    </a:bodyPr>
                    <a:p>
                      <a:endParaRPr b="0" lang="fr-FR" sz="1100" spc="-1" strike="noStrike">
                        <a:solidFill>
                          <a:srgbClr val="145c30"/>
                        </a:solidFill>
                        <a:latin typeface="Marianne Light"/>
                      </a:endParaRPr>
                    </a:p>
                  </a:txBody>
                  <a:tcPr anchor="ctr" marL="108000" marR="108000">
                    <a:lnL w="12240">
                      <a:solidFill>
                        <a:srgbClr val="fffff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Renouvelable </a:t>
                      </a:r>
                      <a:br>
                        <a:rPr sz="1100"/>
                      </a:br>
                      <a:r>
                        <a:rPr b="0" lang="fr-FR" sz="1100" spc="-1" strike="noStrike">
                          <a:solidFill>
                            <a:srgbClr val="145c30"/>
                          </a:solidFill>
                          <a:latin typeface="Marianne Light"/>
                        </a:rPr>
                        <a:t>(en MWh)</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Non renouvelable (en MWh)</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1" lang="fr-FR" sz="1100" spc="-1" strike="noStrike">
                          <a:solidFill>
                            <a:srgbClr val="145c30"/>
                          </a:solidFill>
                          <a:latin typeface="Marianne Light"/>
                        </a:rPr>
                        <a:t>Total (en MWh)</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r>
              <a:tr h="643680">
                <a:tc>
                  <a:txBody>
                    <a:bodyPr lIns="72000" rIns="72000" anchor="ctr">
                      <a:noAutofit/>
                    </a:bodyPr>
                    <a:p>
                      <a:pPr defTabSz="756000">
                        <a:lnSpc>
                          <a:spcPct val="100000"/>
                        </a:lnSpc>
                      </a:pPr>
                      <a:r>
                        <a:rPr b="0" lang="fr-FR" sz="1100" spc="-1" strike="noStrike">
                          <a:solidFill>
                            <a:schemeClr val="dk1"/>
                          </a:solidFill>
                          <a:latin typeface="Marianne Medium"/>
                        </a:rPr>
                        <a:t>Consommation d’énergie</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2880">
                      <a:solidFill>
                        <a:srgbClr val="d9d9d9"/>
                      </a:solidFill>
                      <a:prstDash val="solid"/>
                    </a:lnR>
                    <a:lnT w="28080">
                      <a:solidFill>
                        <a:srgbClr val="ffffff"/>
                      </a:solidFill>
                      <a:prstDash val="solid"/>
                    </a:lnT>
                    <a:lnB w="12240">
                      <a:solidFill>
                        <a:srgbClr val="ffffff"/>
                      </a:solidFill>
                      <a:prstDash val="solid"/>
                    </a:lnB>
                    <a:solidFill>
                      <a:schemeClr val="lt1">
                        <a:lumMod val="95000"/>
                      </a:schemeClr>
                    </a:solidFill>
                  </a:tcPr>
                </a:tc>
              </a:tr>
            </a:tbl>
          </a:graphicData>
        </a:graphic>
      </p:graphicFrame>
      <p:graphicFrame>
        <p:nvGraphicFramePr>
          <p:cNvPr id="310" name="Table 14"/>
          <p:cNvGraphicFramePr/>
          <p:nvPr/>
        </p:nvGraphicFramePr>
        <p:xfrm>
          <a:off x="605520" y="5844240"/>
          <a:ext cx="6381720" cy="1184760"/>
        </p:xfrm>
        <a:graphic>
          <a:graphicData uri="http://schemas.openxmlformats.org/drawingml/2006/table">
            <a:tbl>
              <a:tblPr/>
              <a:tblGrid>
                <a:gridCol w="1595520"/>
                <a:gridCol w="1595520"/>
                <a:gridCol w="1595520"/>
                <a:gridCol w="1595520"/>
              </a:tblGrid>
              <a:tr h="541080">
                <a:tc>
                  <a:txBody>
                    <a:bodyPr lIns="108000" rIns="108000" anchor="ctr">
                      <a:noAutofit/>
                    </a:bodyPr>
                    <a:p>
                      <a:endParaRPr b="0" lang="fr-FR" sz="1100" spc="-1" strike="noStrike">
                        <a:solidFill>
                          <a:srgbClr val="145c30"/>
                        </a:solidFill>
                        <a:latin typeface="Marianne Light"/>
                      </a:endParaRPr>
                    </a:p>
                  </a:txBody>
                  <a:tcPr anchor="ctr" marL="108000" marR="108000">
                    <a:lnL w="12240">
                      <a:solidFill>
                        <a:srgbClr val="fffff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Renouvelable </a:t>
                      </a:r>
                      <a:br>
                        <a:rPr sz="1100"/>
                      </a:br>
                      <a:r>
                        <a:rPr b="0" lang="fr-FR" sz="1100" spc="-1" strike="noStrike">
                          <a:solidFill>
                            <a:srgbClr val="145c30"/>
                          </a:solidFill>
                          <a:latin typeface="Marianne Light"/>
                        </a:rPr>
                        <a:t>(en MWh)</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Non renouvelable (en MWh)</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1" lang="fr-FR" sz="1100" spc="-1" strike="noStrike">
                          <a:solidFill>
                            <a:srgbClr val="145c30"/>
                          </a:solidFill>
                          <a:latin typeface="Marianne Light"/>
                        </a:rPr>
                        <a:t>Total (en MWh)</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r>
              <a:tr h="643680">
                <a:tc>
                  <a:txBody>
                    <a:bodyPr lIns="72000" rIns="72000" anchor="ctr">
                      <a:noAutofit/>
                    </a:bodyPr>
                    <a:p>
                      <a:pPr defTabSz="756000">
                        <a:lnSpc>
                          <a:spcPct val="100000"/>
                        </a:lnSpc>
                      </a:pPr>
                      <a:r>
                        <a:rPr b="0" lang="fr-FR" sz="1100" spc="-1" strike="noStrike">
                          <a:solidFill>
                            <a:schemeClr val="dk1"/>
                          </a:solidFill>
                          <a:latin typeface="Marianne Medium"/>
                        </a:rPr>
                        <a:t>Consommation d’énergie</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2880">
                      <a:solidFill>
                        <a:srgbClr val="d9d9d9"/>
                      </a:solidFill>
                      <a:prstDash val="solid"/>
                    </a:lnR>
                    <a:lnT w="28080">
                      <a:solidFill>
                        <a:srgbClr val="ffffff"/>
                      </a:solidFill>
                      <a:prstDash val="solid"/>
                    </a:lnT>
                    <a:lnB w="12240">
                      <a:solidFill>
                        <a:srgbClr val="ffffff"/>
                      </a:solidFill>
                      <a:prstDash val="solid"/>
                    </a:lnB>
                    <a:solidFill>
                      <a:schemeClr val="lt1">
                        <a:lumMod val="95000"/>
                      </a:schemeClr>
                    </a:solidFill>
                  </a:tcPr>
                </a:tc>
              </a:tr>
            </a:tbl>
          </a:graphicData>
        </a:graphic>
      </p:graphicFrame>
      <p:sp>
        <p:nvSpPr>
          <p:cNvPr id="311" name="Rounded Rectangle 15"/>
          <p:cNvSpPr/>
          <p:nvPr/>
        </p:nvSpPr>
        <p:spPr>
          <a:xfrm>
            <a:off x="410400" y="7355520"/>
            <a:ext cx="6734160" cy="1831320"/>
          </a:xfrm>
          <a:prstGeom prst="roundRect">
            <a:avLst>
              <a:gd name="adj" fmla="val 567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Estimation des émissions brutes de GES des scopes 1 et 2</a:t>
            </a:r>
            <a:endParaRPr b="0" lang="fr-FR" sz="1200" spc="-1" strike="noStrike">
              <a:solidFill>
                <a:srgbClr val="000000"/>
              </a:solidFill>
              <a:latin typeface="Arial"/>
            </a:endParaRPr>
          </a:p>
        </p:txBody>
      </p:sp>
      <p:graphicFrame>
        <p:nvGraphicFramePr>
          <p:cNvPr id="312" name="Table 18"/>
          <p:cNvGraphicFramePr/>
          <p:nvPr/>
        </p:nvGraphicFramePr>
        <p:xfrm>
          <a:off x="605520" y="7917840"/>
          <a:ext cx="6381720" cy="1170720"/>
        </p:xfrm>
        <a:graphic>
          <a:graphicData uri="http://schemas.openxmlformats.org/drawingml/2006/table">
            <a:tbl>
              <a:tblPr/>
              <a:tblGrid>
                <a:gridCol w="1595520"/>
                <a:gridCol w="1595520"/>
                <a:gridCol w="1595520"/>
                <a:gridCol w="1595520"/>
              </a:tblGrid>
              <a:tr h="524880">
                <a:tc>
                  <a:txBody>
                    <a:bodyPr lIns="108000" rIns="108000" anchor="ctr">
                      <a:noAutofit/>
                    </a:bodyPr>
                    <a:p>
                      <a:endParaRPr b="0" lang="fr-FR" sz="1100" spc="-1" strike="noStrike">
                        <a:solidFill>
                          <a:srgbClr val="145c30"/>
                        </a:solidFill>
                        <a:latin typeface="Marianne Light"/>
                      </a:endParaRPr>
                    </a:p>
                  </a:txBody>
                  <a:tcPr anchor="ctr" marL="108000" marR="108000">
                    <a:lnL w="12240">
                      <a:solidFill>
                        <a:srgbClr val="fffff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Scope 1 </a:t>
                      </a:r>
                      <a:br>
                        <a:rPr sz="1100"/>
                      </a:br>
                      <a:r>
                        <a:rPr b="0" lang="fr-FR" sz="1100" spc="-1" strike="noStrike">
                          <a:solidFill>
                            <a:srgbClr val="145c30"/>
                          </a:solidFill>
                          <a:latin typeface="Marianne Light"/>
                        </a:rPr>
                        <a:t>(en teqCO₂)</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Scope 2 basé sur la locatlisation (en teqCO₂)</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1" lang="fr-FR" sz="1100" spc="-1" strike="noStrike">
                          <a:solidFill>
                            <a:srgbClr val="145c30"/>
                          </a:solidFill>
                          <a:latin typeface="Marianne Light"/>
                        </a:rPr>
                        <a:t>Total (en teqCO₂)</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r>
              <a:tr h="575640">
                <a:tc>
                  <a:txBody>
                    <a:bodyPr lIns="72000" rIns="72000" anchor="ctr">
                      <a:noAutofit/>
                    </a:bodyPr>
                    <a:p>
                      <a:pPr defTabSz="756000">
                        <a:lnSpc>
                          <a:spcPct val="100000"/>
                        </a:lnSpc>
                        <a:tabLst>
                          <a:tab algn="l" pos="0"/>
                        </a:tabLst>
                      </a:pPr>
                      <a:r>
                        <a:rPr b="0" lang="fr-FR" sz="1100" spc="-1" strike="noStrike">
                          <a:solidFill>
                            <a:schemeClr val="dk1"/>
                          </a:solidFill>
                          <a:latin typeface="Marianne Medium"/>
                        </a:rPr>
                        <a:t>Émissions brutes</a:t>
                      </a:r>
                      <a:endParaRPr b="0" lang="fr-FR" sz="1100" spc="-1" strike="noStrike">
                        <a:solidFill>
                          <a:srgbClr val="000000"/>
                        </a:solidFill>
                        <a:latin typeface="Arial"/>
                      </a:endParaRPr>
                    </a:p>
                  </a:txBody>
                  <a:tcPr anchor="ctr" marL="72000" marR="7200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72000" rIns="108000" anchor="ctr">
                      <a:noAutofit/>
                    </a:bodyPr>
                    <a:p>
                      <a:pPr defTabSz="756000">
                        <a:lnSpc>
                          <a:spcPct val="100000"/>
                        </a:lnSpc>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72000" rIns="108000" anchor="ctr">
                      <a:noAutofit/>
                    </a:bodyPr>
                    <a:p>
                      <a:pPr defTabSz="756000">
                        <a:lnSpc>
                          <a:spcPct val="100000"/>
                        </a:lnSpc>
                        <a:tabLst>
                          <a:tab algn="l" pos="0"/>
                        </a:tabLst>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72000" marR="108000">
                    <a:lnL w="12240">
                      <a:solidFill>
                        <a:srgbClr val="ffffff"/>
                      </a:solidFill>
                      <a:prstDash val="solid"/>
                    </a:lnL>
                    <a:lnR w="2880">
                      <a:solidFill>
                        <a:srgbClr val="d9d9d9"/>
                      </a:solidFill>
                      <a:prstDash val="solid"/>
                    </a:lnR>
                    <a:lnT w="28080">
                      <a:solidFill>
                        <a:srgbClr val="ffffff"/>
                      </a:solidFill>
                      <a:prstDash val="solid"/>
                    </a:lnT>
                    <a:lnB w="28080">
                      <a:solidFill>
                        <a:srgbClr val="ffffff"/>
                      </a:solidFill>
                      <a:prstDash val="solid"/>
                    </a:lnB>
                    <a:solidFill>
                      <a:schemeClr val="lt1">
                        <a:lumMod val="95000"/>
                      </a:schemeClr>
                    </a:solidFill>
                  </a:tcPr>
                </a:tc>
              </a:tr>
            </a:tbl>
          </a:graphicData>
        </a:graphic>
      </p:graphicFrame>
      <p:sp>
        <p:nvSpPr>
          <p:cNvPr id="313" name="Rounded Rectangle 5"/>
          <p:cNvSpPr/>
          <p:nvPr/>
        </p:nvSpPr>
        <p:spPr>
          <a:xfrm>
            <a:off x="410400" y="9334440"/>
            <a:ext cx="6734160" cy="793800"/>
          </a:xfrm>
          <a:prstGeom prst="roundRect">
            <a:avLst>
              <a:gd name="adj" fmla="val 15385"/>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Intensité des GES</a:t>
            </a:r>
            <a:endParaRPr b="0" lang="fr-FR" sz="1200" spc="-1" strike="noStrike">
              <a:solidFill>
                <a:srgbClr val="000000"/>
              </a:solidFill>
              <a:latin typeface="Arial"/>
            </a:endParaRPr>
          </a:p>
          <a:p>
            <a:pPr defTabSz="457200">
              <a:lnSpc>
                <a:spcPct val="100000"/>
              </a:lnSpc>
            </a:pPr>
            <a:r>
              <a:rPr b="0" lang="en-GB" sz="1200" spc="-1" strike="noStrike">
                <a:solidFill>
                  <a:srgbClr val="000000"/>
                </a:solidFill>
                <a:latin typeface="Marianne Medium"/>
              </a:rPr>
              <a:t>-</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4"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315"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316" name="Rounded Rectangle 3"/>
          <p:cNvSpPr/>
          <p:nvPr/>
        </p:nvSpPr>
        <p:spPr>
          <a:xfrm rot="16200000">
            <a:off x="3985560" y="-322560"/>
            <a:ext cx="39456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145c30"/>
                </a:solidFill>
                <a:latin typeface="Marianne"/>
              </a:rPr>
              <a:t>B3</a:t>
            </a:r>
            <a:r>
              <a:rPr b="0" lang="fr-FR" sz="1400" spc="-1" strike="noStrike">
                <a:solidFill>
                  <a:srgbClr val="145c30"/>
                </a:solidFill>
                <a:latin typeface="Marianne Medium"/>
              </a:rPr>
              <a:t> </a:t>
            </a:r>
            <a:r>
              <a:rPr b="0" lang="fr-FR" sz="1400" spc="-1" strike="noStrike">
                <a:solidFill>
                  <a:srgbClr val="145c30"/>
                </a:solidFill>
                <a:latin typeface="Marianne"/>
              </a:rPr>
              <a:t>Énergie et émissions de gaz à effet de serre</a:t>
            </a:r>
            <a:endParaRPr b="0" lang="fr-FR" sz="1400" spc="-1" strike="noStrike">
              <a:solidFill>
                <a:srgbClr val="000000"/>
              </a:solidFill>
              <a:latin typeface="Arial"/>
            </a:endParaRPr>
          </a:p>
        </p:txBody>
      </p:sp>
      <p:cxnSp>
        <p:nvCxnSpPr>
          <p:cNvPr id="317" name="Straight Connector 17"/>
          <p:cNvCxnSpPr/>
          <p:nvPr/>
        </p:nvCxnSpPr>
        <p:spPr>
          <a:xfrm>
            <a:off x="893160" y="2525400"/>
            <a:ext cx="4680" cy="426240"/>
          </a:xfrm>
          <a:prstGeom prst="straightConnector1">
            <a:avLst/>
          </a:prstGeom>
          <a:ln w="3175">
            <a:solidFill>
              <a:srgbClr val="a6a6a6"/>
            </a:solidFill>
            <a:round/>
          </a:ln>
        </p:spPr>
      </p:cxnSp>
      <p:pic>
        <p:nvPicPr>
          <p:cNvPr id="318"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319"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320" name="TextBox 9"/>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321" name="TextBox 11"/>
          <p:cNvSpPr/>
          <p:nvPr/>
        </p:nvSpPr>
        <p:spPr>
          <a:xfrm>
            <a:off x="225828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322" name="TextBox 12"/>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323" name="Rounded Rectangle 15"/>
          <p:cNvSpPr/>
          <p:nvPr/>
        </p:nvSpPr>
        <p:spPr>
          <a:xfrm>
            <a:off x="360000" y="3060000"/>
            <a:ext cx="6734160" cy="5755680"/>
          </a:xfrm>
          <a:prstGeom prst="roundRect">
            <a:avLst>
              <a:gd name="adj" fmla="val 2340"/>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Estimation des émissions brutes de GES de scope 3</a:t>
            </a:r>
            <a:endParaRPr b="0" lang="fr-FR" sz="1200" spc="-1" strike="noStrike">
              <a:solidFill>
                <a:srgbClr val="000000"/>
              </a:solidFill>
              <a:latin typeface="Arial"/>
            </a:endParaRPr>
          </a:p>
        </p:txBody>
      </p:sp>
      <p:graphicFrame>
        <p:nvGraphicFramePr>
          <p:cNvPr id="324" name="Table 18"/>
          <p:cNvGraphicFramePr/>
          <p:nvPr/>
        </p:nvGraphicFramePr>
        <p:xfrm>
          <a:off x="649080" y="3600000"/>
          <a:ext cx="6260760" cy="5152320"/>
        </p:xfrm>
        <a:graphic>
          <a:graphicData uri="http://schemas.openxmlformats.org/drawingml/2006/table">
            <a:tbl>
              <a:tblPr/>
              <a:tblGrid>
                <a:gridCol w="4773600"/>
                <a:gridCol w="1487520"/>
              </a:tblGrid>
              <a:tr h="342000">
                <a:tc>
                  <a:txBody>
                    <a:bodyPr lIns="108000" rIns="108000" anchor="ctr">
                      <a:noAutofit/>
                    </a:bodyPr>
                    <a:p>
                      <a:endParaRPr b="0" lang="fr-FR" sz="1100" spc="-1" strike="noStrike">
                        <a:solidFill>
                          <a:srgbClr val="145c30"/>
                        </a:solidFill>
                        <a:latin typeface="Marianne Light"/>
                      </a:endParaRPr>
                    </a:p>
                  </a:txBody>
                  <a:tcPr anchor="ctr" marL="108000" marR="108000">
                    <a:lnL w="12240">
                      <a:solidFill>
                        <a:srgbClr val="fffff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Émissions brutes de GES (en teqCO₂)</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r>
              <a:tr h="318960">
                <a:tc>
                  <a:txBody>
                    <a:bodyPr anchor="ctr">
                      <a:noAutofit/>
                    </a:bodyPr>
                    <a:p>
                      <a:pPr defTabSz="756000">
                        <a:lnSpc>
                          <a:spcPct val="100000"/>
                        </a:lnSpc>
                      </a:pPr>
                      <a:r>
                        <a:rPr b="0" lang="en-FR" sz="1100" spc="-1" strike="noStrike">
                          <a:solidFill>
                            <a:schemeClr val="dk1"/>
                          </a:solidFill>
                          <a:latin typeface="Marianne Medium"/>
                        </a:rPr>
                        <a:t>1. Biens et services achetés</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endParaRPr b="0" lang="en-FR" sz="1490" spc="-1" strike="noStrike">
                        <a:solidFill>
                          <a:schemeClr val="dk1"/>
                        </a:solidFill>
                        <a:latin typeface="Aptos"/>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18960">
                <a:tc>
                  <a:txBody>
                    <a:bodyPr anchor="ctr">
                      <a:noAutofit/>
                    </a:bodyPr>
                    <a:p>
                      <a:pPr defTabSz="756000">
                        <a:lnSpc>
                          <a:spcPct val="100000"/>
                        </a:lnSpc>
                      </a:pPr>
                      <a:r>
                        <a:rPr b="0" lang="en-FR" sz="1100" spc="-1" strike="noStrike">
                          <a:solidFill>
                            <a:schemeClr val="dk1"/>
                          </a:solidFill>
                          <a:latin typeface="Marianne Medium"/>
                        </a:rPr>
                        <a:t>2. Biens d'investissement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endParaRPr b="0" lang="en-FR" sz="1490" spc="-1" strike="noStrike">
                        <a:solidFill>
                          <a:schemeClr val="dk1"/>
                        </a:solidFill>
                        <a:latin typeface="Aptos"/>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18960">
                <a:tc>
                  <a:txBody>
                    <a:bodyPr anchor="ctr">
                      <a:noAutofit/>
                    </a:bodyPr>
                    <a:p>
                      <a:pPr defTabSz="756000">
                        <a:lnSpc>
                          <a:spcPct val="100000"/>
                        </a:lnSpc>
                      </a:pPr>
                      <a:r>
                        <a:rPr b="0" lang="en-FR" sz="1100" spc="-1" strike="noStrike">
                          <a:solidFill>
                            <a:schemeClr val="dk1"/>
                          </a:solidFill>
                          <a:latin typeface="Marianne Medium"/>
                        </a:rPr>
                        <a:t>3. Activités relevant des secteurs des combustibles et de l'énergie</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endParaRPr b="0" lang="en-FR" sz="1490" spc="-1" strike="noStrike">
                        <a:solidFill>
                          <a:schemeClr val="dk1"/>
                        </a:solidFill>
                        <a:latin typeface="Aptos"/>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18960">
                <a:tc>
                  <a:txBody>
                    <a:bodyPr anchor="ctr">
                      <a:noAutofit/>
                    </a:bodyPr>
                    <a:p>
                      <a:pPr defTabSz="756000">
                        <a:lnSpc>
                          <a:spcPct val="100000"/>
                        </a:lnSpc>
                      </a:pPr>
                      <a:r>
                        <a:rPr b="0" lang="en-FR" sz="1100" spc="-1" strike="noStrike">
                          <a:solidFill>
                            <a:schemeClr val="dk1"/>
                          </a:solidFill>
                          <a:latin typeface="Marianne Medium"/>
                        </a:rPr>
                        <a:t>4. Transport et distribution en amont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endParaRPr b="0" lang="en-FR" sz="1490" spc="-1" strike="noStrike">
                        <a:solidFill>
                          <a:schemeClr val="dk1"/>
                        </a:solidFill>
                        <a:latin typeface="Aptos"/>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18960">
                <a:tc>
                  <a:txBody>
                    <a:bodyPr anchor="ctr">
                      <a:noAutofit/>
                    </a:bodyPr>
                    <a:p>
                      <a:pPr defTabSz="756000">
                        <a:lnSpc>
                          <a:spcPct val="100000"/>
                        </a:lnSpc>
                      </a:pPr>
                      <a:r>
                        <a:rPr b="0" lang="en-FR" sz="1100" spc="-1" strike="noStrike">
                          <a:solidFill>
                            <a:schemeClr val="dk1"/>
                          </a:solidFill>
                          <a:latin typeface="Marianne Medium"/>
                        </a:rPr>
                        <a:t>5. Déchets produits lors de l'exploitation</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endParaRPr b="0" lang="en-FR" sz="1490" spc="-1" strike="noStrike">
                        <a:solidFill>
                          <a:schemeClr val="dk1"/>
                        </a:solidFill>
                        <a:latin typeface="Aptos"/>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18960">
                <a:tc>
                  <a:txBody>
                    <a:bodyPr anchor="ctr">
                      <a:noAutofit/>
                    </a:bodyPr>
                    <a:p>
                      <a:pPr defTabSz="756000">
                        <a:lnSpc>
                          <a:spcPct val="100000"/>
                        </a:lnSpc>
                      </a:pPr>
                      <a:r>
                        <a:rPr b="0" lang="en-FR" sz="1100" spc="-1" strike="noStrike">
                          <a:solidFill>
                            <a:schemeClr val="dk1"/>
                          </a:solidFill>
                          <a:latin typeface="Marianne Medium"/>
                        </a:rPr>
                        <a:t>6. Voyages d'affaires</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endParaRPr b="0" lang="en-FR" sz="1490" spc="-1" strike="noStrike">
                        <a:solidFill>
                          <a:schemeClr val="dk1"/>
                        </a:solidFill>
                        <a:latin typeface="Aptos"/>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18960">
                <a:tc>
                  <a:txBody>
                    <a:bodyPr anchor="ctr">
                      <a:noAutofit/>
                    </a:bodyPr>
                    <a:p>
                      <a:pPr defTabSz="756000">
                        <a:lnSpc>
                          <a:spcPct val="100000"/>
                        </a:lnSpc>
                      </a:pPr>
                      <a:r>
                        <a:rPr b="0" lang="en-FR" sz="1100" spc="-1" strike="noStrike">
                          <a:solidFill>
                            <a:schemeClr val="dk1"/>
                          </a:solidFill>
                          <a:latin typeface="Marianne Medium"/>
                        </a:rPr>
                        <a:t>7. Déplacements domicile-travail des salariés</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endParaRPr b="0" lang="en-FR" sz="1490" spc="-1" strike="noStrike">
                        <a:solidFill>
                          <a:schemeClr val="dk1"/>
                        </a:solidFill>
                        <a:latin typeface="Aptos"/>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18960">
                <a:tc>
                  <a:txBody>
                    <a:bodyPr anchor="ctr">
                      <a:noAutofit/>
                    </a:bodyPr>
                    <a:p>
                      <a:pPr defTabSz="756000">
                        <a:lnSpc>
                          <a:spcPct val="100000"/>
                        </a:lnSpc>
                      </a:pPr>
                      <a:r>
                        <a:rPr b="0" lang="en-FR" sz="1100" spc="-1" strike="noStrike">
                          <a:solidFill>
                            <a:schemeClr val="dk1"/>
                          </a:solidFill>
                          <a:latin typeface="Marianne Medium"/>
                        </a:rPr>
                        <a:t>8. Actifs loués en amont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endParaRPr b="0" lang="en-FR" sz="1490" spc="-1" strike="noStrike">
                        <a:solidFill>
                          <a:schemeClr val="dk1"/>
                        </a:solidFill>
                        <a:latin typeface="Aptos"/>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18960">
                <a:tc>
                  <a:txBody>
                    <a:bodyPr anchor="ctr">
                      <a:noAutofit/>
                    </a:bodyPr>
                    <a:p>
                      <a:pPr defTabSz="756000">
                        <a:lnSpc>
                          <a:spcPct val="100000"/>
                        </a:lnSpc>
                      </a:pPr>
                      <a:r>
                        <a:rPr b="0" lang="en-FR" sz="1100" spc="-1" strike="noStrike">
                          <a:solidFill>
                            <a:schemeClr val="dk1"/>
                          </a:solidFill>
                          <a:latin typeface="Marianne Medium"/>
                        </a:rPr>
                        <a:t>9. Acheminement en aval</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endParaRPr b="0" lang="en-FR" sz="1490" spc="-1" strike="noStrike">
                        <a:solidFill>
                          <a:schemeClr val="dk1"/>
                        </a:solidFill>
                        <a:latin typeface="Aptos"/>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18960">
                <a:tc>
                  <a:txBody>
                    <a:bodyPr anchor="ctr">
                      <a:noAutofit/>
                    </a:bodyPr>
                    <a:p>
                      <a:pPr defTabSz="756000">
                        <a:lnSpc>
                          <a:spcPct val="100000"/>
                        </a:lnSpc>
                      </a:pPr>
                      <a:r>
                        <a:rPr b="0" lang="en-FR" sz="1100" spc="-1" strike="noStrike">
                          <a:solidFill>
                            <a:schemeClr val="dk1"/>
                          </a:solidFill>
                          <a:latin typeface="Marianne Medium"/>
                        </a:rPr>
                        <a:t>10. Transformation des produits vendus</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endParaRPr b="0" lang="en-FR" sz="1490" spc="-1" strike="noStrike">
                        <a:solidFill>
                          <a:schemeClr val="dk1"/>
                        </a:solidFill>
                        <a:latin typeface="Aptos"/>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18960">
                <a:tc>
                  <a:txBody>
                    <a:bodyPr anchor="ctr">
                      <a:noAutofit/>
                    </a:bodyPr>
                    <a:p>
                      <a:pPr defTabSz="756000">
                        <a:lnSpc>
                          <a:spcPct val="100000"/>
                        </a:lnSpc>
                      </a:pPr>
                      <a:r>
                        <a:rPr b="0" lang="en-FR" sz="1100" spc="-1" strike="noStrike">
                          <a:solidFill>
                            <a:schemeClr val="dk1"/>
                          </a:solidFill>
                          <a:latin typeface="Marianne Medium"/>
                        </a:rPr>
                        <a:t>11. Utilisation des produits vendus</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endParaRPr b="0" lang="en-FR" sz="1490" spc="-1" strike="noStrike">
                        <a:solidFill>
                          <a:schemeClr val="dk1"/>
                        </a:solidFill>
                        <a:latin typeface="Aptos"/>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18960">
                <a:tc>
                  <a:txBody>
                    <a:bodyPr anchor="ctr">
                      <a:noAutofit/>
                    </a:bodyPr>
                    <a:p>
                      <a:pPr defTabSz="756000">
                        <a:lnSpc>
                          <a:spcPct val="100000"/>
                        </a:lnSpc>
                      </a:pPr>
                      <a:r>
                        <a:rPr b="0" lang="en-FR" sz="1100" spc="-1" strike="noStrike">
                          <a:solidFill>
                            <a:schemeClr val="dk1"/>
                          </a:solidFill>
                          <a:latin typeface="Marianne Medium"/>
                        </a:rPr>
                        <a:t>12. Traitement en fin de vie des produits vendus</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endParaRPr b="0" lang="en-FR" sz="1490" spc="-1" strike="noStrike">
                        <a:solidFill>
                          <a:schemeClr val="dk1"/>
                        </a:solidFill>
                        <a:latin typeface="Aptos"/>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18960">
                <a:tc>
                  <a:txBody>
                    <a:bodyPr anchor="ctr">
                      <a:noAutofit/>
                    </a:bodyPr>
                    <a:p>
                      <a:pPr defTabSz="756000">
                        <a:lnSpc>
                          <a:spcPct val="100000"/>
                        </a:lnSpc>
                      </a:pPr>
                      <a:r>
                        <a:rPr b="0" lang="en-FR" sz="1100" spc="-1" strike="noStrike">
                          <a:solidFill>
                            <a:schemeClr val="dk1"/>
                          </a:solidFill>
                          <a:latin typeface="Marianne Medium"/>
                        </a:rPr>
                        <a:t>13. Actifs loués en aval</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endParaRPr b="0" lang="en-FR" sz="1490" spc="-1" strike="noStrike">
                        <a:solidFill>
                          <a:schemeClr val="dk1"/>
                        </a:solidFill>
                        <a:latin typeface="Aptos"/>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18960">
                <a:tc>
                  <a:txBody>
                    <a:bodyPr anchor="ctr">
                      <a:noAutofit/>
                    </a:bodyPr>
                    <a:p>
                      <a:pPr defTabSz="756000">
                        <a:lnSpc>
                          <a:spcPct val="100000"/>
                        </a:lnSpc>
                      </a:pPr>
                      <a:r>
                        <a:rPr b="0" lang="en-FR" sz="1100" spc="-1" strike="noStrike">
                          <a:solidFill>
                            <a:schemeClr val="dk1"/>
                          </a:solidFill>
                          <a:latin typeface="Marianne Medium"/>
                        </a:rPr>
                        <a:t>14. Franchises</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endParaRPr b="0" lang="en-FR" sz="1490" spc="-1" strike="noStrike">
                        <a:solidFill>
                          <a:schemeClr val="dk1"/>
                        </a:solidFill>
                        <a:latin typeface="Aptos"/>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259560">
                <a:tc>
                  <a:txBody>
                    <a:bodyPr anchor="ctr">
                      <a:noAutofit/>
                    </a:bodyPr>
                    <a:p>
                      <a:pPr defTabSz="756000">
                        <a:lnSpc>
                          <a:spcPct val="100000"/>
                        </a:lnSpc>
                      </a:pPr>
                      <a:r>
                        <a:rPr b="0" lang="en-FR" sz="1100" spc="-1" strike="noStrike">
                          <a:solidFill>
                            <a:schemeClr val="dk1"/>
                          </a:solidFill>
                          <a:latin typeface="Marianne Medium"/>
                        </a:rPr>
                        <a:t>15. Investissements</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endParaRPr b="0" lang="fr-FR" sz="1100" spc="-1" strike="noStrike">
                        <a:solidFill>
                          <a:schemeClr val="dk1"/>
                        </a:solidFill>
                        <a:latin typeface="Marianne Medium"/>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bl>
          </a:graphicData>
        </a:graphic>
      </p:graphicFrame>
      <p:sp>
        <p:nvSpPr>
          <p:cNvPr id="325" name="Rounded Rectangle 5"/>
          <p:cNvSpPr/>
          <p:nvPr/>
        </p:nvSpPr>
        <p:spPr>
          <a:xfrm>
            <a:off x="360000" y="9000000"/>
            <a:ext cx="6784560" cy="1435680"/>
          </a:xfrm>
          <a:prstGeom prst="roundRect">
            <a:avLst>
              <a:gd name="adj" fmla="val 13795"/>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Total des émissions brutes de GES de scope 3</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graphicFrame>
        <p:nvGraphicFramePr>
          <p:cNvPr id="326" name="Table 1"/>
          <p:cNvGraphicFramePr/>
          <p:nvPr/>
        </p:nvGraphicFramePr>
        <p:xfrm>
          <a:off x="649440" y="9540000"/>
          <a:ext cx="6260760" cy="897480"/>
        </p:xfrm>
        <a:graphic>
          <a:graphicData uri="http://schemas.openxmlformats.org/drawingml/2006/table">
            <a:tbl>
              <a:tblPr/>
              <a:tblGrid>
                <a:gridCol w="3371040"/>
                <a:gridCol w="2890080"/>
              </a:tblGrid>
              <a:tr h="174240">
                <a:tc>
                  <a:txBody>
                    <a:bodyPr lIns="108000" rIns="108000" anchor="ctr">
                      <a:noAutofit/>
                    </a:bodyPr>
                    <a:p>
                      <a:endParaRPr b="0" lang="fr-FR" sz="1100" spc="-1" strike="noStrike">
                        <a:solidFill>
                          <a:srgbClr val="145c30"/>
                        </a:solidFill>
                        <a:latin typeface="Marianne Light"/>
                      </a:endParaRPr>
                    </a:p>
                  </a:txBody>
                  <a:tcPr anchor="ctr" marL="108000" marR="108000">
                    <a:lnL w="12240">
                      <a:solidFill>
                        <a:srgbClr val="fffff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Émissions brutes de GES (en teqCO₂)</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r>
              <a:tr h="318960">
                <a:tc>
                  <a:txBody>
                    <a:bodyPr anchor="ctr">
                      <a:noAutofit/>
                    </a:bodyPr>
                    <a:p>
                      <a:pPr defTabSz="756000">
                        <a:lnSpc>
                          <a:spcPct val="100000"/>
                        </a:lnSpc>
                      </a:pPr>
                      <a:r>
                        <a:rPr b="0" lang="en-FR" sz="1100" spc="-1" strike="noStrike">
                          <a:solidFill>
                            <a:schemeClr val="dk1"/>
                          </a:solidFill>
                          <a:latin typeface="Marianne Medium"/>
                        </a:rPr>
                        <a:t>Total du scope 3</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endParaRPr b="0" lang="en-FR" sz="1490" spc="-1" strike="noStrike">
                        <a:solidFill>
                          <a:schemeClr val="dk1"/>
                        </a:solidFill>
                        <a:latin typeface="Aptos"/>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18960">
                <a:tc>
                  <a:txBody>
                    <a:bodyPr anchor="ctr">
                      <a:noAutofit/>
                    </a:bodyPr>
                    <a:p>
                      <a:pPr defTabSz="756000">
                        <a:lnSpc>
                          <a:spcPct val="100000"/>
                        </a:lnSpc>
                      </a:pPr>
                      <a:r>
                        <a:rPr b="0" lang="en-FR" sz="1100" spc="-1" strike="noStrike">
                          <a:solidFill>
                            <a:schemeClr val="dk1"/>
                          </a:solidFill>
                          <a:latin typeface="Marianne Medium"/>
                        </a:rPr>
                        <a:t>Total des scopes , 2 (basé sur la localisation) et 3</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endParaRPr b="0" lang="en-FR" sz="1490" spc="-1" strike="noStrike">
                        <a:solidFill>
                          <a:schemeClr val="dk1"/>
                        </a:solidFill>
                        <a:latin typeface="Aptos"/>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7" name="Picture 7" descr="Green leaves on the trees in spring"/>
          <p:cNvPicPr/>
          <p:nvPr/>
        </p:nvPicPr>
        <p:blipFill>
          <a:blip r:embed="rId1"/>
          <a:srcRect l="0" t="0" r="0" b="0"/>
          <a:stretch/>
        </p:blipFill>
        <p:spPr>
          <a:xfrm>
            <a:off x="0" y="0"/>
            <a:ext cx="7554960" cy="10686960"/>
          </a:xfrm>
          <a:prstGeom prst="rect">
            <a:avLst/>
          </a:prstGeom>
          <a:ln w="0">
            <a:noFill/>
          </a:ln>
        </p:spPr>
      </p:pic>
      <p:sp>
        <p:nvSpPr>
          <p:cNvPr id="328" name="Rectangle 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329" name="Rounded Rectangle 26"/>
          <p:cNvSpPr/>
          <p:nvPr/>
        </p:nvSpPr>
        <p:spPr>
          <a:xfrm rot="16200000">
            <a:off x="3985560" y="-322560"/>
            <a:ext cx="39456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145c30"/>
                </a:solidFill>
                <a:latin typeface="Marianne"/>
              </a:rPr>
              <a:t>B3</a:t>
            </a:r>
            <a:r>
              <a:rPr b="0" lang="fr-FR" sz="1400" spc="-1" strike="noStrike">
                <a:solidFill>
                  <a:srgbClr val="145c30"/>
                </a:solidFill>
                <a:latin typeface="Marianne Medium"/>
              </a:rPr>
              <a:t> </a:t>
            </a:r>
            <a:r>
              <a:rPr b="0" lang="fr-FR" sz="1400" spc="-1" strike="noStrike">
                <a:solidFill>
                  <a:srgbClr val="145c30"/>
                </a:solidFill>
                <a:latin typeface="Marianne"/>
              </a:rPr>
              <a:t>Énergie et émissions de gaz à effet de serre</a:t>
            </a:r>
            <a:endParaRPr b="0" lang="fr-FR" sz="1400" spc="-1" strike="noStrike">
              <a:solidFill>
                <a:srgbClr val="000000"/>
              </a:solidFill>
              <a:latin typeface="Arial"/>
            </a:endParaRPr>
          </a:p>
        </p:txBody>
      </p:sp>
      <p:cxnSp>
        <p:nvCxnSpPr>
          <p:cNvPr id="330" name="Straight Connector 5"/>
          <p:cNvCxnSpPr/>
          <p:nvPr/>
        </p:nvCxnSpPr>
        <p:spPr>
          <a:xfrm>
            <a:off x="893160" y="2525400"/>
            <a:ext cx="4680" cy="426240"/>
          </a:xfrm>
          <a:prstGeom prst="straightConnector1">
            <a:avLst/>
          </a:prstGeom>
          <a:ln w="3175">
            <a:solidFill>
              <a:srgbClr val="a6a6a6"/>
            </a:solidFill>
            <a:round/>
          </a:ln>
        </p:spPr>
      </p:cxnSp>
      <p:pic>
        <p:nvPicPr>
          <p:cNvPr id="331" name="Graphic 4"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332" name="TextBox 28"/>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333" name="TextBox 29"/>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334" name="TextBox 30"/>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335" name="TextBox 31"/>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336" name="Rounded Rectangle 27"/>
          <p:cNvSpPr/>
          <p:nvPr/>
        </p:nvSpPr>
        <p:spPr>
          <a:xfrm>
            <a:off x="360000" y="3060000"/>
            <a:ext cx="6734160" cy="5755680"/>
          </a:xfrm>
          <a:prstGeom prst="roundRect">
            <a:avLst>
              <a:gd name="adj" fmla="val 2340"/>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Estimation des émissions brutes de GES de scope 3</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Non pertinent</a:t>
            </a:r>
            <a:endParaRPr b="0" lang="fr-FR" sz="1200" spc="-1" strike="noStrike">
              <a:solidFill>
                <a:srgbClr val="000000"/>
              </a:solidFill>
              <a:latin typeface="Arial"/>
            </a:endParaRPr>
          </a:p>
        </p:txBody>
      </p:sp>
      <p:sp>
        <p:nvSpPr>
          <p:cNvPr id="337" name="Rounded Rectangle 28"/>
          <p:cNvSpPr/>
          <p:nvPr/>
        </p:nvSpPr>
        <p:spPr>
          <a:xfrm>
            <a:off x="360000" y="9000000"/>
            <a:ext cx="6784560" cy="1435680"/>
          </a:xfrm>
          <a:prstGeom prst="roundRect">
            <a:avLst>
              <a:gd name="adj" fmla="val 13795"/>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Total des émissions brutes de GES de scope 3</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Non pertinent</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8"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339"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340" name="Rounded Rectangle 3"/>
          <p:cNvSpPr/>
          <p:nvPr/>
        </p:nvSpPr>
        <p:spPr>
          <a:xfrm rot="16200000">
            <a:off x="3985560" y="-322560"/>
            <a:ext cx="39456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145c30"/>
                </a:solidFill>
                <a:latin typeface="Marianne"/>
              </a:rPr>
              <a:t>B4</a:t>
            </a:r>
            <a:r>
              <a:rPr b="0" lang="fr-FR" sz="1400" spc="-1" strike="noStrike">
                <a:solidFill>
                  <a:srgbClr val="145c30"/>
                </a:solidFill>
                <a:latin typeface="Marianne Medium"/>
              </a:rPr>
              <a:t> </a:t>
            </a:r>
            <a:r>
              <a:rPr b="0" lang="fr-FR" sz="1400" spc="-1" strike="noStrike">
                <a:solidFill>
                  <a:srgbClr val="145c30"/>
                </a:solidFill>
                <a:latin typeface="Marianne"/>
              </a:rPr>
              <a:t>Pollution de l’air, de l’eau et des sols </a:t>
            </a:r>
            <a:endParaRPr b="0" lang="fr-FR" sz="1400" spc="-1" strike="noStrike">
              <a:solidFill>
                <a:srgbClr val="000000"/>
              </a:solidFill>
              <a:latin typeface="Arial"/>
            </a:endParaRPr>
          </a:p>
        </p:txBody>
      </p:sp>
      <p:cxnSp>
        <p:nvCxnSpPr>
          <p:cNvPr id="341" name="Straight Connector 17"/>
          <p:cNvCxnSpPr/>
          <p:nvPr/>
        </p:nvCxnSpPr>
        <p:spPr>
          <a:xfrm>
            <a:off x="893160" y="2525400"/>
            <a:ext cx="4680" cy="426240"/>
          </a:xfrm>
          <a:prstGeom prst="straightConnector1">
            <a:avLst/>
          </a:prstGeom>
          <a:ln w="3175">
            <a:solidFill>
              <a:srgbClr val="a6a6a6"/>
            </a:solidFill>
            <a:round/>
          </a:ln>
        </p:spPr>
      </p:cxnSp>
      <p:pic>
        <p:nvPicPr>
          <p:cNvPr id="342"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343" name="Rounded Rectangle 4"/>
          <p:cNvSpPr/>
          <p:nvPr/>
        </p:nvSpPr>
        <p:spPr>
          <a:xfrm>
            <a:off x="410400" y="3282480"/>
            <a:ext cx="6734160" cy="695844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Pollution de l’air</a:t>
            </a:r>
            <a:endParaRPr b="0" lang="fr-FR" sz="1200" spc="-1" strike="noStrike">
              <a:solidFill>
                <a:srgbClr val="000000"/>
              </a:solidFill>
              <a:latin typeface="Arial"/>
            </a:endParaRPr>
          </a:p>
        </p:txBody>
      </p:sp>
      <p:sp>
        <p:nvSpPr>
          <p:cNvPr id="344"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345" name="TextBox 7"/>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346" name="TextBox 8"/>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347" name="TextBox 9"/>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graphicFrame>
        <p:nvGraphicFramePr>
          <p:cNvPr id="348" name="Table 5"/>
          <p:cNvGraphicFramePr/>
          <p:nvPr/>
        </p:nvGraphicFramePr>
        <p:xfrm>
          <a:off x="649080" y="3825720"/>
          <a:ext cx="6260760" cy="2622960"/>
        </p:xfrm>
        <a:graphic>
          <a:graphicData uri="http://schemas.openxmlformats.org/drawingml/2006/table">
            <a:tbl>
              <a:tblPr/>
              <a:tblGrid>
                <a:gridCol w="3338280"/>
                <a:gridCol w="895680"/>
                <a:gridCol w="2027160"/>
              </a:tblGrid>
              <a:tr h="302400">
                <a:tc>
                  <a:txBody>
                    <a:bodyPr lIns="108000" rIns="108000" anchor="ctr">
                      <a:noAutofit/>
                    </a:bodyPr>
                    <a:p>
                      <a:pPr algn="ctr" defTabSz="756000">
                        <a:lnSpc>
                          <a:spcPct val="100000"/>
                        </a:lnSpc>
                      </a:pPr>
                      <a:r>
                        <a:rPr b="0" lang="en-US" sz="1100" spc="-1" strike="noStrike">
                          <a:solidFill>
                            <a:srgbClr val="145c30"/>
                          </a:solidFill>
                          <a:latin typeface="Marianne Light"/>
                        </a:rPr>
                        <a:t>Type de polluant</a:t>
                      </a:r>
                      <a:endParaRPr b="0" lang="fr-FR" sz="1100" spc="-1" strike="noStrike">
                        <a:solidFill>
                          <a:srgbClr val="000000"/>
                        </a:solidFill>
                        <a:latin typeface="Arial"/>
                      </a:endParaRPr>
                    </a:p>
                  </a:txBody>
                  <a:tcPr anchor="ctr" marL="108000" marR="108000">
                    <a:lnL w="12240">
                      <a:solidFill>
                        <a:srgbClr val="fffff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en-US" sz="1100" spc="-1" strike="noStrike">
                          <a:solidFill>
                            <a:srgbClr val="145c30"/>
                          </a:solidFill>
                          <a:latin typeface="Marianne Light"/>
                        </a:rPr>
                        <a:t>Unité</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en-US" sz="1100" spc="-1" strike="noStrike">
                          <a:solidFill>
                            <a:srgbClr val="145c30"/>
                          </a:solidFill>
                          <a:latin typeface="Marianne Light"/>
                        </a:rPr>
                        <a:t>Valeur</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r>
              <a:tr h="338040">
                <a:tc>
                  <a:txBody>
                    <a:bodyPr anchor="ctr">
                      <a:noAutofit/>
                    </a:bodyPr>
                    <a:p>
                      <a:pPr defTabSz="756000">
                        <a:lnSpc>
                          <a:spcPct val="100000"/>
                        </a:lnSpc>
                      </a:pPr>
                      <a:r>
                        <a:rPr b="0" lang="en-US" sz="1100" spc="-1" strike="noStrike">
                          <a:solidFill>
                            <a:schemeClr val="dk1"/>
                          </a:solidFill>
                          <a:latin typeface="Marianne Medium"/>
                        </a:rPr>
                        <a:t>Atrazine</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en-US" sz="1100" spc="-1" strike="noStrike">
                          <a:solidFill>
                            <a:schemeClr val="dk1"/>
                          </a:solidFill>
                          <a:latin typeface="Marianne Light"/>
                        </a:rPr>
                        <a:t>kg</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1" lang="en-US" sz="1490" spc="-1" strike="noStrike">
                          <a:solidFill>
                            <a:schemeClr val="dk1"/>
                          </a:solidFill>
                          <a:latin typeface="Aptos"/>
                        </a:rPr>
                        <a:t>-</a:t>
                      </a:r>
                      <a:endParaRPr b="0" lang="fr-FR" sz="149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chemeClr val="dk1"/>
                          </a:solidFill>
                          <a:latin typeface="Marianne Medium"/>
                        </a:rPr>
                        <a:t>Arsenic et ses composés (As)</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en-US" sz="1100" spc="-1" strike="noStrike">
                          <a:solidFill>
                            <a:srgbClr val="000000"/>
                          </a:solidFill>
                          <a:latin typeface="Marianne Light"/>
                        </a:rPr>
                        <a:t>kg</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1" lang="en-US" sz="1490" spc="-1" strike="noStrike">
                          <a:solidFill>
                            <a:schemeClr val="dk1"/>
                          </a:solidFill>
                          <a:latin typeface="Aptos"/>
                        </a:rPr>
                        <a:t>-</a:t>
                      </a:r>
                      <a:endParaRPr b="0" lang="fr-FR" sz="149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0">
                <a:tc>
                  <a:txBody>
                    <a:bodyPr anchor="ctr">
                      <a:noAutofit/>
                    </a:bodyPr>
                    <a:p>
                      <a:pPr defTabSz="756000">
                        <a:lnSpc>
                          <a:spcPct val="100000"/>
                        </a:lnSpc>
                      </a:pPr>
                      <a:r>
                        <a:rPr b="0" lang="en-US" sz="1100" spc="-1" strike="noStrike">
                          <a:solidFill>
                            <a:schemeClr val="dk1"/>
                          </a:solidFill>
                          <a:latin typeface="Marianne Medium"/>
                        </a:rPr>
                        <a:t>Chlore et ses composés inorganiques (HCl)</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en-US" sz="1100" spc="-1" strike="noStrike">
                          <a:solidFill>
                            <a:srgbClr val="000000"/>
                          </a:solidFill>
                          <a:latin typeface="Marianne Light"/>
                        </a:rPr>
                        <a:t>kg</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1" lang="en-US" sz="1490" spc="-1" strike="noStrike">
                          <a:solidFill>
                            <a:schemeClr val="dk1"/>
                          </a:solidFill>
                          <a:latin typeface="Aptos"/>
                        </a:rPr>
                        <a:t>-</a:t>
                      </a:r>
                      <a:endParaRPr b="0" lang="fr-FR" sz="149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470880">
                <a:tc>
                  <a:txBody>
                    <a:bodyPr anchor="ctr">
                      <a:noAutofit/>
                    </a:bodyPr>
                    <a:p>
                      <a:pPr defTabSz="756000">
                        <a:lnSpc>
                          <a:spcPct val="100000"/>
                        </a:lnSpc>
                      </a:pPr>
                      <a:r>
                        <a:rPr b="0" lang="en-US" sz="1100" spc="-1" strike="noStrike">
                          <a:solidFill>
                            <a:schemeClr val="dk1"/>
                          </a:solidFill>
                          <a:latin typeface="Marianne Medium"/>
                        </a:rPr>
                        <a:t>Composés organiques volatils autres que le méthane (COVNM)</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en-US" sz="1100" spc="-1" strike="noStrike">
                          <a:solidFill>
                            <a:srgbClr val="000000"/>
                          </a:solidFill>
                          <a:latin typeface="Marianne Light"/>
                        </a:rPr>
                        <a:t>kg</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1" lang="en-US" sz="1490" spc="-1" strike="noStrike">
                          <a:solidFill>
                            <a:schemeClr val="dk1"/>
                          </a:solidFill>
                          <a:latin typeface="Aptos"/>
                        </a:rPr>
                        <a:t>-</a:t>
                      </a:r>
                      <a:endParaRPr b="0" lang="fr-FR" sz="149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chemeClr val="dk1"/>
                          </a:solidFill>
                          <a:latin typeface="Marianne Medium"/>
                        </a:rPr>
                        <a:t>Acide perfluorohexane sulfonique (PFHxS) et ses sels</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en-US" sz="1100" spc="-1" strike="noStrike">
                          <a:solidFill>
                            <a:srgbClr val="000000"/>
                          </a:solidFill>
                          <a:latin typeface="Marianne Light"/>
                        </a:rPr>
                        <a:t>kg</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1" lang="en-US" sz="1490" spc="-1" strike="noStrike">
                          <a:solidFill>
                            <a:schemeClr val="dk1"/>
                          </a:solidFill>
                          <a:latin typeface="Aptos"/>
                        </a:rPr>
                        <a:t>-</a:t>
                      </a:r>
                      <a:endParaRPr b="0" lang="fr-FR" sz="149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20760">
                <a:tc>
                  <a:txBody>
                    <a:bodyPr anchor="ctr">
                      <a:noAutofit/>
                    </a:bodyPr>
                    <a:p>
                      <a:pPr defTabSz="756000">
                        <a:lnSpc>
                          <a:spcPct val="100000"/>
                        </a:lnSpc>
                      </a:pPr>
                      <a:r>
                        <a:rPr b="0" lang="en-US" sz="1100" spc="-1" strike="noStrike">
                          <a:solidFill>
                            <a:schemeClr val="dk1"/>
                          </a:solidFill>
                          <a:latin typeface="Marianne Medium"/>
                        </a:rPr>
                        <a:t>Carbone organique total (TOC) (en C total ou DCO/3)</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en-US" sz="1100" spc="-1" strike="noStrike">
                          <a:solidFill>
                            <a:schemeClr val="dk1"/>
                          </a:solidFill>
                          <a:latin typeface="Marianne Light"/>
                        </a:rPr>
                        <a:t>tonnes</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1" lang="en-US" sz="1490" spc="-1" strike="noStrike">
                          <a:solidFill>
                            <a:schemeClr val="dk1"/>
                          </a:solidFill>
                          <a:latin typeface="Aptos"/>
                        </a:rPr>
                        <a:t>-</a:t>
                      </a:r>
                      <a:endParaRPr b="0" lang="fr-FR" sz="149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9"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350"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351" name="Rounded Rectangle 3"/>
          <p:cNvSpPr/>
          <p:nvPr/>
        </p:nvSpPr>
        <p:spPr>
          <a:xfrm rot="16200000">
            <a:off x="3985560" y="-322560"/>
            <a:ext cx="39456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145c30"/>
                </a:solidFill>
                <a:latin typeface="Marianne"/>
              </a:rPr>
              <a:t>B4</a:t>
            </a:r>
            <a:r>
              <a:rPr b="0" lang="fr-FR" sz="1400" spc="-1" strike="noStrike">
                <a:solidFill>
                  <a:srgbClr val="145c30"/>
                </a:solidFill>
                <a:latin typeface="Marianne Medium"/>
              </a:rPr>
              <a:t> </a:t>
            </a:r>
            <a:r>
              <a:rPr b="0" lang="fr-FR" sz="1400" spc="-1" strike="noStrike">
                <a:solidFill>
                  <a:srgbClr val="145c30"/>
                </a:solidFill>
                <a:latin typeface="Marianne"/>
              </a:rPr>
              <a:t>Pollution de l’air, de l’eau et des sols </a:t>
            </a:r>
            <a:endParaRPr b="0" lang="fr-FR" sz="1400" spc="-1" strike="noStrike">
              <a:solidFill>
                <a:srgbClr val="000000"/>
              </a:solidFill>
              <a:latin typeface="Arial"/>
            </a:endParaRPr>
          </a:p>
        </p:txBody>
      </p:sp>
      <p:cxnSp>
        <p:nvCxnSpPr>
          <p:cNvPr id="352" name="Straight Connector 17"/>
          <p:cNvCxnSpPr/>
          <p:nvPr/>
        </p:nvCxnSpPr>
        <p:spPr>
          <a:xfrm>
            <a:off x="893160" y="2525400"/>
            <a:ext cx="4680" cy="426240"/>
          </a:xfrm>
          <a:prstGeom prst="straightConnector1">
            <a:avLst/>
          </a:prstGeom>
          <a:ln w="3175">
            <a:solidFill>
              <a:srgbClr val="a6a6a6"/>
            </a:solidFill>
            <a:round/>
          </a:ln>
        </p:spPr>
      </p:cxnSp>
      <p:pic>
        <p:nvPicPr>
          <p:cNvPr id="353"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354" name="Rounded Rectangle 4"/>
          <p:cNvSpPr/>
          <p:nvPr/>
        </p:nvSpPr>
        <p:spPr>
          <a:xfrm>
            <a:off x="410400" y="3282480"/>
            <a:ext cx="6734160" cy="695844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Pollution de l’air</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Non pertinent</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sp>
        <p:nvSpPr>
          <p:cNvPr id="355"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356" name="TextBox 7"/>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357" name="TextBox 8"/>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358" name="TextBox 9"/>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9"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360"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361" name="Rounded Rectangle 3"/>
          <p:cNvSpPr/>
          <p:nvPr/>
        </p:nvSpPr>
        <p:spPr>
          <a:xfrm rot="16200000">
            <a:off x="3985560" y="-322560"/>
            <a:ext cx="39456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145c30"/>
                </a:solidFill>
                <a:latin typeface="Marianne"/>
              </a:rPr>
              <a:t>B4</a:t>
            </a:r>
            <a:r>
              <a:rPr b="0" lang="fr-FR" sz="1400" spc="-1" strike="noStrike">
                <a:solidFill>
                  <a:srgbClr val="145c30"/>
                </a:solidFill>
                <a:latin typeface="Marianne Medium"/>
              </a:rPr>
              <a:t> </a:t>
            </a:r>
            <a:r>
              <a:rPr b="0" lang="fr-FR" sz="1400" spc="-1" strike="noStrike">
                <a:solidFill>
                  <a:srgbClr val="145c30"/>
                </a:solidFill>
                <a:latin typeface="Marianne"/>
              </a:rPr>
              <a:t>Pollution de l’air, de l’eau et des sols </a:t>
            </a:r>
            <a:endParaRPr b="0" lang="fr-FR" sz="1400" spc="-1" strike="noStrike">
              <a:solidFill>
                <a:srgbClr val="000000"/>
              </a:solidFill>
              <a:latin typeface="Arial"/>
            </a:endParaRPr>
          </a:p>
        </p:txBody>
      </p:sp>
      <p:cxnSp>
        <p:nvCxnSpPr>
          <p:cNvPr id="362" name="Straight Connector 17"/>
          <p:cNvCxnSpPr/>
          <p:nvPr/>
        </p:nvCxnSpPr>
        <p:spPr>
          <a:xfrm>
            <a:off x="893160" y="2525400"/>
            <a:ext cx="4680" cy="426240"/>
          </a:xfrm>
          <a:prstGeom prst="straightConnector1">
            <a:avLst/>
          </a:prstGeom>
          <a:ln w="3175">
            <a:solidFill>
              <a:srgbClr val="a6a6a6"/>
            </a:solidFill>
            <a:round/>
          </a:ln>
        </p:spPr>
      </p:cxnSp>
      <p:pic>
        <p:nvPicPr>
          <p:cNvPr id="363"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364" name="Rounded Rectangle 4"/>
          <p:cNvSpPr/>
          <p:nvPr/>
        </p:nvSpPr>
        <p:spPr>
          <a:xfrm>
            <a:off x="410400" y="3282480"/>
            <a:ext cx="6734160" cy="695844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Pollution de l’eau</a:t>
            </a:r>
            <a:endParaRPr b="0" lang="fr-FR" sz="1200" spc="-1" strike="noStrike">
              <a:solidFill>
                <a:srgbClr val="000000"/>
              </a:solidFill>
              <a:latin typeface="Arial"/>
            </a:endParaRPr>
          </a:p>
        </p:txBody>
      </p:sp>
      <p:sp>
        <p:nvSpPr>
          <p:cNvPr id="365"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366" name="TextBox 7"/>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367" name="TextBox 8"/>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368" name="TextBox 9"/>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graphicFrame>
        <p:nvGraphicFramePr>
          <p:cNvPr id="369" name="Table 5"/>
          <p:cNvGraphicFramePr/>
          <p:nvPr/>
        </p:nvGraphicFramePr>
        <p:xfrm>
          <a:off x="649080" y="3825720"/>
          <a:ext cx="6260760" cy="2622960"/>
        </p:xfrm>
        <a:graphic>
          <a:graphicData uri="http://schemas.openxmlformats.org/drawingml/2006/table">
            <a:tbl>
              <a:tblPr/>
              <a:tblGrid>
                <a:gridCol w="3338280"/>
                <a:gridCol w="895680"/>
                <a:gridCol w="2027160"/>
              </a:tblGrid>
              <a:tr h="302400">
                <a:tc>
                  <a:txBody>
                    <a:bodyPr lIns="108000" rIns="108000" anchor="ctr">
                      <a:noAutofit/>
                    </a:bodyPr>
                    <a:p>
                      <a:pPr algn="ctr" defTabSz="756000">
                        <a:lnSpc>
                          <a:spcPct val="100000"/>
                        </a:lnSpc>
                      </a:pPr>
                      <a:r>
                        <a:rPr b="0" lang="fr-FR" sz="1100" spc="-1" strike="noStrike">
                          <a:solidFill>
                            <a:srgbClr val="145c30"/>
                          </a:solidFill>
                          <a:latin typeface="Marianne Light"/>
                        </a:rPr>
                        <a:t>Type de polluant</a:t>
                      </a:r>
                      <a:endParaRPr b="0" lang="fr-FR" sz="1100" spc="-1" strike="noStrike">
                        <a:solidFill>
                          <a:srgbClr val="000000"/>
                        </a:solidFill>
                        <a:latin typeface="Arial"/>
                      </a:endParaRPr>
                    </a:p>
                  </a:txBody>
                  <a:tcPr anchor="ctr" marL="108000" marR="108000">
                    <a:lnL w="12240">
                      <a:solidFill>
                        <a:srgbClr val="fffff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Unité</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Valeur</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r>
              <a:tr h="338040">
                <a:tc>
                  <a:txBody>
                    <a:bodyPr anchor="ctr">
                      <a:noAutofit/>
                    </a:bodyPr>
                    <a:p>
                      <a:pPr defTabSz="756000">
                        <a:lnSpc>
                          <a:spcPct val="100000"/>
                        </a:lnSpc>
                      </a:pPr>
                      <a:r>
                        <a:rPr b="0" lang="en-US" sz="1100" spc="-1" strike="noStrike">
                          <a:solidFill>
                            <a:schemeClr val="dk1"/>
                          </a:solidFill>
                          <a:latin typeface="Marianne Medium"/>
                        </a:rPr>
                        <a:t>Atrazine</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en-FR" sz="1100" spc="-1" strike="noStrike">
                          <a:solidFill>
                            <a:schemeClr val="dk1"/>
                          </a:solidFill>
                          <a:latin typeface="Marianne Light"/>
                        </a:rPr>
                        <a:t>kg</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1" lang="en-FR" sz="1490" spc="-1" strike="noStrike">
                          <a:solidFill>
                            <a:schemeClr val="dk1"/>
                          </a:solidFill>
                          <a:latin typeface="Aptos"/>
                        </a:rPr>
                        <a:t>-</a:t>
                      </a:r>
                      <a:endParaRPr b="0" lang="fr-FR" sz="149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chemeClr val="dk1"/>
                          </a:solidFill>
                          <a:latin typeface="Marianne Medium"/>
                        </a:rPr>
                        <a:t>Arsenic et ses composés (As)</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en-FR" sz="1100" spc="-1" strike="noStrike">
                          <a:solidFill>
                            <a:srgbClr val="000000"/>
                          </a:solidFill>
                          <a:latin typeface="Marianne Light"/>
                        </a:rPr>
                        <a:t>kg</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1" lang="en-FR" sz="1490" spc="-1" strike="noStrike">
                          <a:solidFill>
                            <a:srgbClr val="000000"/>
                          </a:solidFill>
                          <a:latin typeface="Aptos"/>
                        </a:rPr>
                        <a:t>-</a:t>
                      </a:r>
                      <a:endParaRPr b="0" lang="fr-FR" sz="149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0">
                <a:tc>
                  <a:txBody>
                    <a:bodyPr anchor="ctr">
                      <a:noAutofit/>
                    </a:bodyPr>
                    <a:p>
                      <a:pPr defTabSz="756000">
                        <a:lnSpc>
                          <a:spcPct val="100000"/>
                        </a:lnSpc>
                      </a:pPr>
                      <a:r>
                        <a:rPr b="0" lang="en-US" sz="1100" spc="-1" strike="noStrike">
                          <a:solidFill>
                            <a:schemeClr val="dk1"/>
                          </a:solidFill>
                          <a:latin typeface="Marianne Medium"/>
                        </a:rPr>
                        <a:t>Chlore et ses composés inorganiques (HCl)</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en-FR" sz="1100" spc="-1" strike="noStrike">
                          <a:solidFill>
                            <a:srgbClr val="000000"/>
                          </a:solidFill>
                          <a:latin typeface="Marianne Light"/>
                        </a:rPr>
                        <a:t>kg</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1" lang="en-FR" sz="1490" spc="-1" strike="noStrike">
                          <a:solidFill>
                            <a:srgbClr val="000000"/>
                          </a:solidFill>
                          <a:latin typeface="Aptos"/>
                        </a:rPr>
                        <a:t>-</a:t>
                      </a:r>
                      <a:endParaRPr b="0" lang="fr-FR" sz="149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470880">
                <a:tc>
                  <a:txBody>
                    <a:bodyPr anchor="ctr">
                      <a:noAutofit/>
                    </a:bodyPr>
                    <a:p>
                      <a:pPr defTabSz="756000">
                        <a:lnSpc>
                          <a:spcPct val="100000"/>
                        </a:lnSpc>
                      </a:pPr>
                      <a:r>
                        <a:rPr b="0" lang="en-US" sz="1100" spc="-1" strike="noStrike">
                          <a:solidFill>
                            <a:schemeClr val="dk1"/>
                          </a:solidFill>
                          <a:latin typeface="Marianne Medium"/>
                        </a:rPr>
                        <a:t>Composés organiques volatils autres que le méthane (COVNM)</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en-FR" sz="1100" spc="-1" strike="noStrike">
                          <a:solidFill>
                            <a:srgbClr val="000000"/>
                          </a:solidFill>
                          <a:latin typeface="Marianne Light"/>
                        </a:rPr>
                        <a:t>kg</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1" lang="en-FR" sz="1490" spc="-1" strike="noStrike">
                          <a:solidFill>
                            <a:srgbClr val="000000"/>
                          </a:solidFill>
                          <a:latin typeface="Aptos"/>
                        </a:rPr>
                        <a:t>-</a:t>
                      </a:r>
                      <a:endParaRPr b="0" lang="fr-FR" sz="149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chemeClr val="dk1"/>
                          </a:solidFill>
                          <a:latin typeface="Marianne Medium"/>
                        </a:rPr>
                        <a:t>Acide perfluorohexane sulfonique (PFHxS) et ses sels</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en-FR" sz="1100" spc="-1" strike="noStrike">
                          <a:solidFill>
                            <a:srgbClr val="000000"/>
                          </a:solidFill>
                          <a:latin typeface="Marianne Light"/>
                        </a:rPr>
                        <a:t>kg</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1" lang="en-FR" sz="1490" spc="-1" strike="noStrike">
                          <a:solidFill>
                            <a:srgbClr val="000000"/>
                          </a:solidFill>
                          <a:latin typeface="Aptos"/>
                        </a:rPr>
                        <a:t>-</a:t>
                      </a:r>
                      <a:endParaRPr b="0" lang="fr-FR" sz="149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20760">
                <a:tc>
                  <a:txBody>
                    <a:bodyPr anchor="ctr">
                      <a:noAutofit/>
                    </a:bodyPr>
                    <a:p>
                      <a:pPr defTabSz="756000">
                        <a:lnSpc>
                          <a:spcPct val="100000"/>
                        </a:lnSpc>
                      </a:pPr>
                      <a:r>
                        <a:rPr b="0" lang="en-US" sz="1100" spc="-1" strike="noStrike">
                          <a:solidFill>
                            <a:schemeClr val="dk1"/>
                          </a:solidFill>
                          <a:latin typeface="Marianne Medium"/>
                        </a:rPr>
                        <a:t>Carbone organique total (TOC) (en C total ou DCO/3)</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en-FR" sz="1100" spc="-1" strike="noStrike">
                          <a:solidFill>
                            <a:schemeClr val="dk1"/>
                          </a:solidFill>
                          <a:latin typeface="Marianne Light"/>
                        </a:rPr>
                        <a:t>tonnes</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1" lang="en-FR" sz="1490" spc="-1" strike="noStrike">
                          <a:solidFill>
                            <a:srgbClr val="000000"/>
                          </a:solidFill>
                          <a:latin typeface="Aptos"/>
                        </a:rPr>
                        <a:t>-</a:t>
                      </a:r>
                      <a:endParaRPr b="0" lang="fr-FR" sz="149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0"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371"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372" name="Rounded Rectangle 3"/>
          <p:cNvSpPr/>
          <p:nvPr/>
        </p:nvSpPr>
        <p:spPr>
          <a:xfrm rot="16200000">
            <a:off x="3985560" y="-322560"/>
            <a:ext cx="39456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145c30"/>
                </a:solidFill>
                <a:latin typeface="Marianne"/>
              </a:rPr>
              <a:t>B4</a:t>
            </a:r>
            <a:r>
              <a:rPr b="0" lang="fr-FR" sz="1400" spc="-1" strike="noStrike">
                <a:solidFill>
                  <a:srgbClr val="145c30"/>
                </a:solidFill>
                <a:latin typeface="Marianne Medium"/>
              </a:rPr>
              <a:t> </a:t>
            </a:r>
            <a:r>
              <a:rPr b="0" lang="fr-FR" sz="1400" spc="-1" strike="noStrike">
                <a:solidFill>
                  <a:srgbClr val="145c30"/>
                </a:solidFill>
                <a:latin typeface="Marianne"/>
              </a:rPr>
              <a:t>Pollution de l’air, de l’eau et des sols </a:t>
            </a:r>
            <a:endParaRPr b="0" lang="fr-FR" sz="1400" spc="-1" strike="noStrike">
              <a:solidFill>
                <a:srgbClr val="000000"/>
              </a:solidFill>
              <a:latin typeface="Arial"/>
            </a:endParaRPr>
          </a:p>
        </p:txBody>
      </p:sp>
      <p:cxnSp>
        <p:nvCxnSpPr>
          <p:cNvPr id="373" name="Straight Connector 17"/>
          <p:cNvCxnSpPr/>
          <p:nvPr/>
        </p:nvCxnSpPr>
        <p:spPr>
          <a:xfrm>
            <a:off x="893160" y="2525400"/>
            <a:ext cx="4680" cy="426240"/>
          </a:xfrm>
          <a:prstGeom prst="straightConnector1">
            <a:avLst/>
          </a:prstGeom>
          <a:ln w="3175">
            <a:solidFill>
              <a:srgbClr val="a6a6a6"/>
            </a:solidFill>
            <a:round/>
          </a:ln>
        </p:spPr>
      </p:cxnSp>
      <p:pic>
        <p:nvPicPr>
          <p:cNvPr id="374"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375" name="Rounded Rectangle 4"/>
          <p:cNvSpPr/>
          <p:nvPr/>
        </p:nvSpPr>
        <p:spPr>
          <a:xfrm>
            <a:off x="410400" y="3282480"/>
            <a:ext cx="6734160" cy="695844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Pollution de l’eau</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Non pertinent</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sp>
        <p:nvSpPr>
          <p:cNvPr id="376"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377" name="TextBox 7"/>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378" name="TextBox 8"/>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379" name="TextBox 9"/>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0"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381"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382" name="Rounded Rectangle 3"/>
          <p:cNvSpPr/>
          <p:nvPr/>
        </p:nvSpPr>
        <p:spPr>
          <a:xfrm rot="16200000">
            <a:off x="3985560" y="-322560"/>
            <a:ext cx="39456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145c30"/>
                </a:solidFill>
                <a:latin typeface="Marianne"/>
              </a:rPr>
              <a:t>B4</a:t>
            </a:r>
            <a:r>
              <a:rPr b="0" lang="fr-FR" sz="1400" spc="-1" strike="noStrike">
                <a:solidFill>
                  <a:srgbClr val="145c30"/>
                </a:solidFill>
                <a:latin typeface="Marianne Medium"/>
              </a:rPr>
              <a:t> </a:t>
            </a:r>
            <a:r>
              <a:rPr b="0" lang="fr-FR" sz="1400" spc="-1" strike="noStrike">
                <a:solidFill>
                  <a:srgbClr val="145c30"/>
                </a:solidFill>
                <a:latin typeface="Marianne"/>
              </a:rPr>
              <a:t>Pollution de l’air, de l’eau et des sols </a:t>
            </a:r>
            <a:endParaRPr b="0" lang="fr-FR" sz="1400" spc="-1" strike="noStrike">
              <a:solidFill>
                <a:srgbClr val="000000"/>
              </a:solidFill>
              <a:latin typeface="Arial"/>
            </a:endParaRPr>
          </a:p>
        </p:txBody>
      </p:sp>
      <p:cxnSp>
        <p:nvCxnSpPr>
          <p:cNvPr id="383" name="Straight Connector 17"/>
          <p:cNvCxnSpPr/>
          <p:nvPr/>
        </p:nvCxnSpPr>
        <p:spPr>
          <a:xfrm>
            <a:off x="893160" y="2525400"/>
            <a:ext cx="4680" cy="426240"/>
          </a:xfrm>
          <a:prstGeom prst="straightConnector1">
            <a:avLst/>
          </a:prstGeom>
          <a:ln w="3175">
            <a:solidFill>
              <a:srgbClr val="a6a6a6"/>
            </a:solidFill>
            <a:round/>
          </a:ln>
        </p:spPr>
      </p:cxnSp>
      <p:pic>
        <p:nvPicPr>
          <p:cNvPr id="384"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385" name="Rounded Rectangle 4"/>
          <p:cNvSpPr/>
          <p:nvPr/>
        </p:nvSpPr>
        <p:spPr>
          <a:xfrm>
            <a:off x="410400" y="3282480"/>
            <a:ext cx="6734160" cy="695844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Pollution des sols</a:t>
            </a:r>
            <a:endParaRPr b="0" lang="fr-FR" sz="1200" spc="-1" strike="noStrike">
              <a:solidFill>
                <a:srgbClr val="000000"/>
              </a:solidFill>
              <a:latin typeface="Arial"/>
            </a:endParaRPr>
          </a:p>
        </p:txBody>
      </p:sp>
      <p:sp>
        <p:nvSpPr>
          <p:cNvPr id="386"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387" name="TextBox 7"/>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388" name="TextBox 8"/>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389" name="TextBox 9"/>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graphicFrame>
        <p:nvGraphicFramePr>
          <p:cNvPr id="390" name="Table 5"/>
          <p:cNvGraphicFramePr/>
          <p:nvPr/>
        </p:nvGraphicFramePr>
        <p:xfrm>
          <a:off x="649080" y="3825720"/>
          <a:ext cx="6260760" cy="2622960"/>
        </p:xfrm>
        <a:graphic>
          <a:graphicData uri="http://schemas.openxmlformats.org/drawingml/2006/table">
            <a:tbl>
              <a:tblPr/>
              <a:tblGrid>
                <a:gridCol w="3338280"/>
                <a:gridCol w="895680"/>
                <a:gridCol w="2027160"/>
              </a:tblGrid>
              <a:tr h="302400">
                <a:tc>
                  <a:txBody>
                    <a:bodyPr lIns="108000" rIns="108000" anchor="ctr">
                      <a:noAutofit/>
                    </a:bodyPr>
                    <a:p>
                      <a:pPr algn="ctr" defTabSz="756000">
                        <a:lnSpc>
                          <a:spcPct val="100000"/>
                        </a:lnSpc>
                      </a:pPr>
                      <a:r>
                        <a:rPr b="0" lang="fr-FR" sz="1100" spc="-1" strike="noStrike">
                          <a:solidFill>
                            <a:srgbClr val="145c30"/>
                          </a:solidFill>
                          <a:latin typeface="Marianne Light"/>
                        </a:rPr>
                        <a:t>Type de polluant</a:t>
                      </a:r>
                      <a:endParaRPr b="0" lang="fr-FR" sz="1100" spc="-1" strike="noStrike">
                        <a:solidFill>
                          <a:srgbClr val="000000"/>
                        </a:solidFill>
                        <a:latin typeface="Arial"/>
                      </a:endParaRPr>
                    </a:p>
                  </a:txBody>
                  <a:tcPr anchor="ctr" marL="108000" marR="108000">
                    <a:lnL w="12240">
                      <a:solidFill>
                        <a:srgbClr val="fffff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Unité</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Valeur</a:t>
                      </a:r>
                      <a:endParaRPr b="0" lang="fr-FR" sz="1100" spc="-1" strike="noStrike">
                        <a:solidFill>
                          <a:srgbClr val="000000"/>
                        </a:solidFill>
                        <a:latin typeface="Arial"/>
                      </a:endParaRPr>
                    </a:p>
                  </a:txBody>
                  <a:tcPr anchor="ctr" marL="108000" marR="108000">
                    <a:lnL w="2880">
                      <a:solidFill>
                        <a:srgbClr val="bfbfbf"/>
                      </a:solidFill>
                      <a:prstDash val="solid"/>
                    </a:lnL>
                    <a:lnR w="2880">
                      <a:solidFill>
                        <a:srgbClr val="bfbfbf"/>
                      </a:solidFill>
                      <a:prstDash val="solid"/>
                    </a:lnR>
                    <a:lnT w="28080">
                      <a:noFill/>
                      <a:prstDash val="solid"/>
                    </a:lnT>
                    <a:lnB w="28080">
                      <a:solidFill>
                        <a:srgbClr val="ffffff"/>
                      </a:solidFill>
                      <a:prstDash val="solid"/>
                    </a:lnB>
                    <a:solidFill>
                      <a:srgbClr val="ebeded"/>
                    </a:solidFill>
                  </a:tcPr>
                </a:tc>
              </a:tr>
              <a:tr h="338040">
                <a:tc>
                  <a:txBody>
                    <a:bodyPr anchor="ctr">
                      <a:noAutofit/>
                    </a:bodyPr>
                    <a:p>
                      <a:pPr defTabSz="756000">
                        <a:lnSpc>
                          <a:spcPct val="100000"/>
                        </a:lnSpc>
                      </a:pPr>
                      <a:r>
                        <a:rPr b="0" lang="en-US" sz="1100" spc="-1" strike="noStrike">
                          <a:solidFill>
                            <a:schemeClr val="dk1"/>
                          </a:solidFill>
                          <a:latin typeface="Marianne Medium"/>
                        </a:rPr>
                        <a:t>Atrazine</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en-FR" sz="1100" spc="-1" strike="noStrike">
                          <a:solidFill>
                            <a:schemeClr val="dk1"/>
                          </a:solidFill>
                          <a:latin typeface="Marianne Light"/>
                        </a:rPr>
                        <a:t>kg</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1" lang="en-FR" sz="1490" spc="-1" strike="noStrike">
                          <a:solidFill>
                            <a:srgbClr val="000000"/>
                          </a:solidFill>
                          <a:latin typeface="Aptos"/>
                        </a:rPr>
                        <a:t>-</a:t>
                      </a:r>
                      <a:endParaRPr b="0" lang="fr-FR" sz="149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chemeClr val="dk1"/>
                          </a:solidFill>
                          <a:latin typeface="Marianne Medium"/>
                        </a:rPr>
                        <a:t>Arsenic et ses composés (As)</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en-FR" sz="1100" spc="-1" strike="noStrike">
                          <a:solidFill>
                            <a:srgbClr val="000000"/>
                          </a:solidFill>
                          <a:latin typeface="Marianne Light"/>
                        </a:rPr>
                        <a:t>kg</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1" lang="en-FR" sz="1490" spc="-1" strike="noStrike">
                          <a:solidFill>
                            <a:srgbClr val="000000"/>
                          </a:solidFill>
                          <a:latin typeface="Aptos"/>
                        </a:rPr>
                        <a:t>-</a:t>
                      </a:r>
                      <a:endParaRPr b="0" lang="fr-FR" sz="149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0">
                <a:tc>
                  <a:txBody>
                    <a:bodyPr anchor="ctr">
                      <a:noAutofit/>
                    </a:bodyPr>
                    <a:p>
                      <a:pPr defTabSz="756000">
                        <a:lnSpc>
                          <a:spcPct val="100000"/>
                        </a:lnSpc>
                      </a:pPr>
                      <a:r>
                        <a:rPr b="0" lang="en-US" sz="1100" spc="-1" strike="noStrike">
                          <a:solidFill>
                            <a:schemeClr val="dk1"/>
                          </a:solidFill>
                          <a:latin typeface="Marianne Medium"/>
                        </a:rPr>
                        <a:t>Chlore et ses composés inorganiques (HCl)</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en-FR" sz="1100" spc="-1" strike="noStrike">
                          <a:solidFill>
                            <a:srgbClr val="000000"/>
                          </a:solidFill>
                          <a:latin typeface="Marianne Light"/>
                        </a:rPr>
                        <a:t>kg</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1" lang="en-FR" sz="1490" spc="-1" strike="noStrike">
                          <a:solidFill>
                            <a:srgbClr val="000000"/>
                          </a:solidFill>
                          <a:latin typeface="Aptos"/>
                        </a:rPr>
                        <a:t>-</a:t>
                      </a:r>
                      <a:endParaRPr b="0" lang="fr-FR" sz="149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470880">
                <a:tc>
                  <a:txBody>
                    <a:bodyPr anchor="ctr">
                      <a:noAutofit/>
                    </a:bodyPr>
                    <a:p>
                      <a:pPr defTabSz="756000">
                        <a:lnSpc>
                          <a:spcPct val="100000"/>
                        </a:lnSpc>
                      </a:pPr>
                      <a:r>
                        <a:rPr b="0" lang="en-US" sz="1100" spc="-1" strike="noStrike">
                          <a:solidFill>
                            <a:schemeClr val="dk1"/>
                          </a:solidFill>
                          <a:latin typeface="Marianne Medium"/>
                        </a:rPr>
                        <a:t>Composés organiques volatils autres que le méthane (COVNM)</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en-FR" sz="1100" spc="-1" strike="noStrike">
                          <a:solidFill>
                            <a:srgbClr val="000000"/>
                          </a:solidFill>
                          <a:latin typeface="Marianne Light"/>
                        </a:rPr>
                        <a:t>kg</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1" lang="en-FR" sz="1490" spc="-1" strike="noStrike">
                          <a:solidFill>
                            <a:srgbClr val="000000"/>
                          </a:solidFill>
                          <a:latin typeface="Aptos"/>
                        </a:rPr>
                        <a:t>-</a:t>
                      </a:r>
                      <a:endParaRPr b="0" lang="fr-FR" sz="149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chemeClr val="dk1"/>
                          </a:solidFill>
                          <a:latin typeface="Marianne Medium"/>
                        </a:rPr>
                        <a:t>Acide perfluorohexane sulfonique (PFHxS) et ses sels</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en-FR" sz="1100" spc="-1" strike="noStrike">
                          <a:solidFill>
                            <a:srgbClr val="000000"/>
                          </a:solidFill>
                          <a:latin typeface="Marianne Light"/>
                        </a:rPr>
                        <a:t>kg</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1" lang="en-FR" sz="1490" spc="-1" strike="noStrike">
                          <a:solidFill>
                            <a:srgbClr val="000000"/>
                          </a:solidFill>
                          <a:latin typeface="Aptos"/>
                        </a:rPr>
                        <a:t>-</a:t>
                      </a:r>
                      <a:endParaRPr b="0" lang="fr-FR" sz="149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20760">
                <a:tc>
                  <a:txBody>
                    <a:bodyPr anchor="ctr">
                      <a:noAutofit/>
                    </a:bodyPr>
                    <a:p>
                      <a:pPr defTabSz="756000">
                        <a:lnSpc>
                          <a:spcPct val="100000"/>
                        </a:lnSpc>
                      </a:pPr>
                      <a:r>
                        <a:rPr b="0" lang="en-US" sz="1100" spc="-1" strike="noStrike">
                          <a:solidFill>
                            <a:schemeClr val="dk1"/>
                          </a:solidFill>
                          <a:latin typeface="Marianne Medium"/>
                        </a:rPr>
                        <a:t>Carbone organique total (TOC) (en C total ou DCO/3)</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en-FR" sz="1100" spc="-1" strike="noStrike">
                          <a:solidFill>
                            <a:schemeClr val="dk1"/>
                          </a:solidFill>
                          <a:latin typeface="Marianne Light"/>
                        </a:rPr>
                        <a:t>tonnes</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1" lang="en-FR" sz="1490" spc="-1" strike="noStrike">
                          <a:solidFill>
                            <a:srgbClr val="000000"/>
                          </a:solidFill>
                          <a:latin typeface="Aptos"/>
                        </a:rPr>
                        <a:t>-</a:t>
                      </a:r>
                      <a:endParaRPr b="0" lang="fr-FR" sz="149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1"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392"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393" name="Rounded Rectangle 3"/>
          <p:cNvSpPr/>
          <p:nvPr/>
        </p:nvSpPr>
        <p:spPr>
          <a:xfrm rot="16200000">
            <a:off x="3985560" y="-322560"/>
            <a:ext cx="39456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145c30"/>
                </a:solidFill>
                <a:latin typeface="Marianne"/>
              </a:rPr>
              <a:t>B4</a:t>
            </a:r>
            <a:r>
              <a:rPr b="0" lang="fr-FR" sz="1400" spc="-1" strike="noStrike">
                <a:solidFill>
                  <a:srgbClr val="145c30"/>
                </a:solidFill>
                <a:latin typeface="Marianne Medium"/>
              </a:rPr>
              <a:t> </a:t>
            </a:r>
            <a:r>
              <a:rPr b="0" lang="fr-FR" sz="1400" spc="-1" strike="noStrike">
                <a:solidFill>
                  <a:srgbClr val="145c30"/>
                </a:solidFill>
                <a:latin typeface="Marianne"/>
              </a:rPr>
              <a:t>Pollution de l’air, de l’eau et des sols </a:t>
            </a:r>
            <a:endParaRPr b="0" lang="fr-FR" sz="1400" spc="-1" strike="noStrike">
              <a:solidFill>
                <a:srgbClr val="000000"/>
              </a:solidFill>
              <a:latin typeface="Arial"/>
            </a:endParaRPr>
          </a:p>
        </p:txBody>
      </p:sp>
      <p:cxnSp>
        <p:nvCxnSpPr>
          <p:cNvPr id="394" name="Straight Connector 17"/>
          <p:cNvCxnSpPr/>
          <p:nvPr/>
        </p:nvCxnSpPr>
        <p:spPr>
          <a:xfrm>
            <a:off x="893160" y="2525400"/>
            <a:ext cx="4680" cy="426240"/>
          </a:xfrm>
          <a:prstGeom prst="straightConnector1">
            <a:avLst/>
          </a:prstGeom>
          <a:ln w="3175">
            <a:solidFill>
              <a:srgbClr val="a6a6a6"/>
            </a:solidFill>
            <a:round/>
          </a:ln>
        </p:spPr>
      </p:cxnSp>
      <p:pic>
        <p:nvPicPr>
          <p:cNvPr id="395"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396" name="Rounded Rectangle 4"/>
          <p:cNvSpPr/>
          <p:nvPr/>
        </p:nvSpPr>
        <p:spPr>
          <a:xfrm>
            <a:off x="410400" y="3282480"/>
            <a:ext cx="6734160" cy="695844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Pollution des sols</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Non pertinent</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sp>
        <p:nvSpPr>
          <p:cNvPr id="397"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398" name="TextBox 7"/>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399" name="TextBox 8"/>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400" name="TextBox 9"/>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1"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402"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403" name="Rounded Rectangle 3"/>
          <p:cNvSpPr/>
          <p:nvPr/>
        </p:nvSpPr>
        <p:spPr>
          <a:xfrm rot="16200000">
            <a:off x="3985560" y="-322560"/>
            <a:ext cx="39456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145c30"/>
                </a:solidFill>
                <a:latin typeface="Marianne"/>
              </a:rPr>
              <a:t>B5</a:t>
            </a:r>
            <a:r>
              <a:rPr b="0" lang="fr-FR" sz="1400" spc="-1" strike="noStrike">
                <a:solidFill>
                  <a:srgbClr val="145c30"/>
                </a:solidFill>
                <a:latin typeface="Marianne Medium"/>
              </a:rPr>
              <a:t> </a:t>
            </a:r>
            <a:r>
              <a:rPr b="0" lang="fr-FR" sz="1400" spc="-1" strike="noStrike">
                <a:solidFill>
                  <a:srgbClr val="145c30"/>
                </a:solidFill>
                <a:latin typeface="Marianne"/>
              </a:rPr>
              <a:t>Biodiversité</a:t>
            </a:r>
            <a:endParaRPr b="0" lang="fr-FR" sz="1400" spc="-1" strike="noStrike">
              <a:solidFill>
                <a:srgbClr val="000000"/>
              </a:solidFill>
              <a:latin typeface="Arial"/>
            </a:endParaRPr>
          </a:p>
        </p:txBody>
      </p:sp>
      <p:cxnSp>
        <p:nvCxnSpPr>
          <p:cNvPr id="404" name="Straight Connector 17"/>
          <p:cNvCxnSpPr/>
          <p:nvPr/>
        </p:nvCxnSpPr>
        <p:spPr>
          <a:xfrm>
            <a:off x="893160" y="2525400"/>
            <a:ext cx="4680" cy="426240"/>
          </a:xfrm>
          <a:prstGeom prst="straightConnector1">
            <a:avLst/>
          </a:prstGeom>
          <a:ln w="3175">
            <a:solidFill>
              <a:srgbClr val="a6a6a6"/>
            </a:solidFill>
            <a:round/>
          </a:ln>
        </p:spPr>
      </p:cxnSp>
      <p:pic>
        <p:nvPicPr>
          <p:cNvPr id="405"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406" name="Rounded Rectangle 6"/>
          <p:cNvSpPr/>
          <p:nvPr/>
        </p:nvSpPr>
        <p:spPr>
          <a:xfrm>
            <a:off x="410400" y="3204360"/>
            <a:ext cx="6734160" cy="703656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Sites situés dans les zones sensibles sur le plan de biodiversité</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L'entreprise ne dispose pas de sites situés dans ou à proximité de zones sensibles sur le plan de la biodiversité.</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sp>
        <p:nvSpPr>
          <p:cNvPr id="407"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408" name="TextBox 9"/>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409" name="TextBox 10"/>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410" name="TextBox 11"/>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1"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412"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413" name="Rounded Rectangle 3"/>
          <p:cNvSpPr/>
          <p:nvPr/>
        </p:nvSpPr>
        <p:spPr>
          <a:xfrm rot="16200000">
            <a:off x="3985560" y="-322560"/>
            <a:ext cx="39456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145c30"/>
                </a:solidFill>
                <a:latin typeface="Marianne"/>
              </a:rPr>
              <a:t>B5</a:t>
            </a:r>
            <a:r>
              <a:rPr b="0" lang="fr-FR" sz="1400" spc="-1" strike="noStrike">
                <a:solidFill>
                  <a:srgbClr val="145c30"/>
                </a:solidFill>
                <a:latin typeface="Marianne Medium"/>
              </a:rPr>
              <a:t> </a:t>
            </a:r>
            <a:r>
              <a:rPr b="0" lang="fr-FR" sz="1400" spc="-1" strike="noStrike">
                <a:solidFill>
                  <a:srgbClr val="145c30"/>
                </a:solidFill>
                <a:latin typeface="Marianne"/>
              </a:rPr>
              <a:t>Biodiversité</a:t>
            </a:r>
            <a:endParaRPr b="0" lang="fr-FR" sz="1400" spc="-1" strike="noStrike">
              <a:solidFill>
                <a:srgbClr val="000000"/>
              </a:solidFill>
              <a:latin typeface="Arial"/>
            </a:endParaRPr>
          </a:p>
        </p:txBody>
      </p:sp>
      <p:cxnSp>
        <p:nvCxnSpPr>
          <p:cNvPr id="414" name="Straight Connector 17"/>
          <p:cNvCxnSpPr/>
          <p:nvPr/>
        </p:nvCxnSpPr>
        <p:spPr>
          <a:xfrm>
            <a:off x="893160" y="2525400"/>
            <a:ext cx="4680" cy="426240"/>
          </a:xfrm>
          <a:prstGeom prst="straightConnector1">
            <a:avLst/>
          </a:prstGeom>
          <a:ln w="3175">
            <a:solidFill>
              <a:srgbClr val="a6a6a6"/>
            </a:solidFill>
            <a:round/>
          </a:ln>
        </p:spPr>
      </p:cxnSp>
      <p:pic>
        <p:nvPicPr>
          <p:cNvPr id="415"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416" name="Rounded Rectangle 6"/>
          <p:cNvSpPr/>
          <p:nvPr/>
        </p:nvSpPr>
        <p:spPr>
          <a:xfrm>
            <a:off x="461520" y="4295160"/>
            <a:ext cx="6734160" cy="632052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Sites situés dans les zones sensibles sur le plan de biodiversité</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sp>
        <p:nvSpPr>
          <p:cNvPr id="417"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418" name="TextBox 9"/>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419" name="TextBox 10"/>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420" name="TextBox 11"/>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graphicFrame>
        <p:nvGraphicFramePr>
          <p:cNvPr id="421" name="Table 4"/>
          <p:cNvGraphicFramePr/>
          <p:nvPr/>
        </p:nvGraphicFramePr>
        <p:xfrm>
          <a:off x="649080" y="4860000"/>
          <a:ext cx="6190560" cy="3059280"/>
        </p:xfrm>
        <a:graphic>
          <a:graphicData uri="http://schemas.openxmlformats.org/drawingml/2006/table">
            <a:tbl>
              <a:tblPr/>
              <a:tblGrid>
                <a:gridCol w="1986480"/>
                <a:gridCol w="1187280"/>
                <a:gridCol w="1469160"/>
                <a:gridCol w="1548000"/>
              </a:tblGrid>
              <a:tr h="645120">
                <a:tc>
                  <a:txBody>
                    <a:bodyPr lIns="108000" rIns="108000" anchor="ctr">
                      <a:noAutofit/>
                    </a:bodyPr>
                    <a:p>
                      <a:pPr algn="ctr" defTabSz="756000">
                        <a:lnSpc>
                          <a:spcPct val="100000"/>
                        </a:lnSpc>
                      </a:pPr>
                      <a:r>
                        <a:rPr b="0" lang="fr-FR" sz="1100" spc="-1" strike="noStrike">
                          <a:solidFill>
                            <a:srgbClr val="145c30"/>
                          </a:solidFill>
                          <a:latin typeface="Marianne Light"/>
                        </a:rPr>
                        <a:t>Site (enregistré dans B1)</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pPr>
                      <a:r>
                        <a:rPr b="0" lang="fr-FR" sz="1100" spc="-1" strike="noStrike">
                          <a:solidFill>
                            <a:srgbClr val="145c30"/>
                          </a:solidFill>
                          <a:latin typeface="Marianne Light"/>
                        </a:rPr>
                        <a:t>Superficie </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pPr>
                      <a:r>
                        <a:rPr b="0" lang="fr-FR" sz="1100" spc="-1" strike="noStrike">
                          <a:solidFill>
                            <a:srgbClr val="145c30"/>
                          </a:solidFill>
                          <a:latin typeface="Marianne Light"/>
                        </a:rPr>
                        <a:t>Site situé dans une zone sensible</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pPr>
                      <a:r>
                        <a:rPr b="0" lang="fr-FR" sz="1100" spc="-1" strike="noStrike">
                          <a:solidFill>
                            <a:srgbClr val="145c30"/>
                          </a:solidFill>
                          <a:latin typeface="Marianne Light"/>
                        </a:rPr>
                        <a:t>Site à proximité d'une zone sensible</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r>
              <a:tr h="394920">
                <a:tc>
                  <a:txBody>
                    <a:bodyPr anchor="ctr">
                      <a:noAutofit/>
                    </a:bodyPr>
                    <a:p>
                      <a:pPr algn="ctr" defTabSz="756000">
                        <a:lnSpc>
                          <a:spcPct val="100000"/>
                        </a:lnSpc>
                      </a:pPr>
                      <a:r>
                        <a:rPr b="0" lang="fr-FR" sz="1100" spc="-1" strike="noStrike">
                          <a:solidFill>
                            <a:schemeClr val="dk1"/>
                          </a:solidFill>
                          <a:latin typeface="Marianne Medium"/>
                        </a:rPr>
                        <a:t>Aaaaa</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fr-FR" sz="1100" spc="-1" strike="noStrike">
                          <a:solidFill>
                            <a:schemeClr val="dk1"/>
                          </a:solidFill>
                          <a:latin typeface="Marianne Medium"/>
                        </a:rPr>
                        <a:t>300</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r>
              <a:tr h="394920">
                <a:tc>
                  <a:txBody>
                    <a:bodyPr anchor="ctr">
                      <a:noAutofit/>
                    </a:bodyPr>
                    <a:p>
                      <a:pPr algn="ctr" defTabSz="756000">
                        <a:lnSpc>
                          <a:spcPct val="100000"/>
                        </a:lnSpc>
                      </a:pPr>
                      <a:r>
                        <a:rPr b="0" lang="fr-FR" sz="1100" spc="-1" strike="noStrike">
                          <a:solidFill>
                            <a:schemeClr val="dk1"/>
                          </a:solidFill>
                          <a:latin typeface="Marianne Medium"/>
                        </a:rPr>
                        <a:t>Aaaaa</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fr-FR" sz="1100" spc="-1" strike="noStrike">
                          <a:solidFill>
                            <a:schemeClr val="dk1"/>
                          </a:solidFill>
                          <a:latin typeface="Marianne Medium"/>
                        </a:rPr>
                        <a:t>300</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03480">
                <a:tc>
                  <a:txBody>
                    <a:bodyPr anchor="ctr">
                      <a:noAutofit/>
                    </a:bodyPr>
                    <a:p>
                      <a:pPr algn="ctr" defTabSz="756000">
                        <a:lnSpc>
                          <a:spcPct val="100000"/>
                        </a:lnSpc>
                      </a:pPr>
                      <a:r>
                        <a:rPr b="0" lang="fr-FR" sz="1100" spc="-1" strike="noStrike">
                          <a:solidFill>
                            <a:schemeClr val="dk1"/>
                          </a:solidFill>
                          <a:latin typeface="Marianne Medium"/>
                        </a:rPr>
                        <a:t>Aaaaa</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fr-FR" sz="1100" spc="-1" strike="noStrike">
                          <a:solidFill>
                            <a:schemeClr val="dk1"/>
                          </a:solidFill>
                          <a:latin typeface="Marianne Medium"/>
                        </a:rPr>
                        <a:t>300</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550080">
                <a:tc>
                  <a:txBody>
                    <a:bodyPr anchor="ctr">
                      <a:noAutofit/>
                    </a:bodyPr>
                    <a:p>
                      <a:pPr algn="ctr" defTabSz="756000">
                        <a:lnSpc>
                          <a:spcPct val="100000"/>
                        </a:lnSpc>
                      </a:pPr>
                      <a:r>
                        <a:rPr b="0" lang="fr-FR" sz="1100" spc="-1" strike="noStrike">
                          <a:solidFill>
                            <a:schemeClr val="dk1"/>
                          </a:solidFill>
                          <a:latin typeface="Marianne Medium"/>
                        </a:rPr>
                        <a:t>Aaaaa</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fr-FR" sz="1100" spc="-1" strike="noStrike">
                          <a:solidFill>
                            <a:schemeClr val="dk1"/>
                          </a:solidFill>
                          <a:latin typeface="Marianne Medium"/>
                        </a:rPr>
                        <a:t>300</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94920">
                <a:tc>
                  <a:txBody>
                    <a:bodyPr anchor="ctr">
                      <a:noAutofit/>
                    </a:bodyPr>
                    <a:p>
                      <a:pPr algn="ctr" defTabSz="756000">
                        <a:lnSpc>
                          <a:spcPct val="100000"/>
                        </a:lnSpc>
                      </a:pPr>
                      <a:r>
                        <a:rPr b="0" lang="fr-FR" sz="1100" spc="-1" strike="noStrike">
                          <a:solidFill>
                            <a:schemeClr val="dk1"/>
                          </a:solidFill>
                          <a:latin typeface="Marianne Medium"/>
                        </a:rPr>
                        <a:t>Aaaaa</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fr-FR" sz="1100" spc="-1" strike="noStrike">
                          <a:solidFill>
                            <a:schemeClr val="dk1"/>
                          </a:solidFill>
                          <a:latin typeface="Marianne Medium"/>
                        </a:rPr>
                        <a:t>300</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75840">
                <a:tc>
                  <a:txBody>
                    <a:bodyPr anchor="ctr">
                      <a:noAutofit/>
                    </a:bodyPr>
                    <a:p>
                      <a:pPr algn="ctr" defTabSz="756000">
                        <a:lnSpc>
                          <a:spcPct val="100000"/>
                        </a:lnSpc>
                      </a:pPr>
                      <a:r>
                        <a:rPr b="0" lang="fr-FR" sz="1100" spc="-1" strike="noStrike">
                          <a:solidFill>
                            <a:schemeClr val="dk1"/>
                          </a:solidFill>
                          <a:latin typeface="Marianne Medium"/>
                        </a:rPr>
                        <a:t>Aaaaa</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fr-FR" sz="1100" spc="-1" strike="noStrike">
                          <a:solidFill>
                            <a:schemeClr val="dk1"/>
                          </a:solidFill>
                          <a:latin typeface="Marianne Medium"/>
                        </a:rPr>
                        <a:t>300</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bl>
          </a:graphicData>
        </a:graphic>
      </p:graphicFrame>
      <p:sp>
        <p:nvSpPr>
          <p:cNvPr id="422" name="Rounded Rectangle 16"/>
          <p:cNvSpPr/>
          <p:nvPr/>
        </p:nvSpPr>
        <p:spPr>
          <a:xfrm>
            <a:off x="461160" y="3260160"/>
            <a:ext cx="6734160" cy="793800"/>
          </a:xfrm>
          <a:prstGeom prst="roundRect">
            <a:avLst>
              <a:gd name="adj" fmla="val 7434"/>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145c30"/>
                </a:solidFill>
                <a:latin typeface="Marianne Light"/>
              </a:rPr>
              <a:t>Unité de surface</a:t>
            </a:r>
            <a:endParaRPr b="0" lang="fr-FR" sz="1200" spc="-1" strike="noStrike">
              <a:solidFill>
                <a:srgbClr val="000000"/>
              </a:solidFill>
              <a:latin typeface="Arial"/>
            </a:endParaRPr>
          </a:p>
          <a:p>
            <a:pPr defTabSz="457200">
              <a:lnSpc>
                <a:spcPct val="100000"/>
              </a:lnSpc>
            </a:pPr>
            <a:r>
              <a:rPr b="0" lang="en-GB" sz="1200" spc="-1" strike="noStrike">
                <a:solidFill>
                  <a:srgbClr val="000000"/>
                </a:solidFill>
                <a:latin typeface="Marianne Medium"/>
              </a:rPr>
              <a:t>-</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3"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424"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425" name="Rounded Rectangle 3"/>
          <p:cNvSpPr/>
          <p:nvPr/>
        </p:nvSpPr>
        <p:spPr>
          <a:xfrm rot="16200000">
            <a:off x="3985560" y="-322560"/>
            <a:ext cx="39456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145c30"/>
                </a:solidFill>
                <a:latin typeface="Marianne"/>
              </a:rPr>
              <a:t>B5</a:t>
            </a:r>
            <a:r>
              <a:rPr b="0" lang="fr-FR" sz="1400" spc="-1" strike="noStrike">
                <a:solidFill>
                  <a:srgbClr val="145c30"/>
                </a:solidFill>
                <a:latin typeface="Marianne Medium"/>
              </a:rPr>
              <a:t> </a:t>
            </a:r>
            <a:r>
              <a:rPr b="0" lang="fr-FR" sz="1400" spc="-1" strike="noStrike">
                <a:solidFill>
                  <a:srgbClr val="145c30"/>
                </a:solidFill>
                <a:latin typeface="Marianne"/>
              </a:rPr>
              <a:t>Biodiversité</a:t>
            </a:r>
            <a:endParaRPr b="0" lang="fr-FR" sz="1400" spc="-1" strike="noStrike">
              <a:solidFill>
                <a:srgbClr val="000000"/>
              </a:solidFill>
              <a:latin typeface="Arial"/>
            </a:endParaRPr>
          </a:p>
        </p:txBody>
      </p:sp>
      <p:cxnSp>
        <p:nvCxnSpPr>
          <p:cNvPr id="426" name="Straight Connector 17"/>
          <p:cNvCxnSpPr/>
          <p:nvPr/>
        </p:nvCxnSpPr>
        <p:spPr>
          <a:xfrm>
            <a:off x="893160" y="2525400"/>
            <a:ext cx="4680" cy="426240"/>
          </a:xfrm>
          <a:prstGeom prst="straightConnector1">
            <a:avLst/>
          </a:prstGeom>
          <a:ln w="3175">
            <a:solidFill>
              <a:srgbClr val="a6a6a6"/>
            </a:solidFill>
            <a:round/>
          </a:ln>
        </p:spPr>
      </p:cxnSp>
      <p:pic>
        <p:nvPicPr>
          <p:cNvPr id="427"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428"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429" name="TextBox 9"/>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430" name="TextBox 10"/>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431" name="TextBox 11"/>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432" name="Rounded Rectangle 4"/>
          <p:cNvSpPr/>
          <p:nvPr/>
        </p:nvSpPr>
        <p:spPr>
          <a:xfrm>
            <a:off x="410400" y="3204360"/>
            <a:ext cx="6734160" cy="620496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Affectation des terres</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Non pertinent</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3"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434"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435" name="Rounded Rectangle 3"/>
          <p:cNvSpPr/>
          <p:nvPr/>
        </p:nvSpPr>
        <p:spPr>
          <a:xfrm rot="16200000">
            <a:off x="3985560" y="-322560"/>
            <a:ext cx="39456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145c30"/>
                </a:solidFill>
                <a:latin typeface="Marianne"/>
              </a:rPr>
              <a:t>B5</a:t>
            </a:r>
            <a:r>
              <a:rPr b="0" lang="fr-FR" sz="1400" spc="-1" strike="noStrike">
                <a:solidFill>
                  <a:srgbClr val="145c30"/>
                </a:solidFill>
                <a:latin typeface="Marianne Medium"/>
              </a:rPr>
              <a:t> </a:t>
            </a:r>
            <a:r>
              <a:rPr b="0" lang="fr-FR" sz="1400" spc="-1" strike="noStrike">
                <a:solidFill>
                  <a:srgbClr val="145c30"/>
                </a:solidFill>
                <a:latin typeface="Marianne"/>
              </a:rPr>
              <a:t>Biodiversité</a:t>
            </a:r>
            <a:endParaRPr b="0" lang="fr-FR" sz="1400" spc="-1" strike="noStrike">
              <a:solidFill>
                <a:srgbClr val="000000"/>
              </a:solidFill>
              <a:latin typeface="Arial"/>
            </a:endParaRPr>
          </a:p>
        </p:txBody>
      </p:sp>
      <p:cxnSp>
        <p:nvCxnSpPr>
          <p:cNvPr id="436" name="Straight Connector 17"/>
          <p:cNvCxnSpPr/>
          <p:nvPr/>
        </p:nvCxnSpPr>
        <p:spPr>
          <a:xfrm>
            <a:off x="893160" y="2525400"/>
            <a:ext cx="4680" cy="426240"/>
          </a:xfrm>
          <a:prstGeom prst="straightConnector1">
            <a:avLst/>
          </a:prstGeom>
          <a:ln w="3175">
            <a:solidFill>
              <a:srgbClr val="a6a6a6"/>
            </a:solidFill>
            <a:round/>
          </a:ln>
        </p:spPr>
      </p:cxnSp>
      <p:pic>
        <p:nvPicPr>
          <p:cNvPr id="437"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438" name="Rounded Rectangle 6"/>
          <p:cNvSpPr/>
          <p:nvPr/>
        </p:nvSpPr>
        <p:spPr>
          <a:xfrm>
            <a:off x="410400" y="3204360"/>
            <a:ext cx="6734160" cy="620496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Affectation des terres</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graphicFrame>
        <p:nvGraphicFramePr>
          <p:cNvPr id="439" name="Table 7"/>
          <p:cNvGraphicFramePr/>
          <p:nvPr/>
        </p:nvGraphicFramePr>
        <p:xfrm>
          <a:off x="639360" y="3790080"/>
          <a:ext cx="6239880" cy="3804840"/>
        </p:xfrm>
        <a:graphic>
          <a:graphicData uri="http://schemas.openxmlformats.org/drawingml/2006/table">
            <a:tbl>
              <a:tblPr/>
              <a:tblGrid>
                <a:gridCol w="2080080"/>
                <a:gridCol w="2080080"/>
                <a:gridCol w="2080080"/>
              </a:tblGrid>
              <a:tr h="721800">
                <a:tc>
                  <a:txBody>
                    <a:bodyPr lIns="108000" rIns="108000" anchor="ctr">
                      <a:noAutofit/>
                    </a:bodyPr>
                    <a:p>
                      <a:pPr algn="ctr" defTabSz="756000">
                        <a:lnSpc>
                          <a:spcPct val="100000"/>
                        </a:lnSpc>
                      </a:pPr>
                      <a:r>
                        <a:rPr b="0" lang="fr-FR" sz="1100" spc="-1" strike="noStrike">
                          <a:solidFill>
                            <a:srgbClr val="145c30"/>
                          </a:solidFill>
                          <a:latin typeface="Marianne Light"/>
                        </a:rPr>
                        <a:t>Affectation des terres</a:t>
                      </a:r>
                      <a:endParaRPr b="0" lang="fr-FR" sz="1100" spc="-1" strike="noStrike">
                        <a:solidFill>
                          <a:srgbClr val="000000"/>
                        </a:solidFill>
                        <a:latin typeface="Arial"/>
                      </a:endParaRPr>
                    </a:p>
                  </a:txBody>
                  <a:tcPr anchor="ctr" marL="108000" marR="108000">
                    <a:lnL w="12240">
                      <a:noFill/>
                      <a:prstDash val="solid"/>
                    </a:lnL>
                    <a:lnR w="12240">
                      <a:solidFill>
                        <a:srgbClr val="ffffff"/>
                      </a:solidFill>
                      <a:prstDash val="solid"/>
                    </a:lnR>
                    <a:lnT w="12240">
                      <a:noFill/>
                      <a:prstDash val="solid"/>
                    </a:lnT>
                    <a:lnB w="12240">
                      <a:solidFill>
                        <a:srgbClr val="ffffff"/>
                      </a:solidFill>
                      <a:prstDash val="solid"/>
                    </a:lnB>
                    <a:solidFill>
                      <a:srgbClr val="ebeeed"/>
                    </a:solidFill>
                  </a:tcPr>
                </a:tc>
                <a:tc>
                  <a:txBody>
                    <a:bodyPr lIns="108000" rIns="108000" anchor="ctr">
                      <a:noAutofit/>
                    </a:bodyPr>
                    <a:p>
                      <a:pPr algn="ctr" defTabSz="756000">
                        <a:lnSpc>
                          <a:spcPct val="100000"/>
                        </a:lnSpc>
                      </a:pPr>
                      <a:r>
                        <a:rPr b="0" lang="fr-FR" sz="1100" spc="-1" strike="noStrike">
                          <a:solidFill>
                            <a:srgbClr val="145c30"/>
                          </a:solidFill>
                          <a:latin typeface="Marianne Light"/>
                        </a:rPr>
                        <a:t>Superficie</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noFill/>
                      <a:prstDash val="solid"/>
                    </a:lnT>
                    <a:lnB w="12240">
                      <a:solidFill>
                        <a:srgbClr val="ffffff"/>
                      </a:solidFill>
                      <a:prstDash val="solid"/>
                    </a:lnB>
                    <a:solidFill>
                      <a:srgbClr val="ebee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Unité</a:t>
                      </a:r>
                      <a:endParaRPr b="0" lang="fr-FR" sz="1100" spc="-1" strike="noStrike">
                        <a:solidFill>
                          <a:srgbClr val="000000"/>
                        </a:solidFill>
                        <a:latin typeface="Arial"/>
                      </a:endParaRPr>
                    </a:p>
                  </a:txBody>
                  <a:tcPr anchor="ctr" marL="108000" marR="108000">
                    <a:lnL w="12240">
                      <a:solidFill>
                        <a:srgbClr val="ffffff"/>
                      </a:solidFill>
                      <a:prstDash val="solid"/>
                    </a:lnL>
                    <a:lnR w="12240">
                      <a:noFill/>
                      <a:prstDash val="solid"/>
                    </a:lnR>
                    <a:lnT w="12240">
                      <a:noFill/>
                      <a:prstDash val="solid"/>
                    </a:lnT>
                    <a:lnB w="12240">
                      <a:solidFill>
                        <a:srgbClr val="ffffff"/>
                      </a:solidFill>
                      <a:prstDash val="solid"/>
                    </a:lnB>
                    <a:solidFill>
                      <a:srgbClr val="ebeeed"/>
                    </a:solidFill>
                  </a:tcPr>
                </a:tc>
              </a:tr>
              <a:tr h="770760">
                <a:tc>
                  <a:txBody>
                    <a:bodyPr anchor="ctr">
                      <a:noAutofit/>
                    </a:bodyPr>
                    <a:p>
                      <a:pPr defTabSz="756000">
                        <a:lnSpc>
                          <a:spcPct val="100000"/>
                        </a:lnSpc>
                      </a:pPr>
                      <a:r>
                        <a:rPr b="0" lang="en-FR" sz="1100" spc="-1" strike="noStrike">
                          <a:solidFill>
                            <a:schemeClr val="dk1"/>
                          </a:solidFill>
                          <a:latin typeface="Marianne Medium"/>
                        </a:rPr>
                        <a:t>Surface totale imperméabilisée</a:t>
                      </a:r>
                      <a:endParaRPr b="0" lang="fr-FR" sz="1100" spc="-1" strike="noStrike">
                        <a:solidFill>
                          <a:srgbClr val="000000"/>
                        </a:solidFill>
                        <a:latin typeface="Arial"/>
                      </a:endParaRPr>
                    </a:p>
                  </a:txBody>
                  <a:tcPr anchor="ctr" marL="91440" marR="91440">
                    <a:lnL w="12240">
                      <a:no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pPr>
                      <a:r>
                        <a:rPr b="0" lang="fr-FR" sz="1100" spc="-1" strike="noStrike">
                          <a:solidFill>
                            <a:schemeClr val="dk1"/>
                          </a:solidFill>
                          <a:latin typeface="Marianne Medium"/>
                        </a:rPr>
                        <a:t>300</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chemeClr val="dk1"/>
                          </a:solidFill>
                          <a:latin typeface="Marianne Medium"/>
                        </a:rPr>
                        <a:t>m²</a:t>
                      </a:r>
                      <a:endParaRPr b="0" lang="fr-FR" sz="1100" spc="-1" strike="noStrike">
                        <a:solidFill>
                          <a:srgbClr val="000000"/>
                        </a:solidFill>
                        <a:latin typeface="Arial"/>
                      </a:endParaRPr>
                    </a:p>
                  </a:txBody>
                  <a:tcPr anchor="ctr" marL="91440" marR="91440">
                    <a:lnL w="12240">
                      <a:solidFill>
                        <a:srgbClr val="ffffff"/>
                      </a:solidFill>
                      <a:prstDash val="solid"/>
                    </a:lnL>
                    <a:lnR w="12240">
                      <a:noFill/>
                      <a:prstDash val="solid"/>
                    </a:lnR>
                    <a:lnT w="12240">
                      <a:solidFill>
                        <a:srgbClr val="ffffff"/>
                      </a:solidFill>
                      <a:prstDash val="solid"/>
                    </a:lnT>
                    <a:lnB w="12240">
                      <a:solidFill>
                        <a:srgbClr val="ffffff"/>
                      </a:solidFill>
                      <a:prstDash val="solid"/>
                    </a:lnB>
                    <a:solidFill>
                      <a:schemeClr val="lt1">
                        <a:lumMod val="95000"/>
                      </a:schemeClr>
                    </a:solidFill>
                  </a:tcPr>
                </a:tc>
              </a:tr>
              <a:tr h="770760">
                <a:tc>
                  <a:txBody>
                    <a:bodyPr anchor="ctr">
                      <a:noAutofit/>
                    </a:bodyPr>
                    <a:p>
                      <a:pPr defTabSz="756000">
                        <a:lnSpc>
                          <a:spcPct val="100000"/>
                        </a:lnSpc>
                      </a:pPr>
                      <a:r>
                        <a:rPr b="0" lang="en-FR" sz="1100" spc="-1" strike="noStrike">
                          <a:solidFill>
                            <a:schemeClr val="dk1"/>
                          </a:solidFill>
                          <a:latin typeface="Marianne Medium"/>
                        </a:rPr>
                        <a:t>Surface respecteuse de la nature sur le site</a:t>
                      </a:r>
                      <a:endParaRPr b="0" lang="fr-FR" sz="1100" spc="-1" strike="noStrike">
                        <a:solidFill>
                          <a:srgbClr val="000000"/>
                        </a:solidFill>
                        <a:latin typeface="Arial"/>
                      </a:endParaRPr>
                    </a:p>
                  </a:txBody>
                  <a:tcPr anchor="ctr" marL="91440" marR="91440">
                    <a:lnL w="12240">
                      <a:no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pPr>
                      <a:r>
                        <a:rPr b="0" lang="fr-FR" sz="1100" spc="-1" strike="noStrike">
                          <a:solidFill>
                            <a:schemeClr val="dk1"/>
                          </a:solidFill>
                          <a:latin typeface="Marianne Medium"/>
                        </a:rPr>
                        <a:t>300</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m²</a:t>
                      </a:r>
                      <a:endParaRPr b="0" lang="fr-FR" sz="1100" spc="-1" strike="noStrike">
                        <a:solidFill>
                          <a:srgbClr val="000000"/>
                        </a:solidFill>
                        <a:latin typeface="Arial"/>
                      </a:endParaRPr>
                    </a:p>
                  </a:txBody>
                  <a:tcPr anchor="ctr" marL="91440" marR="91440">
                    <a:lnL w="12240">
                      <a:solidFill>
                        <a:srgbClr val="ffffff"/>
                      </a:solidFill>
                      <a:prstDash val="solid"/>
                    </a:lnL>
                    <a:lnR w="12240">
                      <a:noFill/>
                      <a:prstDash val="solid"/>
                    </a:lnR>
                    <a:lnT w="12240">
                      <a:solidFill>
                        <a:srgbClr val="ffffff"/>
                      </a:solidFill>
                      <a:prstDash val="solid"/>
                    </a:lnT>
                    <a:lnB w="12240">
                      <a:solidFill>
                        <a:srgbClr val="ffffff"/>
                      </a:solidFill>
                      <a:prstDash val="solid"/>
                    </a:lnB>
                    <a:solidFill>
                      <a:schemeClr val="lt1">
                        <a:lumMod val="95000"/>
                      </a:schemeClr>
                    </a:solidFill>
                  </a:tcPr>
                </a:tc>
              </a:tr>
              <a:tr h="770760">
                <a:tc>
                  <a:txBody>
                    <a:bodyPr anchor="ctr">
                      <a:noAutofit/>
                    </a:bodyPr>
                    <a:p>
                      <a:pPr defTabSz="756000">
                        <a:lnSpc>
                          <a:spcPct val="100000"/>
                        </a:lnSpc>
                      </a:pPr>
                      <a:r>
                        <a:rPr b="0" lang="en-FR" sz="1100" spc="-1" strike="noStrike">
                          <a:solidFill>
                            <a:schemeClr val="dk1"/>
                          </a:solidFill>
                          <a:latin typeface="Marianne Medium"/>
                        </a:rPr>
                        <a:t>Surface respecteuse de la nature hors site</a:t>
                      </a:r>
                      <a:endParaRPr b="0" lang="fr-FR" sz="1100" spc="-1" strike="noStrike">
                        <a:solidFill>
                          <a:srgbClr val="000000"/>
                        </a:solidFill>
                        <a:latin typeface="Arial"/>
                      </a:endParaRPr>
                    </a:p>
                  </a:txBody>
                  <a:tcPr anchor="ctr" marL="91440" marR="91440">
                    <a:lnL w="12240">
                      <a:no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pPr>
                      <a:r>
                        <a:rPr b="0" lang="fr-FR" sz="1100" spc="-1" strike="noStrike">
                          <a:solidFill>
                            <a:schemeClr val="dk1"/>
                          </a:solidFill>
                          <a:latin typeface="Marianne Medium"/>
                        </a:rPr>
                        <a:t>300</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m²</a:t>
                      </a:r>
                      <a:endParaRPr b="0" lang="fr-FR" sz="1100" spc="-1" strike="noStrike">
                        <a:solidFill>
                          <a:srgbClr val="000000"/>
                        </a:solidFill>
                        <a:latin typeface="Arial"/>
                      </a:endParaRPr>
                    </a:p>
                  </a:txBody>
                  <a:tcPr anchor="ctr" marL="91440" marR="91440">
                    <a:lnL w="12240">
                      <a:solidFill>
                        <a:srgbClr val="ffffff"/>
                      </a:solidFill>
                      <a:prstDash val="solid"/>
                    </a:lnL>
                    <a:lnR w="12240">
                      <a:noFill/>
                      <a:prstDash val="solid"/>
                    </a:lnR>
                    <a:lnT w="12240">
                      <a:solidFill>
                        <a:srgbClr val="ffffff"/>
                      </a:solidFill>
                      <a:prstDash val="solid"/>
                    </a:lnT>
                    <a:lnB w="12240">
                      <a:solidFill>
                        <a:srgbClr val="ffffff"/>
                      </a:solidFill>
                      <a:prstDash val="solid"/>
                    </a:lnB>
                    <a:solidFill>
                      <a:schemeClr val="lt1">
                        <a:lumMod val="95000"/>
                      </a:schemeClr>
                    </a:solidFill>
                  </a:tcPr>
                </a:tc>
              </a:tr>
              <a:tr h="770760">
                <a:tc>
                  <a:txBody>
                    <a:bodyPr anchor="ctr">
                      <a:noAutofit/>
                    </a:bodyPr>
                    <a:p>
                      <a:pPr defTabSz="756000">
                        <a:lnSpc>
                          <a:spcPct val="100000"/>
                        </a:lnSpc>
                      </a:pPr>
                      <a:r>
                        <a:rPr b="0" lang="en-FR" sz="1100" spc="-1" strike="noStrike">
                          <a:solidFill>
                            <a:schemeClr val="dk1"/>
                          </a:solidFill>
                          <a:latin typeface="Marianne Medium"/>
                        </a:rPr>
                        <a:t>Utilisation totale des terres</a:t>
                      </a:r>
                      <a:endParaRPr b="0" lang="fr-FR" sz="1100" spc="-1" strike="noStrike">
                        <a:solidFill>
                          <a:srgbClr val="000000"/>
                        </a:solidFill>
                        <a:latin typeface="Arial"/>
                      </a:endParaRPr>
                    </a:p>
                  </a:txBody>
                  <a:tcPr anchor="ctr" marL="91440" marR="91440">
                    <a:lnL w="12240">
                      <a:no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pPr>
                      <a:r>
                        <a:rPr b="0" lang="fr-FR" sz="1100" spc="-1" strike="noStrike">
                          <a:solidFill>
                            <a:schemeClr val="dk1"/>
                          </a:solidFill>
                          <a:latin typeface="Marianne Medium"/>
                        </a:rPr>
                        <a:t>300</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m²</a:t>
                      </a:r>
                      <a:endParaRPr b="0" lang="fr-FR" sz="1100" spc="-1" strike="noStrike">
                        <a:solidFill>
                          <a:srgbClr val="000000"/>
                        </a:solidFill>
                        <a:latin typeface="Arial"/>
                      </a:endParaRPr>
                    </a:p>
                  </a:txBody>
                  <a:tcPr anchor="ctr" marL="91440" marR="91440">
                    <a:lnL w="12240">
                      <a:solidFill>
                        <a:srgbClr val="ffffff"/>
                      </a:solidFill>
                      <a:prstDash val="solid"/>
                    </a:lnL>
                    <a:lnR w="12240">
                      <a:noFill/>
                      <a:prstDash val="solid"/>
                    </a:lnR>
                    <a:lnT w="12240">
                      <a:solidFill>
                        <a:srgbClr val="ffffff"/>
                      </a:solidFill>
                      <a:prstDash val="solid"/>
                    </a:lnT>
                    <a:lnB w="12240">
                      <a:solidFill>
                        <a:srgbClr val="ffffff"/>
                      </a:solidFill>
                      <a:prstDash val="solid"/>
                    </a:lnB>
                    <a:solidFill>
                      <a:schemeClr val="lt1">
                        <a:lumMod val="95000"/>
                      </a:schemeClr>
                    </a:solidFill>
                  </a:tcPr>
                </a:tc>
              </a:tr>
            </a:tbl>
          </a:graphicData>
        </a:graphic>
      </p:graphicFrame>
      <p:sp>
        <p:nvSpPr>
          <p:cNvPr id="440"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441" name="TextBox 9"/>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442" name="TextBox 10"/>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443" name="TextBox 11"/>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4"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445"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446" name="Rounded Rectangle 3"/>
          <p:cNvSpPr/>
          <p:nvPr/>
        </p:nvSpPr>
        <p:spPr>
          <a:xfrm rot="16200000">
            <a:off x="3985560" y="-322560"/>
            <a:ext cx="39456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145c30"/>
                </a:solidFill>
                <a:latin typeface="Marianne"/>
              </a:rPr>
              <a:t>B6</a:t>
            </a:r>
            <a:r>
              <a:rPr b="0" lang="fr-FR" sz="1400" spc="-1" strike="noStrike">
                <a:solidFill>
                  <a:srgbClr val="145c30"/>
                </a:solidFill>
                <a:latin typeface="Marianne Medium"/>
              </a:rPr>
              <a:t> </a:t>
            </a:r>
            <a:r>
              <a:rPr b="0" lang="fr-FR" sz="1400" spc="-1" strike="noStrike">
                <a:solidFill>
                  <a:srgbClr val="145c30"/>
                </a:solidFill>
                <a:latin typeface="Marianne"/>
              </a:rPr>
              <a:t>Eau</a:t>
            </a:r>
            <a:endParaRPr b="0" lang="fr-FR" sz="1400" spc="-1" strike="noStrike">
              <a:solidFill>
                <a:srgbClr val="000000"/>
              </a:solidFill>
              <a:latin typeface="Arial"/>
            </a:endParaRPr>
          </a:p>
        </p:txBody>
      </p:sp>
      <p:cxnSp>
        <p:nvCxnSpPr>
          <p:cNvPr id="447" name="Straight Connector 17"/>
          <p:cNvCxnSpPr/>
          <p:nvPr/>
        </p:nvCxnSpPr>
        <p:spPr>
          <a:xfrm>
            <a:off x="893160" y="2525400"/>
            <a:ext cx="4680" cy="426240"/>
          </a:xfrm>
          <a:prstGeom prst="straightConnector1">
            <a:avLst/>
          </a:prstGeom>
          <a:ln w="3175">
            <a:solidFill>
              <a:srgbClr val="a6a6a6"/>
            </a:solidFill>
            <a:round/>
          </a:ln>
        </p:spPr>
      </p:cxnSp>
      <p:pic>
        <p:nvPicPr>
          <p:cNvPr id="448"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449"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450"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451"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452"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453" name="Rounded Rectangle 13"/>
          <p:cNvSpPr/>
          <p:nvPr/>
        </p:nvSpPr>
        <p:spPr>
          <a:xfrm>
            <a:off x="461160" y="3259800"/>
            <a:ext cx="6734160" cy="793800"/>
          </a:xfrm>
          <a:prstGeom prst="roundRect">
            <a:avLst>
              <a:gd name="adj" fmla="val 7434"/>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145c30"/>
                </a:solidFill>
                <a:latin typeface="Marianne Light"/>
              </a:rPr>
              <a:t>Total des prélèvements d’eau sur l’ensemble des sites (en </a:t>
            </a:r>
            <a:r>
              <a:rPr b="0" lang="en-FR" sz="1200" spc="-1" strike="noStrike">
                <a:solidFill>
                  <a:srgbClr val="145c30"/>
                </a:solidFill>
                <a:latin typeface="Marianne Light"/>
              </a:rPr>
              <a:t>m³</a:t>
            </a:r>
            <a:r>
              <a:rPr b="0" lang="fr-FR" sz="1200" spc="-1" strike="noStrike">
                <a:solidFill>
                  <a:srgbClr val="145c30"/>
                </a:solidFill>
                <a:latin typeface="Marianne Light"/>
              </a:rPr>
              <a:t>) </a:t>
            </a:r>
            <a:endParaRPr b="0" lang="fr-FR" sz="1200" spc="-1" strike="noStrike">
              <a:solidFill>
                <a:srgbClr val="000000"/>
              </a:solidFill>
              <a:latin typeface="Arial"/>
            </a:endParaRPr>
          </a:p>
          <a:p>
            <a:pPr defTabSz="457200">
              <a:lnSpc>
                <a:spcPct val="100000"/>
              </a:lnSpc>
            </a:pPr>
            <a:r>
              <a:rPr b="0" lang="en-GB" sz="1200" spc="-1" strike="noStrike">
                <a:solidFill>
                  <a:srgbClr val="000000"/>
                </a:solidFill>
                <a:latin typeface="Marianne Medium"/>
              </a:rPr>
              <a:t>-</a:t>
            </a:r>
            <a:endParaRPr b="0" lang="fr-FR" sz="1200" spc="-1" strike="noStrike">
              <a:solidFill>
                <a:srgbClr val="000000"/>
              </a:solidFill>
              <a:latin typeface="Arial"/>
            </a:endParaRPr>
          </a:p>
        </p:txBody>
      </p:sp>
      <p:sp>
        <p:nvSpPr>
          <p:cNvPr id="454" name="Rounded Rectangle 14"/>
          <p:cNvSpPr/>
          <p:nvPr/>
        </p:nvSpPr>
        <p:spPr>
          <a:xfrm>
            <a:off x="461160" y="4237560"/>
            <a:ext cx="6734160" cy="959040"/>
          </a:xfrm>
          <a:prstGeom prst="roundRect">
            <a:avLst>
              <a:gd name="adj" fmla="val 7434"/>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145c30"/>
                </a:solidFill>
                <a:latin typeface="Marianne Light"/>
              </a:rPr>
              <a:t>Total des prélèvements d’eau sur les sites situés dans les zones soumises à un stress hydrique élevé (en </a:t>
            </a:r>
            <a:r>
              <a:rPr b="0" lang="en-FR" sz="1200" spc="-1" strike="noStrike">
                <a:solidFill>
                  <a:srgbClr val="145c30"/>
                </a:solidFill>
                <a:latin typeface="Marianne Light"/>
              </a:rPr>
              <a:t>m³</a:t>
            </a:r>
            <a:r>
              <a:rPr b="0" lang="fr-FR" sz="1200" spc="-1" strike="noStrike">
                <a:solidFill>
                  <a:srgbClr val="145c30"/>
                </a:solidFill>
                <a:latin typeface="Marianne Light"/>
              </a:rPr>
              <a:t>) </a:t>
            </a:r>
            <a:endParaRPr b="0" lang="fr-FR" sz="1200" spc="-1" strike="noStrike">
              <a:solidFill>
                <a:srgbClr val="000000"/>
              </a:solidFill>
              <a:latin typeface="Arial"/>
            </a:endParaRPr>
          </a:p>
          <a:p>
            <a:pPr defTabSz="457200">
              <a:lnSpc>
                <a:spcPct val="100000"/>
              </a:lnSpc>
            </a:pPr>
            <a:r>
              <a:rPr b="0" lang="en-GB" sz="1200" spc="-1" strike="noStrike">
                <a:solidFill>
                  <a:srgbClr val="000000"/>
                </a:solidFill>
                <a:latin typeface="Marianne Medium"/>
              </a:rPr>
              <a:t>-</a:t>
            </a:r>
            <a:endParaRPr b="0" lang="fr-FR" sz="1200" spc="-1" strike="noStrike">
              <a:solidFill>
                <a:srgbClr val="000000"/>
              </a:solidFill>
              <a:latin typeface="Arial"/>
            </a:endParaRPr>
          </a:p>
        </p:txBody>
      </p:sp>
      <p:sp>
        <p:nvSpPr>
          <p:cNvPr id="455" name="Rounded Rectangle 15"/>
          <p:cNvSpPr/>
          <p:nvPr/>
        </p:nvSpPr>
        <p:spPr>
          <a:xfrm>
            <a:off x="461160" y="5380560"/>
            <a:ext cx="6734160" cy="793800"/>
          </a:xfrm>
          <a:prstGeom prst="roundRect">
            <a:avLst>
              <a:gd name="adj" fmla="val 7434"/>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145c30"/>
                </a:solidFill>
                <a:latin typeface="Marianne Light"/>
              </a:rPr>
              <a:t>Consommation d’eau (en </a:t>
            </a:r>
            <a:r>
              <a:rPr b="0" lang="en-FR" sz="1200" spc="-1" strike="noStrike">
                <a:solidFill>
                  <a:srgbClr val="145c30"/>
                </a:solidFill>
                <a:latin typeface="Marianne Light"/>
              </a:rPr>
              <a:t>m³</a:t>
            </a:r>
            <a:r>
              <a:rPr b="0" lang="fr-FR" sz="1200" spc="-1" strike="noStrike">
                <a:solidFill>
                  <a:srgbClr val="145c30"/>
                </a:solidFill>
                <a:latin typeface="Marianne Light"/>
              </a:rPr>
              <a:t>) </a:t>
            </a:r>
            <a:endParaRPr b="0" lang="fr-FR" sz="1200" spc="-1" strike="noStrike">
              <a:solidFill>
                <a:srgbClr val="000000"/>
              </a:solidFill>
              <a:latin typeface="Arial"/>
            </a:endParaRPr>
          </a:p>
          <a:p>
            <a:pPr defTabSz="457200">
              <a:lnSpc>
                <a:spcPct val="100000"/>
              </a:lnSpc>
            </a:pPr>
            <a:r>
              <a:rPr b="0" lang="en-GB" sz="1200" spc="-1" strike="noStrike">
                <a:solidFill>
                  <a:srgbClr val="000000"/>
                </a:solidFill>
                <a:latin typeface="Marianne Medium"/>
              </a:rPr>
              <a:t>-</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6"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457"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458" name="Rounded Rectangle 3"/>
          <p:cNvSpPr/>
          <p:nvPr/>
        </p:nvSpPr>
        <p:spPr>
          <a:xfrm rot="16200000">
            <a:off x="3809520" y="-190440"/>
            <a:ext cx="70092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145c30"/>
                </a:solidFill>
                <a:latin typeface="Marianne"/>
              </a:rPr>
              <a:t>B7</a:t>
            </a:r>
            <a:r>
              <a:rPr b="0" lang="fr-FR" sz="1400" spc="-1" strike="noStrike">
                <a:solidFill>
                  <a:srgbClr val="145c30"/>
                </a:solidFill>
                <a:latin typeface="Marianne Medium"/>
              </a:rPr>
              <a:t> </a:t>
            </a:r>
            <a:r>
              <a:rPr b="0" lang="fr-FR" sz="1400" spc="-1" strike="noStrike">
                <a:solidFill>
                  <a:srgbClr val="145c30"/>
                </a:solidFill>
                <a:latin typeface="Marianne"/>
              </a:rPr>
              <a:t>Utilisation des ressources, économie circulaire et gestion des déchets</a:t>
            </a:r>
            <a:endParaRPr b="0" lang="fr-FR" sz="1400" spc="-1" strike="noStrike">
              <a:solidFill>
                <a:srgbClr val="000000"/>
              </a:solidFill>
              <a:latin typeface="Arial"/>
            </a:endParaRPr>
          </a:p>
        </p:txBody>
      </p:sp>
      <p:cxnSp>
        <p:nvCxnSpPr>
          <p:cNvPr id="459" name="Straight Connector 17"/>
          <p:cNvCxnSpPr/>
          <p:nvPr/>
        </p:nvCxnSpPr>
        <p:spPr>
          <a:xfrm>
            <a:off x="893160" y="2525400"/>
            <a:ext cx="4680" cy="710280"/>
          </a:xfrm>
          <a:prstGeom prst="straightConnector1">
            <a:avLst/>
          </a:prstGeom>
          <a:ln w="3175">
            <a:solidFill>
              <a:srgbClr val="a6a6a6"/>
            </a:solidFill>
            <a:round/>
          </a:ln>
        </p:spPr>
      </p:cxnSp>
      <p:pic>
        <p:nvPicPr>
          <p:cNvPr id="460"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461"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462"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463"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464"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465" name="Rounded Rectangle 8"/>
          <p:cNvSpPr/>
          <p:nvPr/>
        </p:nvSpPr>
        <p:spPr>
          <a:xfrm>
            <a:off x="410400" y="3488040"/>
            <a:ext cx="6734160" cy="67528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Description des principes de l'économie circulaire</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66"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467"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468" name="Rounded Rectangle 3"/>
          <p:cNvSpPr/>
          <p:nvPr/>
        </p:nvSpPr>
        <p:spPr>
          <a:xfrm rot="16200000">
            <a:off x="3809520" y="-190440"/>
            <a:ext cx="70092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145c30"/>
                </a:solidFill>
                <a:latin typeface="Marianne"/>
              </a:rPr>
              <a:t>B7</a:t>
            </a:r>
            <a:r>
              <a:rPr b="0" lang="fr-FR" sz="1400" spc="-1" strike="noStrike">
                <a:solidFill>
                  <a:srgbClr val="145c30"/>
                </a:solidFill>
                <a:latin typeface="Marianne Medium"/>
              </a:rPr>
              <a:t> </a:t>
            </a:r>
            <a:r>
              <a:rPr b="0" lang="fr-FR" sz="1400" spc="-1" strike="noStrike">
                <a:solidFill>
                  <a:srgbClr val="145c30"/>
                </a:solidFill>
                <a:latin typeface="Marianne"/>
              </a:rPr>
              <a:t>Utilisation des ressources, économie circulaire et gestion des déchets</a:t>
            </a:r>
            <a:endParaRPr b="0" lang="fr-FR" sz="1400" spc="-1" strike="noStrike">
              <a:solidFill>
                <a:srgbClr val="000000"/>
              </a:solidFill>
              <a:latin typeface="Arial"/>
            </a:endParaRPr>
          </a:p>
        </p:txBody>
      </p:sp>
      <p:cxnSp>
        <p:nvCxnSpPr>
          <p:cNvPr id="469" name="Straight Connector 17"/>
          <p:cNvCxnSpPr/>
          <p:nvPr/>
        </p:nvCxnSpPr>
        <p:spPr>
          <a:xfrm>
            <a:off x="893160" y="2525400"/>
            <a:ext cx="4680" cy="710280"/>
          </a:xfrm>
          <a:prstGeom prst="straightConnector1">
            <a:avLst/>
          </a:prstGeom>
          <a:ln w="3175">
            <a:solidFill>
              <a:srgbClr val="a6a6a6"/>
            </a:solidFill>
            <a:round/>
          </a:ln>
        </p:spPr>
      </p:cxnSp>
      <p:pic>
        <p:nvPicPr>
          <p:cNvPr id="470"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471"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472"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473"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474"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475" name="Rounded Rectangle 8"/>
          <p:cNvSpPr/>
          <p:nvPr/>
        </p:nvSpPr>
        <p:spPr>
          <a:xfrm>
            <a:off x="410400" y="3488040"/>
            <a:ext cx="6734160" cy="67528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Classification des déchets (1/2)</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graphicFrame>
        <p:nvGraphicFramePr>
          <p:cNvPr id="476" name="Table 9"/>
          <p:cNvGraphicFramePr/>
          <p:nvPr/>
        </p:nvGraphicFramePr>
        <p:xfrm>
          <a:off x="649080" y="4037400"/>
          <a:ext cx="6215400" cy="6033600"/>
        </p:xfrm>
        <a:graphic>
          <a:graphicData uri="http://schemas.openxmlformats.org/drawingml/2006/table">
            <a:tbl>
              <a:tblPr/>
              <a:tblGrid>
                <a:gridCol w="1898640"/>
                <a:gridCol w="4317120"/>
              </a:tblGrid>
              <a:tr h="460080">
                <a:tc>
                  <a:txBody>
                    <a:bodyPr lIns="108000" rIns="108000" anchor="ctr">
                      <a:noAutofit/>
                    </a:bodyPr>
                    <a:p>
                      <a:pPr algn="ctr" defTabSz="756000">
                        <a:lnSpc>
                          <a:spcPct val="100000"/>
                        </a:lnSpc>
                      </a:pPr>
                      <a:r>
                        <a:rPr b="0" lang="fr-FR" sz="1100" spc="-1" strike="noStrike">
                          <a:solidFill>
                            <a:srgbClr val="145c30"/>
                          </a:solidFill>
                          <a:latin typeface="Marianne Light"/>
                        </a:rPr>
                        <a:t>N°</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pPr>
                      <a:r>
                        <a:rPr b="0" lang="fr-FR" sz="1100" spc="-1" strike="noStrike">
                          <a:solidFill>
                            <a:srgbClr val="145c30"/>
                          </a:solidFill>
                          <a:latin typeface="Marianne Light"/>
                        </a:rPr>
                        <a:t>Type de déchets</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r>
              <a:tr h="712800">
                <a:tc>
                  <a:txBody>
                    <a:bodyPr anchor="ctr">
                      <a:noAutofit/>
                    </a:bodyPr>
                    <a:p>
                      <a:pPr algn="ctr" defTabSz="756000">
                        <a:lnSpc>
                          <a:spcPct val="100000"/>
                        </a:lnSpc>
                        <a:tabLst>
                          <a:tab algn="l" pos="0"/>
                        </a:tabLst>
                      </a:pPr>
                      <a:r>
                        <a:rPr b="0" lang="fr-FR" sz="1100" spc="-1" strike="noStrike">
                          <a:solidFill>
                            <a:schemeClr val="dk1"/>
                          </a:solidFill>
                          <a:latin typeface="Marianne Medium"/>
                        </a:rPr>
                        <a:t>01</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rgbClr val="ebeeed"/>
                    </a:solidFill>
                  </a:tcPr>
                </a:tc>
                <a:tc>
                  <a:txBody>
                    <a:bodyPr anchor="ctr">
                      <a:noAutofit/>
                    </a:bodyPr>
                    <a:p>
                      <a:pPr defTabSz="756000">
                        <a:lnSpc>
                          <a:spcPct val="100000"/>
                        </a:lnSpc>
                        <a:tabLst>
                          <a:tab algn="l" pos="0"/>
                        </a:tabLst>
                      </a:pPr>
                      <a:r>
                        <a:rPr b="0" lang="fr-FR" sz="1100" spc="-1" strike="noStrike">
                          <a:solidFill>
                            <a:schemeClr val="dk1"/>
                          </a:solidFill>
                          <a:latin typeface="Marianne Light"/>
                        </a:rPr>
                        <a:t>Déchets provenant de l'exploration et de l'exploitation des mines et des carrières ainsi que du traitement physique et chimique des minéraux</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rgbClr val="ebeeed"/>
                    </a:solidFill>
                  </a:tcPr>
                </a:tc>
              </a:tr>
              <a:tr h="914040">
                <a:tc>
                  <a:txBody>
                    <a:bodyPr anchor="ctr">
                      <a:noAutofit/>
                    </a:bodyPr>
                    <a:p>
                      <a:pPr algn="ctr" defTabSz="756000">
                        <a:lnSpc>
                          <a:spcPct val="100000"/>
                        </a:lnSpc>
                        <a:tabLst>
                          <a:tab algn="l" pos="0"/>
                        </a:tabLst>
                      </a:pPr>
                      <a:r>
                        <a:rPr b="0" lang="fr-FR" sz="1100" spc="-1" strike="noStrike">
                          <a:solidFill>
                            <a:schemeClr val="dk1"/>
                          </a:solidFill>
                          <a:latin typeface="Marianne Medium"/>
                        </a:rPr>
                        <a:t>02</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defTabSz="756000">
                        <a:lnSpc>
                          <a:spcPct val="100000"/>
                        </a:lnSpc>
                        <a:tabLst>
                          <a:tab algn="l" pos="0"/>
                        </a:tabLst>
                      </a:pPr>
                      <a:r>
                        <a:rPr b="0" lang="fr-FR" sz="1100" spc="-1" strike="noStrike">
                          <a:solidFill>
                            <a:schemeClr val="dk1"/>
                          </a:solidFill>
                          <a:latin typeface="Marianne Light"/>
                        </a:rPr>
                        <a:t>Déchets provenant de l'agriculture, de l'horticulture, de l'aquaculture, de la sylviculture, de la chasse et de la pêche ainsi que de la préparation et de la transformation des aliments</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r>
              <a:tr h="712800">
                <a:tc>
                  <a:txBody>
                    <a:bodyPr anchor="ctr">
                      <a:noAutofit/>
                    </a:bodyPr>
                    <a:p>
                      <a:pPr algn="ctr" defTabSz="756000">
                        <a:lnSpc>
                          <a:spcPct val="100000"/>
                        </a:lnSpc>
                      </a:pPr>
                      <a:r>
                        <a:rPr b="0" lang="fr-FR" sz="1100" spc="-1" strike="noStrike">
                          <a:solidFill>
                            <a:schemeClr val="dk1"/>
                          </a:solidFill>
                          <a:latin typeface="Marianne Medium"/>
                        </a:rPr>
                        <a:t>03</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defTabSz="756000">
                        <a:lnSpc>
                          <a:spcPct val="100000"/>
                        </a:lnSpc>
                        <a:tabLst>
                          <a:tab algn="l" pos="0"/>
                        </a:tabLst>
                      </a:pPr>
                      <a:r>
                        <a:rPr b="0" lang="fr-FR" sz="1100" spc="-1" strike="noStrike">
                          <a:solidFill>
                            <a:schemeClr val="dk1"/>
                          </a:solidFill>
                          <a:latin typeface="Marianne Light"/>
                        </a:rPr>
                        <a:t>Déchets provenant de la transformation du bois et de la production de panneaux et de meubles, de pâte à papier, de papier et de carton</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r>
              <a:tr h="565200">
                <a:tc>
                  <a:txBody>
                    <a:bodyPr anchor="ctr">
                      <a:noAutofit/>
                    </a:bodyPr>
                    <a:p>
                      <a:pPr algn="ctr" defTabSz="756000">
                        <a:lnSpc>
                          <a:spcPct val="100000"/>
                        </a:lnSpc>
                      </a:pPr>
                      <a:r>
                        <a:rPr b="0" lang="fr-FR" sz="1100" spc="-1" strike="noStrike">
                          <a:solidFill>
                            <a:schemeClr val="dk1"/>
                          </a:solidFill>
                          <a:latin typeface="Marianne Medium"/>
                        </a:rPr>
                        <a:t>04</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defTabSz="756000">
                        <a:lnSpc>
                          <a:spcPct val="100000"/>
                        </a:lnSpc>
                        <a:tabLst>
                          <a:tab algn="l" pos="0"/>
                        </a:tabLst>
                      </a:pPr>
                      <a:r>
                        <a:rPr b="0" lang="fr-FR" sz="1100" spc="-1" strike="noStrike">
                          <a:solidFill>
                            <a:schemeClr val="dk1"/>
                          </a:solidFill>
                          <a:latin typeface="Marianne Light"/>
                        </a:rPr>
                        <a:t>Déchets provenant des industries du cuir, de la fourrure et du textile</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r>
              <a:tr h="511920">
                <a:tc>
                  <a:txBody>
                    <a:bodyPr anchor="ctr">
                      <a:noAutofit/>
                    </a:bodyPr>
                    <a:p>
                      <a:pPr algn="ctr" defTabSz="756000">
                        <a:lnSpc>
                          <a:spcPct val="100000"/>
                        </a:lnSpc>
                      </a:pPr>
                      <a:r>
                        <a:rPr b="0" lang="fr-FR" sz="1100" spc="-1" strike="noStrike">
                          <a:solidFill>
                            <a:schemeClr val="dk1"/>
                          </a:solidFill>
                          <a:latin typeface="Marianne Medium"/>
                        </a:rPr>
                        <a:t>05</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defTabSz="756000">
                        <a:lnSpc>
                          <a:spcPct val="100000"/>
                        </a:lnSpc>
                        <a:tabLst>
                          <a:tab algn="l" pos="0"/>
                        </a:tabLst>
                      </a:pPr>
                      <a:r>
                        <a:rPr b="0" lang="fr-FR" sz="1100" spc="-1" strike="noStrike">
                          <a:solidFill>
                            <a:schemeClr val="dk1"/>
                          </a:solidFill>
                          <a:latin typeface="Marianne Light"/>
                        </a:rPr>
                        <a:t>Déchets provenant du raffinage du pétrole, de la purification du gaz naturel et du traitement pyrolitique du charbon</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r>
              <a:tr h="310680">
                <a:tc>
                  <a:txBody>
                    <a:bodyPr anchor="ctr">
                      <a:noAutofit/>
                    </a:bodyPr>
                    <a:p>
                      <a:pPr algn="ctr" defTabSz="756000">
                        <a:lnSpc>
                          <a:spcPct val="100000"/>
                        </a:lnSpc>
                      </a:pPr>
                      <a:r>
                        <a:rPr b="0" lang="fr-FR" sz="1100" spc="-1" strike="noStrike">
                          <a:solidFill>
                            <a:schemeClr val="dk1"/>
                          </a:solidFill>
                          <a:latin typeface="Marianne Medium"/>
                        </a:rPr>
                        <a:t>06</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defTabSz="756000">
                        <a:lnSpc>
                          <a:spcPct val="100000"/>
                        </a:lnSpc>
                        <a:tabLst>
                          <a:tab algn="l" pos="0"/>
                        </a:tabLst>
                      </a:pPr>
                      <a:r>
                        <a:rPr b="0" lang="en-FR" sz="1100" spc="-1" strike="noStrike">
                          <a:solidFill>
                            <a:schemeClr val="dk1"/>
                          </a:solidFill>
                          <a:latin typeface="Marianne Light"/>
                        </a:rPr>
                        <a:t>Déchets des procédés de la chimie minérale</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r>
              <a:tr h="310680">
                <a:tc>
                  <a:txBody>
                    <a:bodyPr anchor="ctr">
                      <a:noAutofit/>
                    </a:bodyPr>
                    <a:p>
                      <a:pPr algn="ctr" defTabSz="756000">
                        <a:lnSpc>
                          <a:spcPct val="100000"/>
                        </a:lnSpc>
                      </a:pPr>
                      <a:r>
                        <a:rPr b="0" lang="fr-FR" sz="1100" spc="-1" strike="noStrike">
                          <a:solidFill>
                            <a:schemeClr val="dk1"/>
                          </a:solidFill>
                          <a:latin typeface="Marianne Medium"/>
                        </a:rPr>
                        <a:t>07</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defTabSz="756000">
                        <a:lnSpc>
                          <a:spcPct val="100000"/>
                        </a:lnSpc>
                        <a:tabLst>
                          <a:tab algn="l" pos="0"/>
                        </a:tabLst>
                      </a:pPr>
                      <a:r>
                        <a:rPr b="0" lang="en-FR" sz="1100" spc="-1" strike="noStrike">
                          <a:solidFill>
                            <a:schemeClr val="dk1"/>
                          </a:solidFill>
                          <a:latin typeface="Marianne Light"/>
                        </a:rPr>
                        <a:t>Déchets des procédés de la chimie organique </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r>
              <a:tr h="914040">
                <a:tc>
                  <a:txBody>
                    <a:bodyPr anchor="ctr">
                      <a:noAutofit/>
                    </a:bodyPr>
                    <a:p>
                      <a:pPr algn="ctr" defTabSz="756000">
                        <a:lnSpc>
                          <a:spcPct val="100000"/>
                        </a:lnSpc>
                      </a:pPr>
                      <a:r>
                        <a:rPr b="0" lang="fr-FR" sz="1100" spc="-1" strike="noStrike">
                          <a:solidFill>
                            <a:schemeClr val="dk1"/>
                          </a:solidFill>
                          <a:latin typeface="Marianne Medium"/>
                        </a:rPr>
                        <a:t>08</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defTabSz="756000">
                        <a:lnSpc>
                          <a:spcPct val="100000"/>
                        </a:lnSpc>
                        <a:tabLst>
                          <a:tab algn="l" pos="0"/>
                        </a:tabLst>
                      </a:pPr>
                      <a:r>
                        <a:rPr b="0" lang="en-FR" sz="1100" spc="-1" strike="noStrike">
                          <a:solidFill>
                            <a:schemeClr val="dk1"/>
                          </a:solidFill>
                          <a:latin typeface="Marianne Light"/>
                        </a:rPr>
                        <a:t>Déchets provenant de la fabrication, de la formulation, de la distribution et de l'utilisation (FFDU) de produits de revêtement (peintures, vernis et émaux vitrifiés), mastics et encres d'impression</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r>
              <a:tr h="310680">
                <a:tc>
                  <a:txBody>
                    <a:bodyPr anchor="ctr">
                      <a:noAutofit/>
                    </a:bodyPr>
                    <a:p>
                      <a:pPr algn="ctr" defTabSz="756000">
                        <a:lnSpc>
                          <a:spcPct val="100000"/>
                        </a:lnSpc>
                      </a:pPr>
                      <a:r>
                        <a:rPr b="0" lang="fr-FR" sz="1100" spc="-1" strike="noStrike">
                          <a:solidFill>
                            <a:schemeClr val="dk1"/>
                          </a:solidFill>
                          <a:latin typeface="Marianne Medium"/>
                        </a:rPr>
                        <a:t>09</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defTabSz="756000">
                        <a:lnSpc>
                          <a:spcPct val="100000"/>
                        </a:lnSpc>
                        <a:tabLst>
                          <a:tab algn="l" pos="0"/>
                        </a:tabLst>
                      </a:pPr>
                      <a:r>
                        <a:rPr b="0" lang="fr-FR" sz="1100" spc="-1" strike="noStrike">
                          <a:solidFill>
                            <a:schemeClr val="dk1"/>
                          </a:solidFill>
                          <a:latin typeface="Marianne Light"/>
                        </a:rPr>
                        <a:t>D</a:t>
                      </a:r>
                      <a:r>
                        <a:rPr b="0" lang="en-FR" sz="1100" spc="-1" strike="noStrike">
                          <a:solidFill>
                            <a:schemeClr val="dk1"/>
                          </a:solidFill>
                          <a:latin typeface="Marianne Light"/>
                        </a:rPr>
                        <a:t>échets provenant de l'industrie photographique</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r>
              <a:tr h="310680">
                <a:tc>
                  <a:txBody>
                    <a:bodyPr anchor="ctr">
                      <a:noAutofit/>
                    </a:bodyPr>
                    <a:p>
                      <a:pPr algn="ctr" defTabSz="756000">
                        <a:lnSpc>
                          <a:spcPct val="100000"/>
                        </a:lnSpc>
                      </a:pPr>
                      <a:r>
                        <a:rPr b="0" lang="fr-FR" sz="1100" spc="-1" strike="noStrike">
                          <a:solidFill>
                            <a:schemeClr val="dk1"/>
                          </a:solidFill>
                          <a:latin typeface="Marianne Medium"/>
                        </a:rPr>
                        <a:t>10</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defTabSz="756000">
                        <a:lnSpc>
                          <a:spcPct val="100000"/>
                        </a:lnSpc>
                        <a:tabLst>
                          <a:tab algn="l" pos="0"/>
                        </a:tabLst>
                      </a:pPr>
                      <a:r>
                        <a:rPr b="0" lang="en-FR" sz="1100" spc="-1" strike="noStrike">
                          <a:solidFill>
                            <a:schemeClr val="dk1"/>
                          </a:solidFill>
                          <a:latin typeface="Marianne Light"/>
                        </a:rPr>
                        <a:t>Déchets provenant de procédés thermiques</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77"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478"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479" name="Rounded Rectangle 3"/>
          <p:cNvSpPr/>
          <p:nvPr/>
        </p:nvSpPr>
        <p:spPr>
          <a:xfrm rot="16200000">
            <a:off x="3809520" y="-190440"/>
            <a:ext cx="70092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145c30"/>
                </a:solidFill>
                <a:latin typeface="Marianne"/>
              </a:rPr>
              <a:t>B7</a:t>
            </a:r>
            <a:r>
              <a:rPr b="0" lang="fr-FR" sz="1400" spc="-1" strike="noStrike">
                <a:solidFill>
                  <a:srgbClr val="145c30"/>
                </a:solidFill>
                <a:latin typeface="Marianne Medium"/>
              </a:rPr>
              <a:t> </a:t>
            </a:r>
            <a:r>
              <a:rPr b="0" lang="fr-FR" sz="1400" spc="-1" strike="noStrike">
                <a:solidFill>
                  <a:srgbClr val="145c30"/>
                </a:solidFill>
                <a:latin typeface="Marianne"/>
              </a:rPr>
              <a:t>Utilisation des ressources, économie circulaire et gestion des déchets</a:t>
            </a:r>
            <a:endParaRPr b="0" lang="fr-FR" sz="1400" spc="-1" strike="noStrike">
              <a:solidFill>
                <a:srgbClr val="000000"/>
              </a:solidFill>
              <a:latin typeface="Arial"/>
            </a:endParaRPr>
          </a:p>
        </p:txBody>
      </p:sp>
      <p:cxnSp>
        <p:nvCxnSpPr>
          <p:cNvPr id="480" name="Straight Connector 17"/>
          <p:cNvCxnSpPr/>
          <p:nvPr/>
        </p:nvCxnSpPr>
        <p:spPr>
          <a:xfrm>
            <a:off x="893160" y="2525400"/>
            <a:ext cx="4680" cy="710280"/>
          </a:xfrm>
          <a:prstGeom prst="straightConnector1">
            <a:avLst/>
          </a:prstGeom>
          <a:ln w="3175">
            <a:solidFill>
              <a:srgbClr val="a6a6a6"/>
            </a:solidFill>
            <a:round/>
          </a:ln>
        </p:spPr>
      </p:cxnSp>
      <p:pic>
        <p:nvPicPr>
          <p:cNvPr id="481"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482"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483"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484"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485"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486" name="Rounded Rectangle 8"/>
          <p:cNvSpPr/>
          <p:nvPr/>
        </p:nvSpPr>
        <p:spPr>
          <a:xfrm>
            <a:off x="410400" y="3488040"/>
            <a:ext cx="6734160" cy="67528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Classification des déchets (2/2)</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graphicFrame>
        <p:nvGraphicFramePr>
          <p:cNvPr id="487" name="Table 9"/>
          <p:cNvGraphicFramePr/>
          <p:nvPr/>
        </p:nvGraphicFramePr>
        <p:xfrm>
          <a:off x="649080" y="4037400"/>
          <a:ext cx="6215400" cy="5793480"/>
        </p:xfrm>
        <a:graphic>
          <a:graphicData uri="http://schemas.openxmlformats.org/drawingml/2006/table">
            <a:tbl>
              <a:tblPr/>
              <a:tblGrid>
                <a:gridCol w="1898640"/>
                <a:gridCol w="4317120"/>
              </a:tblGrid>
              <a:tr h="302400">
                <a:tc>
                  <a:txBody>
                    <a:bodyPr lIns="108000" rIns="108000" anchor="ctr">
                      <a:noAutofit/>
                    </a:bodyPr>
                    <a:p>
                      <a:pPr algn="ctr" defTabSz="756000">
                        <a:lnSpc>
                          <a:spcPct val="100000"/>
                        </a:lnSpc>
                      </a:pPr>
                      <a:r>
                        <a:rPr b="0" lang="fr-FR" sz="1100" spc="-1" strike="noStrike">
                          <a:solidFill>
                            <a:srgbClr val="145c30"/>
                          </a:solidFill>
                          <a:latin typeface="Marianne Light"/>
                        </a:rPr>
                        <a:t>N°</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pPr>
                      <a:r>
                        <a:rPr b="0" lang="fr-FR" sz="1100" spc="-1" strike="noStrike">
                          <a:solidFill>
                            <a:srgbClr val="145c30"/>
                          </a:solidFill>
                          <a:latin typeface="Marianne Light"/>
                        </a:rPr>
                        <a:t>Type de déchets</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r>
              <a:tr h="338040">
                <a:tc>
                  <a:txBody>
                    <a:bodyPr anchor="ctr">
                      <a:noAutofit/>
                    </a:bodyPr>
                    <a:p>
                      <a:pPr algn="ctr" defTabSz="756000">
                        <a:lnSpc>
                          <a:spcPct val="100000"/>
                        </a:lnSpc>
                      </a:pPr>
                      <a:r>
                        <a:rPr b="0" lang="fr-FR" sz="1100" spc="-1" strike="noStrike">
                          <a:solidFill>
                            <a:schemeClr val="dk1"/>
                          </a:solidFill>
                          <a:latin typeface="Marianne Medium"/>
                        </a:rPr>
                        <a:t>11</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rgbClr val="ebeeed"/>
                    </a:solidFill>
                  </a:tcPr>
                </a:tc>
                <a:tc>
                  <a:txBody>
                    <a:bodyPr anchor="ctr">
                      <a:noAutofit/>
                    </a:bodyPr>
                    <a:p>
                      <a:pPr defTabSz="756000">
                        <a:lnSpc>
                          <a:spcPct val="100000"/>
                        </a:lnSpc>
                        <a:tabLst>
                          <a:tab algn="l" pos="0"/>
                        </a:tabLst>
                      </a:pPr>
                      <a:r>
                        <a:rPr b="0" lang="en-FR" sz="1100" spc="-1" strike="noStrike">
                          <a:solidFill>
                            <a:schemeClr val="dk1"/>
                          </a:solidFill>
                          <a:latin typeface="Marianne Light"/>
                        </a:rPr>
                        <a:t>Déchets provenant du traitement chimique de surface et du revêtement des métaux et autres matériaux, et de l'hydrométallurgie des métaux non ferreux</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rgbClr val="ebeeed"/>
                    </a:solidFill>
                  </a:tcPr>
                </a:tc>
              </a:tr>
              <a:tr h="338040">
                <a:tc>
                  <a:txBody>
                    <a:bodyPr anchor="ctr">
                      <a:noAutofit/>
                    </a:bodyPr>
                    <a:p>
                      <a:pPr algn="ctr" defTabSz="756000">
                        <a:lnSpc>
                          <a:spcPct val="100000"/>
                        </a:lnSpc>
                      </a:pPr>
                      <a:r>
                        <a:rPr b="0" lang="fr-FR" sz="1100" spc="-1" strike="noStrike">
                          <a:solidFill>
                            <a:schemeClr val="dk1"/>
                          </a:solidFill>
                          <a:latin typeface="Marianne Medium"/>
                        </a:rPr>
                        <a:t>12</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defTabSz="756000">
                        <a:lnSpc>
                          <a:spcPct val="100000"/>
                        </a:lnSpc>
                        <a:tabLst>
                          <a:tab algn="l" pos="0"/>
                        </a:tabLst>
                      </a:pPr>
                      <a:r>
                        <a:rPr b="0" lang="en-FR" sz="1100" spc="-1" strike="noStrike">
                          <a:solidFill>
                            <a:schemeClr val="dk1"/>
                          </a:solidFill>
                          <a:latin typeface="Marianne Light"/>
                        </a:rPr>
                        <a:t>Déchets provenant de la mise en forme et du traitement physique et mécanique de surface des métaux et matières plastiques</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r>
              <a:tr h="0">
                <a:tc>
                  <a:txBody>
                    <a:bodyPr anchor="ctr">
                      <a:noAutofit/>
                    </a:bodyPr>
                    <a:p>
                      <a:pPr algn="ctr" defTabSz="756000">
                        <a:lnSpc>
                          <a:spcPct val="100000"/>
                        </a:lnSpc>
                      </a:pPr>
                      <a:r>
                        <a:rPr b="0" lang="fr-FR" sz="1100" spc="-1" strike="noStrike">
                          <a:solidFill>
                            <a:schemeClr val="dk1"/>
                          </a:solidFill>
                          <a:latin typeface="Marianne Medium"/>
                        </a:rPr>
                        <a:t>13</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defTabSz="756000">
                        <a:lnSpc>
                          <a:spcPct val="100000"/>
                        </a:lnSpc>
                        <a:tabLst>
                          <a:tab algn="l" pos="0"/>
                        </a:tabLst>
                      </a:pPr>
                      <a:r>
                        <a:rPr b="0" lang="en-FR" sz="1100" spc="-1" strike="noStrike">
                          <a:solidFill>
                            <a:schemeClr val="dk1"/>
                          </a:solidFill>
                          <a:latin typeface="Marianne Light"/>
                        </a:rPr>
                        <a:t>Huiles et combustibles liquides usagés (sauf huiles alimentaires et huiles figurant aux chapitres 05, 12 et 19) </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r>
              <a:tr h="470880">
                <a:tc>
                  <a:txBody>
                    <a:bodyPr anchor="ctr">
                      <a:noAutofit/>
                    </a:bodyPr>
                    <a:p>
                      <a:pPr algn="ctr" defTabSz="756000">
                        <a:lnSpc>
                          <a:spcPct val="100000"/>
                        </a:lnSpc>
                      </a:pPr>
                      <a:r>
                        <a:rPr b="0" lang="fr-FR" sz="1100" spc="-1" strike="noStrike">
                          <a:solidFill>
                            <a:schemeClr val="dk1"/>
                          </a:solidFill>
                          <a:latin typeface="Marianne Medium"/>
                        </a:rPr>
                        <a:t>14</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defTabSz="756000">
                        <a:lnSpc>
                          <a:spcPct val="100000"/>
                        </a:lnSpc>
                        <a:tabLst>
                          <a:tab algn="l" pos="0"/>
                        </a:tabLst>
                      </a:pPr>
                      <a:r>
                        <a:rPr b="0" lang="en-FR" sz="1100" spc="-1" strike="noStrike">
                          <a:solidFill>
                            <a:schemeClr val="dk1"/>
                          </a:solidFill>
                          <a:latin typeface="Marianne Light"/>
                        </a:rPr>
                        <a:t>Déchets de solvants organiques, d'agents réfrigérants et propulseurs (sauf chapitres 07 et 08) </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r>
              <a:tr h="338040">
                <a:tc>
                  <a:txBody>
                    <a:bodyPr anchor="ctr">
                      <a:noAutofit/>
                    </a:bodyPr>
                    <a:p>
                      <a:pPr algn="ctr" defTabSz="756000">
                        <a:lnSpc>
                          <a:spcPct val="100000"/>
                        </a:lnSpc>
                      </a:pPr>
                      <a:r>
                        <a:rPr b="0" lang="fr-FR" sz="1100" spc="-1" strike="noStrike">
                          <a:solidFill>
                            <a:schemeClr val="dk1"/>
                          </a:solidFill>
                          <a:latin typeface="Marianne Medium"/>
                        </a:rPr>
                        <a:t>15</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defTabSz="756000">
                        <a:lnSpc>
                          <a:spcPct val="100000"/>
                        </a:lnSpc>
                        <a:tabLst>
                          <a:tab algn="l" pos="0"/>
                        </a:tabLst>
                      </a:pPr>
                      <a:r>
                        <a:rPr b="0" lang="en-FR" sz="1100" spc="-1" strike="noStrike">
                          <a:solidFill>
                            <a:schemeClr val="dk1"/>
                          </a:solidFill>
                          <a:latin typeface="Marianne Light"/>
                        </a:rPr>
                        <a:t>Emballages et déchets d'emballages ; absorbants, chiffons d'essuyage, matériaux filtrants et vêtements de protection non spécifiés ailleurs </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r>
              <a:tr h="0">
                <a:tc>
                  <a:txBody>
                    <a:bodyPr anchor="ctr">
                      <a:noAutofit/>
                    </a:bodyPr>
                    <a:p>
                      <a:pPr algn="ctr" defTabSz="756000">
                        <a:lnSpc>
                          <a:spcPct val="100000"/>
                        </a:lnSpc>
                      </a:pPr>
                      <a:r>
                        <a:rPr b="0" lang="fr-FR" sz="1100" spc="-1" strike="noStrike">
                          <a:solidFill>
                            <a:schemeClr val="dk1"/>
                          </a:solidFill>
                          <a:latin typeface="Marianne Medium"/>
                        </a:rPr>
                        <a:t>16</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defTabSz="756000">
                        <a:lnSpc>
                          <a:spcPct val="100000"/>
                        </a:lnSpc>
                        <a:tabLst>
                          <a:tab algn="l" pos="0"/>
                        </a:tabLst>
                      </a:pPr>
                      <a:r>
                        <a:rPr b="0" lang="en-FR" sz="1100" spc="-1" strike="noStrike">
                          <a:solidFill>
                            <a:schemeClr val="dk1"/>
                          </a:solidFill>
                          <a:latin typeface="Marianne Light"/>
                        </a:rPr>
                        <a:t>Déchets non décrits ailleurs sur la liste </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r>
              <a:tr h="0">
                <a:tc>
                  <a:txBody>
                    <a:bodyPr anchor="ctr">
                      <a:noAutofit/>
                    </a:bodyPr>
                    <a:p>
                      <a:pPr algn="ctr" defTabSz="756000">
                        <a:lnSpc>
                          <a:spcPct val="100000"/>
                        </a:lnSpc>
                      </a:pPr>
                      <a:r>
                        <a:rPr b="0" lang="fr-FR" sz="1100" spc="-1" strike="noStrike">
                          <a:solidFill>
                            <a:schemeClr val="dk1"/>
                          </a:solidFill>
                          <a:latin typeface="Marianne Medium"/>
                        </a:rPr>
                        <a:t>17</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defTabSz="756000">
                        <a:lnSpc>
                          <a:spcPct val="100000"/>
                        </a:lnSpc>
                        <a:tabLst>
                          <a:tab algn="l" pos="0"/>
                        </a:tabLst>
                      </a:pPr>
                      <a:r>
                        <a:rPr b="0" lang="en-FR" sz="1100" spc="-1" strike="noStrike">
                          <a:solidFill>
                            <a:schemeClr val="dk1"/>
                          </a:solidFill>
                          <a:latin typeface="Marianne Light"/>
                        </a:rPr>
                        <a:t>Déchets de construction et de démolition (y compris déblais provenant de sites contaminés) </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r>
              <a:tr h="0">
                <a:tc>
                  <a:txBody>
                    <a:bodyPr anchor="ctr">
                      <a:noAutofit/>
                    </a:bodyPr>
                    <a:p>
                      <a:pPr algn="ctr" defTabSz="756000">
                        <a:lnSpc>
                          <a:spcPct val="100000"/>
                        </a:lnSpc>
                      </a:pPr>
                      <a:r>
                        <a:rPr b="0" lang="fr-FR" sz="1100" spc="-1" strike="noStrike">
                          <a:solidFill>
                            <a:schemeClr val="dk1"/>
                          </a:solidFill>
                          <a:latin typeface="Marianne Medium"/>
                        </a:rPr>
                        <a:t>18</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defTabSz="756000">
                        <a:lnSpc>
                          <a:spcPct val="100000"/>
                        </a:lnSpc>
                        <a:tabLst>
                          <a:tab algn="l" pos="0"/>
                        </a:tabLst>
                      </a:pPr>
                      <a:r>
                        <a:rPr b="0" lang="en-FR" sz="1100" spc="-1" strike="noStrike">
                          <a:solidFill>
                            <a:schemeClr val="dk1"/>
                          </a:solidFill>
                          <a:latin typeface="Marianne Light"/>
                        </a:rPr>
                        <a:t>Déchets provenant des soins médicaux ou vétérinaires et/ou de la recherche associée (sauf déchets de cuisine et de restauration ne provenant pas directement des soins médicaux) </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r>
              <a:tr h="0">
                <a:tc>
                  <a:txBody>
                    <a:bodyPr anchor="ctr">
                      <a:noAutofit/>
                    </a:bodyPr>
                    <a:p>
                      <a:pPr algn="ctr" defTabSz="756000">
                        <a:lnSpc>
                          <a:spcPct val="100000"/>
                        </a:lnSpc>
                      </a:pPr>
                      <a:r>
                        <a:rPr b="0" lang="fr-FR" sz="1100" spc="-1" strike="noStrike">
                          <a:solidFill>
                            <a:schemeClr val="dk1"/>
                          </a:solidFill>
                          <a:latin typeface="Marianne Medium"/>
                        </a:rPr>
                        <a:t>19</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defTabSz="756000">
                        <a:lnSpc>
                          <a:spcPct val="100000"/>
                        </a:lnSpc>
                        <a:tabLst>
                          <a:tab algn="l" pos="0"/>
                        </a:tabLst>
                      </a:pPr>
                      <a:r>
                        <a:rPr b="0" lang="en-FR" sz="1100" spc="-1" strike="noStrike">
                          <a:solidFill>
                            <a:schemeClr val="dk1"/>
                          </a:solidFill>
                          <a:latin typeface="Marianne Light"/>
                        </a:rPr>
                        <a:t>Déchets provenant des installations de gestion des déchets, des stations d'épuration des eaux usées hors site et de la préparation d'eau destinée à la consommation humaine et d'eau à usage industriel </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r>
              <a:tr h="0">
                <a:tc>
                  <a:txBody>
                    <a:bodyPr anchor="ctr">
                      <a:noAutofit/>
                    </a:bodyPr>
                    <a:p>
                      <a:pPr algn="ctr" defTabSz="756000">
                        <a:lnSpc>
                          <a:spcPct val="100000"/>
                        </a:lnSpc>
                      </a:pPr>
                      <a:r>
                        <a:rPr b="0" lang="fr-FR" sz="1100" spc="-1" strike="noStrike">
                          <a:solidFill>
                            <a:schemeClr val="dk1"/>
                          </a:solidFill>
                          <a:latin typeface="Marianne Medium"/>
                        </a:rPr>
                        <a:t>20</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defTabSz="756000">
                        <a:lnSpc>
                          <a:spcPct val="100000"/>
                        </a:lnSpc>
                      </a:pPr>
                      <a:r>
                        <a:rPr b="0" lang="en-FR" sz="1100" spc="-1" strike="noStrike">
                          <a:solidFill>
                            <a:schemeClr val="dk1"/>
                          </a:solidFill>
                          <a:latin typeface="Marianne Light"/>
                        </a:rPr>
                        <a:t>Déchets municipaux (déchets ménagers et déchets assimilés provenant des commerces, des industries et des administrations), y compris les fractions collectées séparément </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8"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489"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490" name="Rounded Rectangle 3"/>
          <p:cNvSpPr/>
          <p:nvPr/>
        </p:nvSpPr>
        <p:spPr>
          <a:xfrm rot="16200000">
            <a:off x="3809520" y="-190440"/>
            <a:ext cx="70092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145c30"/>
                </a:solidFill>
                <a:latin typeface="Marianne"/>
              </a:rPr>
              <a:t>B7</a:t>
            </a:r>
            <a:r>
              <a:rPr b="0" lang="fr-FR" sz="1400" spc="-1" strike="noStrike">
                <a:solidFill>
                  <a:srgbClr val="145c30"/>
                </a:solidFill>
                <a:latin typeface="Marianne Medium"/>
              </a:rPr>
              <a:t> </a:t>
            </a:r>
            <a:r>
              <a:rPr b="0" lang="fr-FR" sz="1400" spc="-1" strike="noStrike">
                <a:solidFill>
                  <a:srgbClr val="145c30"/>
                </a:solidFill>
                <a:latin typeface="Marianne"/>
              </a:rPr>
              <a:t>Utilisation des ressources, économie circulaire et gestion des déchets</a:t>
            </a:r>
            <a:endParaRPr b="0" lang="fr-FR" sz="1400" spc="-1" strike="noStrike">
              <a:solidFill>
                <a:srgbClr val="000000"/>
              </a:solidFill>
              <a:latin typeface="Arial"/>
            </a:endParaRPr>
          </a:p>
        </p:txBody>
      </p:sp>
      <p:cxnSp>
        <p:nvCxnSpPr>
          <p:cNvPr id="491" name="Straight Connector 17"/>
          <p:cNvCxnSpPr/>
          <p:nvPr/>
        </p:nvCxnSpPr>
        <p:spPr>
          <a:xfrm>
            <a:off x="893160" y="2525400"/>
            <a:ext cx="4680" cy="710280"/>
          </a:xfrm>
          <a:prstGeom prst="straightConnector1">
            <a:avLst/>
          </a:prstGeom>
          <a:ln w="3175">
            <a:solidFill>
              <a:srgbClr val="a6a6a6"/>
            </a:solidFill>
            <a:round/>
          </a:ln>
        </p:spPr>
      </p:cxnSp>
      <p:pic>
        <p:nvPicPr>
          <p:cNvPr id="492"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493"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494"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495"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496"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497" name="Rounded Rectangle 8"/>
          <p:cNvSpPr/>
          <p:nvPr/>
        </p:nvSpPr>
        <p:spPr>
          <a:xfrm>
            <a:off x="410400" y="3488040"/>
            <a:ext cx="6734160" cy="67528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Gestion des déchets</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graphicFrame>
        <p:nvGraphicFramePr>
          <p:cNvPr id="498" name="Table 9"/>
          <p:cNvGraphicFramePr/>
          <p:nvPr/>
        </p:nvGraphicFramePr>
        <p:xfrm>
          <a:off x="649080" y="4037400"/>
          <a:ext cx="6341400" cy="2934720"/>
        </p:xfrm>
        <a:graphic>
          <a:graphicData uri="http://schemas.openxmlformats.org/drawingml/2006/table">
            <a:tbl>
              <a:tblPr/>
              <a:tblGrid>
                <a:gridCol w="527760"/>
                <a:gridCol w="1002240"/>
                <a:gridCol w="807480"/>
                <a:gridCol w="1417320"/>
                <a:gridCol w="1478160"/>
                <a:gridCol w="1108800"/>
              </a:tblGrid>
              <a:tr h="302400">
                <a:tc>
                  <a:txBody>
                    <a:bodyPr lIns="108000" rIns="108000" anchor="ctr">
                      <a:noAutofit/>
                    </a:bodyPr>
                    <a:p>
                      <a:pPr algn="ctr" defTabSz="756000">
                        <a:lnSpc>
                          <a:spcPct val="100000"/>
                        </a:lnSpc>
                      </a:pPr>
                      <a:r>
                        <a:rPr b="0" lang="fr-FR" sz="1100" spc="-1" strike="noStrike">
                          <a:solidFill>
                            <a:srgbClr val="145c30"/>
                          </a:solidFill>
                          <a:latin typeface="Marianne Light"/>
                        </a:rPr>
                        <a:t>Type</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pPr>
                      <a:r>
                        <a:rPr b="0" lang="fr-FR" sz="1100" spc="-1" strike="noStrike">
                          <a:solidFill>
                            <a:srgbClr val="145c30"/>
                          </a:solidFill>
                          <a:latin typeface="Marianne Light"/>
                        </a:rPr>
                        <a:t>Nom</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pPr>
                      <a:r>
                        <a:rPr b="0" lang="fr-FR" sz="1100" spc="-1" strike="noStrike">
                          <a:solidFill>
                            <a:srgbClr val="145c30"/>
                          </a:solidFill>
                          <a:latin typeface="Marianne Light"/>
                        </a:rPr>
                        <a:t>Dangereux</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pPr>
                      <a:r>
                        <a:rPr b="0" lang="fr-FR" sz="1100" spc="-1" strike="noStrike">
                          <a:solidFill>
                            <a:srgbClr val="145c30"/>
                          </a:solidFill>
                          <a:latin typeface="Marianne Light"/>
                        </a:rPr>
                        <a:t>Total des déchets produits (en tonnes)</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Dont déchets orientés vers le recyclage ou la réutilisation (en tonnes)</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Dont déchets éliminés (en tonnes)</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r>
              <a:tr h="338040">
                <a:tc>
                  <a:txBody>
                    <a:bodyPr anchor="ctr">
                      <a:noAutofit/>
                    </a:bodyPr>
                    <a:p>
                      <a:pPr algn="ctr" defTabSz="756000">
                        <a:lnSpc>
                          <a:spcPct val="100000"/>
                        </a:lnSpc>
                        <a:tabLst>
                          <a:tab algn="l" pos="0"/>
                        </a:tabLst>
                      </a:pPr>
                      <a:r>
                        <a:rPr b="0" lang="fr-FR" sz="1100" spc="-1" strike="noStrike">
                          <a:solidFill>
                            <a:schemeClr val="dk1"/>
                          </a:solidFill>
                          <a:latin typeface="Marianne Medium"/>
                        </a:rPr>
                        <a:t>01</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fr-FR" sz="1100" spc="-1" strike="noStrike">
                          <a:solidFill>
                            <a:schemeClr val="dk1"/>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fr-FR" sz="1100" spc="-1" strike="noStrike">
                          <a:solidFill>
                            <a:schemeClr val="dk1"/>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fr-FR" sz="1100" spc="-1" strike="noStrike">
                          <a:solidFill>
                            <a:schemeClr val="dk1"/>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algn="ctr" defTabSz="756000">
                        <a:lnSpc>
                          <a:spcPct val="100000"/>
                        </a:lnSpc>
                        <a:tabLst>
                          <a:tab algn="l" pos="0"/>
                        </a:tabLst>
                      </a:pPr>
                      <a:r>
                        <a:rPr b="0" lang="fr-FR" sz="1100" spc="-1" strike="noStrike">
                          <a:solidFill>
                            <a:schemeClr val="dk1"/>
                          </a:solidFill>
                          <a:latin typeface="Marianne Medium"/>
                        </a:rPr>
                        <a:t>02</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0">
                <a:tc>
                  <a:txBody>
                    <a:bodyPr anchor="ctr">
                      <a:noAutofit/>
                    </a:bodyPr>
                    <a:p>
                      <a:pPr algn="ctr" defTabSz="756000">
                        <a:lnSpc>
                          <a:spcPct val="100000"/>
                        </a:lnSpc>
                      </a:pPr>
                      <a:r>
                        <a:rPr b="0" lang="fr-FR" sz="1100" spc="-1" strike="noStrike">
                          <a:solidFill>
                            <a:schemeClr val="dk1"/>
                          </a:solidFill>
                          <a:latin typeface="Marianne Medium"/>
                        </a:rPr>
                        <a:t>16</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470880">
                <a:tc>
                  <a:txBody>
                    <a:bodyPr anchor="ctr">
                      <a:noAutofit/>
                    </a:bodyPr>
                    <a:p>
                      <a:pPr algn="ctr" defTabSz="756000">
                        <a:lnSpc>
                          <a:spcPct val="100000"/>
                        </a:lnSpc>
                      </a:pPr>
                      <a:r>
                        <a:rPr b="0" lang="fr-FR" sz="1100" spc="-1" strike="noStrike">
                          <a:solidFill>
                            <a:schemeClr val="dk1"/>
                          </a:solidFill>
                          <a:latin typeface="Marianne Medium"/>
                        </a:rPr>
                        <a:t>18</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algn="ctr" defTabSz="756000">
                        <a:lnSpc>
                          <a:spcPct val="100000"/>
                        </a:lnSpc>
                      </a:pPr>
                      <a:r>
                        <a:rPr b="0" lang="fr-FR" sz="1100" spc="-1" strike="noStrike">
                          <a:solidFill>
                            <a:schemeClr val="dk1"/>
                          </a:solidFill>
                          <a:latin typeface="Marianne Medium"/>
                        </a:rPr>
                        <a:t>20</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0">
                <a:tc>
                  <a:txBody>
                    <a:bodyPr anchor="ctr">
                      <a:noAutofit/>
                    </a:bodyPr>
                    <a:p>
                      <a:pPr algn="ctr" defTabSz="756000">
                        <a:lnSpc>
                          <a:spcPct val="100000"/>
                        </a:lnSpc>
                      </a:pPr>
                      <a:r>
                        <a:rPr b="0" lang="fr-FR" sz="1100" spc="-1" strike="noStrike">
                          <a:solidFill>
                            <a:schemeClr val="dk1"/>
                          </a:solidFill>
                          <a:latin typeface="Marianne Medium"/>
                        </a:rPr>
                        <a:t>21</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9"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500"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501" name="Rounded Rectangle 3"/>
          <p:cNvSpPr/>
          <p:nvPr/>
        </p:nvSpPr>
        <p:spPr>
          <a:xfrm rot="16200000">
            <a:off x="3809520" y="-190440"/>
            <a:ext cx="70092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145c30"/>
                </a:solidFill>
                <a:latin typeface="Marianne"/>
              </a:rPr>
              <a:t>B7</a:t>
            </a:r>
            <a:r>
              <a:rPr b="0" lang="fr-FR" sz="1400" spc="-1" strike="noStrike">
                <a:solidFill>
                  <a:srgbClr val="145c30"/>
                </a:solidFill>
                <a:latin typeface="Marianne Medium"/>
              </a:rPr>
              <a:t> </a:t>
            </a:r>
            <a:r>
              <a:rPr b="0" lang="fr-FR" sz="1400" spc="-1" strike="noStrike">
                <a:solidFill>
                  <a:srgbClr val="145c30"/>
                </a:solidFill>
                <a:latin typeface="Marianne"/>
              </a:rPr>
              <a:t>Utilisation des ressources, économie circulaire et gestion des déchets</a:t>
            </a:r>
            <a:endParaRPr b="0" lang="fr-FR" sz="1400" spc="-1" strike="noStrike">
              <a:solidFill>
                <a:srgbClr val="000000"/>
              </a:solidFill>
              <a:latin typeface="Arial"/>
            </a:endParaRPr>
          </a:p>
        </p:txBody>
      </p:sp>
      <p:cxnSp>
        <p:nvCxnSpPr>
          <p:cNvPr id="502" name="Straight Connector 17"/>
          <p:cNvCxnSpPr/>
          <p:nvPr/>
        </p:nvCxnSpPr>
        <p:spPr>
          <a:xfrm>
            <a:off x="893160" y="2525400"/>
            <a:ext cx="4680" cy="710280"/>
          </a:xfrm>
          <a:prstGeom prst="straightConnector1">
            <a:avLst/>
          </a:prstGeom>
          <a:ln w="3175">
            <a:solidFill>
              <a:srgbClr val="a6a6a6"/>
            </a:solidFill>
            <a:round/>
          </a:ln>
        </p:spPr>
      </p:cxnSp>
      <p:pic>
        <p:nvPicPr>
          <p:cNvPr id="503"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504"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505"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506"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507"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508" name="Rounded Rectangle 8"/>
          <p:cNvSpPr/>
          <p:nvPr/>
        </p:nvSpPr>
        <p:spPr>
          <a:xfrm>
            <a:off x="410400" y="3488040"/>
            <a:ext cx="6734160" cy="67528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Gestion des déchets</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L’entreprise ne produit que des déchets ménagers</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9"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510"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511" name="Rounded Rectangle 3"/>
          <p:cNvSpPr/>
          <p:nvPr/>
        </p:nvSpPr>
        <p:spPr>
          <a:xfrm rot="16200000">
            <a:off x="3809520" y="-190440"/>
            <a:ext cx="70092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145c30"/>
                </a:solidFill>
                <a:latin typeface="Marianne"/>
              </a:rPr>
              <a:t>B7</a:t>
            </a:r>
            <a:r>
              <a:rPr b="0" lang="fr-FR" sz="1400" spc="-1" strike="noStrike">
                <a:solidFill>
                  <a:srgbClr val="145c30"/>
                </a:solidFill>
                <a:latin typeface="Marianne Medium"/>
              </a:rPr>
              <a:t> </a:t>
            </a:r>
            <a:r>
              <a:rPr b="0" lang="fr-FR" sz="1400" spc="-1" strike="noStrike">
                <a:solidFill>
                  <a:srgbClr val="145c30"/>
                </a:solidFill>
                <a:latin typeface="Marianne"/>
              </a:rPr>
              <a:t>Utilisation des ressources, économie circulaire et gestion des déchets</a:t>
            </a:r>
            <a:endParaRPr b="0" lang="fr-FR" sz="1400" spc="-1" strike="noStrike">
              <a:solidFill>
                <a:srgbClr val="000000"/>
              </a:solidFill>
              <a:latin typeface="Arial"/>
            </a:endParaRPr>
          </a:p>
        </p:txBody>
      </p:sp>
      <p:cxnSp>
        <p:nvCxnSpPr>
          <p:cNvPr id="512" name="Straight Connector 17"/>
          <p:cNvCxnSpPr/>
          <p:nvPr/>
        </p:nvCxnSpPr>
        <p:spPr>
          <a:xfrm>
            <a:off x="893160" y="2525400"/>
            <a:ext cx="4680" cy="710280"/>
          </a:xfrm>
          <a:prstGeom prst="straightConnector1">
            <a:avLst/>
          </a:prstGeom>
          <a:ln w="3175">
            <a:solidFill>
              <a:srgbClr val="a6a6a6"/>
            </a:solidFill>
            <a:round/>
          </a:ln>
        </p:spPr>
      </p:cxnSp>
      <p:pic>
        <p:nvPicPr>
          <p:cNvPr id="513"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514"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515"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516"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517"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518" name="Rounded Rectangle 8"/>
          <p:cNvSpPr/>
          <p:nvPr/>
        </p:nvSpPr>
        <p:spPr>
          <a:xfrm>
            <a:off x="410400" y="3488040"/>
            <a:ext cx="6734160" cy="67528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Flux massique annuel des matières pertinentes utilisées</a:t>
            </a:r>
            <a:endParaRPr b="0" lang="fr-FR" sz="1200" spc="-1" strike="noStrike">
              <a:solidFill>
                <a:srgbClr val="000000"/>
              </a:solidFill>
              <a:latin typeface="Arial"/>
            </a:endParaRPr>
          </a:p>
          <a:p>
            <a:pPr defTabSz="457200">
              <a:lnSpc>
                <a:spcPct val="100000"/>
              </a:lnSpc>
            </a:pPr>
            <a:br>
              <a:rPr sz="1200"/>
            </a:b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graphicFrame>
        <p:nvGraphicFramePr>
          <p:cNvPr id="519" name="Table 10"/>
          <p:cNvGraphicFramePr/>
          <p:nvPr/>
        </p:nvGraphicFramePr>
        <p:xfrm>
          <a:off x="649080" y="4037400"/>
          <a:ext cx="6299280" cy="2503800"/>
        </p:xfrm>
        <a:graphic>
          <a:graphicData uri="http://schemas.openxmlformats.org/drawingml/2006/table">
            <a:tbl>
              <a:tblPr/>
              <a:tblGrid>
                <a:gridCol w="2099880"/>
                <a:gridCol w="2099880"/>
                <a:gridCol w="2099880"/>
              </a:tblGrid>
              <a:tr h="527400">
                <a:tc>
                  <a:txBody>
                    <a:bodyPr lIns="108000" rIns="108000" anchor="ctr">
                      <a:noAutofit/>
                    </a:bodyPr>
                    <a:p>
                      <a:pPr algn="ctr" defTabSz="756000">
                        <a:lnSpc>
                          <a:spcPct val="100000"/>
                        </a:lnSpc>
                      </a:pPr>
                      <a:r>
                        <a:rPr b="0" lang="fr-FR" sz="1100" spc="-1" strike="noStrike">
                          <a:solidFill>
                            <a:srgbClr val="145c30"/>
                          </a:solidFill>
                          <a:latin typeface="Marianne Light"/>
                        </a:rPr>
                        <a:t>Nom de la matière essentielle</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Masse/Volume</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Unité de mesure</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r>
              <a:tr h="329400">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2880">
                      <a:solidFill>
                        <a:srgbClr val="d9d9d9"/>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fr-FR" sz="1100" spc="-1" strike="noStrike">
                          <a:solidFill>
                            <a:srgbClr val="000000"/>
                          </a:solidFill>
                          <a:latin typeface="Marianne Medium"/>
                        </a:rPr>
                        <a:t>tonnes</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r>
              <a:tr h="329400">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fr-FR" sz="1100" spc="-1" strike="noStrike">
                          <a:solidFill>
                            <a:srgbClr val="000000"/>
                          </a:solidFill>
                          <a:latin typeface="Marianne Medium"/>
                        </a:rPr>
                        <a:t>kg</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29400">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chemeClr val="dk1"/>
                          </a:solidFill>
                          <a:latin typeface="Marianne Medium"/>
                        </a:rPr>
                        <a:t>m³</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29400">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fr-FR" sz="1100" spc="-1" strike="noStrike">
                          <a:solidFill>
                            <a:srgbClr val="000000"/>
                          </a:solidFill>
                          <a:latin typeface="Marianne Medium"/>
                        </a:rPr>
                        <a:t>tonnes</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29400">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fr-FR" sz="1100" spc="-1" strike="noStrike">
                          <a:solidFill>
                            <a:srgbClr val="000000"/>
                          </a:solidFill>
                          <a:latin typeface="Marianne Medium"/>
                        </a:rPr>
                        <a:t>kg</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29400">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chemeClr val="dk1"/>
                          </a:solidFill>
                          <a:latin typeface="Marianne Medium"/>
                        </a:rPr>
                        <a:t>m³</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0"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521"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522" name="Rounded Rectangle 3"/>
          <p:cNvSpPr/>
          <p:nvPr/>
        </p:nvSpPr>
        <p:spPr>
          <a:xfrm rot="16200000">
            <a:off x="3809520" y="-190440"/>
            <a:ext cx="70092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145c30"/>
                </a:solidFill>
                <a:latin typeface="Marianne"/>
              </a:rPr>
              <a:t>B7</a:t>
            </a:r>
            <a:r>
              <a:rPr b="0" lang="fr-FR" sz="1400" spc="-1" strike="noStrike">
                <a:solidFill>
                  <a:srgbClr val="145c30"/>
                </a:solidFill>
                <a:latin typeface="Marianne Medium"/>
              </a:rPr>
              <a:t> </a:t>
            </a:r>
            <a:r>
              <a:rPr b="0" lang="fr-FR" sz="1400" spc="-1" strike="noStrike">
                <a:solidFill>
                  <a:srgbClr val="145c30"/>
                </a:solidFill>
                <a:latin typeface="Marianne"/>
              </a:rPr>
              <a:t>Utilisation des ressources, économie circulaire et gestion des déchets</a:t>
            </a:r>
            <a:endParaRPr b="0" lang="fr-FR" sz="1400" spc="-1" strike="noStrike">
              <a:solidFill>
                <a:srgbClr val="000000"/>
              </a:solidFill>
              <a:latin typeface="Arial"/>
            </a:endParaRPr>
          </a:p>
        </p:txBody>
      </p:sp>
      <p:cxnSp>
        <p:nvCxnSpPr>
          <p:cNvPr id="523" name="Straight Connector 17"/>
          <p:cNvCxnSpPr/>
          <p:nvPr/>
        </p:nvCxnSpPr>
        <p:spPr>
          <a:xfrm>
            <a:off x="893160" y="2525400"/>
            <a:ext cx="4680" cy="710280"/>
          </a:xfrm>
          <a:prstGeom prst="straightConnector1">
            <a:avLst/>
          </a:prstGeom>
          <a:ln w="3175">
            <a:solidFill>
              <a:srgbClr val="a6a6a6"/>
            </a:solidFill>
            <a:round/>
          </a:ln>
        </p:spPr>
      </p:cxnSp>
      <p:pic>
        <p:nvPicPr>
          <p:cNvPr id="524"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525"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526"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527"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528"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529" name="Rounded Rectangle 8"/>
          <p:cNvSpPr/>
          <p:nvPr/>
        </p:nvSpPr>
        <p:spPr>
          <a:xfrm>
            <a:off x="410400" y="3488040"/>
            <a:ext cx="6734160" cy="67528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Flux massique annuel des matières pertinentes utilisées</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L’entreprise n'exerce pas d'activité dans un secteur utilisant des flux de matières importants (fabrication, construction, emballage ou autres).</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br>
              <a:rPr sz="1200"/>
            </a:b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30"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531"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532" name="Rounded Rectangle 3"/>
          <p:cNvSpPr/>
          <p:nvPr/>
        </p:nvSpPr>
        <p:spPr>
          <a:xfrm rot="16200000">
            <a:off x="3809520" y="-190440"/>
            <a:ext cx="70092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145c30"/>
                </a:solidFill>
                <a:latin typeface="Marianne"/>
              </a:rPr>
              <a:t>C3</a:t>
            </a:r>
            <a:r>
              <a:rPr b="0" lang="fr-FR" sz="1400" spc="-1" strike="noStrike">
                <a:solidFill>
                  <a:srgbClr val="145c30"/>
                </a:solidFill>
                <a:latin typeface="Marianne Medium"/>
              </a:rPr>
              <a:t> </a:t>
            </a:r>
            <a:r>
              <a:rPr b="0" lang="fr-FR" sz="1400" spc="-1" strike="noStrike">
                <a:solidFill>
                  <a:srgbClr val="145c30"/>
                </a:solidFill>
                <a:latin typeface="Marianne"/>
              </a:rPr>
              <a:t>Cibles de réduction des émissions de GES et transition climatique</a:t>
            </a:r>
            <a:endParaRPr b="0" lang="fr-FR" sz="1400" spc="-1" strike="noStrike">
              <a:solidFill>
                <a:srgbClr val="000000"/>
              </a:solidFill>
              <a:latin typeface="Arial"/>
            </a:endParaRPr>
          </a:p>
        </p:txBody>
      </p:sp>
      <p:cxnSp>
        <p:nvCxnSpPr>
          <p:cNvPr id="533" name="Straight Connector 17"/>
          <p:cNvCxnSpPr/>
          <p:nvPr/>
        </p:nvCxnSpPr>
        <p:spPr>
          <a:xfrm>
            <a:off x="893160" y="2525400"/>
            <a:ext cx="4680" cy="710280"/>
          </a:xfrm>
          <a:prstGeom prst="straightConnector1">
            <a:avLst/>
          </a:prstGeom>
          <a:ln w="3175">
            <a:solidFill>
              <a:srgbClr val="a6a6a6"/>
            </a:solidFill>
            <a:round/>
          </a:ln>
        </p:spPr>
      </p:cxnSp>
      <p:pic>
        <p:nvPicPr>
          <p:cNvPr id="534"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535"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536"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537"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538"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539" name="Rounded Rectangle 8"/>
          <p:cNvSpPr/>
          <p:nvPr/>
        </p:nvSpPr>
        <p:spPr>
          <a:xfrm>
            <a:off x="410400" y="4354920"/>
            <a:ext cx="6734160" cy="588600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Cibles de réduction des émissions de GES des scopes 1 et 2</a:t>
            </a:r>
            <a:endParaRPr b="0" lang="fr-FR" sz="1200" spc="-1" strike="noStrike">
              <a:solidFill>
                <a:srgbClr val="000000"/>
              </a:solidFill>
              <a:latin typeface="Arial"/>
            </a:endParaRPr>
          </a:p>
          <a:p>
            <a:pPr defTabSz="457200">
              <a:lnSpc>
                <a:spcPct val="100000"/>
              </a:lnSpc>
            </a:pPr>
            <a:br>
              <a:rPr sz="1200"/>
            </a:b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graphicFrame>
        <p:nvGraphicFramePr>
          <p:cNvPr id="540" name="Table 9"/>
          <p:cNvGraphicFramePr/>
          <p:nvPr/>
        </p:nvGraphicFramePr>
        <p:xfrm>
          <a:off x="649080" y="4958640"/>
          <a:ext cx="6260400" cy="4730760"/>
        </p:xfrm>
        <a:graphic>
          <a:graphicData uri="http://schemas.openxmlformats.org/drawingml/2006/table">
            <a:tbl>
              <a:tblPr/>
              <a:tblGrid>
                <a:gridCol w="954720"/>
                <a:gridCol w="1218960"/>
                <a:gridCol w="1218960"/>
                <a:gridCol w="1022040"/>
                <a:gridCol w="1846080"/>
              </a:tblGrid>
              <a:tr h="690120">
                <a:tc>
                  <a:txBody>
                    <a:bodyPr lIns="108000" rIns="108000" anchor="ctr">
                      <a:noAutofit/>
                    </a:bodyPr>
                    <a:p>
                      <a:endParaRPr b="0" lang="fr-FR" sz="1100" spc="-1" strike="noStrike">
                        <a:solidFill>
                          <a:srgbClr val="145c30"/>
                        </a:solidFill>
                        <a:latin typeface="Marianne Light"/>
                      </a:endParaRPr>
                    </a:p>
                  </a:txBody>
                  <a:tcPr anchor="ctr" marL="108000" marR="108000">
                    <a:lnL w="12240">
                      <a:noFill/>
                      <a:prstDash val="solid"/>
                    </a:lnL>
                    <a:lnR w="12240">
                      <a:noFill/>
                      <a:prstDash val="solid"/>
                    </a:lnR>
                    <a:lnT w="12240">
                      <a:noFill/>
                      <a:prstDash val="solid"/>
                    </a:lnT>
                    <a:lnB w="12240">
                      <a:noFill/>
                      <a:prstDash val="solid"/>
                    </a:lnB>
                    <a:noFill/>
                  </a:tcPr>
                </a:tc>
                <a:tc>
                  <a:txBody>
                    <a:bodyPr lIns="108000" rIns="108000" anchor="ctr">
                      <a:noAutofit/>
                    </a:bodyPr>
                    <a:p>
                      <a:pPr algn="ctr" defTabSz="756000">
                        <a:lnSpc>
                          <a:spcPct val="100000"/>
                        </a:lnSpc>
                      </a:pPr>
                      <a:r>
                        <a:rPr b="1" lang="fr-FR" sz="1100" spc="-1" strike="noStrike">
                          <a:solidFill>
                            <a:srgbClr val="145c30"/>
                          </a:solidFill>
                          <a:latin typeface="Marianne Light"/>
                        </a:rPr>
                        <a:t>Année de référence</a:t>
                      </a:r>
                      <a:r>
                        <a:rPr b="0" lang="fr-FR" sz="1100" spc="-1" strike="noStrike">
                          <a:solidFill>
                            <a:srgbClr val="145c30"/>
                          </a:solidFill>
                          <a:latin typeface="Marianne Light"/>
                        </a:rPr>
                        <a:t> </a:t>
                      </a:r>
                      <a:endParaRPr b="0" lang="fr-FR" sz="1100" spc="-1" strike="noStrike">
                        <a:solidFill>
                          <a:srgbClr val="000000"/>
                        </a:solidFill>
                        <a:latin typeface="Arial"/>
                      </a:endParaRPr>
                    </a:p>
                    <a:p>
                      <a:pPr algn="ctr" defTabSz="756000">
                        <a:lnSpc>
                          <a:spcPct val="100000"/>
                        </a:lnSpc>
                        <a:tabLst>
                          <a:tab algn="l" pos="0"/>
                        </a:tabLst>
                      </a:pPr>
                      <a:r>
                        <a:rPr b="0" lang="fr-FR" sz="1100" spc="-1" strike="noStrike">
                          <a:solidFill>
                            <a:srgbClr val="145c30"/>
                          </a:solidFill>
                          <a:latin typeface="Marianne Light"/>
                        </a:rPr>
                        <a:t>(en teqCO₂) </a:t>
                      </a:r>
                      <a:endParaRPr b="0" lang="fr-FR" sz="1100" spc="-1" strike="noStrike">
                        <a:solidFill>
                          <a:srgbClr val="000000"/>
                        </a:solidFill>
                        <a:latin typeface="Arial"/>
                      </a:endParaRPr>
                    </a:p>
                  </a:txBody>
                  <a:tcPr anchor="ctr" marL="108000" marR="108000">
                    <a:lnL w="12240">
                      <a:no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pPr>
                      <a:r>
                        <a:rPr b="1" lang="fr-FR" sz="1100" spc="-1" strike="noStrike">
                          <a:solidFill>
                            <a:srgbClr val="145c30"/>
                          </a:solidFill>
                          <a:latin typeface="Marianne Light"/>
                        </a:rPr>
                        <a:t>Année cible</a:t>
                      </a:r>
                      <a:endParaRPr b="0" lang="fr-FR" sz="1100" spc="-1" strike="noStrike">
                        <a:solidFill>
                          <a:srgbClr val="000000"/>
                        </a:solidFill>
                        <a:latin typeface="Arial"/>
                      </a:endParaRPr>
                    </a:p>
                    <a:p>
                      <a:pPr algn="ctr" defTabSz="756000">
                        <a:lnSpc>
                          <a:spcPct val="100000"/>
                        </a:lnSpc>
                        <a:tabLst>
                          <a:tab algn="l" pos="0"/>
                        </a:tabLst>
                      </a:pPr>
                      <a:r>
                        <a:rPr b="0" lang="fr-FR" sz="1100" spc="-1" strike="noStrike">
                          <a:solidFill>
                            <a:srgbClr val="145c30"/>
                          </a:solidFill>
                          <a:latin typeface="Marianne Light"/>
                        </a:rPr>
                        <a:t>(en teqCO₂) </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pPr>
                      <a:r>
                        <a:rPr b="0" lang="fr-FR" sz="1100" spc="-1" strike="noStrike">
                          <a:solidFill>
                            <a:srgbClr val="145c30"/>
                          </a:solidFill>
                          <a:latin typeface="Marianne Light"/>
                        </a:rPr>
                        <a:t>Réduction en %</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Principales actions prévues</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r>
              <a:tr h="2020320">
                <a:tc>
                  <a:txBody>
                    <a:bodyPr anchor="ctr">
                      <a:noAutofit/>
                    </a:bodyPr>
                    <a:p>
                      <a:pPr algn="ctr" defTabSz="756000">
                        <a:lnSpc>
                          <a:spcPct val="100000"/>
                        </a:lnSpc>
                      </a:pPr>
                      <a:r>
                        <a:rPr b="0" lang="fr-FR" sz="1100" spc="-1" strike="noStrike">
                          <a:solidFill>
                            <a:srgbClr val="145c30"/>
                          </a:solidFill>
                          <a:latin typeface="Marianne Light"/>
                        </a:rPr>
                        <a:t>Scope 1</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12240">
                      <a:noFill/>
                      <a:prstDash val="solid"/>
                    </a:lnT>
                    <a:lnB w="28080">
                      <a:solidFill>
                        <a:srgbClr val="ffffff"/>
                      </a:solidFill>
                      <a:prstDash val="solid"/>
                    </a:lnB>
                    <a:solidFill>
                      <a:srgbClr val="ebeeed"/>
                    </a:solidFill>
                  </a:tcPr>
                </a:tc>
                <a:tc>
                  <a:txBody>
                    <a:bodyPr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 %</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800" spc="-1" strike="noStrike">
                          <a:solidFill>
                            <a:srgbClr val="000000"/>
                          </a:solidFill>
                          <a:latin typeface="Marianne"/>
                        </a:rPr>
                        <a:t>-</a:t>
                      </a:r>
                      <a:endParaRPr b="0" lang="fr-FR" sz="8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r>
              <a:tr h="2020320">
                <a:tc>
                  <a:txBody>
                    <a:bodyPr anchor="ctr">
                      <a:noAutofit/>
                    </a:bodyPr>
                    <a:p>
                      <a:pPr algn="ctr" defTabSz="756000">
                        <a:lnSpc>
                          <a:spcPct val="100000"/>
                        </a:lnSpc>
                      </a:pPr>
                      <a:r>
                        <a:rPr b="0" lang="fr-FR" sz="1100" spc="-1" strike="noStrike">
                          <a:solidFill>
                            <a:srgbClr val="145c30"/>
                          </a:solidFill>
                          <a:latin typeface="Marianne Light"/>
                        </a:rPr>
                        <a:t>Scope 2 basé sur la localisation</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 %</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800" spc="-1" strike="noStrike">
                          <a:solidFill>
                            <a:srgbClr val="000000"/>
                          </a:solidFill>
                          <a:latin typeface="Marianne"/>
                        </a:rPr>
                        <a:t>-</a:t>
                      </a:r>
                      <a:endParaRPr b="0" lang="fr-FR" sz="8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noFill/>
                      <a:prstDash val="solid"/>
                    </a:lnB>
                    <a:solidFill>
                      <a:schemeClr val="lt1">
                        <a:lumMod val="95000"/>
                      </a:schemeClr>
                    </a:solidFill>
                  </a:tcPr>
                </a:tc>
              </a:tr>
            </a:tbl>
          </a:graphicData>
        </a:graphic>
      </p:graphicFrame>
      <p:sp>
        <p:nvSpPr>
          <p:cNvPr id="541" name="Rounded Rectangle 10"/>
          <p:cNvSpPr/>
          <p:nvPr/>
        </p:nvSpPr>
        <p:spPr>
          <a:xfrm>
            <a:off x="410400" y="3425400"/>
            <a:ext cx="3236400" cy="730440"/>
          </a:xfrm>
          <a:prstGeom prst="roundRect">
            <a:avLst>
              <a:gd name="adj" fmla="val 12244"/>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Année de référence</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a:rPr>
              <a:t>-</a:t>
            </a:r>
            <a:endParaRPr b="0" lang="fr-FR" sz="1200" spc="-1" strike="noStrike">
              <a:solidFill>
                <a:srgbClr val="000000"/>
              </a:solidFill>
              <a:latin typeface="Arial"/>
            </a:endParaRPr>
          </a:p>
        </p:txBody>
      </p:sp>
      <p:sp>
        <p:nvSpPr>
          <p:cNvPr id="542" name="Rounded Rectangle 11"/>
          <p:cNvSpPr/>
          <p:nvPr/>
        </p:nvSpPr>
        <p:spPr>
          <a:xfrm>
            <a:off x="3780000" y="3425400"/>
            <a:ext cx="3364920" cy="730440"/>
          </a:xfrm>
          <a:prstGeom prst="roundRect">
            <a:avLst>
              <a:gd name="adj" fmla="val 12244"/>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Année cible</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a:rPr>
              <a:t>-</a:t>
            </a:r>
            <a:endParaRPr b="0" lang="fr-FR" sz="1200" spc="-1" strike="noStrike">
              <a:solidFill>
                <a:srgbClr val="000000"/>
              </a:solidFill>
              <a:latin typeface="Arial"/>
            </a:endParaRPr>
          </a:p>
        </p:txBody>
      </p:sp>
      <p:graphicFrame>
        <p:nvGraphicFramePr>
          <p:cNvPr id="543" name="Table 3"/>
          <p:cNvGraphicFramePr/>
          <p:nvPr/>
        </p:nvGraphicFramePr>
        <p:xfrm>
          <a:off x="649080" y="9689040"/>
          <a:ext cx="6260400" cy="390240"/>
        </p:xfrm>
        <a:graphic>
          <a:graphicData uri="http://schemas.openxmlformats.org/drawingml/2006/table">
            <a:tbl>
              <a:tblPr/>
              <a:tblGrid>
                <a:gridCol w="954720"/>
                <a:gridCol w="1218960"/>
                <a:gridCol w="1218960"/>
                <a:gridCol w="1022040"/>
                <a:gridCol w="1846080"/>
              </a:tblGrid>
              <a:tr h="390240">
                <a:tc>
                  <a:txBody>
                    <a:bodyPr anchor="ctr">
                      <a:noAutofit/>
                    </a:bodyPr>
                    <a:p>
                      <a:pPr algn="ctr" defTabSz="756000">
                        <a:lnSpc>
                          <a:spcPct val="100000"/>
                        </a:lnSpc>
                      </a:pPr>
                      <a:r>
                        <a:rPr b="0" lang="fr-FR" sz="1100" spc="-1" strike="noStrike">
                          <a:solidFill>
                            <a:srgbClr val="145c30"/>
                          </a:solidFill>
                          <a:latin typeface="Marianne Light"/>
                        </a:rPr>
                        <a:t>Total</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algn="ctr" defTabSz="756000">
                        <a:lnSpc>
                          <a:spcPct val="100000"/>
                        </a:lnSpc>
                      </a:pPr>
                      <a:r>
                        <a:rPr b="1" lang="fr-FR" sz="1100" spc="-1" strike="noStrike">
                          <a:solidFill>
                            <a:schemeClr val="dk1"/>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lIns="6120" rIns="6120" anchor="ctr">
                      <a:noAutofit/>
                    </a:bodyPr>
                    <a:p>
                      <a:pPr algn="ctr" defTabSz="756000">
                        <a:lnSpc>
                          <a:spcPct val="100000"/>
                        </a:lnSpc>
                        <a:tabLst>
                          <a:tab algn="l" pos="0"/>
                        </a:tabLst>
                      </a:pPr>
                      <a:r>
                        <a:rPr b="1" lang="fr-FR" sz="1000" spc="-1" strike="noStrike">
                          <a:solidFill>
                            <a:schemeClr val="dk1"/>
                          </a:solidFill>
                          <a:latin typeface="Marianne"/>
                        </a:rPr>
                        <a:t>-</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lIns="6120" rIns="6120" anchor="ctr">
                      <a:noAutofit/>
                    </a:bodyPr>
                    <a:p>
                      <a:pPr algn="ctr" defTabSz="756000">
                        <a:lnSpc>
                          <a:spcPct val="100000"/>
                        </a:lnSpc>
                        <a:tabLst>
                          <a:tab algn="l" pos="0"/>
                        </a:tabLst>
                      </a:pPr>
                      <a:r>
                        <a:rPr b="1" lang="fr-FR" sz="1000" spc="-1" strike="noStrike">
                          <a:solidFill>
                            <a:schemeClr val="dk1"/>
                          </a:solidFill>
                          <a:latin typeface="Marianne"/>
                        </a:rPr>
                        <a:t>- %</a:t>
                      </a:r>
                      <a:endParaRPr b="0" lang="fr-FR" sz="1000" spc="-1" strike="noStrike">
                        <a:solidFill>
                          <a:srgbClr val="000000"/>
                        </a:solidFill>
                        <a:latin typeface="Arial"/>
                      </a:endParaRPr>
                    </a:p>
                  </a:txBody>
                  <a:tcPr anchor="ctr" marL="6120" marR="6120">
                    <a:lnL w="12240">
                      <a:solidFill>
                        <a:srgbClr val="ffffff"/>
                      </a:solidFill>
                      <a:prstDash val="solid"/>
                    </a:lnL>
                    <a:lnR w="12240">
                      <a:noFill/>
                      <a:prstDash val="solid"/>
                    </a:lnR>
                    <a:lnT w="28080">
                      <a:solidFill>
                        <a:srgbClr val="ffffff"/>
                      </a:solidFill>
                      <a:prstDash val="solid"/>
                    </a:lnT>
                    <a:lnB w="28080">
                      <a:solidFill>
                        <a:srgbClr val="ffffff"/>
                      </a:solidFill>
                      <a:prstDash val="solid"/>
                    </a:lnB>
                    <a:solidFill>
                      <a:srgbClr val="ebeeed"/>
                    </a:solidFill>
                  </a:tcPr>
                </a:tc>
                <a:tc>
                  <a:txBody>
                    <a:bodyPr lIns="6120" rIns="6120" anchor="ctr">
                      <a:noAutofit/>
                    </a:bodyPr>
                    <a:p>
                      <a:endParaRPr b="1" lang="fr-FR" sz="1000" spc="-1" strike="noStrike">
                        <a:solidFill>
                          <a:schemeClr val="dk1"/>
                        </a:solidFill>
                        <a:latin typeface="Marianne"/>
                      </a:endParaRPr>
                    </a:p>
                  </a:txBody>
                  <a:tcPr anchor="ctr" marL="6120" marR="6120">
                    <a:lnL w="12240">
                      <a:noFill/>
                      <a:prstDash val="solid"/>
                    </a:lnL>
                    <a:lnR w="12240">
                      <a:noFill/>
                      <a:prstDash val="solid"/>
                    </a:lnR>
                    <a:lnT w="28080">
                      <a:noFill/>
                      <a:prstDash val="solid"/>
                    </a:lnT>
                    <a:lnB w="28080">
                      <a:noFill/>
                      <a:prstDash val="solid"/>
                    </a:lnB>
                    <a:no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4"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545"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546" name="Rounded Rectangle 3"/>
          <p:cNvSpPr/>
          <p:nvPr/>
        </p:nvSpPr>
        <p:spPr>
          <a:xfrm rot="16200000">
            <a:off x="3809520" y="-190440"/>
            <a:ext cx="70092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145c30"/>
                </a:solidFill>
                <a:latin typeface="Marianne"/>
              </a:rPr>
              <a:t>C3</a:t>
            </a:r>
            <a:r>
              <a:rPr b="0" lang="fr-FR" sz="1400" spc="-1" strike="noStrike">
                <a:solidFill>
                  <a:srgbClr val="145c30"/>
                </a:solidFill>
                <a:latin typeface="Marianne Medium"/>
              </a:rPr>
              <a:t> </a:t>
            </a:r>
            <a:r>
              <a:rPr b="0" lang="fr-FR" sz="1400" spc="-1" strike="noStrike">
                <a:solidFill>
                  <a:srgbClr val="145c30"/>
                </a:solidFill>
                <a:latin typeface="Marianne"/>
              </a:rPr>
              <a:t>Cibles de réduction des émissions de GES et transition climatique</a:t>
            </a:r>
            <a:endParaRPr b="0" lang="fr-FR" sz="1400" spc="-1" strike="noStrike">
              <a:solidFill>
                <a:srgbClr val="000000"/>
              </a:solidFill>
              <a:latin typeface="Arial"/>
            </a:endParaRPr>
          </a:p>
        </p:txBody>
      </p:sp>
      <p:cxnSp>
        <p:nvCxnSpPr>
          <p:cNvPr id="547" name="Straight Connector 17"/>
          <p:cNvCxnSpPr/>
          <p:nvPr/>
        </p:nvCxnSpPr>
        <p:spPr>
          <a:xfrm>
            <a:off x="893160" y="2525400"/>
            <a:ext cx="4680" cy="710280"/>
          </a:xfrm>
          <a:prstGeom prst="straightConnector1">
            <a:avLst/>
          </a:prstGeom>
          <a:ln w="3175">
            <a:solidFill>
              <a:srgbClr val="a6a6a6"/>
            </a:solidFill>
            <a:round/>
          </a:ln>
        </p:spPr>
      </p:cxnSp>
      <p:pic>
        <p:nvPicPr>
          <p:cNvPr id="548"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549"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550"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551"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552"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553" name="Rounded Rectangle 8"/>
          <p:cNvSpPr/>
          <p:nvPr/>
        </p:nvSpPr>
        <p:spPr>
          <a:xfrm>
            <a:off x="410400" y="3488040"/>
            <a:ext cx="6734160" cy="67528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Cibles de réduction des émissions de GES des scopes 1 et 2</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L’entreprise</a:t>
            </a:r>
            <a:r>
              <a:rPr b="1" lang="en-FR" sz="1200" spc="-1" strike="noStrike">
                <a:solidFill>
                  <a:srgbClr val="000000"/>
                </a:solidFill>
                <a:latin typeface="Marianne Medium"/>
              </a:rPr>
              <a:t> n'a pas fixé des cibles de réduction des émissions de GES</a:t>
            </a:r>
            <a:endParaRPr b="0" lang="fr-FR" sz="1200" spc="-1" strike="noStrike">
              <a:solidFill>
                <a:srgbClr val="000000"/>
              </a:solidFill>
              <a:latin typeface="Arial"/>
            </a:endParaRPr>
          </a:p>
          <a:p>
            <a:pPr defTabSz="457200">
              <a:lnSpc>
                <a:spcPct val="100000"/>
              </a:lnSpc>
            </a:pPr>
            <a:br>
              <a:rPr sz="1200"/>
            </a:b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4"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555"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556" name="Rounded Rectangle 3"/>
          <p:cNvSpPr/>
          <p:nvPr/>
        </p:nvSpPr>
        <p:spPr>
          <a:xfrm rot="16200000">
            <a:off x="3809520" y="-190440"/>
            <a:ext cx="70092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145c30"/>
                </a:solidFill>
                <a:latin typeface="Marianne"/>
              </a:rPr>
              <a:t>C3</a:t>
            </a:r>
            <a:r>
              <a:rPr b="0" lang="fr-FR" sz="1400" spc="-1" strike="noStrike">
                <a:solidFill>
                  <a:srgbClr val="145c30"/>
                </a:solidFill>
                <a:latin typeface="Marianne Medium"/>
              </a:rPr>
              <a:t> </a:t>
            </a:r>
            <a:r>
              <a:rPr b="0" lang="fr-FR" sz="1400" spc="-1" strike="noStrike">
                <a:solidFill>
                  <a:srgbClr val="145c30"/>
                </a:solidFill>
                <a:latin typeface="Marianne"/>
              </a:rPr>
              <a:t>Cibles de réduction des émissions de GES et transition climatique</a:t>
            </a:r>
            <a:endParaRPr b="0" lang="fr-FR" sz="1400" spc="-1" strike="noStrike">
              <a:solidFill>
                <a:srgbClr val="000000"/>
              </a:solidFill>
              <a:latin typeface="Arial"/>
            </a:endParaRPr>
          </a:p>
        </p:txBody>
      </p:sp>
      <p:cxnSp>
        <p:nvCxnSpPr>
          <p:cNvPr id="557" name="Straight Connector 17"/>
          <p:cNvCxnSpPr/>
          <p:nvPr/>
        </p:nvCxnSpPr>
        <p:spPr>
          <a:xfrm>
            <a:off x="893160" y="2525400"/>
            <a:ext cx="4680" cy="710280"/>
          </a:xfrm>
          <a:prstGeom prst="straightConnector1">
            <a:avLst/>
          </a:prstGeom>
          <a:ln w="3175">
            <a:solidFill>
              <a:srgbClr val="a6a6a6"/>
            </a:solidFill>
            <a:round/>
          </a:ln>
        </p:spPr>
      </p:cxnSp>
      <p:pic>
        <p:nvPicPr>
          <p:cNvPr id="558"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559"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560"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561"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562"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563" name="Rounded Rectangle 8"/>
          <p:cNvSpPr/>
          <p:nvPr/>
        </p:nvSpPr>
        <p:spPr>
          <a:xfrm>
            <a:off x="410400" y="4294080"/>
            <a:ext cx="6734160" cy="597132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Cibles de réduction des émissions de GES du scopes 3</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graphicFrame>
        <p:nvGraphicFramePr>
          <p:cNvPr id="564" name="Table 9"/>
          <p:cNvGraphicFramePr/>
          <p:nvPr/>
        </p:nvGraphicFramePr>
        <p:xfrm>
          <a:off x="649080" y="4836600"/>
          <a:ext cx="6260400" cy="5153400"/>
        </p:xfrm>
        <a:graphic>
          <a:graphicData uri="http://schemas.openxmlformats.org/drawingml/2006/table">
            <a:tbl>
              <a:tblPr/>
              <a:tblGrid>
                <a:gridCol w="1963440"/>
                <a:gridCol w="907560"/>
                <a:gridCol w="944640"/>
                <a:gridCol w="1112400"/>
                <a:gridCol w="1332720"/>
              </a:tblGrid>
              <a:tr h="495000">
                <a:tc>
                  <a:txBody>
                    <a:bodyPr lIns="108000" rIns="108000" anchor="ctr">
                      <a:noAutofit/>
                    </a:bodyPr>
                    <a:p>
                      <a:endParaRPr b="0" lang="fr-FR" sz="1100" spc="-1" strike="noStrike">
                        <a:solidFill>
                          <a:srgbClr val="145c30"/>
                        </a:solidFill>
                        <a:latin typeface="Marianne Light"/>
                      </a:endParaRPr>
                    </a:p>
                  </a:txBody>
                  <a:tcPr anchor="ctr" marL="108000" marR="108000">
                    <a:lnL w="12240">
                      <a:noFill/>
                      <a:prstDash val="solid"/>
                    </a:lnL>
                    <a:lnR w="12240">
                      <a:noFill/>
                      <a:prstDash val="solid"/>
                    </a:lnR>
                    <a:lnT w="12240">
                      <a:noFill/>
                      <a:prstDash val="solid"/>
                    </a:lnT>
                    <a:lnB w="12240">
                      <a:noFill/>
                      <a:prstDash val="solid"/>
                    </a:lnB>
                    <a:noFill/>
                  </a:tcPr>
                </a:tc>
                <a:tc>
                  <a:txBody>
                    <a:bodyPr lIns="108000" rIns="108000" anchor="ctr">
                      <a:noAutofit/>
                    </a:bodyPr>
                    <a:p>
                      <a:pPr algn="ctr" defTabSz="756000">
                        <a:lnSpc>
                          <a:spcPct val="100000"/>
                        </a:lnSpc>
                      </a:pPr>
                      <a:r>
                        <a:rPr b="1" lang="fr-FR" sz="1100" spc="-1" strike="noStrike">
                          <a:solidFill>
                            <a:srgbClr val="145c30"/>
                          </a:solidFill>
                          <a:latin typeface="Marianne Light"/>
                        </a:rPr>
                        <a:t>Année de référence</a:t>
                      </a:r>
                      <a:r>
                        <a:rPr b="0" lang="fr-FR" sz="1100" spc="-1" strike="noStrike">
                          <a:solidFill>
                            <a:srgbClr val="145c30"/>
                          </a:solidFill>
                          <a:latin typeface="Marianne Light"/>
                        </a:rPr>
                        <a:t> </a:t>
                      </a:r>
                      <a:endParaRPr b="0" lang="fr-FR" sz="1100" spc="-1" strike="noStrike">
                        <a:solidFill>
                          <a:srgbClr val="000000"/>
                        </a:solidFill>
                        <a:latin typeface="Arial"/>
                      </a:endParaRPr>
                    </a:p>
                    <a:p>
                      <a:pPr algn="ctr" defTabSz="756000">
                        <a:lnSpc>
                          <a:spcPct val="100000"/>
                        </a:lnSpc>
                        <a:tabLst>
                          <a:tab algn="l" pos="0"/>
                        </a:tabLst>
                      </a:pPr>
                      <a:r>
                        <a:rPr b="0" lang="fr-FR" sz="1100" spc="-1" strike="noStrike">
                          <a:solidFill>
                            <a:srgbClr val="145c30"/>
                          </a:solidFill>
                          <a:latin typeface="Marianne Light"/>
                        </a:rPr>
                        <a:t>(teqCO₂) </a:t>
                      </a:r>
                      <a:endParaRPr b="0" lang="fr-FR" sz="1100" spc="-1" strike="noStrike">
                        <a:solidFill>
                          <a:srgbClr val="000000"/>
                        </a:solidFill>
                        <a:latin typeface="Arial"/>
                      </a:endParaRPr>
                    </a:p>
                  </a:txBody>
                  <a:tcPr anchor="ctr" marL="108000" marR="108000">
                    <a:lnL w="12240">
                      <a:no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pPr>
                      <a:r>
                        <a:rPr b="1" lang="fr-FR" sz="1100" spc="-1" strike="noStrike">
                          <a:solidFill>
                            <a:srgbClr val="145c30"/>
                          </a:solidFill>
                          <a:latin typeface="Marianne Light"/>
                        </a:rPr>
                        <a:t>Année cible</a:t>
                      </a:r>
                      <a:endParaRPr b="0" lang="fr-FR" sz="1100" spc="-1" strike="noStrike">
                        <a:solidFill>
                          <a:srgbClr val="000000"/>
                        </a:solidFill>
                        <a:latin typeface="Arial"/>
                      </a:endParaRPr>
                    </a:p>
                    <a:p>
                      <a:pPr algn="ctr" defTabSz="756000">
                        <a:lnSpc>
                          <a:spcPct val="100000"/>
                        </a:lnSpc>
                        <a:tabLst>
                          <a:tab algn="l" pos="0"/>
                        </a:tabLst>
                      </a:pPr>
                      <a:r>
                        <a:rPr b="0" lang="fr-FR" sz="1100" spc="-1" strike="noStrike">
                          <a:solidFill>
                            <a:srgbClr val="145c30"/>
                          </a:solidFill>
                          <a:latin typeface="Marianne Light"/>
                        </a:rPr>
                        <a:t>(teqCO₂) </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pPr>
                      <a:r>
                        <a:rPr b="0" lang="fr-FR" sz="1100" spc="-1" strike="noStrike">
                          <a:solidFill>
                            <a:srgbClr val="145c30"/>
                          </a:solidFill>
                          <a:latin typeface="Marianne Light"/>
                        </a:rPr>
                        <a:t>Réduction en %</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Principales actions prévues</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r>
              <a:tr h="536760">
                <a:tc>
                  <a:txBody>
                    <a:bodyPr anchor="ctr">
                      <a:noAutofit/>
                    </a:bodyPr>
                    <a:p>
                      <a:pPr defTabSz="756000">
                        <a:lnSpc>
                          <a:spcPct val="100000"/>
                        </a:lnSpc>
                      </a:pPr>
                      <a:r>
                        <a:rPr b="0" lang="en-FR" sz="1050" spc="-1" strike="noStrike">
                          <a:solidFill>
                            <a:schemeClr val="dk1"/>
                          </a:solidFill>
                          <a:latin typeface="Marianne Medium"/>
                        </a:rPr>
                        <a:t>1. Biens et services achetés</a:t>
                      </a:r>
                      <a:endParaRPr b="0" lang="fr-FR" sz="105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12240">
                      <a:noFill/>
                      <a:prstDash val="solid"/>
                    </a:lnT>
                    <a:lnB w="28080">
                      <a:solidFill>
                        <a:srgbClr val="ffffff"/>
                      </a:solidFill>
                      <a:prstDash val="solid"/>
                    </a:lnB>
                    <a:solidFill>
                      <a:srgbClr val="ebeeed"/>
                    </a:solidFill>
                  </a:tcPr>
                </a:tc>
                <a:tc>
                  <a:txBody>
                    <a:bodyPr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 %</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800" spc="-1" strike="noStrike">
                          <a:solidFill>
                            <a:srgbClr val="000000"/>
                          </a:solidFill>
                          <a:latin typeface="Marianne"/>
                        </a:rPr>
                        <a:t>-</a:t>
                      </a:r>
                      <a:endParaRPr b="0" lang="fr-FR" sz="8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r>
              <a:tr h="367920">
                <a:tc>
                  <a:txBody>
                    <a:bodyPr anchor="ctr">
                      <a:noAutofit/>
                    </a:bodyPr>
                    <a:p>
                      <a:pPr defTabSz="756000">
                        <a:lnSpc>
                          <a:spcPct val="100000"/>
                        </a:lnSpc>
                      </a:pPr>
                      <a:r>
                        <a:rPr b="0" lang="en-FR" sz="1050" spc="-1" strike="noStrike">
                          <a:solidFill>
                            <a:schemeClr val="dk1"/>
                          </a:solidFill>
                          <a:latin typeface="Marianne Medium"/>
                        </a:rPr>
                        <a:t>2. Biens d'investissement</a:t>
                      </a:r>
                      <a:endParaRPr b="0" lang="fr-FR" sz="105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 %</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800" spc="-1" strike="noStrike">
                          <a:solidFill>
                            <a:srgbClr val="000000"/>
                          </a:solidFill>
                          <a:latin typeface="Marianne"/>
                        </a:rPr>
                        <a:t>-</a:t>
                      </a:r>
                      <a:endParaRPr b="0" lang="fr-FR" sz="8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r>
              <a:tr h="958320">
                <a:tc>
                  <a:txBody>
                    <a:bodyPr anchor="ctr">
                      <a:noAutofit/>
                    </a:bodyPr>
                    <a:p>
                      <a:pPr defTabSz="756000">
                        <a:lnSpc>
                          <a:spcPct val="100000"/>
                        </a:lnSpc>
                      </a:pPr>
                      <a:r>
                        <a:rPr b="0" lang="en-FR" sz="1050" spc="-1" strike="noStrike">
                          <a:solidFill>
                            <a:schemeClr val="dk1"/>
                          </a:solidFill>
                          <a:latin typeface="Marianne Medium"/>
                        </a:rPr>
                        <a:t>3. Activités relevant des secteurs des combustibles et de l'énergie</a:t>
                      </a:r>
                      <a:endParaRPr b="0" lang="fr-FR" sz="105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 %</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800" spc="-1" strike="noStrike">
                          <a:solidFill>
                            <a:srgbClr val="000000"/>
                          </a:solidFill>
                          <a:latin typeface="Marianne"/>
                        </a:rPr>
                        <a:t>-</a:t>
                      </a:r>
                      <a:endParaRPr b="0" lang="fr-FR" sz="800" spc="-1" strike="noStrike">
                        <a:solidFill>
                          <a:srgbClr val="000000"/>
                        </a:solidFill>
                        <a:latin typeface="Arial"/>
                      </a:endParaRPr>
                    </a:p>
                  </a:txBody>
                  <a:tcPr anchor="ctr" marL="6120" marR="6120">
                    <a:lnL w="12240">
                      <a:solidFill>
                        <a:srgbClr val="ffffff"/>
                      </a:solidFill>
                      <a:prstDash val="solid"/>
                    </a:lnL>
                    <a:lnR w="12240">
                      <a:noFill/>
                      <a:prstDash val="solid"/>
                    </a:lnR>
                    <a:lnT w="12240">
                      <a:solidFill>
                        <a:srgbClr val="ffffff"/>
                      </a:solidFill>
                      <a:prstDash val="solid"/>
                    </a:lnT>
                    <a:lnB w="12240">
                      <a:solidFill>
                        <a:srgbClr val="ffffff"/>
                      </a:solidFill>
                      <a:prstDash val="solid"/>
                    </a:lnB>
                    <a:solidFill>
                      <a:schemeClr val="lt1">
                        <a:lumMod val="95000"/>
                      </a:schemeClr>
                    </a:solidFill>
                  </a:tcPr>
                </a:tc>
              </a:tr>
              <a:tr h="597600">
                <a:tc>
                  <a:txBody>
                    <a:bodyPr anchor="ctr">
                      <a:noAutofit/>
                    </a:bodyPr>
                    <a:p>
                      <a:pPr defTabSz="756000">
                        <a:lnSpc>
                          <a:spcPct val="100000"/>
                        </a:lnSpc>
                      </a:pPr>
                      <a:r>
                        <a:rPr b="0" lang="en-FR" sz="1050" spc="-1" strike="noStrike">
                          <a:solidFill>
                            <a:schemeClr val="dk1"/>
                          </a:solidFill>
                          <a:latin typeface="Marianne Medium"/>
                        </a:rPr>
                        <a:t>4. Transport et distribution en amont</a:t>
                      </a:r>
                      <a:endParaRPr b="0" lang="fr-FR" sz="105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 %</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800" spc="-1" strike="noStrike">
                          <a:solidFill>
                            <a:srgbClr val="000000"/>
                          </a:solidFill>
                          <a:latin typeface="Marianne"/>
                        </a:rPr>
                        <a:t>-</a:t>
                      </a:r>
                      <a:endParaRPr b="0" lang="fr-FR" sz="800" spc="-1" strike="noStrike">
                        <a:solidFill>
                          <a:srgbClr val="000000"/>
                        </a:solidFill>
                        <a:latin typeface="Arial"/>
                      </a:endParaRPr>
                    </a:p>
                  </a:txBody>
                  <a:tcPr anchor="ctr" marL="6120" marR="6120">
                    <a:lnL w="12240">
                      <a:solidFill>
                        <a:srgbClr val="ffffff"/>
                      </a:solidFill>
                      <a:prstDash val="solid"/>
                    </a:lnL>
                    <a:lnR w="12240">
                      <a:noFill/>
                      <a:prstDash val="solid"/>
                    </a:lnR>
                    <a:lnT w="12240">
                      <a:solidFill>
                        <a:srgbClr val="ffffff"/>
                      </a:solidFill>
                      <a:prstDash val="solid"/>
                    </a:lnT>
                    <a:lnB w="12240">
                      <a:solidFill>
                        <a:srgbClr val="ffffff"/>
                      </a:solidFill>
                      <a:prstDash val="solid"/>
                    </a:lnB>
                    <a:solidFill>
                      <a:schemeClr val="lt1">
                        <a:lumMod val="95000"/>
                      </a:schemeClr>
                    </a:solidFill>
                  </a:tcPr>
                </a:tc>
              </a:tr>
              <a:tr h="597600">
                <a:tc>
                  <a:txBody>
                    <a:bodyPr anchor="ctr">
                      <a:noAutofit/>
                    </a:bodyPr>
                    <a:p>
                      <a:pPr defTabSz="756000">
                        <a:lnSpc>
                          <a:spcPct val="100000"/>
                        </a:lnSpc>
                      </a:pPr>
                      <a:r>
                        <a:rPr b="0" lang="en-FR" sz="1050" spc="-1" strike="noStrike">
                          <a:solidFill>
                            <a:schemeClr val="dk1"/>
                          </a:solidFill>
                          <a:latin typeface="Marianne Medium"/>
                        </a:rPr>
                        <a:t>5. Déchets produits lors de l'exploitation</a:t>
                      </a:r>
                      <a:endParaRPr b="0" lang="fr-FR" sz="105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 %</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800" spc="-1" strike="noStrike">
                          <a:solidFill>
                            <a:srgbClr val="000000"/>
                          </a:solidFill>
                          <a:latin typeface="Marianne"/>
                        </a:rPr>
                        <a:t>-</a:t>
                      </a:r>
                      <a:endParaRPr b="0" lang="fr-FR" sz="800" spc="-1" strike="noStrike">
                        <a:solidFill>
                          <a:srgbClr val="000000"/>
                        </a:solidFill>
                        <a:latin typeface="Arial"/>
                      </a:endParaRPr>
                    </a:p>
                  </a:txBody>
                  <a:tcPr anchor="ctr" marL="6120" marR="6120">
                    <a:lnL w="12240">
                      <a:solidFill>
                        <a:srgbClr val="ffffff"/>
                      </a:solidFill>
                      <a:prstDash val="solid"/>
                    </a:lnL>
                    <a:lnR w="12240">
                      <a:noFill/>
                      <a:prstDash val="solid"/>
                    </a:lnR>
                    <a:lnT w="12240">
                      <a:solidFill>
                        <a:srgbClr val="ffffff"/>
                      </a:solidFill>
                      <a:prstDash val="solid"/>
                    </a:lnT>
                    <a:lnB w="12240">
                      <a:solidFill>
                        <a:srgbClr val="ffffff"/>
                      </a:solidFill>
                      <a:prstDash val="solid"/>
                    </a:lnB>
                    <a:solidFill>
                      <a:schemeClr val="lt1">
                        <a:lumMod val="95000"/>
                      </a:schemeClr>
                    </a:solidFill>
                  </a:tcPr>
                </a:tc>
              </a:tr>
              <a:tr h="376200">
                <a:tc>
                  <a:txBody>
                    <a:bodyPr anchor="ctr">
                      <a:noAutofit/>
                    </a:bodyPr>
                    <a:p>
                      <a:pPr defTabSz="756000">
                        <a:lnSpc>
                          <a:spcPct val="100000"/>
                        </a:lnSpc>
                      </a:pPr>
                      <a:r>
                        <a:rPr b="0" lang="en-FR" sz="1050" spc="-1" strike="noStrike">
                          <a:solidFill>
                            <a:schemeClr val="dk1"/>
                          </a:solidFill>
                          <a:latin typeface="Marianne Medium"/>
                        </a:rPr>
                        <a:t>6. Voyages d'affaires</a:t>
                      </a:r>
                      <a:endParaRPr b="0" lang="fr-FR" sz="105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 %</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800" spc="-1" strike="noStrike">
                          <a:solidFill>
                            <a:srgbClr val="000000"/>
                          </a:solidFill>
                          <a:latin typeface="Marianne"/>
                        </a:rPr>
                        <a:t>-</a:t>
                      </a:r>
                      <a:endParaRPr b="0" lang="fr-FR" sz="800" spc="-1" strike="noStrike">
                        <a:solidFill>
                          <a:srgbClr val="000000"/>
                        </a:solidFill>
                        <a:latin typeface="Arial"/>
                      </a:endParaRPr>
                    </a:p>
                  </a:txBody>
                  <a:tcPr anchor="ctr" marL="6120" marR="6120">
                    <a:lnL w="12240">
                      <a:solidFill>
                        <a:srgbClr val="ffffff"/>
                      </a:solidFill>
                      <a:prstDash val="solid"/>
                    </a:lnL>
                    <a:lnR w="12240">
                      <a:noFill/>
                      <a:prstDash val="solid"/>
                    </a:lnR>
                    <a:lnT w="12240">
                      <a:solidFill>
                        <a:srgbClr val="ffffff"/>
                      </a:solidFill>
                      <a:prstDash val="solid"/>
                    </a:lnT>
                    <a:lnB w="12240">
                      <a:solidFill>
                        <a:srgbClr val="ffffff"/>
                      </a:solidFill>
                      <a:prstDash val="solid"/>
                    </a:lnB>
                    <a:solidFill>
                      <a:schemeClr val="lt1">
                        <a:lumMod val="95000"/>
                      </a:schemeClr>
                    </a:solidFill>
                  </a:tcPr>
                </a:tc>
              </a:tr>
              <a:tr h="747720">
                <a:tc>
                  <a:txBody>
                    <a:bodyPr anchor="ctr">
                      <a:noAutofit/>
                    </a:bodyPr>
                    <a:p>
                      <a:pPr defTabSz="756000">
                        <a:lnSpc>
                          <a:spcPct val="100000"/>
                        </a:lnSpc>
                      </a:pPr>
                      <a:r>
                        <a:rPr b="0" lang="en-FR" sz="1050" spc="-1" strike="noStrike">
                          <a:solidFill>
                            <a:schemeClr val="dk1"/>
                          </a:solidFill>
                          <a:latin typeface="Marianne Medium"/>
                        </a:rPr>
                        <a:t>7. Déplacements domicile-travail des salariés</a:t>
                      </a:r>
                      <a:endParaRPr b="0" lang="fr-FR" sz="105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 %</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800" spc="-1" strike="noStrike">
                          <a:solidFill>
                            <a:srgbClr val="000000"/>
                          </a:solidFill>
                          <a:latin typeface="Marianne"/>
                        </a:rPr>
                        <a:t>-</a:t>
                      </a:r>
                      <a:endParaRPr b="0" lang="fr-FR" sz="800" spc="-1" strike="noStrike">
                        <a:solidFill>
                          <a:srgbClr val="000000"/>
                        </a:solidFill>
                        <a:latin typeface="Arial"/>
                      </a:endParaRPr>
                    </a:p>
                  </a:txBody>
                  <a:tcPr anchor="ctr" marL="6120" marR="6120">
                    <a:lnL w="12240">
                      <a:solidFill>
                        <a:srgbClr val="ffffff"/>
                      </a:solidFill>
                      <a:prstDash val="solid"/>
                    </a:lnL>
                    <a:lnR w="12240">
                      <a:noFill/>
                      <a:prstDash val="solid"/>
                    </a:lnR>
                    <a:lnT w="12240">
                      <a:solidFill>
                        <a:srgbClr val="ffffff"/>
                      </a:solidFill>
                      <a:prstDash val="solid"/>
                    </a:lnT>
                    <a:lnB w="12240">
                      <a:solidFill>
                        <a:srgbClr val="ffffff"/>
                      </a:solidFill>
                      <a:prstDash val="solid"/>
                    </a:lnB>
                    <a:solidFill>
                      <a:schemeClr val="lt1">
                        <a:lumMod val="95000"/>
                      </a:schemeClr>
                    </a:solidFill>
                  </a:tcPr>
                </a:tc>
              </a:tr>
              <a:tr h="376200">
                <a:tc>
                  <a:txBody>
                    <a:bodyPr anchor="ctr">
                      <a:noAutofit/>
                    </a:bodyPr>
                    <a:p>
                      <a:pPr defTabSz="756000">
                        <a:lnSpc>
                          <a:spcPct val="100000"/>
                        </a:lnSpc>
                      </a:pPr>
                      <a:r>
                        <a:rPr b="0" lang="en-FR" sz="1050" spc="-1" strike="noStrike">
                          <a:solidFill>
                            <a:schemeClr val="dk1"/>
                          </a:solidFill>
                          <a:latin typeface="Marianne Medium"/>
                        </a:rPr>
                        <a:t>8. Actifs loués en amont</a:t>
                      </a:r>
                      <a:endParaRPr b="0" lang="fr-FR" sz="105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 %</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800" spc="-1" strike="noStrike">
                          <a:solidFill>
                            <a:srgbClr val="000000"/>
                          </a:solidFill>
                          <a:latin typeface="Marianne"/>
                        </a:rPr>
                        <a:t>-</a:t>
                      </a:r>
                      <a:endParaRPr b="0" lang="fr-FR" sz="800" spc="-1" strike="noStrike">
                        <a:solidFill>
                          <a:srgbClr val="000000"/>
                        </a:solidFill>
                        <a:latin typeface="Arial"/>
                      </a:endParaRPr>
                    </a:p>
                  </a:txBody>
                  <a:tcPr anchor="ctr" marL="6120" marR="6120">
                    <a:lnL w="12240">
                      <a:solidFill>
                        <a:srgbClr val="ffffff"/>
                      </a:solidFill>
                      <a:prstDash val="solid"/>
                    </a:lnL>
                    <a:lnR w="12240">
                      <a:noFill/>
                      <a:prstDash val="solid"/>
                    </a:lnR>
                    <a:lnT w="12240">
                      <a:solidFill>
                        <a:srgbClr val="ffffff"/>
                      </a:solidFill>
                      <a:prstDash val="solid"/>
                    </a:lnT>
                    <a:lnB w="28080">
                      <a:noFill/>
                      <a:prstDash val="solid"/>
                    </a:lnB>
                    <a:solidFill>
                      <a:schemeClr val="lt1">
                        <a:lumMod val="95000"/>
                      </a:schemeClr>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5"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566"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567" name="Rounded Rectangle 3"/>
          <p:cNvSpPr/>
          <p:nvPr/>
        </p:nvSpPr>
        <p:spPr>
          <a:xfrm rot="16200000">
            <a:off x="3809520" y="-190440"/>
            <a:ext cx="70092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145c30"/>
                </a:solidFill>
                <a:latin typeface="Marianne"/>
              </a:rPr>
              <a:t>C3</a:t>
            </a:r>
            <a:r>
              <a:rPr b="0" lang="fr-FR" sz="1400" spc="-1" strike="noStrike">
                <a:solidFill>
                  <a:srgbClr val="145c30"/>
                </a:solidFill>
                <a:latin typeface="Marianne Medium"/>
              </a:rPr>
              <a:t> </a:t>
            </a:r>
            <a:r>
              <a:rPr b="0" lang="fr-FR" sz="1400" spc="-1" strike="noStrike">
                <a:solidFill>
                  <a:srgbClr val="145c30"/>
                </a:solidFill>
                <a:latin typeface="Marianne"/>
              </a:rPr>
              <a:t>Cibles de réduction des émissions de GES et transition climatique</a:t>
            </a:r>
            <a:endParaRPr b="0" lang="fr-FR" sz="1400" spc="-1" strike="noStrike">
              <a:solidFill>
                <a:srgbClr val="000000"/>
              </a:solidFill>
              <a:latin typeface="Arial"/>
            </a:endParaRPr>
          </a:p>
        </p:txBody>
      </p:sp>
      <p:cxnSp>
        <p:nvCxnSpPr>
          <p:cNvPr id="568" name="Straight Connector 17"/>
          <p:cNvCxnSpPr/>
          <p:nvPr/>
        </p:nvCxnSpPr>
        <p:spPr>
          <a:xfrm>
            <a:off x="893160" y="2525400"/>
            <a:ext cx="4680" cy="710280"/>
          </a:xfrm>
          <a:prstGeom prst="straightConnector1">
            <a:avLst/>
          </a:prstGeom>
          <a:ln w="3175">
            <a:solidFill>
              <a:srgbClr val="a6a6a6"/>
            </a:solidFill>
            <a:round/>
          </a:ln>
        </p:spPr>
      </p:cxnSp>
      <p:pic>
        <p:nvPicPr>
          <p:cNvPr id="569"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570"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571"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572"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573"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574" name="Rounded Rectangle 8"/>
          <p:cNvSpPr/>
          <p:nvPr/>
        </p:nvSpPr>
        <p:spPr>
          <a:xfrm>
            <a:off x="410400" y="3420000"/>
            <a:ext cx="6734160" cy="46792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Cibles de réduction des émissions de GES du scopes 3</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graphicFrame>
        <p:nvGraphicFramePr>
          <p:cNvPr id="575" name="Table 9"/>
          <p:cNvGraphicFramePr/>
          <p:nvPr/>
        </p:nvGraphicFramePr>
        <p:xfrm>
          <a:off x="796680" y="3991680"/>
          <a:ext cx="6284160" cy="3929760"/>
        </p:xfrm>
        <a:graphic>
          <a:graphicData uri="http://schemas.openxmlformats.org/drawingml/2006/table">
            <a:tbl>
              <a:tblPr/>
              <a:tblGrid>
                <a:gridCol w="1970640"/>
                <a:gridCol w="991800"/>
                <a:gridCol w="868680"/>
                <a:gridCol w="1115640"/>
                <a:gridCol w="1337760"/>
              </a:tblGrid>
              <a:tr h="791280">
                <a:tc>
                  <a:txBody>
                    <a:bodyPr lIns="108000" rIns="108000" anchor="ctr">
                      <a:noAutofit/>
                    </a:bodyPr>
                    <a:p>
                      <a:endParaRPr b="0" lang="fr-FR" sz="1100" spc="-1" strike="noStrike">
                        <a:solidFill>
                          <a:srgbClr val="145c30"/>
                        </a:solidFill>
                        <a:latin typeface="Marianne Light"/>
                      </a:endParaRPr>
                    </a:p>
                  </a:txBody>
                  <a:tcPr anchor="ctr" marL="108000" marR="108000">
                    <a:lnL w="12240">
                      <a:noFill/>
                      <a:prstDash val="solid"/>
                    </a:lnL>
                    <a:lnR w="12240">
                      <a:noFill/>
                      <a:prstDash val="solid"/>
                    </a:lnR>
                    <a:lnT w="12240">
                      <a:noFill/>
                      <a:prstDash val="solid"/>
                    </a:lnT>
                    <a:lnB w="12240">
                      <a:noFill/>
                      <a:prstDash val="solid"/>
                    </a:lnB>
                    <a:noFill/>
                  </a:tcPr>
                </a:tc>
                <a:tc>
                  <a:txBody>
                    <a:bodyPr lIns="108000" rIns="108000" anchor="ctr">
                      <a:noAutofit/>
                    </a:bodyPr>
                    <a:p>
                      <a:pPr algn="ctr" defTabSz="756000">
                        <a:lnSpc>
                          <a:spcPct val="100000"/>
                        </a:lnSpc>
                      </a:pPr>
                      <a:r>
                        <a:rPr b="1" lang="fr-FR" sz="1100" spc="-1" strike="noStrike">
                          <a:solidFill>
                            <a:srgbClr val="145c30"/>
                          </a:solidFill>
                          <a:latin typeface="Marianne Light"/>
                        </a:rPr>
                        <a:t>Année de référence</a:t>
                      </a:r>
                      <a:r>
                        <a:rPr b="0" lang="fr-FR" sz="1100" spc="-1" strike="noStrike">
                          <a:solidFill>
                            <a:srgbClr val="145c30"/>
                          </a:solidFill>
                          <a:latin typeface="Marianne Light"/>
                        </a:rPr>
                        <a:t> </a:t>
                      </a:r>
                      <a:endParaRPr b="0" lang="fr-FR" sz="1100" spc="-1" strike="noStrike">
                        <a:solidFill>
                          <a:srgbClr val="000000"/>
                        </a:solidFill>
                        <a:latin typeface="Arial"/>
                      </a:endParaRPr>
                    </a:p>
                    <a:p>
                      <a:pPr algn="ctr" defTabSz="756000">
                        <a:lnSpc>
                          <a:spcPct val="100000"/>
                        </a:lnSpc>
                        <a:tabLst>
                          <a:tab algn="l" pos="0"/>
                        </a:tabLst>
                      </a:pPr>
                      <a:r>
                        <a:rPr b="0" lang="fr-FR" sz="1100" spc="-1" strike="noStrike">
                          <a:solidFill>
                            <a:srgbClr val="145c30"/>
                          </a:solidFill>
                          <a:latin typeface="Marianne Light"/>
                        </a:rPr>
                        <a:t>(teqCO₂) </a:t>
                      </a:r>
                      <a:endParaRPr b="0" lang="fr-FR" sz="1100" spc="-1" strike="noStrike">
                        <a:solidFill>
                          <a:srgbClr val="000000"/>
                        </a:solidFill>
                        <a:latin typeface="Arial"/>
                      </a:endParaRPr>
                    </a:p>
                  </a:txBody>
                  <a:tcPr anchor="ctr" marL="108000" marR="108000">
                    <a:lnL w="12240">
                      <a:no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pPr>
                      <a:r>
                        <a:rPr b="1" lang="fr-FR" sz="1100" spc="-1" strike="noStrike">
                          <a:solidFill>
                            <a:srgbClr val="145c30"/>
                          </a:solidFill>
                          <a:latin typeface="Marianne Light"/>
                        </a:rPr>
                        <a:t>Année cible</a:t>
                      </a:r>
                      <a:endParaRPr b="0" lang="fr-FR" sz="1100" spc="-1" strike="noStrike">
                        <a:solidFill>
                          <a:srgbClr val="000000"/>
                        </a:solidFill>
                        <a:latin typeface="Arial"/>
                      </a:endParaRPr>
                    </a:p>
                    <a:p>
                      <a:pPr algn="ctr" defTabSz="756000">
                        <a:lnSpc>
                          <a:spcPct val="100000"/>
                        </a:lnSpc>
                        <a:tabLst>
                          <a:tab algn="l" pos="0"/>
                        </a:tabLst>
                      </a:pPr>
                      <a:r>
                        <a:rPr b="0" lang="fr-FR" sz="1100" spc="-1" strike="noStrike">
                          <a:solidFill>
                            <a:srgbClr val="145c30"/>
                          </a:solidFill>
                          <a:latin typeface="Marianne Light"/>
                        </a:rPr>
                        <a:t>(teqCO₂) </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pPr>
                      <a:r>
                        <a:rPr b="0" lang="fr-FR" sz="1100" spc="-1" strike="noStrike">
                          <a:solidFill>
                            <a:srgbClr val="145c30"/>
                          </a:solidFill>
                          <a:latin typeface="Marianne Light"/>
                        </a:rPr>
                        <a:t>Réduction en %</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Principales actions prévues</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r>
              <a:tr h="371880">
                <a:tc>
                  <a:txBody>
                    <a:bodyPr anchor="ctr">
                      <a:noAutofit/>
                    </a:bodyPr>
                    <a:p>
                      <a:pPr defTabSz="756000">
                        <a:lnSpc>
                          <a:spcPct val="100000"/>
                        </a:lnSpc>
                      </a:pPr>
                      <a:r>
                        <a:rPr b="0" lang="en-FR" sz="1050" spc="-1" strike="noStrike">
                          <a:solidFill>
                            <a:schemeClr val="dk1"/>
                          </a:solidFill>
                          <a:latin typeface="Marianne Medium"/>
                        </a:rPr>
                        <a:t>9. Acheminement en aval</a:t>
                      </a:r>
                      <a:endParaRPr b="0" lang="fr-FR" sz="105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noFill/>
                      <a:prstDash val="solid"/>
                    </a:lnT>
                    <a:lnB w="28080">
                      <a:solidFill>
                        <a:srgbClr val="ffffff"/>
                      </a:solidFill>
                      <a:prstDash val="solid"/>
                    </a:lnB>
                    <a:solidFill>
                      <a:srgbClr val="ebeeed"/>
                    </a:solidFill>
                  </a:tcPr>
                </a:tc>
                <a:tc>
                  <a:txBody>
                    <a:bodyPr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 %</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800" spc="-1" strike="noStrike">
                          <a:solidFill>
                            <a:srgbClr val="000000"/>
                          </a:solidFill>
                          <a:latin typeface="Marianne"/>
                        </a:rPr>
                        <a:t>-</a:t>
                      </a:r>
                      <a:endParaRPr b="0" lang="fr-FR" sz="800" spc="-1" strike="noStrike">
                        <a:solidFill>
                          <a:srgbClr val="000000"/>
                        </a:solidFill>
                        <a:latin typeface="Arial"/>
                      </a:endParaRPr>
                    </a:p>
                  </a:txBody>
                  <a:tcPr anchor="ctr" marL="6120" marR="6120">
                    <a:lnL w="12240">
                      <a:solidFill>
                        <a:srgbClr val="ffffff"/>
                      </a:solidFill>
                      <a:prstDash val="solid"/>
                    </a:lnL>
                    <a:lnR w="12240">
                      <a:noFill/>
                      <a:prstDash val="solid"/>
                    </a:lnR>
                    <a:lnT w="12240">
                      <a:solidFill>
                        <a:srgbClr val="ffffff"/>
                      </a:solidFill>
                      <a:prstDash val="solid"/>
                    </a:lnT>
                    <a:lnB w="12240">
                      <a:solidFill>
                        <a:srgbClr val="ffffff"/>
                      </a:solidFill>
                      <a:prstDash val="solid"/>
                    </a:lnB>
                    <a:solidFill>
                      <a:schemeClr val="lt1">
                        <a:lumMod val="95000"/>
                      </a:schemeClr>
                    </a:solidFill>
                  </a:tcPr>
                </a:tc>
              </a:tr>
              <a:tr h="590400">
                <a:tc>
                  <a:txBody>
                    <a:bodyPr anchor="ctr">
                      <a:noAutofit/>
                    </a:bodyPr>
                    <a:p>
                      <a:pPr defTabSz="756000">
                        <a:lnSpc>
                          <a:spcPct val="100000"/>
                        </a:lnSpc>
                      </a:pPr>
                      <a:r>
                        <a:rPr b="0" lang="en-FR" sz="1050" spc="-1" strike="noStrike">
                          <a:solidFill>
                            <a:schemeClr val="dk1"/>
                          </a:solidFill>
                          <a:latin typeface="Marianne Medium"/>
                        </a:rPr>
                        <a:t>10. Transformation des produits vendus</a:t>
                      </a:r>
                      <a:endParaRPr b="0" lang="fr-FR" sz="105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 %</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800" spc="-1" strike="noStrike">
                          <a:solidFill>
                            <a:srgbClr val="000000"/>
                          </a:solidFill>
                          <a:latin typeface="Marianne"/>
                        </a:rPr>
                        <a:t>-</a:t>
                      </a:r>
                      <a:endParaRPr b="0" lang="fr-FR" sz="800" spc="-1" strike="noStrike">
                        <a:solidFill>
                          <a:srgbClr val="000000"/>
                        </a:solidFill>
                        <a:latin typeface="Arial"/>
                      </a:endParaRPr>
                    </a:p>
                  </a:txBody>
                  <a:tcPr anchor="ctr" marL="6120" marR="6120">
                    <a:lnL w="12240">
                      <a:solidFill>
                        <a:srgbClr val="ffffff"/>
                      </a:solidFill>
                      <a:prstDash val="solid"/>
                    </a:lnL>
                    <a:lnR w="12240">
                      <a:noFill/>
                      <a:prstDash val="solid"/>
                    </a:lnR>
                    <a:lnT w="12240">
                      <a:solidFill>
                        <a:srgbClr val="ffffff"/>
                      </a:solidFill>
                      <a:prstDash val="solid"/>
                    </a:lnT>
                    <a:lnB w="12240">
                      <a:solidFill>
                        <a:srgbClr val="ffffff"/>
                      </a:solidFill>
                      <a:prstDash val="solid"/>
                    </a:lnB>
                    <a:solidFill>
                      <a:schemeClr val="lt1">
                        <a:lumMod val="95000"/>
                      </a:schemeClr>
                    </a:solidFill>
                  </a:tcPr>
                </a:tc>
              </a:tr>
              <a:tr h="590400">
                <a:tc>
                  <a:txBody>
                    <a:bodyPr anchor="ctr">
                      <a:noAutofit/>
                    </a:bodyPr>
                    <a:p>
                      <a:pPr defTabSz="756000">
                        <a:lnSpc>
                          <a:spcPct val="100000"/>
                        </a:lnSpc>
                      </a:pPr>
                      <a:r>
                        <a:rPr b="0" lang="en-FR" sz="1050" spc="-1" strike="noStrike">
                          <a:solidFill>
                            <a:schemeClr val="dk1"/>
                          </a:solidFill>
                          <a:latin typeface="Marianne Medium"/>
                        </a:rPr>
                        <a:t>11. Utilisation des produits vendus</a:t>
                      </a:r>
                      <a:endParaRPr b="0" lang="fr-FR" sz="105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 %</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800" spc="-1" strike="noStrike">
                          <a:solidFill>
                            <a:srgbClr val="000000"/>
                          </a:solidFill>
                          <a:latin typeface="Marianne"/>
                        </a:rPr>
                        <a:t>-</a:t>
                      </a:r>
                      <a:endParaRPr b="0" lang="fr-FR" sz="800" spc="-1" strike="noStrike">
                        <a:solidFill>
                          <a:srgbClr val="000000"/>
                        </a:solidFill>
                        <a:latin typeface="Arial"/>
                      </a:endParaRPr>
                    </a:p>
                  </a:txBody>
                  <a:tcPr anchor="ctr" marL="6120" marR="6120">
                    <a:lnL w="12240">
                      <a:solidFill>
                        <a:srgbClr val="ffffff"/>
                      </a:solidFill>
                      <a:prstDash val="solid"/>
                    </a:lnL>
                    <a:lnR w="12240">
                      <a:noFill/>
                      <a:prstDash val="solid"/>
                    </a:lnR>
                    <a:lnT w="12240">
                      <a:solidFill>
                        <a:srgbClr val="ffffff"/>
                      </a:solidFill>
                      <a:prstDash val="solid"/>
                    </a:lnT>
                    <a:lnB w="12240">
                      <a:solidFill>
                        <a:srgbClr val="ffffff"/>
                      </a:solidFill>
                      <a:prstDash val="solid"/>
                    </a:lnB>
                    <a:solidFill>
                      <a:schemeClr val="lt1">
                        <a:lumMod val="95000"/>
                      </a:schemeClr>
                    </a:solidFill>
                  </a:tcPr>
                </a:tc>
              </a:tr>
              <a:tr h="590400">
                <a:tc>
                  <a:txBody>
                    <a:bodyPr anchor="ctr">
                      <a:noAutofit/>
                    </a:bodyPr>
                    <a:p>
                      <a:pPr defTabSz="756000">
                        <a:lnSpc>
                          <a:spcPct val="100000"/>
                        </a:lnSpc>
                      </a:pPr>
                      <a:r>
                        <a:rPr b="0" lang="en-FR" sz="1050" spc="-1" strike="noStrike">
                          <a:solidFill>
                            <a:schemeClr val="dk1"/>
                          </a:solidFill>
                          <a:latin typeface="Marianne Medium"/>
                        </a:rPr>
                        <a:t>12. Traitement en fin de vie des produits vendus</a:t>
                      </a:r>
                      <a:endParaRPr b="0" lang="fr-FR" sz="105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 %</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800" spc="-1" strike="noStrike">
                          <a:solidFill>
                            <a:srgbClr val="000000"/>
                          </a:solidFill>
                          <a:latin typeface="Marianne"/>
                        </a:rPr>
                        <a:t>-</a:t>
                      </a:r>
                      <a:endParaRPr b="0" lang="fr-FR" sz="800" spc="-1" strike="noStrike">
                        <a:solidFill>
                          <a:srgbClr val="000000"/>
                        </a:solidFill>
                        <a:latin typeface="Arial"/>
                      </a:endParaRPr>
                    </a:p>
                  </a:txBody>
                  <a:tcPr anchor="ctr" marL="6120" marR="6120">
                    <a:lnL w="12240">
                      <a:solidFill>
                        <a:srgbClr val="ffffff"/>
                      </a:solidFill>
                      <a:prstDash val="solid"/>
                    </a:lnL>
                    <a:lnR w="12240">
                      <a:noFill/>
                      <a:prstDash val="solid"/>
                    </a:lnR>
                    <a:lnT w="12240">
                      <a:solidFill>
                        <a:srgbClr val="ffffff"/>
                      </a:solidFill>
                      <a:prstDash val="solid"/>
                    </a:lnT>
                    <a:lnB w="12240">
                      <a:solidFill>
                        <a:srgbClr val="ffffff"/>
                      </a:solidFill>
                      <a:prstDash val="solid"/>
                    </a:lnB>
                    <a:solidFill>
                      <a:schemeClr val="lt1">
                        <a:lumMod val="95000"/>
                      </a:schemeClr>
                    </a:solidFill>
                  </a:tcPr>
                </a:tc>
              </a:tr>
              <a:tr h="371880">
                <a:tc>
                  <a:txBody>
                    <a:bodyPr anchor="ctr">
                      <a:noAutofit/>
                    </a:bodyPr>
                    <a:p>
                      <a:pPr defTabSz="756000">
                        <a:lnSpc>
                          <a:spcPct val="100000"/>
                        </a:lnSpc>
                      </a:pPr>
                      <a:r>
                        <a:rPr b="0" lang="en-FR" sz="1050" spc="-1" strike="noStrike">
                          <a:solidFill>
                            <a:schemeClr val="dk1"/>
                          </a:solidFill>
                          <a:latin typeface="Marianne Medium"/>
                        </a:rPr>
                        <a:t>13. Actifs loués en aval</a:t>
                      </a:r>
                      <a:endParaRPr b="0" lang="fr-FR" sz="105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 %</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800" spc="-1" strike="noStrike">
                          <a:solidFill>
                            <a:srgbClr val="000000"/>
                          </a:solidFill>
                          <a:latin typeface="Marianne"/>
                        </a:rPr>
                        <a:t>-</a:t>
                      </a:r>
                      <a:endParaRPr b="0" lang="fr-FR" sz="800" spc="-1" strike="noStrike">
                        <a:solidFill>
                          <a:srgbClr val="000000"/>
                        </a:solidFill>
                        <a:latin typeface="Arial"/>
                      </a:endParaRPr>
                    </a:p>
                  </a:txBody>
                  <a:tcPr anchor="ctr" marL="6120" marR="6120">
                    <a:lnL w="12240">
                      <a:solidFill>
                        <a:srgbClr val="ffffff"/>
                      </a:solidFill>
                      <a:prstDash val="solid"/>
                    </a:lnL>
                    <a:lnR w="12240">
                      <a:noFill/>
                      <a:prstDash val="solid"/>
                    </a:lnR>
                    <a:lnT w="12240">
                      <a:solidFill>
                        <a:srgbClr val="ffffff"/>
                      </a:solidFill>
                      <a:prstDash val="solid"/>
                    </a:lnT>
                    <a:lnB w="12240">
                      <a:solidFill>
                        <a:srgbClr val="ffffff"/>
                      </a:solidFill>
                      <a:prstDash val="solid"/>
                    </a:lnB>
                    <a:solidFill>
                      <a:schemeClr val="lt1">
                        <a:lumMod val="95000"/>
                      </a:schemeClr>
                    </a:solidFill>
                  </a:tcPr>
                </a:tc>
              </a:tr>
              <a:tr h="371880">
                <a:tc>
                  <a:txBody>
                    <a:bodyPr anchor="ctr">
                      <a:noAutofit/>
                    </a:bodyPr>
                    <a:p>
                      <a:pPr defTabSz="756000">
                        <a:lnSpc>
                          <a:spcPct val="100000"/>
                        </a:lnSpc>
                      </a:pPr>
                      <a:r>
                        <a:rPr b="0" lang="en-FR" sz="1050" spc="-1" strike="noStrike">
                          <a:solidFill>
                            <a:schemeClr val="dk1"/>
                          </a:solidFill>
                          <a:latin typeface="Marianne Medium"/>
                        </a:rPr>
                        <a:t>14. Franchises</a:t>
                      </a:r>
                      <a:endParaRPr b="0" lang="fr-FR" sz="105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 %</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800" spc="-1" strike="noStrike">
                          <a:solidFill>
                            <a:srgbClr val="000000"/>
                          </a:solidFill>
                          <a:latin typeface="Marianne"/>
                        </a:rPr>
                        <a:t>-</a:t>
                      </a:r>
                      <a:endParaRPr b="0" lang="fr-FR" sz="800" spc="-1" strike="noStrike">
                        <a:solidFill>
                          <a:srgbClr val="000000"/>
                        </a:solidFill>
                        <a:latin typeface="Arial"/>
                      </a:endParaRPr>
                    </a:p>
                  </a:txBody>
                  <a:tcPr anchor="ctr" marL="6120" marR="6120">
                    <a:lnL w="12240">
                      <a:solidFill>
                        <a:srgbClr val="ffffff"/>
                      </a:solidFill>
                      <a:prstDash val="solid"/>
                    </a:lnL>
                    <a:lnR w="12240">
                      <a:noFill/>
                      <a:prstDash val="solid"/>
                    </a:lnR>
                    <a:lnT w="12240">
                      <a:solidFill>
                        <a:srgbClr val="ffffff"/>
                      </a:solidFill>
                      <a:prstDash val="solid"/>
                    </a:lnT>
                    <a:lnB w="12240">
                      <a:solidFill>
                        <a:srgbClr val="ffffff"/>
                      </a:solidFill>
                      <a:prstDash val="solid"/>
                    </a:lnB>
                    <a:solidFill>
                      <a:schemeClr val="lt1">
                        <a:lumMod val="95000"/>
                      </a:schemeClr>
                    </a:solidFill>
                  </a:tcPr>
                </a:tc>
              </a:tr>
              <a:tr h="251640">
                <a:tc>
                  <a:txBody>
                    <a:bodyPr anchor="ctr">
                      <a:noAutofit/>
                    </a:bodyPr>
                    <a:p>
                      <a:pPr defTabSz="756000">
                        <a:lnSpc>
                          <a:spcPct val="100000"/>
                        </a:lnSpc>
                      </a:pPr>
                      <a:r>
                        <a:rPr b="0" lang="en-FR" sz="1050" spc="-1" strike="noStrike">
                          <a:solidFill>
                            <a:schemeClr val="dk1"/>
                          </a:solidFill>
                          <a:latin typeface="Marianne Medium"/>
                        </a:rPr>
                        <a:t>15. Investissements</a:t>
                      </a:r>
                      <a:endParaRPr b="0" lang="fr-FR" sz="105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 %</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800" spc="-1" strike="noStrike">
                          <a:solidFill>
                            <a:srgbClr val="000000"/>
                          </a:solidFill>
                          <a:latin typeface="Marianne"/>
                        </a:rPr>
                        <a:t>-</a:t>
                      </a:r>
                      <a:endParaRPr b="0" lang="fr-FR" sz="800" spc="-1" strike="noStrike">
                        <a:solidFill>
                          <a:srgbClr val="000000"/>
                        </a:solidFill>
                        <a:latin typeface="Arial"/>
                      </a:endParaRPr>
                    </a:p>
                  </a:txBody>
                  <a:tcPr anchor="ctr" marL="6120" marR="6120">
                    <a:lnL w="12240">
                      <a:solidFill>
                        <a:srgbClr val="ffffff"/>
                      </a:solidFill>
                      <a:prstDash val="solid"/>
                    </a:lnL>
                    <a:lnR w="12240">
                      <a:noFill/>
                      <a:prstDash val="solid"/>
                    </a:lnR>
                    <a:lnT w="12240">
                      <a:solidFill>
                        <a:srgbClr val="ffffff"/>
                      </a:solidFill>
                      <a:prstDash val="solid"/>
                    </a:lnT>
                    <a:lnB w="28080">
                      <a:noFill/>
                      <a:prstDash val="solid"/>
                    </a:lnB>
                    <a:solidFill>
                      <a:schemeClr val="lt1">
                        <a:lumMod val="95000"/>
                      </a:schemeClr>
                    </a:solidFill>
                  </a:tcPr>
                </a:tc>
              </a:tr>
            </a:tbl>
          </a:graphicData>
        </a:graphic>
      </p:graphicFrame>
      <p:sp>
        <p:nvSpPr>
          <p:cNvPr id="576" name="Rounded Rectangle 7"/>
          <p:cNvSpPr/>
          <p:nvPr/>
        </p:nvSpPr>
        <p:spPr>
          <a:xfrm>
            <a:off x="410400" y="8280000"/>
            <a:ext cx="6734160" cy="21592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spcBef>
                <a:spcPts val="1191"/>
              </a:spcBef>
              <a:spcAft>
                <a:spcPts val="992"/>
              </a:spcAft>
            </a:pPr>
            <a:r>
              <a:rPr b="0" lang="fr-FR" sz="1200" spc="-1" strike="noStrike">
                <a:solidFill>
                  <a:srgbClr val="145c30"/>
                </a:solidFill>
                <a:latin typeface="Marianne Light"/>
              </a:rPr>
              <a:t>Cumul des cibles de réduction des émissions de GES</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graphicFrame>
        <p:nvGraphicFramePr>
          <p:cNvPr id="577" name="Table 6"/>
          <p:cNvGraphicFramePr/>
          <p:nvPr/>
        </p:nvGraphicFramePr>
        <p:xfrm>
          <a:off x="796680" y="8820000"/>
          <a:ext cx="4946400" cy="1439640"/>
        </p:xfrm>
        <a:graphic>
          <a:graphicData uri="http://schemas.openxmlformats.org/drawingml/2006/table">
            <a:tbl>
              <a:tblPr/>
              <a:tblGrid>
                <a:gridCol w="1970640"/>
                <a:gridCol w="991800"/>
                <a:gridCol w="868680"/>
                <a:gridCol w="1115640"/>
              </a:tblGrid>
              <a:tr h="681120">
                <a:tc>
                  <a:txBody>
                    <a:bodyPr lIns="108000" rIns="108000" anchor="ctr">
                      <a:noAutofit/>
                    </a:bodyPr>
                    <a:p>
                      <a:endParaRPr b="0" lang="fr-FR" sz="1100" spc="-1" strike="noStrike">
                        <a:solidFill>
                          <a:srgbClr val="145c30"/>
                        </a:solidFill>
                        <a:latin typeface="Marianne Light"/>
                      </a:endParaRPr>
                    </a:p>
                  </a:txBody>
                  <a:tcPr anchor="ctr" marL="108000" marR="108000">
                    <a:lnL w="12240">
                      <a:noFill/>
                      <a:prstDash val="solid"/>
                    </a:lnL>
                    <a:lnR w="12240">
                      <a:noFill/>
                      <a:prstDash val="solid"/>
                    </a:lnR>
                    <a:lnT w="12240">
                      <a:noFill/>
                      <a:prstDash val="solid"/>
                    </a:lnT>
                    <a:lnB w="12240">
                      <a:noFill/>
                      <a:prstDash val="solid"/>
                    </a:lnB>
                    <a:noFill/>
                  </a:tcPr>
                </a:tc>
                <a:tc>
                  <a:txBody>
                    <a:bodyPr lIns="108000" rIns="108000" anchor="ctr">
                      <a:noAutofit/>
                    </a:bodyPr>
                    <a:p>
                      <a:pPr algn="ctr" defTabSz="756000">
                        <a:lnSpc>
                          <a:spcPct val="100000"/>
                        </a:lnSpc>
                      </a:pPr>
                      <a:r>
                        <a:rPr b="1" lang="fr-FR" sz="1100" spc="-1" strike="noStrike">
                          <a:solidFill>
                            <a:srgbClr val="145c30"/>
                          </a:solidFill>
                          <a:latin typeface="Marianne Light"/>
                        </a:rPr>
                        <a:t>Année de référence</a:t>
                      </a:r>
                      <a:r>
                        <a:rPr b="0" lang="fr-FR" sz="1100" spc="-1" strike="noStrike">
                          <a:solidFill>
                            <a:srgbClr val="145c30"/>
                          </a:solidFill>
                          <a:latin typeface="Marianne Light"/>
                        </a:rPr>
                        <a:t> </a:t>
                      </a:r>
                      <a:endParaRPr b="0" lang="fr-FR" sz="1100" spc="-1" strike="noStrike">
                        <a:solidFill>
                          <a:srgbClr val="000000"/>
                        </a:solidFill>
                        <a:latin typeface="Arial"/>
                      </a:endParaRPr>
                    </a:p>
                    <a:p>
                      <a:pPr algn="ctr" defTabSz="756000">
                        <a:lnSpc>
                          <a:spcPct val="100000"/>
                        </a:lnSpc>
                        <a:tabLst>
                          <a:tab algn="l" pos="0"/>
                        </a:tabLst>
                      </a:pPr>
                      <a:r>
                        <a:rPr b="0" lang="fr-FR" sz="1100" spc="-1" strike="noStrike">
                          <a:solidFill>
                            <a:srgbClr val="145c30"/>
                          </a:solidFill>
                          <a:latin typeface="Marianne Light"/>
                        </a:rPr>
                        <a:t>(teqCO₂) </a:t>
                      </a:r>
                      <a:endParaRPr b="0" lang="fr-FR" sz="1100" spc="-1" strike="noStrike">
                        <a:solidFill>
                          <a:srgbClr val="000000"/>
                        </a:solidFill>
                        <a:latin typeface="Arial"/>
                      </a:endParaRPr>
                    </a:p>
                  </a:txBody>
                  <a:tcPr anchor="ctr" marL="108000" marR="108000">
                    <a:lnL w="12240">
                      <a:no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pPr>
                      <a:r>
                        <a:rPr b="1" lang="fr-FR" sz="1100" spc="-1" strike="noStrike">
                          <a:solidFill>
                            <a:srgbClr val="145c30"/>
                          </a:solidFill>
                          <a:latin typeface="Marianne Light"/>
                        </a:rPr>
                        <a:t>Année cible</a:t>
                      </a:r>
                      <a:endParaRPr b="0" lang="fr-FR" sz="1100" spc="-1" strike="noStrike">
                        <a:solidFill>
                          <a:srgbClr val="000000"/>
                        </a:solidFill>
                        <a:latin typeface="Arial"/>
                      </a:endParaRPr>
                    </a:p>
                    <a:p>
                      <a:pPr algn="ctr" defTabSz="756000">
                        <a:lnSpc>
                          <a:spcPct val="100000"/>
                        </a:lnSpc>
                        <a:tabLst>
                          <a:tab algn="l" pos="0"/>
                        </a:tabLst>
                      </a:pPr>
                      <a:r>
                        <a:rPr b="0" lang="fr-FR" sz="1100" spc="-1" strike="noStrike">
                          <a:solidFill>
                            <a:srgbClr val="145c30"/>
                          </a:solidFill>
                          <a:latin typeface="Marianne Light"/>
                        </a:rPr>
                        <a:t>(teqCO₂) </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pPr>
                      <a:r>
                        <a:rPr b="0" lang="fr-FR" sz="1100" spc="-1" strike="noStrike">
                          <a:solidFill>
                            <a:srgbClr val="145c30"/>
                          </a:solidFill>
                          <a:latin typeface="Marianne Light"/>
                        </a:rPr>
                        <a:t>Réduction en %</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r>
              <a:tr h="288000">
                <a:tc>
                  <a:txBody>
                    <a:bodyPr anchor="ctr">
                      <a:noAutofit/>
                    </a:bodyPr>
                    <a:p>
                      <a:pPr defTabSz="756000">
                        <a:lnSpc>
                          <a:spcPct val="100000"/>
                        </a:lnSpc>
                      </a:pPr>
                      <a:r>
                        <a:rPr b="0" lang="en-FR" sz="1050" spc="-1" strike="noStrike">
                          <a:solidFill>
                            <a:schemeClr val="dk1"/>
                          </a:solidFill>
                          <a:latin typeface="Marianne Medium"/>
                        </a:rPr>
                        <a:t>Total du scope 3</a:t>
                      </a:r>
                      <a:endParaRPr b="0" lang="fr-FR" sz="105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noFill/>
                      <a:prstDash val="solid"/>
                    </a:lnT>
                    <a:lnB w="28080">
                      <a:solidFill>
                        <a:srgbClr val="ffffff"/>
                      </a:solidFill>
                      <a:prstDash val="solid"/>
                    </a:lnB>
                    <a:solidFill>
                      <a:srgbClr val="ebeeed"/>
                    </a:solidFill>
                  </a:tcPr>
                </a:tc>
                <a:tc>
                  <a:txBody>
                    <a:bodyPr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 %</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r>
              <a:tr h="470520">
                <a:tc>
                  <a:txBody>
                    <a:bodyPr anchor="ctr">
                      <a:noAutofit/>
                    </a:bodyPr>
                    <a:p>
                      <a:pPr defTabSz="756000">
                        <a:lnSpc>
                          <a:spcPct val="100000"/>
                        </a:lnSpc>
                      </a:pPr>
                      <a:r>
                        <a:rPr b="0" lang="en-FR" sz="1050" spc="-1" strike="noStrike">
                          <a:solidFill>
                            <a:schemeClr val="dk1"/>
                          </a:solidFill>
                          <a:latin typeface="Marianne Medium"/>
                        </a:rPr>
                        <a:t>Total des scopes 1, 2 (basé sur la localisation) et 3</a:t>
                      </a:r>
                      <a:endParaRPr b="0" lang="fr-FR" sz="105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rgbClr val="ebeeed"/>
                    </a:solidFill>
                  </a:tcPr>
                </a:tc>
                <a:tc>
                  <a:txBody>
                    <a:bodyPr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a:rPr>
                        <a:t>- %</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8"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579"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580" name="Rounded Rectangle 3"/>
          <p:cNvSpPr/>
          <p:nvPr/>
        </p:nvSpPr>
        <p:spPr>
          <a:xfrm rot="16200000">
            <a:off x="3809520" y="-190440"/>
            <a:ext cx="70092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145c30"/>
                </a:solidFill>
                <a:latin typeface="Marianne"/>
              </a:rPr>
              <a:t>C3</a:t>
            </a:r>
            <a:r>
              <a:rPr b="0" lang="fr-FR" sz="1400" spc="-1" strike="noStrike">
                <a:solidFill>
                  <a:srgbClr val="145c30"/>
                </a:solidFill>
                <a:latin typeface="Marianne Medium"/>
              </a:rPr>
              <a:t> </a:t>
            </a:r>
            <a:r>
              <a:rPr b="0" lang="fr-FR" sz="1400" spc="-1" strike="noStrike">
                <a:solidFill>
                  <a:srgbClr val="145c30"/>
                </a:solidFill>
                <a:latin typeface="Marianne"/>
              </a:rPr>
              <a:t>Cibles de réduction des émissions de GES et transition climatique</a:t>
            </a:r>
            <a:endParaRPr b="0" lang="fr-FR" sz="1400" spc="-1" strike="noStrike">
              <a:solidFill>
                <a:srgbClr val="000000"/>
              </a:solidFill>
              <a:latin typeface="Arial"/>
            </a:endParaRPr>
          </a:p>
        </p:txBody>
      </p:sp>
      <p:cxnSp>
        <p:nvCxnSpPr>
          <p:cNvPr id="581" name="Straight Connector 17"/>
          <p:cNvCxnSpPr/>
          <p:nvPr/>
        </p:nvCxnSpPr>
        <p:spPr>
          <a:xfrm>
            <a:off x="893160" y="2525400"/>
            <a:ext cx="4680" cy="710280"/>
          </a:xfrm>
          <a:prstGeom prst="straightConnector1">
            <a:avLst/>
          </a:prstGeom>
          <a:ln w="3175">
            <a:solidFill>
              <a:srgbClr val="a6a6a6"/>
            </a:solidFill>
            <a:round/>
          </a:ln>
        </p:spPr>
      </p:cxnSp>
      <p:pic>
        <p:nvPicPr>
          <p:cNvPr id="582"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583"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584"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585"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586"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587" name="Rounded Rectangle 8"/>
          <p:cNvSpPr/>
          <p:nvPr/>
        </p:nvSpPr>
        <p:spPr>
          <a:xfrm>
            <a:off x="410400" y="3488040"/>
            <a:ext cx="6734160" cy="67528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Cibles de réduction des émissions de GES du scope 3</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L'entreprise n'a pas fixé des cibles de réduction des émissions de GES pour le scope 3. </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8" name="Picture 8" descr="Green leaves on the trees in spring"/>
          <p:cNvPicPr/>
          <p:nvPr/>
        </p:nvPicPr>
        <p:blipFill>
          <a:blip r:embed="rId1"/>
          <a:srcRect l="0" t="0" r="0" b="0"/>
          <a:stretch/>
        </p:blipFill>
        <p:spPr>
          <a:xfrm>
            <a:off x="0" y="0"/>
            <a:ext cx="7554960" cy="10686960"/>
          </a:xfrm>
          <a:prstGeom prst="rect">
            <a:avLst/>
          </a:prstGeom>
          <a:ln w="0">
            <a:noFill/>
          </a:ln>
        </p:spPr>
      </p:pic>
      <p:sp>
        <p:nvSpPr>
          <p:cNvPr id="589" name="Rectangle 7"/>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590" name="Rounded Rectangle 20"/>
          <p:cNvSpPr/>
          <p:nvPr/>
        </p:nvSpPr>
        <p:spPr>
          <a:xfrm rot="16200000">
            <a:off x="3809520" y="-190440"/>
            <a:ext cx="70092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145c30"/>
                </a:solidFill>
                <a:latin typeface="Marianne"/>
              </a:rPr>
              <a:t>C3</a:t>
            </a:r>
            <a:r>
              <a:rPr b="0" lang="fr-FR" sz="1400" spc="-1" strike="noStrike">
                <a:solidFill>
                  <a:srgbClr val="145c30"/>
                </a:solidFill>
                <a:latin typeface="Marianne Medium"/>
              </a:rPr>
              <a:t> </a:t>
            </a:r>
            <a:r>
              <a:rPr b="0" lang="fr-FR" sz="1400" spc="-1" strike="noStrike">
                <a:solidFill>
                  <a:srgbClr val="145c30"/>
                </a:solidFill>
                <a:latin typeface="Marianne"/>
              </a:rPr>
              <a:t>Cibles de réduction des émissions de GES et transition climatique</a:t>
            </a:r>
            <a:endParaRPr b="0" lang="fr-FR" sz="1400" spc="-1" strike="noStrike">
              <a:solidFill>
                <a:srgbClr val="000000"/>
              </a:solidFill>
              <a:latin typeface="Arial"/>
            </a:endParaRPr>
          </a:p>
        </p:txBody>
      </p:sp>
      <p:cxnSp>
        <p:nvCxnSpPr>
          <p:cNvPr id="591" name="Straight Connector 6"/>
          <p:cNvCxnSpPr/>
          <p:nvPr/>
        </p:nvCxnSpPr>
        <p:spPr>
          <a:xfrm>
            <a:off x="893160" y="2525400"/>
            <a:ext cx="4680" cy="710280"/>
          </a:xfrm>
          <a:prstGeom prst="straightConnector1">
            <a:avLst/>
          </a:prstGeom>
          <a:ln w="3175">
            <a:solidFill>
              <a:srgbClr val="a6a6a6"/>
            </a:solidFill>
            <a:round/>
          </a:ln>
        </p:spPr>
      </p:cxnSp>
      <p:pic>
        <p:nvPicPr>
          <p:cNvPr id="592" name="Graphic 6"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593" name="TextBox 3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594" name="TextBox 33"/>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595" name="TextBox 34"/>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596" name="TextBox 35"/>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597" name="Rounded Rectangle 21"/>
          <p:cNvSpPr/>
          <p:nvPr/>
        </p:nvSpPr>
        <p:spPr>
          <a:xfrm>
            <a:off x="410400" y="3488040"/>
            <a:ext cx="6734160" cy="67528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Cibles de réduction des émissions de GES du scope 3</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Cet indicateur n'est pas applicable car l'entreprise n'a pas fixé de cibles de réduction des émissions de GES dans l'indicateur « Cibles de réduction des émissions de GES des scopes 1 et 2 » de C3.</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8"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599"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600" name="Rounded Rectangle 3"/>
          <p:cNvSpPr/>
          <p:nvPr/>
        </p:nvSpPr>
        <p:spPr>
          <a:xfrm rot="16200000">
            <a:off x="3809520" y="-190440"/>
            <a:ext cx="70092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145c30"/>
                </a:solidFill>
                <a:latin typeface="Marianne"/>
              </a:rPr>
              <a:t>C3</a:t>
            </a:r>
            <a:r>
              <a:rPr b="0" lang="fr-FR" sz="1400" spc="-1" strike="noStrike">
                <a:solidFill>
                  <a:srgbClr val="145c30"/>
                </a:solidFill>
                <a:latin typeface="Marianne Medium"/>
              </a:rPr>
              <a:t> </a:t>
            </a:r>
            <a:r>
              <a:rPr b="0" lang="fr-FR" sz="1400" spc="-1" strike="noStrike">
                <a:solidFill>
                  <a:srgbClr val="145c30"/>
                </a:solidFill>
                <a:latin typeface="Marianne"/>
              </a:rPr>
              <a:t>Cibles de réduction des émissions de GES et transition climatique</a:t>
            </a:r>
            <a:endParaRPr b="0" lang="fr-FR" sz="1400" spc="-1" strike="noStrike">
              <a:solidFill>
                <a:srgbClr val="000000"/>
              </a:solidFill>
              <a:latin typeface="Arial"/>
            </a:endParaRPr>
          </a:p>
        </p:txBody>
      </p:sp>
      <p:cxnSp>
        <p:nvCxnSpPr>
          <p:cNvPr id="601" name="Straight Connector 17"/>
          <p:cNvCxnSpPr/>
          <p:nvPr/>
        </p:nvCxnSpPr>
        <p:spPr>
          <a:xfrm>
            <a:off x="893160" y="2525400"/>
            <a:ext cx="4680" cy="710280"/>
          </a:xfrm>
          <a:prstGeom prst="straightConnector1">
            <a:avLst/>
          </a:prstGeom>
          <a:ln w="3175">
            <a:solidFill>
              <a:srgbClr val="a6a6a6"/>
            </a:solidFill>
            <a:round/>
          </a:ln>
        </p:spPr>
      </p:cxnSp>
      <p:pic>
        <p:nvPicPr>
          <p:cNvPr id="602"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603"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604"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605"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606"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607" name="Rounded Rectangle 8"/>
          <p:cNvSpPr/>
          <p:nvPr/>
        </p:nvSpPr>
        <p:spPr>
          <a:xfrm>
            <a:off x="410400" y="3488040"/>
            <a:ext cx="6734160" cy="67528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Description du plan de transition climatique</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L’entreprise ne dispose pas d'un plan de transition climatique.</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8"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609"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610" name="Rounded Rectangle 3"/>
          <p:cNvSpPr/>
          <p:nvPr/>
        </p:nvSpPr>
        <p:spPr>
          <a:xfrm rot="16200000">
            <a:off x="3809520" y="-190440"/>
            <a:ext cx="70092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145c30"/>
                </a:solidFill>
                <a:latin typeface="Marianne"/>
              </a:rPr>
              <a:t>C3</a:t>
            </a:r>
            <a:r>
              <a:rPr b="0" lang="fr-FR" sz="1400" spc="-1" strike="noStrike">
                <a:solidFill>
                  <a:srgbClr val="145c30"/>
                </a:solidFill>
                <a:latin typeface="Marianne Medium"/>
              </a:rPr>
              <a:t> </a:t>
            </a:r>
            <a:r>
              <a:rPr b="0" lang="fr-FR" sz="1400" spc="-1" strike="noStrike">
                <a:solidFill>
                  <a:srgbClr val="145c30"/>
                </a:solidFill>
                <a:latin typeface="Marianne"/>
              </a:rPr>
              <a:t>Cibles de réduction des émissions de GES et transition climatique</a:t>
            </a:r>
            <a:endParaRPr b="0" lang="fr-FR" sz="1400" spc="-1" strike="noStrike">
              <a:solidFill>
                <a:srgbClr val="000000"/>
              </a:solidFill>
              <a:latin typeface="Arial"/>
            </a:endParaRPr>
          </a:p>
        </p:txBody>
      </p:sp>
      <p:cxnSp>
        <p:nvCxnSpPr>
          <p:cNvPr id="611" name="Straight Connector 17"/>
          <p:cNvCxnSpPr/>
          <p:nvPr/>
        </p:nvCxnSpPr>
        <p:spPr>
          <a:xfrm>
            <a:off x="893160" y="2525400"/>
            <a:ext cx="4680" cy="710280"/>
          </a:xfrm>
          <a:prstGeom prst="straightConnector1">
            <a:avLst/>
          </a:prstGeom>
          <a:ln w="3175">
            <a:solidFill>
              <a:srgbClr val="a6a6a6"/>
            </a:solidFill>
            <a:round/>
          </a:ln>
        </p:spPr>
      </p:cxnSp>
      <p:pic>
        <p:nvPicPr>
          <p:cNvPr id="612"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613"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614"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615"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616"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617" name="Rounded Rectangle 8"/>
          <p:cNvSpPr/>
          <p:nvPr/>
        </p:nvSpPr>
        <p:spPr>
          <a:xfrm>
            <a:off x="410400" y="3488040"/>
            <a:ext cx="6734160" cy="675288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Description du plan de transition climatique</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18"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619"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620" name="Rounded Rectangle 3"/>
          <p:cNvSpPr/>
          <p:nvPr/>
        </p:nvSpPr>
        <p:spPr>
          <a:xfrm rot="16200000">
            <a:off x="3809520" y="-190440"/>
            <a:ext cx="70092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145c30"/>
                </a:solidFill>
                <a:latin typeface="Marianne"/>
              </a:rPr>
              <a:t>C3</a:t>
            </a:r>
            <a:r>
              <a:rPr b="0" lang="fr-FR" sz="1400" spc="-1" strike="noStrike">
                <a:solidFill>
                  <a:srgbClr val="145c30"/>
                </a:solidFill>
                <a:latin typeface="Marianne Medium"/>
              </a:rPr>
              <a:t> </a:t>
            </a:r>
            <a:r>
              <a:rPr b="0" lang="fr-FR" sz="1400" spc="-1" strike="noStrike">
                <a:solidFill>
                  <a:srgbClr val="145c30"/>
                </a:solidFill>
                <a:latin typeface="Marianne"/>
              </a:rPr>
              <a:t>Cibles de réduction des émissions de GES et transition climatique</a:t>
            </a:r>
            <a:endParaRPr b="0" lang="fr-FR" sz="1400" spc="-1" strike="noStrike">
              <a:solidFill>
                <a:srgbClr val="000000"/>
              </a:solidFill>
              <a:latin typeface="Arial"/>
            </a:endParaRPr>
          </a:p>
        </p:txBody>
      </p:sp>
      <p:cxnSp>
        <p:nvCxnSpPr>
          <p:cNvPr id="621" name="Straight Connector 17"/>
          <p:cNvCxnSpPr/>
          <p:nvPr/>
        </p:nvCxnSpPr>
        <p:spPr>
          <a:xfrm>
            <a:off x="893160" y="2525400"/>
            <a:ext cx="4680" cy="710280"/>
          </a:xfrm>
          <a:prstGeom prst="straightConnector1">
            <a:avLst/>
          </a:prstGeom>
          <a:ln w="3175">
            <a:solidFill>
              <a:srgbClr val="a6a6a6"/>
            </a:solidFill>
            <a:round/>
          </a:ln>
        </p:spPr>
      </p:cxnSp>
      <p:pic>
        <p:nvPicPr>
          <p:cNvPr id="622"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623"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624"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625"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626"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627" name="Rounded Rectangle 10"/>
          <p:cNvSpPr/>
          <p:nvPr/>
        </p:nvSpPr>
        <p:spPr>
          <a:xfrm>
            <a:off x="410400" y="3488040"/>
            <a:ext cx="6734160" cy="563832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Contribution du plan de transition climatique à la réduction des émissions de GES </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sp>
        <p:nvSpPr>
          <p:cNvPr id="628" name="Rounded Rectangle 11"/>
          <p:cNvSpPr/>
          <p:nvPr/>
        </p:nvSpPr>
        <p:spPr>
          <a:xfrm>
            <a:off x="410400" y="9315720"/>
            <a:ext cx="6734160" cy="770760"/>
          </a:xfrm>
          <a:prstGeom prst="roundRect">
            <a:avLst>
              <a:gd name="adj" fmla="val 996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en-FR" sz="1200" spc="-1" strike="noStrike">
                <a:solidFill>
                  <a:srgbClr val="145c30"/>
                </a:solidFill>
                <a:latin typeface="Marianne Light"/>
              </a:rPr>
              <a:t>Année prévue d'adoption d'un plan de transition climatique </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a:t>
            </a: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29"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630"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631" name="Rounded Rectangle 3"/>
          <p:cNvSpPr/>
          <p:nvPr/>
        </p:nvSpPr>
        <p:spPr>
          <a:xfrm rot="16200000">
            <a:off x="3985560" y="-322560"/>
            <a:ext cx="39456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145c30"/>
                </a:solidFill>
                <a:latin typeface="Marianne"/>
              </a:rPr>
              <a:t>C4</a:t>
            </a:r>
            <a:r>
              <a:rPr b="0" lang="fr-FR" sz="1400" spc="-1" strike="noStrike">
                <a:solidFill>
                  <a:srgbClr val="145c30"/>
                </a:solidFill>
                <a:latin typeface="Marianne Medium"/>
              </a:rPr>
              <a:t> </a:t>
            </a:r>
            <a:r>
              <a:rPr b="0" lang="fr-FR" sz="1400" spc="-1" strike="noStrike">
                <a:solidFill>
                  <a:srgbClr val="145c30"/>
                </a:solidFill>
                <a:latin typeface="Marianne"/>
              </a:rPr>
              <a:t>Risques climatiques</a:t>
            </a:r>
            <a:endParaRPr b="0" lang="fr-FR" sz="1400" spc="-1" strike="noStrike">
              <a:solidFill>
                <a:srgbClr val="000000"/>
              </a:solidFill>
              <a:latin typeface="Arial"/>
            </a:endParaRPr>
          </a:p>
        </p:txBody>
      </p:sp>
      <p:cxnSp>
        <p:nvCxnSpPr>
          <p:cNvPr id="632" name="Straight Connector 17"/>
          <p:cNvCxnSpPr/>
          <p:nvPr/>
        </p:nvCxnSpPr>
        <p:spPr>
          <a:xfrm>
            <a:off x="893160" y="2525400"/>
            <a:ext cx="4680" cy="426240"/>
          </a:xfrm>
          <a:prstGeom prst="straightConnector1">
            <a:avLst/>
          </a:prstGeom>
          <a:ln w="3175">
            <a:solidFill>
              <a:srgbClr val="a6a6a6"/>
            </a:solidFill>
            <a:round/>
          </a:ln>
        </p:spPr>
      </p:cxnSp>
      <p:pic>
        <p:nvPicPr>
          <p:cNvPr id="633"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634"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635"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636"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637"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638" name="Rounded Rectangle 8"/>
          <p:cNvSpPr/>
          <p:nvPr/>
        </p:nvSpPr>
        <p:spPr>
          <a:xfrm>
            <a:off x="410400" y="3224160"/>
            <a:ext cx="6734160" cy="701676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en-FR" sz="1200" spc="-1" strike="noStrike">
                <a:solidFill>
                  <a:srgbClr val="145c30"/>
                </a:solidFill>
                <a:latin typeface="Marianne Light"/>
              </a:rPr>
              <a:t>Aléas et risques climatiques recensés</a:t>
            </a:r>
            <a:endParaRPr b="0" lang="fr-FR" sz="1200" spc="-1" strike="noStrike">
              <a:solidFill>
                <a:srgbClr val="000000"/>
              </a:solidFill>
              <a:latin typeface="Arial"/>
            </a:endParaRPr>
          </a:p>
          <a:p>
            <a:pPr defTabSz="457200">
              <a:lnSpc>
                <a:spcPct val="100000"/>
              </a:lnSpc>
            </a:pPr>
            <a:br>
              <a:rPr sz="1200"/>
            </a:br>
            <a:endParaRPr b="0" lang="fr-FR" sz="1200" spc="-1" strike="noStrike">
              <a:solidFill>
                <a:srgbClr val="000000"/>
              </a:solidFill>
              <a:latin typeface="Arial"/>
            </a:endParaRPr>
          </a:p>
        </p:txBody>
      </p:sp>
      <p:graphicFrame>
        <p:nvGraphicFramePr>
          <p:cNvPr id="639" name="Table 11"/>
          <p:cNvGraphicFramePr/>
          <p:nvPr/>
        </p:nvGraphicFramePr>
        <p:xfrm>
          <a:off x="608400" y="3888720"/>
          <a:ext cx="6341040" cy="6089760"/>
        </p:xfrm>
        <a:graphic>
          <a:graphicData uri="http://schemas.openxmlformats.org/drawingml/2006/table">
            <a:tbl>
              <a:tblPr/>
              <a:tblGrid>
                <a:gridCol w="774720"/>
                <a:gridCol w="1761840"/>
                <a:gridCol w="1086480"/>
                <a:gridCol w="927360"/>
                <a:gridCol w="1791000"/>
              </a:tblGrid>
              <a:tr h="570960">
                <a:tc>
                  <a:txBody>
                    <a:bodyPr lIns="108000" rIns="108000" anchor="ctr">
                      <a:noAutofit/>
                    </a:bodyPr>
                    <a:p>
                      <a:pPr algn="ctr" defTabSz="756000">
                        <a:lnSpc>
                          <a:spcPct val="100000"/>
                        </a:lnSpc>
                      </a:pPr>
                      <a:r>
                        <a:rPr b="0" lang="fr-FR" sz="1100" spc="-1" strike="noStrike">
                          <a:solidFill>
                            <a:srgbClr val="145c30"/>
                          </a:solidFill>
                          <a:latin typeface="Marianne Light"/>
                        </a:rPr>
                        <a:t>Risque n°</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Description</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Méthode d'évaluation</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pPr>
                      <a:r>
                        <a:rPr b="0" lang="fr-FR" sz="1100" spc="-1" strike="noStrike">
                          <a:solidFill>
                            <a:srgbClr val="145c30"/>
                          </a:solidFill>
                          <a:latin typeface="Marianne Light"/>
                        </a:rPr>
                        <a:t>Horizon temporel</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Actions d’adaptation entreprises</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r>
              <a:tr h="1103760">
                <a:tc>
                  <a:txBody>
                    <a:bodyPr anchor="ctr">
                      <a:noAutofit/>
                    </a:bodyPr>
                    <a:p>
                      <a:pPr algn="ctr" defTabSz="756000">
                        <a:lnSpc>
                          <a:spcPct val="100000"/>
                        </a:lnSpc>
                        <a:tabLst>
                          <a:tab algn="l" pos="0"/>
                        </a:tabLst>
                      </a:pPr>
                      <a:r>
                        <a:rPr b="0" lang="fr-FR" sz="1100" spc="-1" strike="noStrike">
                          <a:solidFill>
                            <a:schemeClr val="dk1"/>
                          </a:solidFill>
                          <a:latin typeface="Marianne Medium"/>
                        </a:rPr>
                        <a:t>1</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fr-FR" sz="1100" spc="-1" strike="noStrike">
                          <a:solidFill>
                            <a:schemeClr val="dk1"/>
                          </a:solidFill>
                          <a:latin typeface="Marianne Medium"/>
                        </a:rPr>
                        <a:t>Court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anchor="ctr">
                      <a:noAutofit/>
                    </a:bodyPr>
                    <a:p>
                      <a:pPr defTabSz="756000">
                        <a:lnSpc>
                          <a:spcPct val="100000"/>
                        </a:lnSpc>
                      </a:pPr>
                      <a:r>
                        <a:rPr b="0" lang="fr-FR" sz="1100" spc="-1" strike="noStrike">
                          <a:solidFill>
                            <a:schemeClr val="dk1"/>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r>
              <a:tr h="1103760">
                <a:tc>
                  <a:txBody>
                    <a:bodyPr anchor="ctr">
                      <a:noAutofit/>
                    </a:bodyPr>
                    <a:p>
                      <a:pPr algn="ctr" defTabSz="756000">
                        <a:lnSpc>
                          <a:spcPct val="100000"/>
                        </a:lnSpc>
                        <a:tabLst>
                          <a:tab algn="l" pos="0"/>
                        </a:tabLst>
                      </a:pPr>
                      <a:r>
                        <a:rPr b="0" lang="fr-FR" sz="1100" spc="-1" strike="noStrike">
                          <a:solidFill>
                            <a:schemeClr val="dk1"/>
                          </a:solidFill>
                          <a:latin typeface="Marianne Medium"/>
                        </a:rPr>
                        <a:t>2</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Moyen</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1103760">
                <a:tc>
                  <a:txBody>
                    <a:bodyPr anchor="ctr">
                      <a:noAutofit/>
                    </a:bodyPr>
                    <a:p>
                      <a:pPr algn="ctr" defTabSz="756000">
                        <a:lnSpc>
                          <a:spcPct val="100000"/>
                        </a:lnSpc>
                      </a:pPr>
                      <a:r>
                        <a:rPr b="0" lang="fr-FR" sz="1100" spc="-1" strike="noStrike">
                          <a:solidFill>
                            <a:schemeClr val="dk1"/>
                          </a:solidFill>
                          <a:latin typeface="Marianne Medium"/>
                        </a:rPr>
                        <a:t>3</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Long</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1103760">
                <a:tc>
                  <a:txBody>
                    <a:bodyPr anchor="ctr">
                      <a:noAutofit/>
                    </a:bodyPr>
                    <a:p>
                      <a:pPr algn="ctr" defTabSz="756000">
                        <a:lnSpc>
                          <a:spcPct val="100000"/>
                        </a:lnSpc>
                      </a:pPr>
                      <a:r>
                        <a:rPr b="0" lang="fr-FR" sz="1100" spc="-1" strike="noStrike">
                          <a:solidFill>
                            <a:schemeClr val="dk1"/>
                          </a:solidFill>
                          <a:latin typeface="Marianne Medium"/>
                        </a:rPr>
                        <a:t>4</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1103760">
                <a:tc>
                  <a:txBody>
                    <a:bodyPr anchor="ctr">
                      <a:noAutofit/>
                    </a:bodyPr>
                    <a:p>
                      <a:pPr algn="ctr" defTabSz="756000">
                        <a:lnSpc>
                          <a:spcPct val="100000"/>
                        </a:lnSpc>
                      </a:pPr>
                      <a:r>
                        <a:rPr b="0" lang="fr-FR" sz="1100" spc="-1" strike="noStrike">
                          <a:solidFill>
                            <a:schemeClr val="dk1"/>
                          </a:solidFill>
                          <a:latin typeface="Marianne Medium"/>
                        </a:rPr>
                        <a:t>5</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40"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641"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642" name="Rounded Rectangle 3"/>
          <p:cNvSpPr/>
          <p:nvPr/>
        </p:nvSpPr>
        <p:spPr>
          <a:xfrm rot="16200000">
            <a:off x="3985560" y="-322560"/>
            <a:ext cx="39456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145c30"/>
                </a:solidFill>
                <a:latin typeface="Marianne"/>
              </a:rPr>
              <a:t>C4</a:t>
            </a:r>
            <a:r>
              <a:rPr b="0" lang="fr-FR" sz="1400" spc="-1" strike="noStrike">
                <a:solidFill>
                  <a:srgbClr val="145c30"/>
                </a:solidFill>
                <a:latin typeface="Marianne Medium"/>
              </a:rPr>
              <a:t> </a:t>
            </a:r>
            <a:r>
              <a:rPr b="0" lang="fr-FR" sz="1400" spc="-1" strike="noStrike">
                <a:solidFill>
                  <a:srgbClr val="145c30"/>
                </a:solidFill>
                <a:latin typeface="Marianne"/>
              </a:rPr>
              <a:t>Risques climatiques</a:t>
            </a:r>
            <a:endParaRPr b="0" lang="fr-FR" sz="1400" spc="-1" strike="noStrike">
              <a:solidFill>
                <a:srgbClr val="000000"/>
              </a:solidFill>
              <a:latin typeface="Arial"/>
            </a:endParaRPr>
          </a:p>
        </p:txBody>
      </p:sp>
      <p:cxnSp>
        <p:nvCxnSpPr>
          <p:cNvPr id="643" name="Straight Connector 17"/>
          <p:cNvCxnSpPr/>
          <p:nvPr/>
        </p:nvCxnSpPr>
        <p:spPr>
          <a:xfrm>
            <a:off x="893160" y="2525400"/>
            <a:ext cx="4680" cy="426240"/>
          </a:xfrm>
          <a:prstGeom prst="straightConnector1">
            <a:avLst/>
          </a:prstGeom>
          <a:ln w="3175">
            <a:solidFill>
              <a:srgbClr val="a6a6a6"/>
            </a:solidFill>
            <a:round/>
          </a:ln>
        </p:spPr>
      </p:cxnSp>
      <p:pic>
        <p:nvPicPr>
          <p:cNvPr id="644"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645"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646"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647"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648"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649" name="Rounded Rectangle 8"/>
          <p:cNvSpPr/>
          <p:nvPr/>
        </p:nvSpPr>
        <p:spPr>
          <a:xfrm>
            <a:off x="410400" y="3224160"/>
            <a:ext cx="6734160" cy="701676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en-FR" sz="1200" spc="-1" strike="noStrike">
                <a:solidFill>
                  <a:srgbClr val="145c30"/>
                </a:solidFill>
                <a:latin typeface="Marianne Light"/>
              </a:rPr>
              <a:t>Aléas et risques climatiques recensés</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L</a:t>
            </a:r>
            <a:r>
              <a:rPr b="1" lang="en-FR" sz="1200" spc="-1" strike="noStrike">
                <a:solidFill>
                  <a:srgbClr val="000000"/>
                </a:solidFill>
                <a:latin typeface="Marianne Medium"/>
              </a:rPr>
              <a:t>'entreprise n'a pas recensé d'aléas ou d'événements liés au changement climatique entraînant des risques.</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50"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651"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652" name="Rounded Rectangle 3"/>
          <p:cNvSpPr/>
          <p:nvPr/>
        </p:nvSpPr>
        <p:spPr>
          <a:xfrm rot="16200000">
            <a:off x="3985560" y="-322560"/>
            <a:ext cx="39456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145c30"/>
                </a:solidFill>
                <a:latin typeface="Marianne"/>
              </a:rPr>
              <a:t>C4</a:t>
            </a:r>
            <a:r>
              <a:rPr b="0" lang="fr-FR" sz="1400" spc="-1" strike="noStrike">
                <a:solidFill>
                  <a:srgbClr val="145c30"/>
                </a:solidFill>
                <a:latin typeface="Marianne Medium"/>
              </a:rPr>
              <a:t> </a:t>
            </a:r>
            <a:r>
              <a:rPr b="0" lang="fr-FR" sz="1400" spc="-1" strike="noStrike">
                <a:solidFill>
                  <a:srgbClr val="145c30"/>
                </a:solidFill>
                <a:latin typeface="Marianne"/>
              </a:rPr>
              <a:t>Risques climatiques</a:t>
            </a:r>
            <a:endParaRPr b="0" lang="fr-FR" sz="1400" spc="-1" strike="noStrike">
              <a:solidFill>
                <a:srgbClr val="000000"/>
              </a:solidFill>
              <a:latin typeface="Arial"/>
            </a:endParaRPr>
          </a:p>
        </p:txBody>
      </p:sp>
      <p:cxnSp>
        <p:nvCxnSpPr>
          <p:cNvPr id="653" name="Straight Connector 17"/>
          <p:cNvCxnSpPr/>
          <p:nvPr/>
        </p:nvCxnSpPr>
        <p:spPr>
          <a:xfrm>
            <a:off x="893160" y="2525400"/>
            <a:ext cx="4680" cy="426240"/>
          </a:xfrm>
          <a:prstGeom prst="straightConnector1">
            <a:avLst/>
          </a:prstGeom>
          <a:ln w="3175">
            <a:solidFill>
              <a:srgbClr val="a6a6a6"/>
            </a:solidFill>
            <a:round/>
          </a:ln>
        </p:spPr>
      </p:cxnSp>
      <p:pic>
        <p:nvPicPr>
          <p:cNvPr id="654"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655"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656"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657"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658"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659" name="Rounded Rectangle 8"/>
          <p:cNvSpPr/>
          <p:nvPr/>
        </p:nvSpPr>
        <p:spPr>
          <a:xfrm>
            <a:off x="410400" y="3224160"/>
            <a:ext cx="6734160" cy="701676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Impacts financiers potentiels des risques climatiques</a:t>
            </a:r>
            <a:endParaRPr b="0" lang="fr-FR" sz="1200" spc="-1" strike="noStrike">
              <a:solidFill>
                <a:srgbClr val="000000"/>
              </a:solidFill>
              <a:latin typeface="Arial"/>
            </a:endParaRPr>
          </a:p>
        </p:txBody>
      </p:sp>
      <p:graphicFrame>
        <p:nvGraphicFramePr>
          <p:cNvPr id="660" name="Table 9"/>
          <p:cNvGraphicFramePr/>
          <p:nvPr/>
        </p:nvGraphicFramePr>
        <p:xfrm>
          <a:off x="608400" y="3801240"/>
          <a:ext cx="6314040" cy="6302520"/>
        </p:xfrm>
        <a:graphic>
          <a:graphicData uri="http://schemas.openxmlformats.org/drawingml/2006/table">
            <a:tbl>
              <a:tblPr/>
              <a:tblGrid>
                <a:gridCol w="771480"/>
                <a:gridCol w="1323720"/>
                <a:gridCol w="2390400"/>
                <a:gridCol w="914400"/>
                <a:gridCol w="914400"/>
              </a:tblGrid>
              <a:tr h="898920">
                <a:tc>
                  <a:txBody>
                    <a:bodyPr lIns="108000" rIns="108000" anchor="ctr">
                      <a:noAutofit/>
                    </a:bodyPr>
                    <a:p>
                      <a:pPr algn="ctr" defTabSz="756000">
                        <a:lnSpc>
                          <a:spcPct val="100000"/>
                        </a:lnSpc>
                      </a:pPr>
                      <a:r>
                        <a:rPr b="0" lang="fr-FR" sz="1100" spc="-1" strike="noStrike">
                          <a:solidFill>
                            <a:srgbClr val="145c30"/>
                          </a:solidFill>
                          <a:latin typeface="Marianne Light"/>
                        </a:rPr>
                        <a:t>Risque n°</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Ce risque a-t-il des impacts financiers potentiels ?</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Description des impacts financiers potentiels</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tabLst>
                          <a:tab algn="l" pos="0"/>
                        </a:tabLst>
                      </a:pPr>
                      <a:r>
                        <a:rPr b="0" lang="fr-FR" sz="1100" spc="-1" strike="noStrike">
                          <a:solidFill>
                            <a:srgbClr val="145c30"/>
                          </a:solidFill>
                          <a:latin typeface="Marianne Light"/>
                        </a:rPr>
                        <a:t>Niveau de risque</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c>
                  <a:txBody>
                    <a:bodyPr lIns="108000" rIns="108000" anchor="ctr">
                      <a:noAutofit/>
                    </a:bodyPr>
                    <a:p>
                      <a:pPr algn="ctr" defTabSz="756000">
                        <a:lnSpc>
                          <a:spcPct val="100000"/>
                        </a:lnSpc>
                      </a:pPr>
                      <a:r>
                        <a:rPr b="0" lang="fr-FR" sz="1100" spc="-1" strike="noStrike">
                          <a:solidFill>
                            <a:srgbClr val="145c30"/>
                          </a:solidFill>
                          <a:latin typeface="Marianne Light"/>
                        </a:rPr>
                        <a:t>Horizon temporel</a:t>
                      </a:r>
                      <a:endParaRPr b="0" lang="fr-FR" sz="1100" spc="-1" strike="noStrike">
                        <a:solidFill>
                          <a:srgbClr val="000000"/>
                        </a:solidFill>
                        <a:latin typeface="Arial"/>
                      </a:endParaRPr>
                    </a:p>
                  </a:txBody>
                  <a:tcPr anchor="ctr" marL="108000" marR="1080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ded"/>
                    </a:solidFill>
                  </a:tcPr>
                </a:tc>
              </a:tr>
              <a:tr h="1080720">
                <a:tc>
                  <a:txBody>
                    <a:bodyPr anchor="ctr">
                      <a:noAutofit/>
                    </a:bodyPr>
                    <a:p>
                      <a:pPr algn="ctr" defTabSz="756000">
                        <a:lnSpc>
                          <a:spcPct val="100000"/>
                        </a:lnSpc>
                        <a:tabLst>
                          <a:tab algn="l" pos="0"/>
                        </a:tabLst>
                      </a:pPr>
                      <a:r>
                        <a:rPr b="0" lang="fr-FR" sz="1100" spc="-1" strike="noStrike">
                          <a:solidFill>
                            <a:schemeClr val="dk1"/>
                          </a:solidFill>
                          <a:latin typeface="Marianne Medium"/>
                        </a:rPr>
                        <a:t>1</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chemeClr val="dk1"/>
                          </a:solidFill>
                          <a:latin typeface="Marianne Medium"/>
                        </a:rPr>
                        <a:t>Élevé</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pPr>
                      <a:r>
                        <a:rPr b="0" lang="fr-FR" sz="1100" spc="-1" strike="noStrike">
                          <a:solidFill>
                            <a:schemeClr val="dk1"/>
                          </a:solidFill>
                          <a:latin typeface="Marianne Medium"/>
                        </a:rPr>
                        <a:t>Court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lt1">
                        <a:lumMod val="95000"/>
                      </a:schemeClr>
                    </a:solidFill>
                  </a:tcPr>
                </a:tc>
              </a:tr>
              <a:tr h="1080720">
                <a:tc>
                  <a:txBody>
                    <a:bodyPr anchor="ctr">
                      <a:noAutofit/>
                    </a:bodyPr>
                    <a:p>
                      <a:pPr algn="ctr" defTabSz="756000">
                        <a:lnSpc>
                          <a:spcPct val="100000"/>
                        </a:lnSpc>
                        <a:tabLst>
                          <a:tab algn="l" pos="0"/>
                        </a:tabLst>
                      </a:pPr>
                      <a:r>
                        <a:rPr b="0" lang="fr-FR" sz="1100" spc="-1" strike="noStrike">
                          <a:solidFill>
                            <a:schemeClr val="dk1"/>
                          </a:solidFill>
                          <a:latin typeface="Marianne Medium"/>
                        </a:rPr>
                        <a:t>2</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Medium"/>
                        </a:rPr>
                        <a:t>Élevé</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Moyen</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1080720">
                <a:tc>
                  <a:txBody>
                    <a:bodyPr anchor="ctr">
                      <a:noAutofit/>
                    </a:bodyPr>
                    <a:p>
                      <a:pPr algn="ctr" defTabSz="756000">
                        <a:lnSpc>
                          <a:spcPct val="100000"/>
                        </a:lnSpc>
                      </a:pPr>
                      <a:r>
                        <a:rPr b="0" lang="fr-FR" sz="1100" spc="-1" strike="noStrike">
                          <a:solidFill>
                            <a:schemeClr val="dk1"/>
                          </a:solidFill>
                          <a:latin typeface="Marianne Medium"/>
                        </a:rPr>
                        <a:t>3</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145c30"/>
                          </a:solidFill>
                          <a:latin typeface="Marianne"/>
                        </a:rPr>
                        <a:t>OUI</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Medium"/>
                        </a:rPr>
                        <a:t>Élevé</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Long</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1080720">
                <a:tc>
                  <a:txBody>
                    <a:bodyPr anchor="ctr">
                      <a:noAutofit/>
                    </a:bodyPr>
                    <a:p>
                      <a:pPr algn="ctr" defTabSz="756000">
                        <a:lnSpc>
                          <a:spcPct val="100000"/>
                        </a:lnSpc>
                      </a:pPr>
                      <a:r>
                        <a:rPr b="0" lang="fr-FR" sz="1100" spc="-1" strike="noStrike">
                          <a:solidFill>
                            <a:schemeClr val="dk1"/>
                          </a:solidFill>
                          <a:latin typeface="Marianne Medium"/>
                        </a:rPr>
                        <a:t>4</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Medium"/>
                        </a:rPr>
                        <a:t>Élevé</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1080720">
                <a:tc>
                  <a:txBody>
                    <a:bodyPr anchor="ctr">
                      <a:noAutofit/>
                    </a:bodyPr>
                    <a:p>
                      <a:pPr algn="ctr" defTabSz="756000">
                        <a:lnSpc>
                          <a:spcPct val="100000"/>
                        </a:lnSpc>
                      </a:pPr>
                      <a:r>
                        <a:rPr b="0" lang="fr-FR" sz="1100" spc="-1" strike="noStrike">
                          <a:solidFill>
                            <a:schemeClr val="dk1"/>
                          </a:solidFill>
                          <a:latin typeface="Marianne Medium"/>
                        </a:rPr>
                        <a:t>5</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c00000"/>
                          </a:solidFill>
                          <a:latin typeface="Marianne"/>
                        </a:rPr>
                        <a:t>NON</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lIns="6120" rIns="6120" anchor="ctr">
                      <a:noAutofit/>
                    </a:bodyPr>
                    <a:p>
                      <a:pPr algn="ctr" defTabSz="756000">
                        <a:lnSpc>
                          <a:spcPct val="100000"/>
                        </a:lnSpc>
                        <a:tabLst>
                          <a:tab algn="l" pos="0"/>
                        </a:tabLst>
                      </a:pPr>
                      <a:r>
                        <a:rPr b="0" lang="fr-FR" sz="1000" spc="-1" strike="noStrike">
                          <a:solidFill>
                            <a:srgbClr val="000000"/>
                          </a:solidFill>
                          <a:latin typeface="Marianne Medium"/>
                        </a:rPr>
                        <a:t>Élevé</a:t>
                      </a:r>
                      <a:endParaRPr b="0" lang="fr-FR" sz="1000" spc="-1" strike="noStrike">
                        <a:solidFill>
                          <a:srgbClr val="000000"/>
                        </a:solidFill>
                        <a:latin typeface="Arial"/>
                      </a:endParaRPr>
                    </a:p>
                  </a:txBody>
                  <a:tcPr anchor="ctr" marL="6120" marR="612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fr-FR"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61"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662"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663" name="Rounded Rectangle 3"/>
          <p:cNvSpPr/>
          <p:nvPr/>
        </p:nvSpPr>
        <p:spPr>
          <a:xfrm rot="16200000">
            <a:off x="3985560" y="-322560"/>
            <a:ext cx="39456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145c30"/>
                </a:solidFill>
                <a:latin typeface="Marianne"/>
              </a:rPr>
              <a:t>C4</a:t>
            </a:r>
            <a:r>
              <a:rPr b="0" lang="fr-FR" sz="1400" spc="-1" strike="noStrike">
                <a:solidFill>
                  <a:srgbClr val="145c30"/>
                </a:solidFill>
                <a:latin typeface="Marianne Medium"/>
              </a:rPr>
              <a:t> </a:t>
            </a:r>
            <a:r>
              <a:rPr b="0" lang="fr-FR" sz="1400" spc="-1" strike="noStrike">
                <a:solidFill>
                  <a:srgbClr val="145c30"/>
                </a:solidFill>
                <a:latin typeface="Marianne"/>
              </a:rPr>
              <a:t>Risques climatiques</a:t>
            </a:r>
            <a:endParaRPr b="0" lang="fr-FR" sz="1400" spc="-1" strike="noStrike">
              <a:solidFill>
                <a:srgbClr val="000000"/>
              </a:solidFill>
              <a:latin typeface="Arial"/>
            </a:endParaRPr>
          </a:p>
        </p:txBody>
      </p:sp>
      <p:cxnSp>
        <p:nvCxnSpPr>
          <p:cNvPr id="664" name="Straight Connector 17"/>
          <p:cNvCxnSpPr/>
          <p:nvPr/>
        </p:nvCxnSpPr>
        <p:spPr>
          <a:xfrm>
            <a:off x="893160" y="2525400"/>
            <a:ext cx="4680" cy="426240"/>
          </a:xfrm>
          <a:prstGeom prst="straightConnector1">
            <a:avLst/>
          </a:prstGeom>
          <a:ln w="3175">
            <a:solidFill>
              <a:srgbClr val="a6a6a6"/>
            </a:solidFill>
            <a:round/>
          </a:ln>
        </p:spPr>
      </p:cxnSp>
      <p:pic>
        <p:nvPicPr>
          <p:cNvPr id="665"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666"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667"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668"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669"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670" name="Rounded Rectangle 8"/>
          <p:cNvSpPr/>
          <p:nvPr/>
        </p:nvSpPr>
        <p:spPr>
          <a:xfrm>
            <a:off x="410400" y="3224160"/>
            <a:ext cx="6734160" cy="701676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Impacts financiers potentiels des risques climatiques</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Cet indicateur n'est pas applicable car l'entreprise n'a pas renseigné de risque climatique dans l'indicateur « Aléas et risques climatiques recensés » de C4.</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71" name="Picture 4" descr="Green leaves on the trees in spring"/>
          <p:cNvPicPr/>
          <p:nvPr/>
        </p:nvPicPr>
        <p:blipFill>
          <a:blip r:embed="rId1"/>
          <a:srcRect l="0" t="0" r="0" b="0"/>
          <a:stretch/>
        </p:blipFill>
        <p:spPr>
          <a:xfrm>
            <a:off x="0" y="0"/>
            <a:ext cx="7554960" cy="10686960"/>
          </a:xfrm>
          <a:prstGeom prst="rect">
            <a:avLst/>
          </a:prstGeom>
          <a:ln w="0">
            <a:noFill/>
          </a:ln>
        </p:spPr>
      </p:pic>
      <p:sp>
        <p:nvSpPr>
          <p:cNvPr id="672"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673" name="Rounded Rectangle 3"/>
          <p:cNvSpPr/>
          <p:nvPr/>
        </p:nvSpPr>
        <p:spPr>
          <a:xfrm rot="16200000">
            <a:off x="3985560" y="-322560"/>
            <a:ext cx="394560" cy="6151320"/>
          </a:xfrm>
          <a:prstGeom prst="roundRect">
            <a:avLst>
              <a:gd name="adj" fmla="val 16667"/>
            </a:avLst>
          </a:prstGeom>
          <a:solidFill>
            <a:srgbClr val="3aeb7e">
              <a:alpha val="10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145c30"/>
                </a:solidFill>
                <a:latin typeface="Marianne"/>
              </a:rPr>
              <a:t>C4</a:t>
            </a:r>
            <a:r>
              <a:rPr b="0" lang="fr-FR" sz="1400" spc="-1" strike="noStrike">
                <a:solidFill>
                  <a:srgbClr val="145c30"/>
                </a:solidFill>
                <a:latin typeface="Marianne Medium"/>
              </a:rPr>
              <a:t> </a:t>
            </a:r>
            <a:r>
              <a:rPr b="0" lang="fr-FR" sz="1400" spc="-1" strike="noStrike">
                <a:solidFill>
                  <a:srgbClr val="145c30"/>
                </a:solidFill>
                <a:latin typeface="Marianne"/>
              </a:rPr>
              <a:t>Risques climatiques</a:t>
            </a:r>
            <a:endParaRPr b="0" lang="fr-FR" sz="1400" spc="-1" strike="noStrike">
              <a:solidFill>
                <a:srgbClr val="000000"/>
              </a:solidFill>
              <a:latin typeface="Arial"/>
            </a:endParaRPr>
          </a:p>
        </p:txBody>
      </p:sp>
      <p:cxnSp>
        <p:nvCxnSpPr>
          <p:cNvPr id="674" name="Straight Connector 17"/>
          <p:cNvCxnSpPr/>
          <p:nvPr/>
        </p:nvCxnSpPr>
        <p:spPr>
          <a:xfrm>
            <a:off x="893160" y="2525400"/>
            <a:ext cx="4680" cy="426240"/>
          </a:xfrm>
          <a:prstGeom prst="straightConnector1">
            <a:avLst/>
          </a:prstGeom>
          <a:ln w="3175">
            <a:solidFill>
              <a:srgbClr val="a6a6a6"/>
            </a:solidFill>
            <a:round/>
          </a:ln>
        </p:spPr>
      </p:cxnSp>
      <p:pic>
        <p:nvPicPr>
          <p:cNvPr id="675" name="Graphic 1"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676" name="TextBox 2"/>
          <p:cNvSpPr/>
          <p:nvPr/>
        </p:nvSpPr>
        <p:spPr>
          <a:xfrm>
            <a:off x="366480" y="187200"/>
            <a:ext cx="17820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Informations générales</a:t>
            </a:r>
            <a:endParaRPr b="0" lang="fr-FR" sz="1100" spc="-1" strike="noStrike">
              <a:solidFill>
                <a:srgbClr val="ffffff"/>
              </a:solidFill>
              <a:latin typeface="Arial"/>
            </a:endParaRPr>
          </a:p>
        </p:txBody>
      </p:sp>
      <p:sp>
        <p:nvSpPr>
          <p:cNvPr id="677" name="TextBox 5"/>
          <p:cNvSpPr/>
          <p:nvPr/>
        </p:nvSpPr>
        <p:spPr>
          <a:xfrm>
            <a:off x="3666600" y="187200"/>
            <a:ext cx="61776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Social</a:t>
            </a:r>
            <a:endParaRPr b="0" lang="fr-FR" sz="1100" spc="-1" strike="noStrike">
              <a:solidFill>
                <a:srgbClr val="ffffff"/>
              </a:solidFill>
              <a:latin typeface="Arial"/>
            </a:endParaRPr>
          </a:p>
        </p:txBody>
      </p:sp>
      <p:sp>
        <p:nvSpPr>
          <p:cNvPr id="678" name="TextBox 6"/>
          <p:cNvSpPr/>
          <p:nvPr/>
        </p:nvSpPr>
        <p:spPr>
          <a:xfrm>
            <a:off x="2258640" y="187200"/>
            <a:ext cx="1318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Environnement</a:t>
            </a:r>
            <a:endParaRPr b="0" lang="fr-FR" sz="1100" spc="-1" strike="noStrike">
              <a:solidFill>
                <a:srgbClr val="000000"/>
              </a:solidFill>
              <a:latin typeface="Arial"/>
            </a:endParaRPr>
          </a:p>
        </p:txBody>
      </p:sp>
      <p:sp>
        <p:nvSpPr>
          <p:cNvPr id="679" name="TextBox 7"/>
          <p:cNvSpPr/>
          <p:nvPr/>
        </p:nvSpPr>
        <p:spPr>
          <a:xfrm>
            <a:off x="4407840" y="187200"/>
            <a:ext cx="1117800" cy="305280"/>
          </a:xfrm>
          <a:prstGeom prst="roundRect">
            <a:avLst>
              <a:gd name="adj" fmla="val 16667"/>
            </a:avLst>
          </a:prstGeom>
          <a:solidFill>
            <a:schemeClr val="dk1">
              <a:alpha val="62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36000"/>
                  </a:schemeClr>
                </a:solidFill>
                <a:latin typeface="Marianne Light"/>
                <a:ea typeface="Arial"/>
              </a:rPr>
              <a:t>Gouvernance</a:t>
            </a:r>
            <a:endParaRPr b="0" lang="fr-FR" sz="1100" spc="-1" strike="noStrike">
              <a:solidFill>
                <a:srgbClr val="ffffff"/>
              </a:solidFill>
              <a:latin typeface="Arial"/>
            </a:endParaRPr>
          </a:p>
        </p:txBody>
      </p:sp>
      <p:sp>
        <p:nvSpPr>
          <p:cNvPr id="680" name="Rounded Rectangle 8"/>
          <p:cNvSpPr/>
          <p:nvPr/>
        </p:nvSpPr>
        <p:spPr>
          <a:xfrm>
            <a:off x="410400" y="3224160"/>
            <a:ext cx="6734160" cy="7016760"/>
          </a:xfrm>
          <a:prstGeom prst="roundRect">
            <a:avLst>
              <a:gd name="adj" fmla="val 210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145c30"/>
                </a:solidFill>
                <a:latin typeface="Marianne Light"/>
              </a:rPr>
              <a:t>Impacts financiers potentiels des risques climatiques</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Non pertinent</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81" name="Picture 2" descr=""/>
          <p:cNvPicPr/>
          <p:nvPr/>
        </p:nvPicPr>
        <p:blipFill>
          <a:blip r:embed="rId1"/>
          <a:srcRect l="0" t="0" r="0" b="0"/>
          <a:stretch/>
        </p:blipFill>
        <p:spPr>
          <a:xfrm>
            <a:off x="0" y="0"/>
            <a:ext cx="7546320" cy="10686960"/>
          </a:xfrm>
          <a:prstGeom prst="rect">
            <a:avLst/>
          </a:prstGeom>
          <a:ln w="0">
            <a:noFill/>
          </a:ln>
        </p:spPr>
      </p:pic>
      <p:grpSp>
        <p:nvGrpSpPr>
          <p:cNvPr id="682" name="Group 14"/>
          <p:cNvGrpSpPr/>
          <p:nvPr/>
        </p:nvGrpSpPr>
        <p:grpSpPr>
          <a:xfrm>
            <a:off x="0" y="2904120"/>
            <a:ext cx="7554960" cy="4879080"/>
            <a:chOff x="0" y="2904120"/>
            <a:chExt cx="7554960" cy="4879080"/>
          </a:xfrm>
        </p:grpSpPr>
        <p:sp>
          <p:nvSpPr>
            <p:cNvPr id="683" name="Rectangle 9"/>
            <p:cNvSpPr/>
            <p:nvPr/>
          </p:nvSpPr>
          <p:spPr>
            <a:xfrm>
              <a:off x="0" y="2904120"/>
              <a:ext cx="7554960" cy="4879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684" name="TextBox 1"/>
            <p:cNvSpPr/>
            <p:nvPr/>
          </p:nvSpPr>
          <p:spPr>
            <a:xfrm>
              <a:off x="636840" y="6191280"/>
              <a:ext cx="6281280" cy="821160"/>
            </a:xfrm>
            <a:prstGeom prst="rect">
              <a:avLst/>
            </a:prstGeom>
            <a:noFill/>
            <a:ln w="0">
              <a:noFill/>
            </a:ln>
          </p:spPr>
          <p:style>
            <a:lnRef idx="0"/>
            <a:fillRef idx="0"/>
            <a:effectRef idx="0"/>
            <a:fontRef idx="minor"/>
          </p:style>
          <p:txBody>
            <a:bodyPr lIns="90000" rIns="90000" tIns="45000" bIns="45000" anchor="t">
              <a:spAutoFit/>
            </a:bodyPr>
            <a:p>
              <a:pPr marL="11160" algn="just" defTabSz="457200">
                <a:lnSpc>
                  <a:spcPct val="120000"/>
                </a:lnSpc>
                <a:spcAft>
                  <a:spcPts val="601"/>
                </a:spcAft>
              </a:pPr>
              <a:r>
                <a:rPr b="0" lang="fr-FR" sz="1000" spc="-1" strike="noStrike">
                  <a:solidFill>
                    <a:schemeClr val="dk1"/>
                  </a:solidFill>
                  <a:latin typeface="Marianne Light"/>
                  <a:ea typeface="Arial"/>
                </a:rPr>
                <a:t>Les métriques sociales permettent d’appréhender de manière structurée la façon dont notre entreprise gère et développe son capital humain. En apportant des éléments factuels et comparables, ces indicateurs contribuent à évaluer nos pratiques, à identifier les axes de progrès et à démontrer notre engagement en faveur de conditions de travail responsables et d’un impact social positif.</a:t>
              </a:r>
              <a:endParaRPr b="0" lang="fr-FR" sz="1000" spc="-1" strike="noStrike">
                <a:solidFill>
                  <a:srgbClr val="000000"/>
                </a:solidFill>
                <a:latin typeface="Arial"/>
              </a:endParaRPr>
            </a:p>
          </p:txBody>
        </p:sp>
        <p:cxnSp>
          <p:nvCxnSpPr>
            <p:cNvPr id="685" name="Straight Connector 3"/>
            <p:cNvCxnSpPr/>
            <p:nvPr/>
          </p:nvCxnSpPr>
          <p:spPr>
            <a:xfrm>
              <a:off x="1298160" y="3479760"/>
              <a:ext cx="4680" cy="426240"/>
            </a:xfrm>
            <a:prstGeom prst="straightConnector1">
              <a:avLst/>
            </a:prstGeom>
            <a:ln w="3175">
              <a:solidFill>
                <a:srgbClr val="a6a6a6"/>
              </a:solidFill>
              <a:round/>
            </a:ln>
          </p:spPr>
        </p:cxnSp>
        <p:sp>
          <p:nvSpPr>
            <p:cNvPr id="686" name="TextBox 4"/>
            <p:cNvSpPr/>
            <p:nvPr/>
          </p:nvSpPr>
          <p:spPr>
            <a:xfrm>
              <a:off x="1342440" y="3444120"/>
              <a:ext cx="5605200" cy="528480"/>
            </a:xfrm>
            <a:prstGeom prst="rect">
              <a:avLst/>
            </a:prstGeom>
            <a:noFill/>
            <a:ln w="0">
              <a:noFill/>
            </a:ln>
          </p:spPr>
          <p:style>
            <a:lnRef idx="0"/>
            <a:fillRef idx="0"/>
            <a:effectRef idx="0"/>
            <a:fontRef idx="minor"/>
          </p:style>
          <p:txBody>
            <a:bodyPr lIns="90000" rIns="90000" tIns="45000" bIns="45000" anchor="t">
              <a:spAutoFit/>
            </a:bodyPr>
            <a:p>
              <a:pPr marL="11160" defTabSz="457200">
                <a:lnSpc>
                  <a:spcPct val="120000"/>
                </a:lnSpc>
              </a:pPr>
              <a:r>
                <a:rPr b="1" lang="fr-FR" sz="2400" spc="-1" strike="noStrike">
                  <a:solidFill>
                    <a:schemeClr val="dk1"/>
                  </a:solidFill>
                  <a:latin typeface="Marianne"/>
                  <a:ea typeface="Arial"/>
                </a:rPr>
                <a:t>Social</a:t>
              </a:r>
              <a:endParaRPr b="0" lang="fr-FR" sz="2400" spc="-1" strike="noStrike">
                <a:solidFill>
                  <a:srgbClr val="000000"/>
                </a:solidFill>
                <a:latin typeface="Arial"/>
              </a:endParaRPr>
            </a:p>
          </p:txBody>
        </p:sp>
        <p:sp>
          <p:nvSpPr>
            <p:cNvPr id="687" name="Round Same-side Corner of Rectangle 5"/>
            <p:cNvSpPr/>
            <p:nvPr/>
          </p:nvSpPr>
          <p:spPr>
            <a:xfrm rot="16200000">
              <a:off x="3988080" y="866160"/>
              <a:ext cx="236160" cy="6879960"/>
            </a:xfrm>
            <a:prstGeom prst="round2SameRect">
              <a:avLst>
                <a:gd name="adj1" fmla="val 26772"/>
                <a:gd name="adj2" fmla="val 0"/>
              </a:avLst>
            </a:prstGeom>
            <a:solidFill>
              <a:srgbClr val="ff5555">
                <a:alpha val="7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8d2f2f"/>
                  </a:solidFill>
                  <a:latin typeface="Marianne"/>
                </a:rPr>
                <a:t>B8</a:t>
              </a:r>
              <a:r>
                <a:rPr b="0" lang="fr-FR" sz="850" spc="-1" strike="noStrike">
                  <a:solidFill>
                    <a:srgbClr val="8d2f2f"/>
                  </a:solidFill>
                  <a:latin typeface="Marianne Medium"/>
                </a:rPr>
                <a:t> </a:t>
              </a:r>
              <a:r>
                <a:rPr b="0" lang="fr-FR" sz="850" spc="-1" strike="noStrike">
                  <a:solidFill>
                    <a:srgbClr val="8d2f2f"/>
                  </a:solidFill>
                  <a:latin typeface="Marianne"/>
                </a:rPr>
                <a:t>Effectifs : caractéristiques générales</a:t>
              </a:r>
              <a:endParaRPr b="0" lang="fr-FR" sz="850" spc="-1" strike="noStrike">
                <a:solidFill>
                  <a:srgbClr val="ffffff"/>
                </a:solidFill>
                <a:latin typeface="Arial"/>
              </a:endParaRPr>
            </a:p>
          </p:txBody>
        </p:sp>
        <p:sp>
          <p:nvSpPr>
            <p:cNvPr id="688" name="Round Same-side Corner of Rectangle 6"/>
            <p:cNvSpPr/>
            <p:nvPr/>
          </p:nvSpPr>
          <p:spPr>
            <a:xfrm rot="16200000">
              <a:off x="3988080" y="1158480"/>
              <a:ext cx="236160" cy="6879960"/>
            </a:xfrm>
            <a:prstGeom prst="round2SameRect">
              <a:avLst>
                <a:gd name="adj1" fmla="val 26772"/>
                <a:gd name="adj2" fmla="val 0"/>
              </a:avLst>
            </a:prstGeom>
            <a:solidFill>
              <a:srgbClr val="ff5555">
                <a:alpha val="7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8d2f2f"/>
                  </a:solidFill>
                  <a:latin typeface="Marianne"/>
                </a:rPr>
                <a:t>B9</a:t>
              </a:r>
              <a:r>
                <a:rPr b="0" lang="fr-FR" sz="850" spc="-1" strike="noStrike">
                  <a:solidFill>
                    <a:srgbClr val="8d2f2f"/>
                  </a:solidFill>
                  <a:latin typeface="Marianne Medium"/>
                </a:rPr>
                <a:t> </a:t>
              </a:r>
              <a:r>
                <a:rPr b="0" lang="fr-FR" sz="850" spc="-1" strike="noStrike">
                  <a:solidFill>
                    <a:srgbClr val="8d2f2f"/>
                  </a:solidFill>
                  <a:latin typeface="Marianne"/>
                </a:rPr>
                <a:t>Effectifs : santé et sécurité</a:t>
              </a:r>
              <a:endParaRPr b="0" lang="fr-FR" sz="850" spc="-1" strike="noStrike">
                <a:solidFill>
                  <a:srgbClr val="ffffff"/>
                </a:solidFill>
                <a:latin typeface="Arial"/>
              </a:endParaRPr>
            </a:p>
          </p:txBody>
        </p:sp>
        <p:sp>
          <p:nvSpPr>
            <p:cNvPr id="689" name="Round Same-side Corner of Rectangle 7"/>
            <p:cNvSpPr/>
            <p:nvPr/>
          </p:nvSpPr>
          <p:spPr>
            <a:xfrm rot="16200000">
              <a:off x="3988080" y="1450440"/>
              <a:ext cx="236160" cy="6879960"/>
            </a:xfrm>
            <a:prstGeom prst="round2SameRect">
              <a:avLst>
                <a:gd name="adj1" fmla="val 26772"/>
                <a:gd name="adj2" fmla="val 0"/>
              </a:avLst>
            </a:prstGeom>
            <a:solidFill>
              <a:srgbClr val="ff5555">
                <a:alpha val="7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8d2f2f"/>
                  </a:solidFill>
                  <a:latin typeface="Marianne"/>
                </a:rPr>
                <a:t>B10</a:t>
              </a:r>
              <a:r>
                <a:rPr b="0" lang="fr-FR" sz="850" spc="-1" strike="noStrike">
                  <a:solidFill>
                    <a:srgbClr val="8d2f2f"/>
                  </a:solidFill>
                  <a:latin typeface="Marianne Medium"/>
                </a:rPr>
                <a:t> </a:t>
              </a:r>
              <a:r>
                <a:rPr b="0" lang="fr-FR" sz="850" spc="-1" strike="noStrike">
                  <a:solidFill>
                    <a:srgbClr val="8d2f2f"/>
                  </a:solidFill>
                  <a:latin typeface="Marianne"/>
                </a:rPr>
                <a:t>Effectifs : rémunération, négociation collective et formation</a:t>
              </a:r>
              <a:endParaRPr b="0" lang="fr-FR" sz="850" spc="-1" strike="noStrike">
                <a:solidFill>
                  <a:srgbClr val="ffffff"/>
                </a:solidFill>
                <a:latin typeface="Arial"/>
              </a:endParaRPr>
            </a:p>
          </p:txBody>
        </p:sp>
        <p:sp>
          <p:nvSpPr>
            <p:cNvPr id="690" name="Round Same-side Corner of Rectangle 10"/>
            <p:cNvSpPr/>
            <p:nvPr/>
          </p:nvSpPr>
          <p:spPr>
            <a:xfrm rot="16200000">
              <a:off x="3988080" y="1742760"/>
              <a:ext cx="236160" cy="6879960"/>
            </a:xfrm>
            <a:prstGeom prst="round2SameRect">
              <a:avLst>
                <a:gd name="adj1" fmla="val 26772"/>
                <a:gd name="adj2" fmla="val 0"/>
              </a:avLst>
            </a:prstGeom>
            <a:solidFill>
              <a:srgbClr val="ff5555">
                <a:alpha val="7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8d2f2f"/>
                  </a:solidFill>
                  <a:latin typeface="Marianne"/>
                </a:rPr>
                <a:t>C5</a:t>
              </a:r>
              <a:r>
                <a:rPr b="0" lang="fr-FR" sz="850" spc="-1" strike="noStrike">
                  <a:solidFill>
                    <a:srgbClr val="8d2f2f"/>
                  </a:solidFill>
                  <a:latin typeface="Marianne Medium"/>
                </a:rPr>
                <a:t> </a:t>
              </a:r>
              <a:r>
                <a:rPr b="0" lang="fr-FR" sz="850" spc="-1" strike="noStrike">
                  <a:solidFill>
                    <a:srgbClr val="8d2f2f"/>
                  </a:solidFill>
                  <a:latin typeface="Marianne"/>
                </a:rPr>
                <a:t>Caractéristiques supplémentaires (générales) des effectifs</a:t>
              </a:r>
              <a:endParaRPr b="0" lang="fr-FR" sz="850" spc="-1" strike="noStrike">
                <a:solidFill>
                  <a:srgbClr val="ffffff"/>
                </a:solidFill>
                <a:latin typeface="Arial"/>
              </a:endParaRPr>
            </a:p>
          </p:txBody>
        </p:sp>
        <p:sp>
          <p:nvSpPr>
            <p:cNvPr id="691" name="Round Same-side Corner of Rectangle 11"/>
            <p:cNvSpPr/>
            <p:nvPr/>
          </p:nvSpPr>
          <p:spPr>
            <a:xfrm rot="16200000">
              <a:off x="3988080" y="2035080"/>
              <a:ext cx="236160" cy="6879960"/>
            </a:xfrm>
            <a:prstGeom prst="round2SameRect">
              <a:avLst>
                <a:gd name="adj1" fmla="val 26772"/>
                <a:gd name="adj2" fmla="val 0"/>
              </a:avLst>
            </a:prstGeom>
            <a:solidFill>
              <a:srgbClr val="ff5555">
                <a:alpha val="7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8d2f2f"/>
                  </a:solidFill>
                  <a:latin typeface="Marianne"/>
                </a:rPr>
                <a:t>C6</a:t>
              </a:r>
              <a:r>
                <a:rPr b="0" lang="fr-FR" sz="850" spc="-1" strike="noStrike">
                  <a:solidFill>
                    <a:srgbClr val="8d2f2f"/>
                  </a:solidFill>
                  <a:latin typeface="Marianne Medium"/>
                </a:rPr>
                <a:t> </a:t>
              </a:r>
              <a:r>
                <a:rPr b="0" lang="fr-FR" sz="850" spc="-1" strike="noStrike">
                  <a:solidFill>
                    <a:srgbClr val="8d2f2f"/>
                  </a:solidFill>
                  <a:latin typeface="Marianne"/>
                </a:rPr>
                <a:t>Informations complémentaires sur les effectifs de l'entreprise – Politiques et procédures en matière de droits de l’homme</a:t>
              </a:r>
              <a:endParaRPr b="0" lang="fr-FR" sz="850" spc="-1" strike="noStrike">
                <a:solidFill>
                  <a:srgbClr val="ffffff"/>
                </a:solidFill>
                <a:latin typeface="Arial"/>
              </a:endParaRPr>
            </a:p>
          </p:txBody>
        </p:sp>
        <p:sp>
          <p:nvSpPr>
            <p:cNvPr id="692" name="Round Same-side Corner of Rectangle 12"/>
            <p:cNvSpPr/>
            <p:nvPr/>
          </p:nvSpPr>
          <p:spPr>
            <a:xfrm rot="16200000">
              <a:off x="3988080" y="2327400"/>
              <a:ext cx="236160" cy="6879960"/>
            </a:xfrm>
            <a:prstGeom prst="round2SameRect">
              <a:avLst>
                <a:gd name="adj1" fmla="val 26772"/>
                <a:gd name="adj2" fmla="val 0"/>
              </a:avLst>
            </a:prstGeom>
            <a:solidFill>
              <a:srgbClr val="ff5555">
                <a:alpha val="7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8d2f2f"/>
                  </a:solidFill>
                  <a:latin typeface="Marianne"/>
                </a:rPr>
                <a:t>C7</a:t>
              </a:r>
              <a:r>
                <a:rPr b="0" lang="fr-FR" sz="850" spc="-1" strike="noStrike">
                  <a:solidFill>
                    <a:srgbClr val="8d2f2f"/>
                  </a:solidFill>
                  <a:latin typeface="Marianne Medium"/>
                </a:rPr>
                <a:t> </a:t>
              </a:r>
              <a:r>
                <a:rPr b="0" lang="fr-FR" sz="850" spc="-1" strike="noStrike">
                  <a:solidFill>
                    <a:srgbClr val="8d2f2f"/>
                  </a:solidFill>
                  <a:latin typeface="Marianne"/>
                </a:rPr>
                <a:t>Incidents graves en matière de droits de l’homme</a:t>
              </a:r>
              <a:endParaRPr b="0" lang="fr-FR" sz="850" spc="-1" strike="noStrike">
                <a:solidFill>
                  <a:srgbClr val="ffffff"/>
                </a:solidFill>
                <a:latin typeface="Arial"/>
              </a:endParaRPr>
            </a:p>
          </p:txBody>
        </p:sp>
        <p:pic>
          <p:nvPicPr>
            <p:cNvPr id="693" name="Graphic 13" descr=""/>
            <p:cNvPicPr/>
            <p:nvPr/>
          </p:nvPicPr>
          <p:blipFill>
            <a:blip r:embed="rId2">
              <a:extLst>
                <a:ext uri="{96DAC541-7B7A-43D3-8B79-37D633B846F1}">
                  <asvg:svgBlip xmlns:asvg="http://schemas.microsoft.com/office/drawing/2016/SVG/main" r:embed="rId3"/>
                </a:ext>
              </a:extLst>
            </a:blip>
            <a:stretch/>
          </p:blipFill>
          <p:spPr>
            <a:xfrm>
              <a:off x="735120" y="3497040"/>
              <a:ext cx="391320" cy="391320"/>
            </a:xfrm>
            <a:prstGeom prst="rect">
              <a:avLst/>
            </a:prstGeom>
            <a:ln w="0">
              <a:noFill/>
            </a:ln>
          </p:spPr>
        </p:pic>
      </p:gr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94" name="Picture 2" descr=""/>
          <p:cNvPicPr/>
          <p:nvPr/>
        </p:nvPicPr>
        <p:blipFill>
          <a:blip r:embed="rId1"/>
          <a:srcRect l="0" t="0" r="0" b="0"/>
          <a:stretch/>
        </p:blipFill>
        <p:spPr>
          <a:xfrm>
            <a:off x="0" y="0"/>
            <a:ext cx="7546320" cy="10686960"/>
          </a:xfrm>
          <a:prstGeom prst="rect">
            <a:avLst/>
          </a:prstGeom>
          <a:ln w="0">
            <a:noFill/>
          </a:ln>
        </p:spPr>
      </p:pic>
      <p:sp>
        <p:nvSpPr>
          <p:cNvPr id="695"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696" name="Rounded Rectangle 3"/>
          <p:cNvSpPr/>
          <p:nvPr/>
        </p:nvSpPr>
        <p:spPr>
          <a:xfrm rot="16200000">
            <a:off x="3985560" y="-322560"/>
            <a:ext cx="394560" cy="6151320"/>
          </a:xfrm>
          <a:prstGeom prst="roundRect">
            <a:avLst>
              <a:gd name="adj" fmla="val 16667"/>
            </a:avLst>
          </a:prstGeom>
          <a:solidFill>
            <a:srgbClr val="ff5555">
              <a:alpha val="5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8d2f2f"/>
                </a:solidFill>
                <a:latin typeface="Marianne"/>
              </a:rPr>
              <a:t>B8</a:t>
            </a:r>
            <a:r>
              <a:rPr b="0" lang="fr-FR" sz="1400" spc="-1" strike="noStrike">
                <a:solidFill>
                  <a:srgbClr val="8d2f2f"/>
                </a:solidFill>
                <a:latin typeface="Marianne Medium"/>
              </a:rPr>
              <a:t> </a:t>
            </a:r>
            <a:r>
              <a:rPr b="0" lang="fr-FR" sz="1400" spc="-1" strike="noStrike">
                <a:solidFill>
                  <a:srgbClr val="8d2f2f"/>
                </a:solidFill>
                <a:latin typeface="Marianne"/>
              </a:rPr>
              <a:t>Effectifs : caractéristiques générales</a:t>
            </a:r>
            <a:endParaRPr b="0" lang="fr-FR" sz="1400" spc="-1" strike="noStrike">
              <a:solidFill>
                <a:srgbClr val="ffffff"/>
              </a:solidFill>
              <a:latin typeface="Arial"/>
            </a:endParaRPr>
          </a:p>
        </p:txBody>
      </p:sp>
      <p:cxnSp>
        <p:nvCxnSpPr>
          <p:cNvPr id="697" name="Straight Connector 17"/>
          <p:cNvCxnSpPr/>
          <p:nvPr/>
        </p:nvCxnSpPr>
        <p:spPr>
          <a:xfrm>
            <a:off x="893160" y="2525400"/>
            <a:ext cx="4680" cy="426240"/>
          </a:xfrm>
          <a:prstGeom prst="straightConnector1">
            <a:avLst/>
          </a:prstGeom>
          <a:ln w="3175">
            <a:solidFill>
              <a:srgbClr val="a6a6a6"/>
            </a:solidFill>
            <a:round/>
          </a:ln>
        </p:spPr>
      </p:cxnSp>
      <p:pic>
        <p:nvPicPr>
          <p:cNvPr id="698" name="Graphic 5"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699" name="TextBox 4"/>
          <p:cNvSpPr/>
          <p:nvPr/>
        </p:nvSpPr>
        <p:spPr>
          <a:xfrm>
            <a:off x="366480" y="187200"/>
            <a:ext cx="17820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Informations générales</a:t>
            </a:r>
            <a:endParaRPr b="0" lang="fr-FR" sz="1100" spc="-1" strike="noStrike">
              <a:solidFill>
                <a:srgbClr val="ffffff"/>
              </a:solidFill>
              <a:latin typeface="Arial"/>
            </a:endParaRPr>
          </a:p>
        </p:txBody>
      </p:sp>
      <p:sp>
        <p:nvSpPr>
          <p:cNvPr id="700" name="TextBox 6"/>
          <p:cNvSpPr/>
          <p:nvPr/>
        </p:nvSpPr>
        <p:spPr>
          <a:xfrm>
            <a:off x="3654000" y="187200"/>
            <a:ext cx="643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Social</a:t>
            </a:r>
            <a:endParaRPr b="0" lang="fr-FR" sz="1100" spc="-1" strike="noStrike">
              <a:solidFill>
                <a:srgbClr val="000000"/>
              </a:solidFill>
              <a:latin typeface="Arial"/>
            </a:endParaRPr>
          </a:p>
        </p:txBody>
      </p:sp>
      <p:sp>
        <p:nvSpPr>
          <p:cNvPr id="701" name="TextBox 7"/>
          <p:cNvSpPr/>
          <p:nvPr/>
        </p:nvSpPr>
        <p:spPr>
          <a:xfrm>
            <a:off x="2293920" y="187200"/>
            <a:ext cx="124884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Environnement</a:t>
            </a:r>
            <a:endParaRPr b="0" lang="fr-FR" sz="1100" spc="-1" strike="noStrike">
              <a:solidFill>
                <a:srgbClr val="ffffff"/>
              </a:solidFill>
              <a:latin typeface="Arial"/>
            </a:endParaRPr>
          </a:p>
        </p:txBody>
      </p:sp>
      <p:sp>
        <p:nvSpPr>
          <p:cNvPr id="702" name="TextBox 8"/>
          <p:cNvSpPr/>
          <p:nvPr/>
        </p:nvSpPr>
        <p:spPr>
          <a:xfrm>
            <a:off x="4407840" y="187200"/>
            <a:ext cx="11178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Gouvernance</a:t>
            </a:r>
            <a:endParaRPr b="0" lang="fr-FR" sz="1100" spc="-1" strike="noStrike">
              <a:solidFill>
                <a:srgbClr val="ffffff"/>
              </a:solidFill>
              <a:latin typeface="Arial"/>
            </a:endParaRPr>
          </a:p>
        </p:txBody>
      </p:sp>
      <p:sp>
        <p:nvSpPr>
          <p:cNvPr id="703" name="Rounded Rectangle 2"/>
          <p:cNvSpPr/>
          <p:nvPr/>
        </p:nvSpPr>
        <p:spPr>
          <a:xfrm>
            <a:off x="410400" y="3282480"/>
            <a:ext cx="6734160" cy="1743480"/>
          </a:xfrm>
          <a:prstGeom prst="roundRect">
            <a:avLst>
              <a:gd name="adj" fmla="val 4531"/>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d2f2f"/>
                </a:solidFill>
                <a:latin typeface="Marianne Light"/>
              </a:rPr>
              <a:t>Effectifs par type de contrat</a:t>
            </a:r>
            <a:endParaRPr b="0" lang="fr-FR" sz="1200" spc="-1" strike="noStrike">
              <a:solidFill>
                <a:srgbClr val="000000"/>
              </a:solidFill>
              <a:latin typeface="Arial"/>
            </a:endParaRPr>
          </a:p>
        </p:txBody>
      </p:sp>
      <p:graphicFrame>
        <p:nvGraphicFramePr>
          <p:cNvPr id="704" name="Table 9"/>
          <p:cNvGraphicFramePr/>
          <p:nvPr/>
        </p:nvGraphicFramePr>
        <p:xfrm>
          <a:off x="649080" y="3825720"/>
          <a:ext cx="6297840" cy="978480"/>
        </p:xfrm>
        <a:graphic>
          <a:graphicData uri="http://schemas.openxmlformats.org/drawingml/2006/table">
            <a:tbl>
              <a:tblPr/>
              <a:tblGrid>
                <a:gridCol w="3918600"/>
                <a:gridCol w="2379600"/>
              </a:tblGrid>
              <a:tr h="302400">
                <a:tc>
                  <a:txBody>
                    <a:bodyPr lIns="108000" rIns="108000" anchor="ctr">
                      <a:noAutofit/>
                    </a:bodyPr>
                    <a:p>
                      <a:pPr algn="ctr" defTabSz="756000">
                        <a:lnSpc>
                          <a:spcPct val="100000"/>
                        </a:lnSpc>
                      </a:pPr>
                      <a:r>
                        <a:rPr b="0" lang="en-US" sz="1100" spc="-1" strike="noStrike">
                          <a:solidFill>
                            <a:srgbClr val="8d2f2f"/>
                          </a:solidFill>
                          <a:latin typeface="Marianne Light"/>
                        </a:rPr>
                        <a:t>Type de contrat</a:t>
                      </a:r>
                      <a:endParaRPr b="0" lang="fr-FR" sz="1100" spc="-1" strike="noStrike">
                        <a:solidFill>
                          <a:srgbClr val="ffffff"/>
                        </a:solidFill>
                        <a:latin typeface="Arial"/>
                      </a:endParaRPr>
                    </a:p>
                  </a:txBody>
                  <a:tcPr anchor="ctr" marL="108000" marR="108000">
                    <a:lnL w="12240">
                      <a:solidFill>
                        <a:srgbClr val="ffffff"/>
                      </a:solidFill>
                      <a:prstDash val="solid"/>
                    </a:lnL>
                    <a:lnR w="12240">
                      <a:solidFill>
                        <a:srgbClr val="ffffff"/>
                      </a:solidFill>
                      <a:prstDash val="solid"/>
                    </a:lnR>
                    <a:lnT w="28080">
                      <a:noFill/>
                      <a:prstDash val="solid"/>
                    </a:lnT>
                    <a:lnB w="28080">
                      <a:solidFill>
                        <a:srgbClr val="ffffff"/>
                      </a:solidFill>
                      <a:prstDash val="solid"/>
                    </a:lnB>
                    <a:solidFill>
                      <a:srgbClr val="8d2f2f">
                        <a:alpha val="10000"/>
                      </a:srgbClr>
                    </a:solidFill>
                  </a:tcPr>
                </a:tc>
                <a:tc>
                  <a:txBody>
                    <a:bodyPr lIns="108000" rIns="108000" anchor="ctr">
                      <a:noAutofit/>
                    </a:bodyPr>
                    <a:p>
                      <a:pPr algn="ctr" defTabSz="756000">
                        <a:lnSpc>
                          <a:spcPct val="100000"/>
                        </a:lnSpc>
                        <a:tabLst>
                          <a:tab algn="l" pos="0"/>
                        </a:tabLst>
                      </a:pPr>
                      <a:r>
                        <a:rPr b="0" lang="en-US" sz="1100" spc="-1" strike="noStrike">
                          <a:solidFill>
                            <a:srgbClr val="8d2f2f"/>
                          </a:solidFill>
                          <a:latin typeface="Marianne Light"/>
                        </a:rPr>
                        <a:t>Nombre de salariés</a:t>
                      </a:r>
                      <a:endParaRPr b="0" lang="fr-FR" sz="1100" spc="-1" strike="noStrike">
                        <a:solidFill>
                          <a:srgbClr val="ffffff"/>
                        </a:solidFill>
                        <a:latin typeface="Arial"/>
                      </a:endParaRPr>
                    </a:p>
                  </a:txBody>
                  <a:tcPr anchor="ctr" marL="108000" marR="108000">
                    <a:lnL w="12240">
                      <a:solidFill>
                        <a:srgbClr val="ffffff"/>
                      </a:solidFill>
                      <a:prstDash val="solid"/>
                    </a:lnL>
                    <a:lnR w="2880">
                      <a:solidFill>
                        <a:srgbClr val="bfbfbf"/>
                      </a:solidFill>
                      <a:prstDash val="solid"/>
                    </a:lnR>
                    <a:lnT w="28080">
                      <a:noFill/>
                      <a:prstDash val="solid"/>
                    </a:lnT>
                    <a:lnB w="28080">
                      <a:solidFill>
                        <a:srgbClr val="ffffff"/>
                      </a:solidFill>
                      <a:prstDash val="solid"/>
                    </a:lnB>
                    <a:solidFill>
                      <a:srgbClr val="8d2f2f">
                        <a:alpha val="10000"/>
                      </a:srgbClr>
                    </a:solidFill>
                  </a:tcPr>
                </a:tc>
              </a:tr>
              <a:tr h="338040">
                <a:tc>
                  <a:txBody>
                    <a:bodyPr anchor="ctr">
                      <a:noAutofit/>
                    </a:bodyPr>
                    <a:p>
                      <a:pPr defTabSz="756000">
                        <a:lnSpc>
                          <a:spcPct val="100000"/>
                        </a:lnSpc>
                      </a:pPr>
                      <a:r>
                        <a:rPr b="0" lang="en-US" sz="1100" spc="-1" strike="noStrike">
                          <a:solidFill>
                            <a:schemeClr val="dk1"/>
                          </a:solidFill>
                          <a:latin typeface="Marianne Medium"/>
                        </a:rPr>
                        <a:t>Contrat permanent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chemeClr val="dk1"/>
                          </a:solidFill>
                          <a:latin typeface="Marianne Medium"/>
                        </a:rPr>
                        <a:t>Contrat temporaire</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bl>
          </a:graphicData>
        </a:graphic>
      </p:graphicFrame>
      <p:sp>
        <p:nvSpPr>
          <p:cNvPr id="705" name="Rounded Rectangle 10"/>
          <p:cNvSpPr/>
          <p:nvPr/>
        </p:nvSpPr>
        <p:spPr>
          <a:xfrm>
            <a:off x="410400" y="5191560"/>
            <a:ext cx="6734160" cy="2430360"/>
          </a:xfrm>
          <a:prstGeom prst="roundRect">
            <a:avLst>
              <a:gd name="adj" fmla="val 4531"/>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d2f2f"/>
                </a:solidFill>
                <a:latin typeface="Marianne Light"/>
              </a:rPr>
              <a:t>Effectifs par genre</a:t>
            </a:r>
            <a:endParaRPr b="0" lang="fr-FR" sz="1200" spc="-1" strike="noStrike">
              <a:solidFill>
                <a:srgbClr val="000000"/>
              </a:solidFill>
              <a:latin typeface="Arial"/>
            </a:endParaRPr>
          </a:p>
        </p:txBody>
      </p:sp>
      <p:graphicFrame>
        <p:nvGraphicFramePr>
          <p:cNvPr id="706" name="Table 11"/>
          <p:cNvGraphicFramePr/>
          <p:nvPr/>
        </p:nvGraphicFramePr>
        <p:xfrm>
          <a:off x="638640" y="5734440"/>
          <a:ext cx="6297840" cy="1654560"/>
        </p:xfrm>
        <a:graphic>
          <a:graphicData uri="http://schemas.openxmlformats.org/drawingml/2006/table">
            <a:tbl>
              <a:tblPr/>
              <a:tblGrid>
                <a:gridCol w="3918600"/>
                <a:gridCol w="2379600"/>
              </a:tblGrid>
              <a:tr h="302400">
                <a:tc>
                  <a:txBody>
                    <a:bodyPr lIns="108000" rIns="108000" anchor="ctr">
                      <a:noAutofit/>
                    </a:bodyPr>
                    <a:p>
                      <a:pPr algn="ctr" defTabSz="756000">
                        <a:lnSpc>
                          <a:spcPct val="100000"/>
                        </a:lnSpc>
                      </a:pPr>
                      <a:r>
                        <a:rPr b="0" lang="en-US" sz="1100" spc="-1" strike="noStrike">
                          <a:solidFill>
                            <a:srgbClr val="8d2f2f"/>
                          </a:solidFill>
                          <a:latin typeface="Marianne Light"/>
                        </a:rPr>
                        <a:t>Genre</a:t>
                      </a:r>
                      <a:endParaRPr b="0" lang="fr-FR" sz="1100" spc="-1" strike="noStrike">
                        <a:solidFill>
                          <a:srgbClr val="ffffff"/>
                        </a:solidFill>
                        <a:latin typeface="Arial"/>
                      </a:endParaRPr>
                    </a:p>
                  </a:txBody>
                  <a:tcPr anchor="ctr" marL="108000" marR="108000">
                    <a:lnL w="12240">
                      <a:solidFill>
                        <a:srgbClr val="ffffff"/>
                      </a:solidFill>
                      <a:prstDash val="solid"/>
                    </a:lnL>
                    <a:lnR w="12240">
                      <a:solidFill>
                        <a:srgbClr val="ffffff"/>
                      </a:solidFill>
                      <a:prstDash val="solid"/>
                    </a:lnR>
                    <a:lnT w="28080">
                      <a:noFill/>
                      <a:prstDash val="solid"/>
                    </a:lnT>
                    <a:lnB w="28080">
                      <a:solidFill>
                        <a:srgbClr val="ffffff"/>
                      </a:solidFill>
                      <a:prstDash val="solid"/>
                    </a:lnB>
                    <a:solidFill>
                      <a:srgbClr val="8d2f2f">
                        <a:alpha val="10000"/>
                      </a:srgbClr>
                    </a:solidFill>
                  </a:tcPr>
                </a:tc>
                <a:tc>
                  <a:txBody>
                    <a:bodyPr lIns="108000" rIns="108000" anchor="ctr">
                      <a:noAutofit/>
                    </a:bodyPr>
                    <a:p>
                      <a:pPr algn="ctr" defTabSz="756000">
                        <a:lnSpc>
                          <a:spcPct val="100000"/>
                        </a:lnSpc>
                        <a:tabLst>
                          <a:tab algn="l" pos="0"/>
                        </a:tabLst>
                      </a:pPr>
                      <a:r>
                        <a:rPr b="0" lang="en-US" sz="1100" spc="-1" strike="noStrike">
                          <a:solidFill>
                            <a:srgbClr val="8d2f2f"/>
                          </a:solidFill>
                          <a:latin typeface="Marianne Light"/>
                        </a:rPr>
                        <a:t>Nombre de salariés</a:t>
                      </a:r>
                      <a:endParaRPr b="0" lang="fr-FR" sz="1100" spc="-1" strike="noStrike">
                        <a:solidFill>
                          <a:srgbClr val="ffffff"/>
                        </a:solidFill>
                        <a:latin typeface="Arial"/>
                      </a:endParaRPr>
                    </a:p>
                  </a:txBody>
                  <a:tcPr anchor="ctr" marL="108000" marR="108000">
                    <a:lnL w="12240">
                      <a:solidFill>
                        <a:srgbClr val="ffffff"/>
                      </a:solidFill>
                      <a:prstDash val="solid"/>
                    </a:lnL>
                    <a:lnR w="2880">
                      <a:solidFill>
                        <a:srgbClr val="bfbfbf"/>
                      </a:solidFill>
                      <a:prstDash val="solid"/>
                    </a:lnR>
                    <a:lnT w="28080">
                      <a:noFill/>
                      <a:prstDash val="solid"/>
                    </a:lnT>
                    <a:lnB w="28080">
                      <a:solidFill>
                        <a:srgbClr val="ffffff"/>
                      </a:solidFill>
                      <a:prstDash val="solid"/>
                    </a:lnB>
                    <a:solidFill>
                      <a:srgbClr val="8d2f2f">
                        <a:alpha val="10000"/>
                      </a:srgbClr>
                    </a:solidFill>
                  </a:tcPr>
                </a:tc>
              </a:tr>
              <a:tr h="338040">
                <a:tc>
                  <a:txBody>
                    <a:bodyPr anchor="ctr">
                      <a:noAutofit/>
                    </a:bodyPr>
                    <a:p>
                      <a:pPr defTabSz="756000">
                        <a:lnSpc>
                          <a:spcPct val="100000"/>
                        </a:lnSpc>
                      </a:pPr>
                      <a:r>
                        <a:rPr b="0" lang="en-US" sz="1100" spc="-1" strike="noStrike">
                          <a:solidFill>
                            <a:schemeClr val="dk1"/>
                          </a:solidFill>
                          <a:latin typeface="Marianne Medium"/>
                        </a:rPr>
                        <a:t>Hommes</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chemeClr val="dk1"/>
                          </a:solidFill>
                          <a:latin typeface="Marianne Medium"/>
                        </a:rPr>
                        <a:t>Femmes</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chemeClr val="dk1"/>
                          </a:solidFill>
                          <a:latin typeface="Marianne Medium"/>
                        </a:rPr>
                        <a:t>Autres</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chemeClr val="dk1"/>
                          </a:solidFill>
                          <a:latin typeface="Marianne Medium"/>
                        </a:rPr>
                        <a:t>Non communiqué</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bl>
          </a:graphicData>
        </a:graphic>
      </p:graphicFrame>
      <p:sp>
        <p:nvSpPr>
          <p:cNvPr id="707" name="Rounded Rectangle 12"/>
          <p:cNvSpPr/>
          <p:nvPr/>
        </p:nvSpPr>
        <p:spPr>
          <a:xfrm>
            <a:off x="410400" y="7787160"/>
            <a:ext cx="6734160" cy="798120"/>
          </a:xfrm>
          <a:prstGeom prst="roundRect">
            <a:avLst>
              <a:gd name="adj" fmla="val 8694"/>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d2f2f"/>
                </a:solidFill>
                <a:latin typeface="Marianne Light"/>
              </a:rPr>
              <a:t>Taux de rotation du personnel</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08" name="Picture 2" descr=""/>
          <p:cNvPicPr/>
          <p:nvPr/>
        </p:nvPicPr>
        <p:blipFill>
          <a:blip r:embed="rId1"/>
          <a:srcRect l="0" t="0" r="0" b="0"/>
          <a:stretch/>
        </p:blipFill>
        <p:spPr>
          <a:xfrm>
            <a:off x="0" y="0"/>
            <a:ext cx="7546320" cy="10686960"/>
          </a:xfrm>
          <a:prstGeom prst="rect">
            <a:avLst/>
          </a:prstGeom>
          <a:ln w="0">
            <a:noFill/>
          </a:ln>
        </p:spPr>
      </p:pic>
      <p:sp>
        <p:nvSpPr>
          <p:cNvPr id="709"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710" name="Rounded Rectangle 3"/>
          <p:cNvSpPr/>
          <p:nvPr/>
        </p:nvSpPr>
        <p:spPr>
          <a:xfrm rot="16200000">
            <a:off x="3985560" y="-322560"/>
            <a:ext cx="394560" cy="6151320"/>
          </a:xfrm>
          <a:prstGeom prst="roundRect">
            <a:avLst>
              <a:gd name="adj" fmla="val 16667"/>
            </a:avLst>
          </a:prstGeom>
          <a:solidFill>
            <a:srgbClr val="ff5555">
              <a:alpha val="5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8d2f2f"/>
                </a:solidFill>
                <a:latin typeface="Marianne"/>
              </a:rPr>
              <a:t>B8</a:t>
            </a:r>
            <a:r>
              <a:rPr b="0" lang="fr-FR" sz="1400" spc="-1" strike="noStrike">
                <a:solidFill>
                  <a:srgbClr val="8d2f2f"/>
                </a:solidFill>
                <a:latin typeface="Marianne Medium"/>
              </a:rPr>
              <a:t> </a:t>
            </a:r>
            <a:r>
              <a:rPr b="0" lang="fr-FR" sz="1400" spc="-1" strike="noStrike">
                <a:solidFill>
                  <a:srgbClr val="8d2f2f"/>
                </a:solidFill>
                <a:latin typeface="Marianne"/>
              </a:rPr>
              <a:t>Effectifs : caractéristiques générales</a:t>
            </a:r>
            <a:endParaRPr b="0" lang="fr-FR" sz="1400" spc="-1" strike="noStrike">
              <a:solidFill>
                <a:srgbClr val="ffffff"/>
              </a:solidFill>
              <a:latin typeface="Arial"/>
            </a:endParaRPr>
          </a:p>
        </p:txBody>
      </p:sp>
      <p:cxnSp>
        <p:nvCxnSpPr>
          <p:cNvPr id="711" name="Straight Connector 17"/>
          <p:cNvCxnSpPr/>
          <p:nvPr/>
        </p:nvCxnSpPr>
        <p:spPr>
          <a:xfrm>
            <a:off x="893160" y="2525400"/>
            <a:ext cx="4680" cy="426240"/>
          </a:xfrm>
          <a:prstGeom prst="straightConnector1">
            <a:avLst/>
          </a:prstGeom>
          <a:ln w="3175">
            <a:solidFill>
              <a:srgbClr val="a6a6a6"/>
            </a:solidFill>
            <a:round/>
          </a:ln>
        </p:spPr>
      </p:cxnSp>
      <p:pic>
        <p:nvPicPr>
          <p:cNvPr id="712" name="Graphic 5"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713" name="TextBox 4"/>
          <p:cNvSpPr/>
          <p:nvPr/>
        </p:nvSpPr>
        <p:spPr>
          <a:xfrm>
            <a:off x="366480" y="187200"/>
            <a:ext cx="17820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Informations générales</a:t>
            </a:r>
            <a:endParaRPr b="0" lang="fr-FR" sz="1100" spc="-1" strike="noStrike">
              <a:solidFill>
                <a:srgbClr val="ffffff"/>
              </a:solidFill>
              <a:latin typeface="Arial"/>
            </a:endParaRPr>
          </a:p>
        </p:txBody>
      </p:sp>
      <p:sp>
        <p:nvSpPr>
          <p:cNvPr id="714" name="TextBox 6"/>
          <p:cNvSpPr/>
          <p:nvPr/>
        </p:nvSpPr>
        <p:spPr>
          <a:xfrm>
            <a:off x="3654000" y="187200"/>
            <a:ext cx="643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Social</a:t>
            </a:r>
            <a:endParaRPr b="0" lang="fr-FR" sz="1100" spc="-1" strike="noStrike">
              <a:solidFill>
                <a:srgbClr val="000000"/>
              </a:solidFill>
              <a:latin typeface="Arial"/>
            </a:endParaRPr>
          </a:p>
        </p:txBody>
      </p:sp>
      <p:sp>
        <p:nvSpPr>
          <p:cNvPr id="715" name="TextBox 7"/>
          <p:cNvSpPr/>
          <p:nvPr/>
        </p:nvSpPr>
        <p:spPr>
          <a:xfrm>
            <a:off x="2293920" y="187200"/>
            <a:ext cx="124884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Environnement</a:t>
            </a:r>
            <a:endParaRPr b="0" lang="fr-FR" sz="1100" spc="-1" strike="noStrike">
              <a:solidFill>
                <a:srgbClr val="ffffff"/>
              </a:solidFill>
              <a:latin typeface="Arial"/>
            </a:endParaRPr>
          </a:p>
        </p:txBody>
      </p:sp>
      <p:sp>
        <p:nvSpPr>
          <p:cNvPr id="716" name="TextBox 8"/>
          <p:cNvSpPr/>
          <p:nvPr/>
        </p:nvSpPr>
        <p:spPr>
          <a:xfrm>
            <a:off x="4407840" y="187200"/>
            <a:ext cx="11178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Gouvernance</a:t>
            </a:r>
            <a:endParaRPr b="0" lang="fr-FR" sz="1100" spc="-1" strike="noStrike">
              <a:solidFill>
                <a:srgbClr val="ffffff"/>
              </a:solidFill>
              <a:latin typeface="Arial"/>
            </a:endParaRPr>
          </a:p>
        </p:txBody>
      </p:sp>
      <p:sp>
        <p:nvSpPr>
          <p:cNvPr id="717" name="Rounded Rectangle 2"/>
          <p:cNvSpPr/>
          <p:nvPr/>
        </p:nvSpPr>
        <p:spPr>
          <a:xfrm>
            <a:off x="410400" y="3282480"/>
            <a:ext cx="6734160" cy="6958440"/>
          </a:xfrm>
          <a:prstGeom prst="roundRect">
            <a:avLst>
              <a:gd name="adj" fmla="val 219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d2f2f"/>
                </a:solidFill>
                <a:latin typeface="Marianne Light"/>
              </a:rPr>
              <a:t>Effectifs par pays</a:t>
            </a:r>
            <a:endParaRPr b="0" lang="fr-FR" sz="1200" spc="-1" strike="noStrike">
              <a:solidFill>
                <a:srgbClr val="000000"/>
              </a:solidFill>
              <a:latin typeface="Arial"/>
            </a:endParaRPr>
          </a:p>
        </p:txBody>
      </p:sp>
      <p:graphicFrame>
        <p:nvGraphicFramePr>
          <p:cNvPr id="718" name="Table 9"/>
          <p:cNvGraphicFramePr/>
          <p:nvPr/>
        </p:nvGraphicFramePr>
        <p:xfrm>
          <a:off x="649080" y="3825720"/>
          <a:ext cx="6297840" cy="6049080"/>
        </p:xfrm>
        <a:graphic>
          <a:graphicData uri="http://schemas.openxmlformats.org/drawingml/2006/table">
            <a:tbl>
              <a:tblPr/>
              <a:tblGrid>
                <a:gridCol w="3918600"/>
                <a:gridCol w="2379600"/>
              </a:tblGrid>
              <a:tr h="302400">
                <a:tc>
                  <a:txBody>
                    <a:bodyPr lIns="108000" rIns="108000" anchor="ctr">
                      <a:noAutofit/>
                    </a:bodyPr>
                    <a:p>
                      <a:pPr algn="ctr" defTabSz="756000">
                        <a:lnSpc>
                          <a:spcPct val="100000"/>
                        </a:lnSpc>
                      </a:pPr>
                      <a:r>
                        <a:rPr b="0" lang="en-US" sz="1100" spc="-1" strike="noStrike">
                          <a:solidFill>
                            <a:srgbClr val="8d2f2f"/>
                          </a:solidFill>
                          <a:latin typeface="Marianne Light"/>
                        </a:rPr>
                        <a:t>Pays</a:t>
                      </a:r>
                      <a:endParaRPr b="0" lang="fr-FR" sz="1100" spc="-1" strike="noStrike">
                        <a:solidFill>
                          <a:srgbClr val="ffffff"/>
                        </a:solidFill>
                        <a:latin typeface="Arial"/>
                      </a:endParaRPr>
                    </a:p>
                  </a:txBody>
                  <a:tcPr anchor="ctr" marL="108000" marR="108000">
                    <a:lnL w="12240">
                      <a:solidFill>
                        <a:srgbClr val="ffffff"/>
                      </a:solidFill>
                      <a:prstDash val="solid"/>
                    </a:lnL>
                    <a:lnR w="12240">
                      <a:solidFill>
                        <a:srgbClr val="ffffff"/>
                      </a:solidFill>
                      <a:prstDash val="solid"/>
                    </a:lnR>
                    <a:lnT w="28080">
                      <a:noFill/>
                      <a:prstDash val="solid"/>
                    </a:lnT>
                    <a:lnB w="28080">
                      <a:solidFill>
                        <a:srgbClr val="ffffff"/>
                      </a:solidFill>
                      <a:prstDash val="solid"/>
                    </a:lnB>
                    <a:solidFill>
                      <a:srgbClr val="8d2f2f">
                        <a:alpha val="10000"/>
                      </a:srgbClr>
                    </a:solidFill>
                  </a:tcPr>
                </a:tc>
                <a:tc>
                  <a:txBody>
                    <a:bodyPr lIns="108000" rIns="108000" anchor="ctr">
                      <a:noAutofit/>
                    </a:bodyPr>
                    <a:p>
                      <a:pPr algn="ctr" defTabSz="756000">
                        <a:lnSpc>
                          <a:spcPct val="100000"/>
                        </a:lnSpc>
                        <a:tabLst>
                          <a:tab algn="l" pos="0"/>
                        </a:tabLst>
                      </a:pPr>
                      <a:r>
                        <a:rPr b="0" lang="en-US" sz="1100" spc="-1" strike="noStrike">
                          <a:solidFill>
                            <a:srgbClr val="8d2f2f"/>
                          </a:solidFill>
                          <a:latin typeface="Marianne Light"/>
                        </a:rPr>
                        <a:t>Nombre de salariés</a:t>
                      </a:r>
                      <a:endParaRPr b="0" lang="fr-FR" sz="1100" spc="-1" strike="noStrike">
                        <a:solidFill>
                          <a:srgbClr val="ffffff"/>
                        </a:solidFill>
                        <a:latin typeface="Arial"/>
                      </a:endParaRPr>
                    </a:p>
                  </a:txBody>
                  <a:tcPr anchor="ctr" marL="108000" marR="108000">
                    <a:lnL w="12240">
                      <a:solidFill>
                        <a:srgbClr val="ffffff"/>
                      </a:solidFill>
                      <a:prstDash val="solid"/>
                    </a:lnL>
                    <a:lnR w="2880">
                      <a:solidFill>
                        <a:srgbClr val="bfbfbf"/>
                      </a:solidFill>
                      <a:prstDash val="solid"/>
                    </a:lnR>
                    <a:lnT w="28080">
                      <a:noFill/>
                      <a:prstDash val="solid"/>
                    </a:lnT>
                    <a:lnB w="28080">
                      <a:solidFill>
                        <a:srgbClr val="ffffff"/>
                      </a:solidFill>
                      <a:prstDash val="solid"/>
                    </a:lnB>
                    <a:solidFill>
                      <a:srgbClr val="8d2f2f">
                        <a:alpha val="10000"/>
                      </a:srgbClr>
                    </a:solidFill>
                  </a:tcPr>
                </a:tc>
              </a:tr>
              <a:tr h="338040">
                <a:tc>
                  <a:txBody>
                    <a:bodyPr anchor="ctr">
                      <a:noAutofit/>
                    </a:bodyPr>
                    <a:p>
                      <a:pPr defTabSz="756000">
                        <a:lnSpc>
                          <a:spcPct val="100000"/>
                        </a:lnSpc>
                      </a:pPr>
                      <a:r>
                        <a:rPr b="0" lang="en-US" sz="1100" spc="-1" strike="noStrike">
                          <a:solidFill>
                            <a:schemeClr val="dk1"/>
                          </a:solidFill>
                          <a:latin typeface="Marianne Medium"/>
                        </a:rPr>
                        <a: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chemeClr val="dk1"/>
                          </a:solidFill>
                          <a:latin typeface="Marianne Medium"/>
                        </a:rPr>
                        <a: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19" name="Picture 2" descr=""/>
          <p:cNvPicPr/>
          <p:nvPr/>
        </p:nvPicPr>
        <p:blipFill>
          <a:blip r:embed="rId1"/>
          <a:srcRect l="0" t="0" r="0" b="0"/>
          <a:stretch/>
        </p:blipFill>
        <p:spPr>
          <a:xfrm>
            <a:off x="0" y="0"/>
            <a:ext cx="7546320" cy="10686960"/>
          </a:xfrm>
          <a:prstGeom prst="rect">
            <a:avLst/>
          </a:prstGeom>
          <a:ln w="0">
            <a:noFill/>
          </a:ln>
        </p:spPr>
      </p:pic>
      <p:sp>
        <p:nvSpPr>
          <p:cNvPr id="720"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721" name="Rounded Rectangle 3"/>
          <p:cNvSpPr/>
          <p:nvPr/>
        </p:nvSpPr>
        <p:spPr>
          <a:xfrm rot="16200000">
            <a:off x="3985560" y="-322560"/>
            <a:ext cx="394560" cy="6151320"/>
          </a:xfrm>
          <a:prstGeom prst="roundRect">
            <a:avLst>
              <a:gd name="adj" fmla="val 16667"/>
            </a:avLst>
          </a:prstGeom>
          <a:solidFill>
            <a:srgbClr val="ff5555">
              <a:alpha val="5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8d2f2f"/>
                </a:solidFill>
                <a:latin typeface="Marianne"/>
              </a:rPr>
              <a:t>B9</a:t>
            </a:r>
            <a:r>
              <a:rPr b="0" lang="fr-FR" sz="1400" spc="-1" strike="noStrike">
                <a:solidFill>
                  <a:srgbClr val="8d2f2f"/>
                </a:solidFill>
                <a:latin typeface="Marianne Medium"/>
              </a:rPr>
              <a:t> </a:t>
            </a:r>
            <a:r>
              <a:rPr b="0" lang="fr-FR" sz="1400" spc="-1" strike="noStrike">
                <a:solidFill>
                  <a:srgbClr val="8d2f2f"/>
                </a:solidFill>
                <a:latin typeface="Marianne"/>
              </a:rPr>
              <a:t>Effectifs : santé et sécurité</a:t>
            </a:r>
            <a:endParaRPr b="0" lang="fr-FR" sz="1400" spc="-1" strike="noStrike">
              <a:solidFill>
                <a:srgbClr val="ffffff"/>
              </a:solidFill>
              <a:latin typeface="Arial"/>
            </a:endParaRPr>
          </a:p>
        </p:txBody>
      </p:sp>
      <p:cxnSp>
        <p:nvCxnSpPr>
          <p:cNvPr id="722" name="Straight Connector 17"/>
          <p:cNvCxnSpPr/>
          <p:nvPr/>
        </p:nvCxnSpPr>
        <p:spPr>
          <a:xfrm>
            <a:off x="893160" y="2525400"/>
            <a:ext cx="4680" cy="426240"/>
          </a:xfrm>
          <a:prstGeom prst="straightConnector1">
            <a:avLst/>
          </a:prstGeom>
          <a:ln w="3175">
            <a:solidFill>
              <a:srgbClr val="a6a6a6"/>
            </a:solidFill>
            <a:round/>
          </a:ln>
        </p:spPr>
      </p:cxnSp>
      <p:pic>
        <p:nvPicPr>
          <p:cNvPr id="723" name="Graphic 5"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724" name="TextBox 4"/>
          <p:cNvSpPr/>
          <p:nvPr/>
        </p:nvSpPr>
        <p:spPr>
          <a:xfrm>
            <a:off x="366480" y="187200"/>
            <a:ext cx="17820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Informations générales</a:t>
            </a:r>
            <a:endParaRPr b="0" lang="fr-FR" sz="1100" spc="-1" strike="noStrike">
              <a:solidFill>
                <a:srgbClr val="ffffff"/>
              </a:solidFill>
              <a:latin typeface="Arial"/>
            </a:endParaRPr>
          </a:p>
        </p:txBody>
      </p:sp>
      <p:sp>
        <p:nvSpPr>
          <p:cNvPr id="725" name="TextBox 6"/>
          <p:cNvSpPr/>
          <p:nvPr/>
        </p:nvSpPr>
        <p:spPr>
          <a:xfrm>
            <a:off x="3654000" y="187200"/>
            <a:ext cx="643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Social</a:t>
            </a:r>
            <a:endParaRPr b="0" lang="fr-FR" sz="1100" spc="-1" strike="noStrike">
              <a:solidFill>
                <a:srgbClr val="000000"/>
              </a:solidFill>
              <a:latin typeface="Arial"/>
            </a:endParaRPr>
          </a:p>
        </p:txBody>
      </p:sp>
      <p:sp>
        <p:nvSpPr>
          <p:cNvPr id="726" name="TextBox 7"/>
          <p:cNvSpPr/>
          <p:nvPr/>
        </p:nvSpPr>
        <p:spPr>
          <a:xfrm>
            <a:off x="2293920" y="187200"/>
            <a:ext cx="124884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Environnement</a:t>
            </a:r>
            <a:endParaRPr b="0" lang="fr-FR" sz="1100" spc="-1" strike="noStrike">
              <a:solidFill>
                <a:srgbClr val="ffffff"/>
              </a:solidFill>
              <a:latin typeface="Arial"/>
            </a:endParaRPr>
          </a:p>
        </p:txBody>
      </p:sp>
      <p:sp>
        <p:nvSpPr>
          <p:cNvPr id="727" name="TextBox 8"/>
          <p:cNvSpPr/>
          <p:nvPr/>
        </p:nvSpPr>
        <p:spPr>
          <a:xfrm>
            <a:off x="4407840" y="187200"/>
            <a:ext cx="11178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Gouvernance</a:t>
            </a:r>
            <a:endParaRPr b="0" lang="fr-FR" sz="1100" spc="-1" strike="noStrike">
              <a:solidFill>
                <a:srgbClr val="ffffff"/>
              </a:solidFill>
              <a:latin typeface="Arial"/>
            </a:endParaRPr>
          </a:p>
        </p:txBody>
      </p:sp>
      <p:sp>
        <p:nvSpPr>
          <p:cNvPr id="728" name="Rounded Rectangle 2"/>
          <p:cNvSpPr/>
          <p:nvPr/>
        </p:nvSpPr>
        <p:spPr>
          <a:xfrm>
            <a:off x="410400" y="3282480"/>
            <a:ext cx="6734160" cy="1063440"/>
          </a:xfrm>
          <a:prstGeom prst="roundRect">
            <a:avLst>
              <a:gd name="adj" fmla="val 4531"/>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d2f2f"/>
                </a:solidFill>
                <a:latin typeface="Marianne Light"/>
              </a:rPr>
              <a:t>Nombre d’accidents du travail</a:t>
            </a:r>
            <a:endParaRPr b="0" lang="fr-FR" sz="1200" spc="-1" strike="noStrike">
              <a:solidFill>
                <a:srgbClr val="000000"/>
              </a:solidFill>
              <a:latin typeface="Arial"/>
            </a:endParaRPr>
          </a:p>
          <a:p>
            <a:pPr defTabSz="457200">
              <a:lnSpc>
                <a:spcPct val="100000"/>
              </a:lnSpc>
            </a:pPr>
            <a:r>
              <a:rPr b="1" lang="fr-FR" sz="1200" spc="-1" strike="noStrike">
                <a:solidFill>
                  <a:schemeClr val="dk1"/>
                </a:solidFill>
                <a:latin typeface="Marianne Light"/>
              </a:rPr>
              <a:t>-</a:t>
            </a:r>
            <a:endParaRPr b="0" lang="fr-FR" sz="1200" spc="-1" strike="noStrike">
              <a:solidFill>
                <a:srgbClr val="000000"/>
              </a:solidFill>
              <a:latin typeface="Arial"/>
            </a:endParaRPr>
          </a:p>
        </p:txBody>
      </p:sp>
      <p:sp>
        <p:nvSpPr>
          <p:cNvPr id="729" name="Rounded Rectangle 11"/>
          <p:cNvSpPr/>
          <p:nvPr/>
        </p:nvSpPr>
        <p:spPr>
          <a:xfrm>
            <a:off x="410400" y="5695920"/>
            <a:ext cx="6734160" cy="1063440"/>
          </a:xfrm>
          <a:prstGeom prst="roundRect">
            <a:avLst>
              <a:gd name="adj" fmla="val 4531"/>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Nombre de décès dus à des accidents du travail</a:t>
            </a:r>
            <a:endParaRPr b="0" lang="fr-FR" sz="1200" spc="-1" strike="noStrike">
              <a:solidFill>
                <a:srgbClr val="000000"/>
              </a:solidFill>
              <a:latin typeface="Arial"/>
            </a:endParaRPr>
          </a:p>
          <a:p>
            <a:pPr defTabSz="457200">
              <a:lnSpc>
                <a:spcPct val="100000"/>
              </a:lnSpc>
            </a:pPr>
            <a:r>
              <a:rPr b="1" lang="fr-FR" sz="1200" spc="-1" strike="noStrike">
                <a:solidFill>
                  <a:schemeClr val="dk1"/>
                </a:solidFill>
                <a:latin typeface="Marianne Light"/>
              </a:rPr>
              <a:t>-</a:t>
            </a:r>
            <a:endParaRPr b="0" lang="fr-FR" sz="1200" spc="-1" strike="noStrike">
              <a:solidFill>
                <a:srgbClr val="000000"/>
              </a:solidFill>
              <a:latin typeface="Arial"/>
            </a:endParaRPr>
          </a:p>
        </p:txBody>
      </p:sp>
      <p:sp>
        <p:nvSpPr>
          <p:cNvPr id="730" name="Rounded Rectangle 9"/>
          <p:cNvSpPr/>
          <p:nvPr/>
        </p:nvSpPr>
        <p:spPr>
          <a:xfrm>
            <a:off x="410400" y="4489200"/>
            <a:ext cx="6734160" cy="1063440"/>
          </a:xfrm>
          <a:prstGeom prst="roundRect">
            <a:avLst>
              <a:gd name="adj" fmla="val 4531"/>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d2f2f"/>
                </a:solidFill>
                <a:latin typeface="Marianne Light"/>
              </a:rPr>
              <a:t>Taux d’accidents du travail comptabilisables</a:t>
            </a:r>
            <a:endParaRPr b="0" lang="fr-FR" sz="1200" spc="-1" strike="noStrike">
              <a:solidFill>
                <a:srgbClr val="000000"/>
              </a:solidFill>
              <a:latin typeface="Arial"/>
            </a:endParaRPr>
          </a:p>
          <a:p>
            <a:pPr defTabSz="457200">
              <a:lnSpc>
                <a:spcPct val="100000"/>
              </a:lnSpc>
            </a:pPr>
            <a:r>
              <a:rPr b="1" lang="fr-FR" sz="1200" spc="-1" strike="noStrike">
                <a:solidFill>
                  <a:schemeClr val="dk1"/>
                </a:solidFill>
                <a:latin typeface="Marianne Light"/>
              </a:rPr>
              <a:t>-</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31" name="Picture 2" descr=""/>
          <p:cNvPicPr/>
          <p:nvPr/>
        </p:nvPicPr>
        <p:blipFill>
          <a:blip r:embed="rId1"/>
          <a:srcRect l="0" t="0" r="0" b="0"/>
          <a:stretch/>
        </p:blipFill>
        <p:spPr>
          <a:xfrm>
            <a:off x="0" y="0"/>
            <a:ext cx="7546320" cy="10686960"/>
          </a:xfrm>
          <a:prstGeom prst="rect">
            <a:avLst/>
          </a:prstGeom>
          <a:ln w="0">
            <a:noFill/>
          </a:ln>
        </p:spPr>
      </p:pic>
      <p:sp>
        <p:nvSpPr>
          <p:cNvPr id="732"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733" name="Rounded Rectangle 3"/>
          <p:cNvSpPr/>
          <p:nvPr/>
        </p:nvSpPr>
        <p:spPr>
          <a:xfrm rot="16200000">
            <a:off x="3985560" y="-322560"/>
            <a:ext cx="394560" cy="6151320"/>
          </a:xfrm>
          <a:prstGeom prst="roundRect">
            <a:avLst>
              <a:gd name="adj" fmla="val 16667"/>
            </a:avLst>
          </a:prstGeom>
          <a:solidFill>
            <a:srgbClr val="ff5555">
              <a:alpha val="5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8d2f2f"/>
                </a:solidFill>
                <a:latin typeface="Marianne"/>
              </a:rPr>
              <a:t>B10</a:t>
            </a:r>
            <a:r>
              <a:rPr b="0" lang="fr-FR" sz="1400" spc="-1" strike="noStrike">
                <a:solidFill>
                  <a:srgbClr val="8d2f2f"/>
                </a:solidFill>
                <a:latin typeface="Marianne Medium"/>
              </a:rPr>
              <a:t> </a:t>
            </a:r>
            <a:r>
              <a:rPr b="0" lang="fr-FR" sz="1400" spc="-1" strike="noStrike">
                <a:solidFill>
                  <a:srgbClr val="8d2f2f"/>
                </a:solidFill>
                <a:latin typeface="Marianne"/>
              </a:rPr>
              <a:t>Effectifs : rémunération, négociation collective et formation</a:t>
            </a:r>
            <a:endParaRPr b="0" lang="fr-FR" sz="1400" spc="-1" strike="noStrike">
              <a:solidFill>
                <a:srgbClr val="ffffff"/>
              </a:solidFill>
              <a:latin typeface="Arial"/>
            </a:endParaRPr>
          </a:p>
        </p:txBody>
      </p:sp>
      <p:cxnSp>
        <p:nvCxnSpPr>
          <p:cNvPr id="734" name="Straight Connector 17"/>
          <p:cNvCxnSpPr/>
          <p:nvPr/>
        </p:nvCxnSpPr>
        <p:spPr>
          <a:xfrm>
            <a:off x="893160" y="2525400"/>
            <a:ext cx="4680" cy="426240"/>
          </a:xfrm>
          <a:prstGeom prst="straightConnector1">
            <a:avLst/>
          </a:prstGeom>
          <a:ln w="3175">
            <a:solidFill>
              <a:srgbClr val="a6a6a6"/>
            </a:solidFill>
            <a:round/>
          </a:ln>
        </p:spPr>
      </p:cxnSp>
      <p:pic>
        <p:nvPicPr>
          <p:cNvPr id="735" name="Graphic 5"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736" name="Rounded Rectangle 1"/>
          <p:cNvSpPr/>
          <p:nvPr/>
        </p:nvSpPr>
        <p:spPr>
          <a:xfrm>
            <a:off x="410400" y="3342600"/>
            <a:ext cx="6734160" cy="993600"/>
          </a:xfrm>
          <a:prstGeom prst="roundRect">
            <a:avLst>
              <a:gd name="adj" fmla="val 10525"/>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d2f2f"/>
                </a:solidFill>
                <a:latin typeface="Marianne Light"/>
              </a:rPr>
              <a:t>Respect du salaire minimum applicable</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Tous les employés perçoivent une rémunération au moins équivalente au salaire minimum.</a:t>
            </a:r>
            <a:br>
              <a:rPr sz="1200"/>
            </a:b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a:p>
            <a:pPr defTabSz="457200">
              <a:lnSpc>
                <a:spcPct val="100000"/>
              </a:lnSpc>
            </a:pPr>
            <a:endParaRPr b="0" lang="fr-FR" sz="1200" spc="-1" strike="noStrike">
              <a:solidFill>
                <a:srgbClr val="000000"/>
              </a:solidFill>
              <a:latin typeface="Arial"/>
            </a:endParaRPr>
          </a:p>
        </p:txBody>
      </p:sp>
      <p:sp>
        <p:nvSpPr>
          <p:cNvPr id="737" name="TextBox 10"/>
          <p:cNvSpPr/>
          <p:nvPr/>
        </p:nvSpPr>
        <p:spPr>
          <a:xfrm>
            <a:off x="366480" y="187200"/>
            <a:ext cx="17820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Informations générales</a:t>
            </a:r>
            <a:endParaRPr b="0" lang="fr-FR" sz="1100" spc="-1" strike="noStrike">
              <a:solidFill>
                <a:srgbClr val="ffffff"/>
              </a:solidFill>
              <a:latin typeface="Arial"/>
            </a:endParaRPr>
          </a:p>
        </p:txBody>
      </p:sp>
      <p:sp>
        <p:nvSpPr>
          <p:cNvPr id="738" name="TextBox 11"/>
          <p:cNvSpPr/>
          <p:nvPr/>
        </p:nvSpPr>
        <p:spPr>
          <a:xfrm>
            <a:off x="3654000" y="187200"/>
            <a:ext cx="643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Social</a:t>
            </a:r>
            <a:endParaRPr b="0" lang="fr-FR" sz="1100" spc="-1" strike="noStrike">
              <a:solidFill>
                <a:srgbClr val="000000"/>
              </a:solidFill>
              <a:latin typeface="Arial"/>
            </a:endParaRPr>
          </a:p>
        </p:txBody>
      </p:sp>
      <p:sp>
        <p:nvSpPr>
          <p:cNvPr id="739" name="TextBox 12"/>
          <p:cNvSpPr/>
          <p:nvPr/>
        </p:nvSpPr>
        <p:spPr>
          <a:xfrm>
            <a:off x="2293920" y="187200"/>
            <a:ext cx="124884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Environnement</a:t>
            </a:r>
            <a:endParaRPr b="0" lang="fr-FR" sz="1100" spc="-1" strike="noStrike">
              <a:solidFill>
                <a:srgbClr val="ffffff"/>
              </a:solidFill>
              <a:latin typeface="Arial"/>
            </a:endParaRPr>
          </a:p>
        </p:txBody>
      </p:sp>
      <p:sp>
        <p:nvSpPr>
          <p:cNvPr id="740" name="TextBox 13"/>
          <p:cNvSpPr/>
          <p:nvPr/>
        </p:nvSpPr>
        <p:spPr>
          <a:xfrm>
            <a:off x="4407840" y="187200"/>
            <a:ext cx="11178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Gouvernance</a:t>
            </a:r>
            <a:endParaRPr b="0" lang="fr-FR" sz="1100" spc="-1" strike="noStrike">
              <a:solidFill>
                <a:srgbClr val="ffffff"/>
              </a:solidFill>
              <a:latin typeface="Arial"/>
            </a:endParaRPr>
          </a:p>
        </p:txBody>
      </p:sp>
      <p:sp>
        <p:nvSpPr>
          <p:cNvPr id="741" name="Rounded Rectangle 2"/>
          <p:cNvSpPr/>
          <p:nvPr/>
        </p:nvSpPr>
        <p:spPr>
          <a:xfrm>
            <a:off x="3873240" y="4489200"/>
            <a:ext cx="3271320" cy="1243800"/>
          </a:xfrm>
          <a:prstGeom prst="roundRect">
            <a:avLst>
              <a:gd name="adj" fmla="val 2884"/>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Rémunération horaire brute moyenne des salariés femmes en euros</a:t>
            </a:r>
            <a:endParaRPr b="0" lang="fr-FR" sz="1200" spc="-1" strike="noStrike">
              <a:solidFill>
                <a:srgbClr val="000000"/>
              </a:solidFill>
              <a:latin typeface="Arial"/>
            </a:endParaRPr>
          </a:p>
          <a:p>
            <a:pPr defTabSz="457200">
              <a:lnSpc>
                <a:spcPct val="100000"/>
              </a:lnSpc>
            </a:pPr>
            <a:r>
              <a:rPr b="1" lang="fr-FR" sz="1200" spc="-1" strike="noStrike">
                <a:solidFill>
                  <a:schemeClr val="dk1"/>
                </a:solidFill>
                <a:latin typeface="Marianne Light"/>
              </a:rPr>
              <a:t>-</a:t>
            </a:r>
            <a:endParaRPr b="0" lang="fr-FR" sz="1200" spc="-1" strike="noStrike">
              <a:solidFill>
                <a:srgbClr val="000000"/>
              </a:solidFill>
              <a:latin typeface="Arial"/>
            </a:endParaRPr>
          </a:p>
        </p:txBody>
      </p:sp>
      <p:sp>
        <p:nvSpPr>
          <p:cNvPr id="742" name="Rounded Rectangle 4"/>
          <p:cNvSpPr/>
          <p:nvPr/>
        </p:nvSpPr>
        <p:spPr>
          <a:xfrm>
            <a:off x="410400" y="4489200"/>
            <a:ext cx="3271320" cy="1243800"/>
          </a:xfrm>
          <a:prstGeom prst="roundRect">
            <a:avLst>
              <a:gd name="adj" fmla="val 6178"/>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d2f2f"/>
                </a:solidFill>
                <a:latin typeface="Marianne Light"/>
              </a:rPr>
              <a:t>Rémunération horaire brute moyenne des salariés hommes en euros</a:t>
            </a:r>
            <a:endParaRPr b="0" lang="fr-FR" sz="1200" spc="-1" strike="noStrike">
              <a:solidFill>
                <a:srgbClr val="000000"/>
              </a:solidFill>
              <a:latin typeface="Arial"/>
            </a:endParaRPr>
          </a:p>
          <a:p>
            <a:pPr defTabSz="457200">
              <a:lnSpc>
                <a:spcPct val="100000"/>
              </a:lnSpc>
            </a:pPr>
            <a:r>
              <a:rPr b="1" lang="fr-FR" sz="1200" spc="-1" strike="noStrike">
                <a:solidFill>
                  <a:schemeClr val="dk1"/>
                </a:solidFill>
                <a:latin typeface="Marianne Light"/>
              </a:rPr>
              <a:t>-</a:t>
            </a:r>
            <a:endParaRPr b="0" lang="fr-FR" sz="1200" spc="-1" strike="noStrike">
              <a:solidFill>
                <a:srgbClr val="000000"/>
              </a:solidFill>
              <a:latin typeface="Arial"/>
            </a:endParaRPr>
          </a:p>
        </p:txBody>
      </p:sp>
      <p:sp>
        <p:nvSpPr>
          <p:cNvPr id="743" name="Rounded Rectangle 8"/>
          <p:cNvSpPr/>
          <p:nvPr/>
        </p:nvSpPr>
        <p:spPr>
          <a:xfrm>
            <a:off x="410400" y="5898600"/>
            <a:ext cx="6734160" cy="1165320"/>
          </a:xfrm>
          <a:prstGeom prst="roundRect">
            <a:avLst>
              <a:gd name="adj" fmla="val 7868"/>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Écart en pourcentage entre la rémunération des salariés hommes et des salariés femmes</a:t>
            </a:r>
            <a:endParaRPr b="0" lang="fr-FR" sz="1200" spc="-1" strike="noStrike">
              <a:solidFill>
                <a:srgbClr val="000000"/>
              </a:solidFill>
              <a:latin typeface="Arial"/>
            </a:endParaRPr>
          </a:p>
          <a:p>
            <a:pPr defTabSz="457200">
              <a:lnSpc>
                <a:spcPct val="100000"/>
              </a:lnSpc>
            </a:pPr>
            <a:r>
              <a:rPr b="1" lang="fr-FR" sz="1200" spc="-1" strike="noStrike">
                <a:solidFill>
                  <a:schemeClr val="dk1"/>
                </a:solidFill>
                <a:latin typeface="Marianne Light"/>
              </a:rPr>
              <a:t>- %</a:t>
            </a:r>
            <a:endParaRPr b="0" lang="fr-FR" sz="1200" spc="-1" strike="noStrike">
              <a:solidFill>
                <a:srgbClr val="000000"/>
              </a:solidFill>
              <a:latin typeface="Arial"/>
            </a:endParaRPr>
          </a:p>
        </p:txBody>
      </p:sp>
      <p:sp>
        <p:nvSpPr>
          <p:cNvPr id="744" name="Rounded Rectangle 23"/>
          <p:cNvSpPr/>
          <p:nvPr/>
        </p:nvSpPr>
        <p:spPr>
          <a:xfrm>
            <a:off x="410400" y="7216560"/>
            <a:ext cx="6734160" cy="908640"/>
          </a:xfrm>
          <a:prstGeom prst="roundRect">
            <a:avLst>
              <a:gd name="adj" fmla="val 286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Nombre de salariés couvert par des conventions collectives</a:t>
            </a:r>
            <a:endParaRPr b="0" lang="fr-FR" sz="1200" spc="-1" strike="noStrike">
              <a:solidFill>
                <a:srgbClr val="000000"/>
              </a:solidFill>
              <a:latin typeface="Arial"/>
            </a:endParaRPr>
          </a:p>
          <a:p>
            <a:pPr defTabSz="457200">
              <a:lnSpc>
                <a:spcPct val="100000"/>
              </a:lnSpc>
            </a:pPr>
            <a:r>
              <a:rPr b="1" lang="fr-FR" sz="1200" spc="-1" strike="noStrike">
                <a:solidFill>
                  <a:schemeClr val="dk1"/>
                </a:solidFill>
                <a:latin typeface="Marianne Light"/>
              </a:rPr>
              <a:t>- </a:t>
            </a:r>
            <a:endParaRPr b="0" lang="fr-FR" sz="1200" spc="-1" strike="noStrike">
              <a:solidFill>
                <a:srgbClr val="000000"/>
              </a:solidFill>
              <a:latin typeface="Arial"/>
            </a:endParaRPr>
          </a:p>
        </p:txBody>
      </p:sp>
      <p:sp>
        <p:nvSpPr>
          <p:cNvPr id="745" name="Rounded Rectangle 24"/>
          <p:cNvSpPr/>
          <p:nvPr/>
        </p:nvSpPr>
        <p:spPr>
          <a:xfrm>
            <a:off x="410400" y="8277480"/>
            <a:ext cx="6734160" cy="908640"/>
          </a:xfrm>
          <a:prstGeom prst="roundRect">
            <a:avLst>
              <a:gd name="adj" fmla="val 953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Part de salariés couverts par des conventions collectives</a:t>
            </a:r>
            <a:endParaRPr b="0" lang="fr-FR" sz="1200" spc="-1" strike="noStrike">
              <a:solidFill>
                <a:srgbClr val="000000"/>
              </a:solidFill>
              <a:latin typeface="Arial"/>
            </a:endParaRPr>
          </a:p>
          <a:p>
            <a:pPr defTabSz="457200">
              <a:lnSpc>
                <a:spcPct val="100000"/>
              </a:lnSpc>
            </a:pPr>
            <a:r>
              <a:rPr b="1" lang="fr-FR" sz="1200" spc="-1" strike="noStrike">
                <a:solidFill>
                  <a:schemeClr val="dk1"/>
                </a:solidFill>
                <a:latin typeface="Marianne Light"/>
              </a:rPr>
              <a:t>- %</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46" name="Picture 2" descr=""/>
          <p:cNvPicPr/>
          <p:nvPr/>
        </p:nvPicPr>
        <p:blipFill>
          <a:blip r:embed="rId1"/>
          <a:srcRect l="0" t="0" r="0" b="0"/>
          <a:stretch/>
        </p:blipFill>
        <p:spPr>
          <a:xfrm>
            <a:off x="0" y="0"/>
            <a:ext cx="7546320" cy="10686960"/>
          </a:xfrm>
          <a:prstGeom prst="rect">
            <a:avLst/>
          </a:prstGeom>
          <a:ln w="0">
            <a:noFill/>
          </a:ln>
        </p:spPr>
      </p:pic>
      <p:sp>
        <p:nvSpPr>
          <p:cNvPr id="747"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748" name="Rounded Rectangle 3"/>
          <p:cNvSpPr/>
          <p:nvPr/>
        </p:nvSpPr>
        <p:spPr>
          <a:xfrm rot="16200000">
            <a:off x="3985560" y="-322560"/>
            <a:ext cx="394560" cy="6151320"/>
          </a:xfrm>
          <a:prstGeom prst="roundRect">
            <a:avLst>
              <a:gd name="adj" fmla="val 16667"/>
            </a:avLst>
          </a:prstGeom>
          <a:solidFill>
            <a:srgbClr val="ff5555">
              <a:alpha val="5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8d2f2f"/>
                </a:solidFill>
                <a:latin typeface="Marianne"/>
              </a:rPr>
              <a:t>B10</a:t>
            </a:r>
            <a:r>
              <a:rPr b="0" lang="fr-FR" sz="1400" spc="-1" strike="noStrike">
                <a:solidFill>
                  <a:srgbClr val="8d2f2f"/>
                </a:solidFill>
                <a:latin typeface="Marianne Medium"/>
              </a:rPr>
              <a:t> </a:t>
            </a:r>
            <a:r>
              <a:rPr b="0" lang="fr-FR" sz="1400" spc="-1" strike="noStrike">
                <a:solidFill>
                  <a:srgbClr val="8d2f2f"/>
                </a:solidFill>
                <a:latin typeface="Marianne"/>
              </a:rPr>
              <a:t>Effectifs : rémunération, négociation collective et formation</a:t>
            </a:r>
            <a:endParaRPr b="0" lang="fr-FR" sz="1400" spc="-1" strike="noStrike">
              <a:solidFill>
                <a:srgbClr val="ffffff"/>
              </a:solidFill>
              <a:latin typeface="Arial"/>
            </a:endParaRPr>
          </a:p>
        </p:txBody>
      </p:sp>
      <p:cxnSp>
        <p:nvCxnSpPr>
          <p:cNvPr id="749" name="Straight Connector 17"/>
          <p:cNvCxnSpPr/>
          <p:nvPr/>
        </p:nvCxnSpPr>
        <p:spPr>
          <a:xfrm>
            <a:off x="893160" y="2525400"/>
            <a:ext cx="4680" cy="426240"/>
          </a:xfrm>
          <a:prstGeom prst="straightConnector1">
            <a:avLst/>
          </a:prstGeom>
          <a:ln w="3175">
            <a:solidFill>
              <a:srgbClr val="a6a6a6"/>
            </a:solidFill>
            <a:round/>
          </a:ln>
        </p:spPr>
      </p:cxnSp>
      <p:pic>
        <p:nvPicPr>
          <p:cNvPr id="750" name="Graphic 5"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751" name="TextBox 10"/>
          <p:cNvSpPr/>
          <p:nvPr/>
        </p:nvSpPr>
        <p:spPr>
          <a:xfrm>
            <a:off x="366480" y="187200"/>
            <a:ext cx="17820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Informations générales</a:t>
            </a:r>
            <a:endParaRPr b="0" lang="fr-FR" sz="1100" spc="-1" strike="noStrike">
              <a:solidFill>
                <a:srgbClr val="ffffff"/>
              </a:solidFill>
              <a:latin typeface="Arial"/>
            </a:endParaRPr>
          </a:p>
        </p:txBody>
      </p:sp>
      <p:sp>
        <p:nvSpPr>
          <p:cNvPr id="752" name="TextBox 11"/>
          <p:cNvSpPr/>
          <p:nvPr/>
        </p:nvSpPr>
        <p:spPr>
          <a:xfrm>
            <a:off x="3654000" y="187200"/>
            <a:ext cx="643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Social</a:t>
            </a:r>
            <a:endParaRPr b="0" lang="fr-FR" sz="1100" spc="-1" strike="noStrike">
              <a:solidFill>
                <a:srgbClr val="000000"/>
              </a:solidFill>
              <a:latin typeface="Arial"/>
            </a:endParaRPr>
          </a:p>
        </p:txBody>
      </p:sp>
      <p:sp>
        <p:nvSpPr>
          <p:cNvPr id="753" name="TextBox 12"/>
          <p:cNvSpPr/>
          <p:nvPr/>
        </p:nvSpPr>
        <p:spPr>
          <a:xfrm>
            <a:off x="2293920" y="187200"/>
            <a:ext cx="124884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Environnement</a:t>
            </a:r>
            <a:endParaRPr b="0" lang="fr-FR" sz="1100" spc="-1" strike="noStrike">
              <a:solidFill>
                <a:srgbClr val="ffffff"/>
              </a:solidFill>
              <a:latin typeface="Arial"/>
            </a:endParaRPr>
          </a:p>
        </p:txBody>
      </p:sp>
      <p:sp>
        <p:nvSpPr>
          <p:cNvPr id="754" name="TextBox 13"/>
          <p:cNvSpPr/>
          <p:nvPr/>
        </p:nvSpPr>
        <p:spPr>
          <a:xfrm>
            <a:off x="4407840" y="187200"/>
            <a:ext cx="11178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Gouvernance</a:t>
            </a:r>
            <a:endParaRPr b="0" lang="fr-FR" sz="1100" spc="-1" strike="noStrike">
              <a:solidFill>
                <a:srgbClr val="ffffff"/>
              </a:solidFill>
              <a:latin typeface="Arial"/>
            </a:endParaRPr>
          </a:p>
        </p:txBody>
      </p:sp>
      <p:sp>
        <p:nvSpPr>
          <p:cNvPr id="755" name="Rounded Rectangle 15"/>
          <p:cNvSpPr/>
          <p:nvPr/>
        </p:nvSpPr>
        <p:spPr>
          <a:xfrm>
            <a:off x="410400" y="3224160"/>
            <a:ext cx="6734160" cy="2919600"/>
          </a:xfrm>
          <a:prstGeom prst="roundRect">
            <a:avLst>
              <a:gd name="adj" fmla="val 3989"/>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d2f2f"/>
                </a:solidFill>
                <a:latin typeface="Marianne Light"/>
              </a:rPr>
              <a:t>Nombre moyen d'heures de formation par genre</a:t>
            </a:r>
            <a:endParaRPr b="0" lang="fr-FR" sz="1200" spc="-1" strike="noStrike">
              <a:solidFill>
                <a:srgbClr val="000000"/>
              </a:solidFill>
              <a:latin typeface="Arial"/>
            </a:endParaRPr>
          </a:p>
          <a:p>
            <a:pPr defTabSz="457200">
              <a:lnSpc>
                <a:spcPct val="100000"/>
              </a:lnSpc>
            </a:pPr>
            <a:br>
              <a:rPr sz="1200"/>
            </a:br>
            <a:endParaRPr b="0" lang="fr-FR" sz="1200" spc="-1" strike="noStrike">
              <a:solidFill>
                <a:srgbClr val="000000"/>
              </a:solidFill>
              <a:latin typeface="Arial"/>
            </a:endParaRPr>
          </a:p>
          <a:p>
            <a:pPr defTabSz="457200">
              <a:lnSpc>
                <a:spcPct val="100000"/>
              </a:lnSpc>
            </a:pPr>
            <a:br>
              <a:rPr sz="1200"/>
            </a:br>
            <a:endParaRPr b="0" lang="fr-FR" sz="1200" spc="-1" strike="noStrike">
              <a:solidFill>
                <a:srgbClr val="000000"/>
              </a:solidFill>
              <a:latin typeface="Arial"/>
            </a:endParaRPr>
          </a:p>
        </p:txBody>
      </p:sp>
      <p:graphicFrame>
        <p:nvGraphicFramePr>
          <p:cNvPr id="756" name="Table 2"/>
          <p:cNvGraphicFramePr/>
          <p:nvPr/>
        </p:nvGraphicFramePr>
        <p:xfrm>
          <a:off x="649080" y="3825720"/>
          <a:ext cx="6297480" cy="2035440"/>
        </p:xfrm>
        <a:graphic>
          <a:graphicData uri="http://schemas.openxmlformats.org/drawingml/2006/table">
            <a:tbl>
              <a:tblPr/>
              <a:tblGrid>
                <a:gridCol w="1621080"/>
                <a:gridCol w="2648520"/>
                <a:gridCol w="2028240"/>
              </a:tblGrid>
              <a:tr h="683280">
                <a:tc>
                  <a:txBody>
                    <a:bodyPr lIns="108000" rIns="108000" anchor="ctr">
                      <a:noAutofit/>
                    </a:bodyPr>
                    <a:p>
                      <a:pPr algn="ctr" defTabSz="756000">
                        <a:lnSpc>
                          <a:spcPct val="100000"/>
                        </a:lnSpc>
                      </a:pPr>
                      <a:r>
                        <a:rPr b="0" lang="en-US" sz="1100" spc="-1" strike="noStrike">
                          <a:solidFill>
                            <a:srgbClr val="8d2f2f"/>
                          </a:solidFill>
                          <a:latin typeface="Marianne Light"/>
                        </a:rPr>
                        <a:t>Genre</a:t>
                      </a:r>
                      <a:endParaRPr b="0" lang="fr-FR" sz="1100" spc="-1" strike="noStrike">
                        <a:solidFill>
                          <a:srgbClr val="ffffff"/>
                        </a:solidFill>
                        <a:latin typeface="Arial"/>
                      </a:endParaRPr>
                    </a:p>
                  </a:txBody>
                  <a:tcPr anchor="ctr" marL="108000" marR="108000">
                    <a:lnL w="12240">
                      <a:solidFill>
                        <a:srgbClr val="ffffff"/>
                      </a:solidFill>
                      <a:prstDash val="solid"/>
                    </a:lnL>
                    <a:lnR w="12240">
                      <a:solidFill>
                        <a:srgbClr val="ffffff"/>
                      </a:solidFill>
                      <a:prstDash val="solid"/>
                    </a:lnR>
                    <a:lnT w="28080">
                      <a:noFill/>
                      <a:prstDash val="solid"/>
                    </a:lnT>
                    <a:lnB w="28080">
                      <a:solidFill>
                        <a:srgbClr val="ffffff"/>
                      </a:solidFill>
                      <a:prstDash val="solid"/>
                    </a:lnB>
                    <a:solidFill>
                      <a:srgbClr val="8d2f2f">
                        <a:alpha val="10000"/>
                      </a:srgbClr>
                    </a:solidFill>
                  </a:tcPr>
                </a:tc>
                <a:tc>
                  <a:txBody>
                    <a:bodyPr lIns="108000" rIns="108000" anchor="ctr">
                      <a:noAutofit/>
                    </a:bodyPr>
                    <a:p>
                      <a:pPr algn="ctr" defTabSz="756000">
                        <a:lnSpc>
                          <a:spcPct val="100000"/>
                        </a:lnSpc>
                        <a:tabLst>
                          <a:tab algn="l" pos="0"/>
                        </a:tabLst>
                      </a:pPr>
                      <a:r>
                        <a:rPr b="0" lang="en-US" sz="1100" spc="-1" strike="noStrike">
                          <a:solidFill>
                            <a:srgbClr val="8d2f2f"/>
                          </a:solidFill>
                          <a:latin typeface="Marianne Light"/>
                        </a:rPr>
                        <a:t>Total des heures de formation suivies par les salariés de ce genre</a:t>
                      </a:r>
                      <a:endParaRPr b="0" lang="fr-FR" sz="1100" spc="-1" strike="noStrike">
                        <a:solidFill>
                          <a:srgbClr val="ffffff"/>
                        </a:solidFill>
                        <a:latin typeface="Arial"/>
                      </a:endParaRPr>
                    </a:p>
                  </a:txBody>
                  <a:tcPr anchor="ctr" marL="108000" marR="108000">
                    <a:lnL w="12240">
                      <a:solidFill>
                        <a:srgbClr val="ffffff"/>
                      </a:solidFill>
                      <a:prstDash val="solid"/>
                    </a:lnL>
                    <a:lnR w="12240">
                      <a:solidFill>
                        <a:srgbClr val="ffffff"/>
                      </a:solidFill>
                      <a:prstDash val="solid"/>
                    </a:lnR>
                    <a:lnT w="28080">
                      <a:noFill/>
                      <a:prstDash val="solid"/>
                    </a:lnT>
                    <a:lnB w="28080">
                      <a:solidFill>
                        <a:srgbClr val="ffffff"/>
                      </a:solidFill>
                      <a:prstDash val="solid"/>
                    </a:lnB>
                    <a:solidFill>
                      <a:srgbClr val="8d2f2f">
                        <a:alpha val="10000"/>
                      </a:srgbClr>
                    </a:solidFill>
                  </a:tcPr>
                </a:tc>
                <a:tc>
                  <a:txBody>
                    <a:bodyPr lIns="108000" rIns="108000" anchor="ctr">
                      <a:noAutofit/>
                    </a:bodyPr>
                    <a:p>
                      <a:pPr algn="ctr" defTabSz="756000">
                        <a:lnSpc>
                          <a:spcPct val="100000"/>
                        </a:lnSpc>
                        <a:tabLst>
                          <a:tab algn="l" pos="0"/>
                        </a:tabLst>
                      </a:pPr>
                      <a:r>
                        <a:rPr b="0" lang="en-US" sz="1100" spc="-1" strike="noStrike">
                          <a:solidFill>
                            <a:srgbClr val="8d2f2f"/>
                          </a:solidFill>
                          <a:latin typeface="Marianne Light"/>
                        </a:rPr>
                        <a:t>Nombre moyen d'heures de formation</a:t>
                      </a:r>
                      <a:endParaRPr b="0" lang="fr-FR" sz="1100" spc="-1" strike="noStrike">
                        <a:solidFill>
                          <a:srgbClr val="ffffff"/>
                        </a:solidFill>
                        <a:latin typeface="Arial"/>
                      </a:endParaRPr>
                    </a:p>
                  </a:txBody>
                  <a:tcPr anchor="ctr" marL="108000" marR="108000">
                    <a:lnL w="12240">
                      <a:solidFill>
                        <a:srgbClr val="ffffff"/>
                      </a:solidFill>
                      <a:prstDash val="solid"/>
                    </a:lnL>
                    <a:lnR w="2880">
                      <a:solidFill>
                        <a:srgbClr val="bfbfbf"/>
                      </a:solidFill>
                      <a:prstDash val="solid"/>
                    </a:lnR>
                    <a:lnT w="28080">
                      <a:noFill/>
                      <a:prstDash val="solid"/>
                    </a:lnT>
                    <a:lnB w="28080">
                      <a:solidFill>
                        <a:srgbClr val="ffffff"/>
                      </a:solidFill>
                      <a:prstDash val="solid"/>
                    </a:lnB>
                    <a:solidFill>
                      <a:srgbClr val="8d2f2f">
                        <a:alpha val="10000"/>
                      </a:srgbClr>
                    </a:solidFill>
                  </a:tcPr>
                </a:tc>
              </a:tr>
              <a:tr h="338040">
                <a:tc>
                  <a:txBody>
                    <a:bodyPr anchor="ctr">
                      <a:noAutofit/>
                    </a:bodyPr>
                    <a:p>
                      <a:pPr defTabSz="756000">
                        <a:lnSpc>
                          <a:spcPct val="100000"/>
                        </a:lnSpc>
                      </a:pPr>
                      <a:r>
                        <a:rPr b="0" lang="en-US" sz="1100" spc="-1" strike="noStrike">
                          <a:solidFill>
                            <a:schemeClr val="dk1"/>
                          </a:solidFill>
                          <a:latin typeface="Marianne Medium"/>
                        </a:rPr>
                        <a:t>Hommes</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chemeClr val="dk1"/>
                          </a:solidFill>
                          <a:latin typeface="Marianne Medium"/>
                        </a:rPr>
                        <a:t>Femmes</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chemeClr val="dk1"/>
                          </a:solidFill>
                          <a:latin typeface="Marianne Medium"/>
                        </a:rPr>
                        <a:t>Autres</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tabLst>
                          <a:tab algn="l" pos="0"/>
                        </a:tabLst>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r h="338040">
                <a:tc>
                  <a:txBody>
                    <a:bodyPr anchor="ctr">
                      <a:noAutofit/>
                    </a:bodyPr>
                    <a:p>
                      <a:pPr defTabSz="756000">
                        <a:lnSpc>
                          <a:spcPct val="100000"/>
                        </a:lnSpc>
                      </a:pPr>
                      <a:r>
                        <a:rPr b="0" lang="en-US" sz="1100" spc="-1" strike="noStrike">
                          <a:solidFill>
                            <a:schemeClr val="dk1"/>
                          </a:solidFill>
                          <a:latin typeface="Marianne Medium"/>
                        </a:rPr>
                        <a:t>Non communiqué</a:t>
                      </a:r>
                      <a:endParaRPr b="0" lang="fr-FR" sz="1100" spc="-1" strike="noStrike">
                        <a:solidFill>
                          <a:srgbClr val="000000"/>
                        </a:solidFill>
                        <a:latin typeface="Arial"/>
                      </a:endParaRPr>
                    </a:p>
                  </a:txBody>
                  <a:tcPr anchor="ctr" marL="91440" marR="91440">
                    <a:lnL w="2880">
                      <a:solidFill>
                        <a:srgbClr val="d9d9d9"/>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ctr">
                      <a:noAutofit/>
                    </a:bodyPr>
                    <a:p>
                      <a:pPr algn="ctr" defTabSz="756000">
                        <a:lnSpc>
                          <a:spcPct val="100000"/>
                        </a:lnSpc>
                        <a:tabLst>
                          <a:tab algn="l" pos="0"/>
                        </a:tabLst>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c>
                  <a:txBody>
                    <a:bodyPr anchor="t">
                      <a:noAutofit/>
                    </a:bodyPr>
                    <a:p>
                      <a:pPr algn="ctr" defTabSz="756000">
                        <a:lnSpc>
                          <a:spcPct val="100000"/>
                        </a:lnSpc>
                        <a:tabLst>
                          <a:tab algn="l" pos="0"/>
                        </a:tabLst>
                      </a:pPr>
                      <a:r>
                        <a:rPr b="0" lang="en-US" sz="1100" spc="-1" strike="noStrike">
                          <a:solidFill>
                            <a:srgbClr val="000000"/>
                          </a:solidFill>
                          <a:latin typeface="Marianne Medium"/>
                        </a:rPr>
                        <a:t>-</a:t>
                      </a:r>
                      <a:endParaRPr b="0" lang="fr-FR" sz="11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28080">
                      <a:solidFill>
                        <a:srgbClr val="ffffff"/>
                      </a:solidFill>
                      <a:prstDash val="solid"/>
                    </a:lnB>
                    <a:solidFill>
                      <a:schemeClr val="lt1">
                        <a:lumMod val="95000"/>
                      </a:schemeClr>
                    </a:solidFill>
                  </a:tcPr>
                </a:tc>
              </a:tr>
            </a:tbl>
          </a:graphicData>
        </a:graphic>
      </p:graphicFrame>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57" name="Picture 2" descr=""/>
          <p:cNvPicPr/>
          <p:nvPr/>
        </p:nvPicPr>
        <p:blipFill>
          <a:blip r:embed="rId1"/>
          <a:srcRect l="0" t="0" r="0" b="0"/>
          <a:stretch/>
        </p:blipFill>
        <p:spPr>
          <a:xfrm>
            <a:off x="0" y="0"/>
            <a:ext cx="7546320" cy="10686960"/>
          </a:xfrm>
          <a:prstGeom prst="rect">
            <a:avLst/>
          </a:prstGeom>
          <a:ln w="0">
            <a:noFill/>
          </a:ln>
        </p:spPr>
      </p:pic>
      <p:sp>
        <p:nvSpPr>
          <p:cNvPr id="758"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759" name="Rounded Rectangle 3"/>
          <p:cNvSpPr/>
          <p:nvPr/>
        </p:nvSpPr>
        <p:spPr>
          <a:xfrm rot="16200000">
            <a:off x="3985560" y="-322560"/>
            <a:ext cx="394560" cy="6151320"/>
          </a:xfrm>
          <a:prstGeom prst="roundRect">
            <a:avLst>
              <a:gd name="adj" fmla="val 16667"/>
            </a:avLst>
          </a:prstGeom>
          <a:solidFill>
            <a:srgbClr val="ff5555">
              <a:alpha val="5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8d2f2f"/>
                </a:solidFill>
                <a:latin typeface="Marianne"/>
              </a:rPr>
              <a:t>C5</a:t>
            </a:r>
            <a:r>
              <a:rPr b="0" lang="fr-FR" sz="1400" spc="-1" strike="noStrike">
                <a:solidFill>
                  <a:srgbClr val="8d2f2f"/>
                </a:solidFill>
                <a:latin typeface="Marianne Medium"/>
              </a:rPr>
              <a:t> </a:t>
            </a:r>
            <a:r>
              <a:rPr b="0" lang="fr-FR" sz="1400" spc="-1" strike="noStrike">
                <a:solidFill>
                  <a:srgbClr val="8d2f2f"/>
                </a:solidFill>
                <a:latin typeface="Marianne"/>
              </a:rPr>
              <a:t>Caractéristiques supplémentaires (générales) des effectifs</a:t>
            </a:r>
            <a:endParaRPr b="0" lang="fr-FR" sz="1400" spc="-1" strike="noStrike">
              <a:solidFill>
                <a:srgbClr val="ffffff"/>
              </a:solidFill>
              <a:latin typeface="Arial"/>
            </a:endParaRPr>
          </a:p>
        </p:txBody>
      </p:sp>
      <p:cxnSp>
        <p:nvCxnSpPr>
          <p:cNvPr id="760" name="Straight Connector 17"/>
          <p:cNvCxnSpPr/>
          <p:nvPr/>
        </p:nvCxnSpPr>
        <p:spPr>
          <a:xfrm>
            <a:off x="893160" y="2525400"/>
            <a:ext cx="4680" cy="426240"/>
          </a:xfrm>
          <a:prstGeom prst="straightConnector1">
            <a:avLst/>
          </a:prstGeom>
          <a:ln w="3175">
            <a:solidFill>
              <a:srgbClr val="a6a6a6"/>
            </a:solidFill>
            <a:round/>
          </a:ln>
        </p:spPr>
      </p:cxnSp>
      <p:pic>
        <p:nvPicPr>
          <p:cNvPr id="761" name="Graphic 5"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762" name="TextBox 4"/>
          <p:cNvSpPr/>
          <p:nvPr/>
        </p:nvSpPr>
        <p:spPr>
          <a:xfrm>
            <a:off x="366480" y="187200"/>
            <a:ext cx="17820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Informations générales</a:t>
            </a:r>
            <a:endParaRPr b="0" lang="fr-FR" sz="1100" spc="-1" strike="noStrike">
              <a:solidFill>
                <a:srgbClr val="ffffff"/>
              </a:solidFill>
              <a:latin typeface="Arial"/>
            </a:endParaRPr>
          </a:p>
        </p:txBody>
      </p:sp>
      <p:sp>
        <p:nvSpPr>
          <p:cNvPr id="763" name="TextBox 6"/>
          <p:cNvSpPr/>
          <p:nvPr/>
        </p:nvSpPr>
        <p:spPr>
          <a:xfrm>
            <a:off x="3654000" y="187200"/>
            <a:ext cx="643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Social</a:t>
            </a:r>
            <a:endParaRPr b="0" lang="fr-FR" sz="1100" spc="-1" strike="noStrike">
              <a:solidFill>
                <a:srgbClr val="000000"/>
              </a:solidFill>
              <a:latin typeface="Arial"/>
            </a:endParaRPr>
          </a:p>
        </p:txBody>
      </p:sp>
      <p:sp>
        <p:nvSpPr>
          <p:cNvPr id="764" name="TextBox 7"/>
          <p:cNvSpPr/>
          <p:nvPr/>
        </p:nvSpPr>
        <p:spPr>
          <a:xfrm>
            <a:off x="2293920" y="187200"/>
            <a:ext cx="124884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Environnement</a:t>
            </a:r>
            <a:endParaRPr b="0" lang="fr-FR" sz="1100" spc="-1" strike="noStrike">
              <a:solidFill>
                <a:srgbClr val="ffffff"/>
              </a:solidFill>
              <a:latin typeface="Arial"/>
            </a:endParaRPr>
          </a:p>
        </p:txBody>
      </p:sp>
      <p:sp>
        <p:nvSpPr>
          <p:cNvPr id="765" name="TextBox 8"/>
          <p:cNvSpPr/>
          <p:nvPr/>
        </p:nvSpPr>
        <p:spPr>
          <a:xfrm>
            <a:off x="4407840" y="187200"/>
            <a:ext cx="11178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Gouvernance</a:t>
            </a:r>
            <a:endParaRPr b="0" lang="fr-FR" sz="1100" spc="-1" strike="noStrike">
              <a:solidFill>
                <a:srgbClr val="ffffff"/>
              </a:solidFill>
              <a:latin typeface="Arial"/>
            </a:endParaRPr>
          </a:p>
        </p:txBody>
      </p:sp>
      <p:sp>
        <p:nvSpPr>
          <p:cNvPr id="766" name="Rounded Rectangle 12"/>
          <p:cNvSpPr/>
          <p:nvPr/>
        </p:nvSpPr>
        <p:spPr>
          <a:xfrm>
            <a:off x="3878280" y="3292920"/>
            <a:ext cx="3271320" cy="920880"/>
          </a:xfrm>
          <a:prstGeom prst="roundRect">
            <a:avLst>
              <a:gd name="adj" fmla="val 2884"/>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Nombre de salariées femmes occupant des postes de direction</a:t>
            </a:r>
            <a:endParaRPr b="0" lang="fr-FR" sz="1200" spc="-1" strike="noStrike">
              <a:solidFill>
                <a:srgbClr val="000000"/>
              </a:solidFill>
              <a:latin typeface="Arial"/>
            </a:endParaRPr>
          </a:p>
          <a:p>
            <a:pPr defTabSz="457200">
              <a:lnSpc>
                <a:spcPct val="100000"/>
              </a:lnSpc>
            </a:pPr>
            <a:r>
              <a:rPr b="1" lang="fr-FR" sz="1200" spc="-1" strike="noStrike">
                <a:solidFill>
                  <a:schemeClr val="dk1"/>
                </a:solidFill>
                <a:latin typeface="Marianne Light"/>
              </a:rPr>
              <a:t>-</a:t>
            </a:r>
            <a:endParaRPr b="0" lang="fr-FR" sz="1200" spc="-1" strike="noStrike">
              <a:solidFill>
                <a:srgbClr val="000000"/>
              </a:solidFill>
              <a:latin typeface="Arial"/>
            </a:endParaRPr>
          </a:p>
        </p:txBody>
      </p:sp>
      <p:sp>
        <p:nvSpPr>
          <p:cNvPr id="767" name="Rounded Rectangle 13"/>
          <p:cNvSpPr/>
          <p:nvPr/>
        </p:nvSpPr>
        <p:spPr>
          <a:xfrm>
            <a:off x="415440" y="3292920"/>
            <a:ext cx="3271320" cy="920880"/>
          </a:xfrm>
          <a:prstGeom prst="roundRect">
            <a:avLst>
              <a:gd name="adj" fmla="val 6178"/>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Nombre de salariés hommes occupant des postes de direction</a:t>
            </a:r>
            <a:endParaRPr b="0" lang="fr-FR" sz="1200" spc="-1" strike="noStrike">
              <a:solidFill>
                <a:srgbClr val="000000"/>
              </a:solidFill>
              <a:latin typeface="Arial"/>
            </a:endParaRPr>
          </a:p>
          <a:p>
            <a:pPr defTabSz="457200">
              <a:lnSpc>
                <a:spcPct val="100000"/>
              </a:lnSpc>
            </a:pPr>
            <a:r>
              <a:rPr b="1" lang="fr-FR" sz="1200" spc="-1" strike="noStrike">
                <a:solidFill>
                  <a:schemeClr val="dk1"/>
                </a:solidFill>
                <a:latin typeface="Marianne Light"/>
              </a:rPr>
              <a:t>-</a:t>
            </a:r>
            <a:endParaRPr b="0" lang="fr-FR" sz="1200" spc="-1" strike="noStrike">
              <a:solidFill>
                <a:srgbClr val="000000"/>
              </a:solidFill>
              <a:latin typeface="Arial"/>
            </a:endParaRPr>
          </a:p>
        </p:txBody>
      </p:sp>
      <p:sp>
        <p:nvSpPr>
          <p:cNvPr id="768" name="Rounded Rectangle 14"/>
          <p:cNvSpPr/>
          <p:nvPr/>
        </p:nvSpPr>
        <p:spPr>
          <a:xfrm>
            <a:off x="415440" y="4366800"/>
            <a:ext cx="6734160" cy="908640"/>
          </a:xfrm>
          <a:prstGeom prst="roundRect">
            <a:avLst>
              <a:gd name="adj" fmla="val 7868"/>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en-FR" sz="1200" spc="-1" strike="noStrike">
                <a:solidFill>
                  <a:srgbClr val="8d2f2f"/>
                </a:solidFill>
                <a:latin typeface="Marianne Light"/>
              </a:rPr>
              <a:t>Ratio femmes/hommes au niveau de l'encadrement</a:t>
            </a:r>
            <a:endParaRPr b="0" lang="fr-FR" sz="1200" spc="-1" strike="noStrike">
              <a:solidFill>
                <a:srgbClr val="000000"/>
              </a:solidFill>
              <a:latin typeface="Arial"/>
            </a:endParaRPr>
          </a:p>
          <a:p>
            <a:pPr defTabSz="457200">
              <a:lnSpc>
                <a:spcPct val="100000"/>
              </a:lnSpc>
            </a:pPr>
            <a:r>
              <a:rPr b="1" lang="fr-FR" sz="1200" spc="-1" strike="noStrike">
                <a:solidFill>
                  <a:schemeClr val="dk1"/>
                </a:solidFill>
                <a:latin typeface="Marianne Light"/>
              </a:rPr>
              <a:t>- %</a:t>
            </a:r>
            <a:endParaRPr b="0" lang="fr-FR" sz="1200" spc="-1" strike="noStrike">
              <a:solidFill>
                <a:srgbClr val="000000"/>
              </a:solidFill>
              <a:latin typeface="Arial"/>
            </a:endParaRPr>
          </a:p>
        </p:txBody>
      </p:sp>
      <p:sp>
        <p:nvSpPr>
          <p:cNvPr id="769" name="Rounded Rectangle 15"/>
          <p:cNvSpPr/>
          <p:nvPr/>
        </p:nvSpPr>
        <p:spPr>
          <a:xfrm>
            <a:off x="415440" y="5441040"/>
            <a:ext cx="6734160" cy="1174320"/>
          </a:xfrm>
          <a:prstGeom prst="roundRect">
            <a:avLst>
              <a:gd name="adj" fmla="val 2862"/>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Total des travailleurs indépendants sans personnel qui travaillent exclusivement pour l’entreprise</a:t>
            </a:r>
            <a:endParaRPr b="0" lang="fr-FR" sz="1200" spc="-1" strike="noStrike">
              <a:solidFill>
                <a:srgbClr val="000000"/>
              </a:solidFill>
              <a:latin typeface="Arial"/>
            </a:endParaRPr>
          </a:p>
          <a:p>
            <a:pPr defTabSz="457200">
              <a:lnSpc>
                <a:spcPct val="100000"/>
              </a:lnSpc>
            </a:pPr>
            <a:r>
              <a:rPr b="1" lang="fr-FR" sz="1200" spc="-1" strike="noStrike">
                <a:solidFill>
                  <a:schemeClr val="dk1"/>
                </a:solidFill>
                <a:latin typeface="Marianne Light"/>
              </a:rPr>
              <a:t>- </a:t>
            </a:r>
            <a:endParaRPr b="0" lang="fr-FR" sz="1200" spc="-1" strike="noStrike">
              <a:solidFill>
                <a:srgbClr val="000000"/>
              </a:solidFill>
              <a:latin typeface="Arial"/>
            </a:endParaRPr>
          </a:p>
        </p:txBody>
      </p:sp>
      <p:sp>
        <p:nvSpPr>
          <p:cNvPr id="770" name="Rounded Rectangle 18"/>
          <p:cNvSpPr/>
          <p:nvPr/>
        </p:nvSpPr>
        <p:spPr>
          <a:xfrm>
            <a:off x="415440" y="6782760"/>
            <a:ext cx="6734160" cy="1174320"/>
          </a:xfrm>
          <a:prstGeom prst="roundRect">
            <a:avLst>
              <a:gd name="adj" fmla="val 953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Total des travailleurs temporaires mis à disposition par des entreprises exerçant principalement des activités liées à l’emploi</a:t>
            </a:r>
            <a:endParaRPr b="0" lang="fr-FR" sz="1200" spc="-1" strike="noStrike">
              <a:solidFill>
                <a:srgbClr val="000000"/>
              </a:solidFill>
              <a:latin typeface="Arial"/>
            </a:endParaRPr>
          </a:p>
          <a:p>
            <a:pPr defTabSz="457200">
              <a:lnSpc>
                <a:spcPct val="100000"/>
              </a:lnSpc>
            </a:pPr>
            <a:r>
              <a:rPr b="1" lang="fr-FR" sz="1200" spc="-1" strike="noStrike">
                <a:solidFill>
                  <a:schemeClr val="dk1"/>
                </a:solidFill>
                <a:latin typeface="Marianne Light"/>
              </a:rPr>
              <a:t>-</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71" name="Picture 6" descr=""/>
          <p:cNvPicPr/>
          <p:nvPr/>
        </p:nvPicPr>
        <p:blipFill>
          <a:blip r:embed="rId1"/>
          <a:srcRect l="0" t="0" r="0" b="0"/>
          <a:stretch/>
        </p:blipFill>
        <p:spPr>
          <a:xfrm>
            <a:off x="0" y="0"/>
            <a:ext cx="7546320" cy="10686960"/>
          </a:xfrm>
          <a:prstGeom prst="rect">
            <a:avLst/>
          </a:prstGeom>
          <a:ln w="0">
            <a:noFill/>
          </a:ln>
        </p:spPr>
      </p:pic>
      <p:sp>
        <p:nvSpPr>
          <p:cNvPr id="772" name="Rectangle 3"/>
          <p:cNvSpPr/>
          <p:nvPr/>
        </p:nvSpPr>
        <p:spPr>
          <a:xfrm>
            <a:off x="-864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773" name="Rounded Rectangle 19"/>
          <p:cNvSpPr/>
          <p:nvPr/>
        </p:nvSpPr>
        <p:spPr>
          <a:xfrm rot="16200000">
            <a:off x="3985560" y="-322560"/>
            <a:ext cx="394560" cy="6151320"/>
          </a:xfrm>
          <a:prstGeom prst="roundRect">
            <a:avLst>
              <a:gd name="adj" fmla="val 16667"/>
            </a:avLst>
          </a:prstGeom>
          <a:solidFill>
            <a:srgbClr val="ff5555">
              <a:alpha val="5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8d2f2f"/>
                </a:solidFill>
                <a:latin typeface="Marianne"/>
              </a:rPr>
              <a:t>C5</a:t>
            </a:r>
            <a:r>
              <a:rPr b="0" lang="fr-FR" sz="1400" spc="-1" strike="noStrike">
                <a:solidFill>
                  <a:srgbClr val="8d2f2f"/>
                </a:solidFill>
                <a:latin typeface="Marianne Medium"/>
              </a:rPr>
              <a:t> </a:t>
            </a:r>
            <a:r>
              <a:rPr b="0" lang="fr-FR" sz="1400" spc="-1" strike="noStrike">
                <a:solidFill>
                  <a:srgbClr val="8d2f2f"/>
                </a:solidFill>
                <a:latin typeface="Marianne"/>
              </a:rPr>
              <a:t>Caractéristiques supplémentaires (générales) des effectifs</a:t>
            </a:r>
            <a:endParaRPr b="0" lang="fr-FR" sz="1400" spc="-1" strike="noStrike">
              <a:solidFill>
                <a:srgbClr val="ffffff"/>
              </a:solidFill>
              <a:latin typeface="Arial"/>
            </a:endParaRPr>
          </a:p>
        </p:txBody>
      </p:sp>
      <p:cxnSp>
        <p:nvCxnSpPr>
          <p:cNvPr id="774" name="Straight Connector 4"/>
          <p:cNvCxnSpPr/>
          <p:nvPr/>
        </p:nvCxnSpPr>
        <p:spPr>
          <a:xfrm>
            <a:off x="893160" y="2525400"/>
            <a:ext cx="4680" cy="426240"/>
          </a:xfrm>
          <a:prstGeom prst="straightConnector1">
            <a:avLst/>
          </a:prstGeom>
          <a:ln w="3175">
            <a:solidFill>
              <a:srgbClr val="a6a6a6"/>
            </a:solidFill>
            <a:round/>
          </a:ln>
        </p:spPr>
      </p:cxnSp>
      <p:pic>
        <p:nvPicPr>
          <p:cNvPr id="775" name="Graphic 3"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776" name="TextBox 20"/>
          <p:cNvSpPr/>
          <p:nvPr/>
        </p:nvSpPr>
        <p:spPr>
          <a:xfrm>
            <a:off x="366480" y="187200"/>
            <a:ext cx="17820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Informations générales</a:t>
            </a:r>
            <a:endParaRPr b="0" lang="fr-FR" sz="1100" spc="-1" strike="noStrike">
              <a:solidFill>
                <a:srgbClr val="ffffff"/>
              </a:solidFill>
              <a:latin typeface="Arial"/>
            </a:endParaRPr>
          </a:p>
        </p:txBody>
      </p:sp>
      <p:sp>
        <p:nvSpPr>
          <p:cNvPr id="777" name="TextBox 21"/>
          <p:cNvSpPr/>
          <p:nvPr/>
        </p:nvSpPr>
        <p:spPr>
          <a:xfrm>
            <a:off x="3654000" y="187200"/>
            <a:ext cx="643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Social</a:t>
            </a:r>
            <a:endParaRPr b="0" lang="fr-FR" sz="1100" spc="-1" strike="noStrike">
              <a:solidFill>
                <a:srgbClr val="000000"/>
              </a:solidFill>
              <a:latin typeface="Arial"/>
            </a:endParaRPr>
          </a:p>
        </p:txBody>
      </p:sp>
      <p:sp>
        <p:nvSpPr>
          <p:cNvPr id="778" name="TextBox 23"/>
          <p:cNvSpPr/>
          <p:nvPr/>
        </p:nvSpPr>
        <p:spPr>
          <a:xfrm>
            <a:off x="2293920" y="187200"/>
            <a:ext cx="124884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Environnement</a:t>
            </a:r>
            <a:endParaRPr b="0" lang="fr-FR" sz="1100" spc="-1" strike="noStrike">
              <a:solidFill>
                <a:srgbClr val="ffffff"/>
              </a:solidFill>
              <a:latin typeface="Arial"/>
            </a:endParaRPr>
          </a:p>
        </p:txBody>
      </p:sp>
      <p:sp>
        <p:nvSpPr>
          <p:cNvPr id="779" name="TextBox 25"/>
          <p:cNvSpPr/>
          <p:nvPr/>
        </p:nvSpPr>
        <p:spPr>
          <a:xfrm>
            <a:off x="4407840" y="187200"/>
            <a:ext cx="11178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Gouvernance</a:t>
            </a:r>
            <a:endParaRPr b="0" lang="fr-FR" sz="1100" spc="-1" strike="noStrike">
              <a:solidFill>
                <a:srgbClr val="ffffff"/>
              </a:solidFill>
              <a:latin typeface="Arial"/>
            </a:endParaRPr>
          </a:p>
        </p:txBody>
      </p:sp>
      <p:sp>
        <p:nvSpPr>
          <p:cNvPr id="780" name="Rounded Rectangle 22"/>
          <p:cNvSpPr/>
          <p:nvPr/>
        </p:nvSpPr>
        <p:spPr>
          <a:xfrm>
            <a:off x="410760" y="3391920"/>
            <a:ext cx="6734160" cy="930960"/>
          </a:xfrm>
          <a:prstGeom prst="roundRect">
            <a:avLst>
              <a:gd name="adj" fmla="val 10829"/>
            </a:avLst>
          </a:prstGeom>
          <a:solidFill>
            <a:srgbClr val="f7eddc">
              <a:alpha val="46000"/>
            </a:srgbClr>
          </a:solidFill>
          <a:ln w="3175">
            <a:solidFill>
              <a:srgbClr val="d2b781"/>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spcBef>
                <a:spcPts val="1191"/>
              </a:spcBef>
              <a:spcAft>
                <a:spcPts val="992"/>
              </a:spcAft>
            </a:pPr>
            <a:r>
              <a:rPr b="0" lang="fr-FR" sz="1200" spc="-1" strike="noStrike">
                <a:solidFill>
                  <a:srgbClr val="808080"/>
                </a:solidFill>
                <a:latin typeface="Marianne Light"/>
              </a:rPr>
              <a:t>Ratio femmes/hommes au niveau de l'encadrement</a:t>
            </a:r>
            <a:endParaRPr b="0" lang="fr-FR" sz="1200" spc="-1" strike="noStrike">
              <a:solidFill>
                <a:srgbClr val="000000"/>
              </a:solidFill>
              <a:latin typeface="Arial"/>
            </a:endParaRPr>
          </a:p>
          <a:p>
            <a:pPr defTabSz="457200">
              <a:lnSpc>
                <a:spcPct val="100000"/>
              </a:lnSpc>
              <a:spcBef>
                <a:spcPts val="1191"/>
              </a:spcBef>
              <a:spcAft>
                <a:spcPts val="992"/>
              </a:spcAft>
            </a:pPr>
            <a:r>
              <a:rPr b="0" lang="fr-CA" sz="1200" spc="-1" strike="noStrike">
                <a:solidFill>
                  <a:srgbClr val="d2b781"/>
                </a:solidFill>
                <a:latin typeface="Marianne"/>
              </a:rPr>
              <a:t>Cet indicateur n’est pas applicable car l'entreprise a moins de 50 salariés.</a:t>
            </a:r>
            <a:endParaRPr b="0" lang="fr-FR" sz="1200" spc="-1" strike="noStrike">
              <a:solidFill>
                <a:srgbClr val="000000"/>
              </a:solidFill>
              <a:latin typeface="Arial"/>
            </a:endParaRPr>
          </a:p>
        </p:txBody>
      </p:sp>
      <p:sp>
        <p:nvSpPr>
          <p:cNvPr id="781" name="Rounded Rectangle 25"/>
          <p:cNvSpPr/>
          <p:nvPr/>
        </p:nvSpPr>
        <p:spPr>
          <a:xfrm>
            <a:off x="360000" y="4680000"/>
            <a:ext cx="6734160" cy="930960"/>
          </a:xfrm>
          <a:prstGeom prst="roundRect">
            <a:avLst>
              <a:gd name="adj" fmla="val 10829"/>
            </a:avLst>
          </a:prstGeom>
          <a:solidFill>
            <a:srgbClr val="f7eddc">
              <a:alpha val="46000"/>
            </a:srgbClr>
          </a:solidFill>
          <a:ln w="3175">
            <a:solidFill>
              <a:srgbClr val="d2b781"/>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spcBef>
                <a:spcPts val="1191"/>
              </a:spcBef>
              <a:spcAft>
                <a:spcPts val="992"/>
              </a:spcAft>
            </a:pPr>
            <a:r>
              <a:rPr b="0" lang="fr-FR" sz="1200" spc="-1" strike="noStrike">
                <a:solidFill>
                  <a:srgbClr val="808080"/>
                </a:solidFill>
                <a:latin typeface="Marianne Light"/>
              </a:rPr>
              <a:t>Travailleurs indépendants et salariés temporaires</a:t>
            </a:r>
            <a:endParaRPr b="0" lang="fr-FR" sz="1200" spc="-1" strike="noStrike">
              <a:solidFill>
                <a:srgbClr val="000000"/>
              </a:solidFill>
              <a:latin typeface="Arial"/>
            </a:endParaRPr>
          </a:p>
          <a:p>
            <a:pPr defTabSz="457200">
              <a:lnSpc>
                <a:spcPct val="100000"/>
              </a:lnSpc>
              <a:spcBef>
                <a:spcPts val="1191"/>
              </a:spcBef>
              <a:spcAft>
                <a:spcPts val="992"/>
              </a:spcAft>
            </a:pPr>
            <a:r>
              <a:rPr b="0" lang="fr-CA" sz="1200" spc="-1" strike="noStrike">
                <a:solidFill>
                  <a:srgbClr val="d2b781"/>
                </a:solidFill>
                <a:latin typeface="Marianne"/>
              </a:rPr>
              <a:t>Cet indicateur n’est pas applicable car l'entreprise a moins de 50 salariés.</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82" name="Picture 2" descr=""/>
          <p:cNvPicPr/>
          <p:nvPr/>
        </p:nvPicPr>
        <p:blipFill>
          <a:blip r:embed="rId1"/>
          <a:srcRect l="0" t="0" r="0" b="0"/>
          <a:stretch/>
        </p:blipFill>
        <p:spPr>
          <a:xfrm>
            <a:off x="0" y="0"/>
            <a:ext cx="7546320" cy="10686960"/>
          </a:xfrm>
          <a:prstGeom prst="rect">
            <a:avLst/>
          </a:prstGeom>
          <a:ln w="0">
            <a:noFill/>
          </a:ln>
        </p:spPr>
      </p:pic>
      <p:sp>
        <p:nvSpPr>
          <p:cNvPr id="783"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784" name="Rounded Rectangle 3"/>
          <p:cNvSpPr/>
          <p:nvPr/>
        </p:nvSpPr>
        <p:spPr>
          <a:xfrm rot="16200000">
            <a:off x="3809520" y="-190440"/>
            <a:ext cx="700920" cy="6151320"/>
          </a:xfrm>
          <a:prstGeom prst="roundRect">
            <a:avLst>
              <a:gd name="adj" fmla="val 16667"/>
            </a:avLst>
          </a:prstGeom>
          <a:solidFill>
            <a:srgbClr val="ff5555">
              <a:alpha val="5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8d2f2f"/>
                </a:solidFill>
                <a:latin typeface="Marianne"/>
              </a:rPr>
              <a:t>C6</a:t>
            </a:r>
            <a:r>
              <a:rPr b="0" lang="fr-FR" sz="1400" spc="-1" strike="noStrike">
                <a:solidFill>
                  <a:srgbClr val="8d2f2f"/>
                </a:solidFill>
                <a:latin typeface="Marianne Medium"/>
              </a:rPr>
              <a:t> </a:t>
            </a:r>
            <a:r>
              <a:rPr b="0" lang="fr-FR" sz="1400" spc="-1" strike="noStrike">
                <a:solidFill>
                  <a:srgbClr val="8d2f2f"/>
                </a:solidFill>
                <a:latin typeface="Marianne"/>
              </a:rPr>
              <a:t>Informations complémentaires sur les effectifs de l'entreprise – Politiques et procédures en matière de droits de l’homme</a:t>
            </a:r>
            <a:endParaRPr b="0" lang="fr-FR" sz="1400" spc="-1" strike="noStrike">
              <a:solidFill>
                <a:srgbClr val="ffffff"/>
              </a:solidFill>
              <a:latin typeface="Arial"/>
            </a:endParaRPr>
          </a:p>
        </p:txBody>
      </p:sp>
      <p:cxnSp>
        <p:nvCxnSpPr>
          <p:cNvPr id="785" name="Straight Connector 17"/>
          <p:cNvCxnSpPr/>
          <p:nvPr/>
        </p:nvCxnSpPr>
        <p:spPr>
          <a:xfrm>
            <a:off x="893160" y="2525400"/>
            <a:ext cx="4680" cy="710280"/>
          </a:xfrm>
          <a:prstGeom prst="straightConnector1">
            <a:avLst/>
          </a:prstGeom>
          <a:ln w="3175">
            <a:solidFill>
              <a:srgbClr val="a6a6a6"/>
            </a:solidFill>
            <a:round/>
          </a:ln>
        </p:spPr>
      </p:cxnSp>
      <p:pic>
        <p:nvPicPr>
          <p:cNvPr id="786" name="Graphic 5"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787" name="TextBox 4"/>
          <p:cNvSpPr/>
          <p:nvPr/>
        </p:nvSpPr>
        <p:spPr>
          <a:xfrm>
            <a:off x="366480" y="187200"/>
            <a:ext cx="17820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Informations générales</a:t>
            </a:r>
            <a:endParaRPr b="0" lang="fr-FR" sz="1100" spc="-1" strike="noStrike">
              <a:solidFill>
                <a:srgbClr val="ffffff"/>
              </a:solidFill>
              <a:latin typeface="Arial"/>
            </a:endParaRPr>
          </a:p>
        </p:txBody>
      </p:sp>
      <p:sp>
        <p:nvSpPr>
          <p:cNvPr id="788" name="TextBox 6"/>
          <p:cNvSpPr/>
          <p:nvPr/>
        </p:nvSpPr>
        <p:spPr>
          <a:xfrm>
            <a:off x="3654000" y="187200"/>
            <a:ext cx="643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Social</a:t>
            </a:r>
            <a:endParaRPr b="0" lang="fr-FR" sz="1100" spc="-1" strike="noStrike">
              <a:solidFill>
                <a:srgbClr val="000000"/>
              </a:solidFill>
              <a:latin typeface="Arial"/>
            </a:endParaRPr>
          </a:p>
        </p:txBody>
      </p:sp>
      <p:sp>
        <p:nvSpPr>
          <p:cNvPr id="789" name="TextBox 7"/>
          <p:cNvSpPr/>
          <p:nvPr/>
        </p:nvSpPr>
        <p:spPr>
          <a:xfrm>
            <a:off x="2293920" y="187200"/>
            <a:ext cx="124884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Environnement</a:t>
            </a:r>
            <a:endParaRPr b="0" lang="fr-FR" sz="1100" spc="-1" strike="noStrike">
              <a:solidFill>
                <a:srgbClr val="ffffff"/>
              </a:solidFill>
              <a:latin typeface="Arial"/>
            </a:endParaRPr>
          </a:p>
        </p:txBody>
      </p:sp>
      <p:sp>
        <p:nvSpPr>
          <p:cNvPr id="790" name="TextBox 8"/>
          <p:cNvSpPr/>
          <p:nvPr/>
        </p:nvSpPr>
        <p:spPr>
          <a:xfrm>
            <a:off x="4407840" y="187200"/>
            <a:ext cx="11178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Gouvernance</a:t>
            </a:r>
            <a:endParaRPr b="0" lang="fr-FR" sz="1100" spc="-1" strike="noStrike">
              <a:solidFill>
                <a:srgbClr val="ffffff"/>
              </a:solidFill>
              <a:latin typeface="Arial"/>
            </a:endParaRPr>
          </a:p>
        </p:txBody>
      </p:sp>
      <p:sp>
        <p:nvSpPr>
          <p:cNvPr id="791" name="Rounded Rectangle 10"/>
          <p:cNvSpPr/>
          <p:nvPr/>
        </p:nvSpPr>
        <p:spPr>
          <a:xfrm>
            <a:off x="410400" y="4593240"/>
            <a:ext cx="6734160" cy="967320"/>
          </a:xfrm>
          <a:prstGeom prst="roundRect">
            <a:avLst>
              <a:gd name="adj" fmla="val 7383"/>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La politique de l'entreprise couvre-t-elle le travail forcé ?</a:t>
            </a:r>
            <a:endParaRPr b="0" lang="fr-FR" sz="1200" spc="-1" strike="noStrike">
              <a:solidFill>
                <a:srgbClr val="000000"/>
              </a:solidFill>
              <a:latin typeface="Arial"/>
            </a:endParaRPr>
          </a:p>
          <a:p>
            <a:pPr defTabSz="756000">
              <a:lnSpc>
                <a:spcPct val="100000"/>
              </a:lnSpc>
            </a:pPr>
            <a:r>
              <a:rPr b="1" lang="en-FR" sz="1200" spc="-1" strike="noStrike">
                <a:solidFill>
                  <a:srgbClr val="000000"/>
                </a:solidFill>
                <a:latin typeface="Marianne Medium"/>
              </a:rPr>
              <a:t>-</a:t>
            </a:r>
            <a:br>
              <a:rPr sz="1200"/>
            </a:br>
            <a:endParaRPr b="0" lang="fr-FR" sz="1200" spc="-1" strike="noStrike">
              <a:solidFill>
                <a:srgbClr val="000000"/>
              </a:solidFill>
              <a:latin typeface="Arial"/>
            </a:endParaRPr>
          </a:p>
        </p:txBody>
      </p:sp>
      <p:sp>
        <p:nvSpPr>
          <p:cNvPr id="792" name="Rounded Rectangle 11"/>
          <p:cNvSpPr/>
          <p:nvPr/>
        </p:nvSpPr>
        <p:spPr>
          <a:xfrm>
            <a:off x="410400" y="5698080"/>
            <a:ext cx="6734160" cy="967320"/>
          </a:xfrm>
          <a:prstGeom prst="roundRect">
            <a:avLst>
              <a:gd name="adj" fmla="val 7383"/>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La politique de l'entreprise couvre-t-elle la traite des êtres humains ?</a:t>
            </a:r>
            <a:endParaRPr b="0" lang="fr-FR" sz="1200" spc="-1" strike="noStrike">
              <a:solidFill>
                <a:srgbClr val="000000"/>
              </a:solidFill>
              <a:latin typeface="Arial"/>
            </a:endParaRPr>
          </a:p>
          <a:p>
            <a:pPr defTabSz="756000">
              <a:lnSpc>
                <a:spcPct val="100000"/>
              </a:lnSpc>
            </a:pPr>
            <a:r>
              <a:rPr b="1" lang="en-FR" sz="1200" spc="-1" strike="noStrike">
                <a:solidFill>
                  <a:srgbClr val="000000"/>
                </a:solidFill>
                <a:latin typeface="Marianne Medium"/>
              </a:rPr>
              <a:t>-</a:t>
            </a:r>
            <a:br>
              <a:rPr sz="1200"/>
            </a:br>
            <a:endParaRPr b="0" lang="fr-FR" sz="1200" spc="-1" strike="noStrike">
              <a:solidFill>
                <a:srgbClr val="000000"/>
              </a:solidFill>
              <a:latin typeface="Arial"/>
            </a:endParaRPr>
          </a:p>
        </p:txBody>
      </p:sp>
      <p:sp>
        <p:nvSpPr>
          <p:cNvPr id="793" name="Rounded Rectangle 12"/>
          <p:cNvSpPr/>
          <p:nvPr/>
        </p:nvSpPr>
        <p:spPr>
          <a:xfrm>
            <a:off x="410400" y="6802920"/>
            <a:ext cx="6734160" cy="967320"/>
          </a:xfrm>
          <a:prstGeom prst="roundRect">
            <a:avLst>
              <a:gd name="adj" fmla="val 7383"/>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La politique de l'entreprise couvre-t-elle la discrimination ?</a:t>
            </a:r>
            <a:endParaRPr b="0" lang="fr-FR" sz="1200" spc="-1" strike="noStrike">
              <a:solidFill>
                <a:srgbClr val="000000"/>
              </a:solidFill>
              <a:latin typeface="Arial"/>
            </a:endParaRPr>
          </a:p>
          <a:p>
            <a:pPr defTabSz="756000">
              <a:lnSpc>
                <a:spcPct val="100000"/>
              </a:lnSpc>
            </a:pPr>
            <a:r>
              <a:rPr b="1" lang="en-FR" sz="1200" spc="-1" strike="noStrike">
                <a:solidFill>
                  <a:srgbClr val="000000"/>
                </a:solidFill>
                <a:latin typeface="Marianne Medium"/>
              </a:rPr>
              <a:t>-</a:t>
            </a:r>
            <a:br>
              <a:rPr sz="1200"/>
            </a:br>
            <a:endParaRPr b="0" lang="fr-FR" sz="1200" spc="-1" strike="noStrike">
              <a:solidFill>
                <a:srgbClr val="000000"/>
              </a:solidFill>
              <a:latin typeface="Arial"/>
            </a:endParaRPr>
          </a:p>
        </p:txBody>
      </p:sp>
      <p:sp>
        <p:nvSpPr>
          <p:cNvPr id="794" name="Rounded Rectangle 13"/>
          <p:cNvSpPr/>
          <p:nvPr/>
        </p:nvSpPr>
        <p:spPr>
          <a:xfrm>
            <a:off x="410400" y="7908120"/>
            <a:ext cx="6734160" cy="967320"/>
          </a:xfrm>
          <a:prstGeom prst="roundRect">
            <a:avLst>
              <a:gd name="adj" fmla="val 7383"/>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La politique de l'entreprise couvre-t-elle la prévention des accidents ?</a:t>
            </a:r>
            <a:endParaRPr b="0" lang="fr-FR" sz="1200" spc="-1" strike="noStrike">
              <a:solidFill>
                <a:srgbClr val="000000"/>
              </a:solidFill>
              <a:latin typeface="Arial"/>
            </a:endParaRPr>
          </a:p>
          <a:p>
            <a:pPr defTabSz="756000">
              <a:lnSpc>
                <a:spcPct val="100000"/>
              </a:lnSpc>
            </a:pPr>
            <a:r>
              <a:rPr b="1" lang="en-FR" sz="1200" spc="-1" strike="noStrike">
                <a:solidFill>
                  <a:srgbClr val="000000"/>
                </a:solidFill>
                <a:latin typeface="Marianne Medium"/>
              </a:rPr>
              <a:t>-</a:t>
            </a:r>
            <a:br>
              <a:rPr sz="1200"/>
            </a:br>
            <a:endParaRPr b="0" lang="fr-FR" sz="1200" spc="-1" strike="noStrike">
              <a:solidFill>
                <a:srgbClr val="000000"/>
              </a:solidFill>
              <a:latin typeface="Arial"/>
            </a:endParaRPr>
          </a:p>
        </p:txBody>
      </p:sp>
      <p:sp>
        <p:nvSpPr>
          <p:cNvPr id="795" name="Rounded Rectangle 9"/>
          <p:cNvSpPr/>
          <p:nvPr/>
        </p:nvSpPr>
        <p:spPr>
          <a:xfrm>
            <a:off x="410400" y="3512520"/>
            <a:ext cx="6734160" cy="967320"/>
          </a:xfrm>
          <a:prstGeom prst="roundRect">
            <a:avLst>
              <a:gd name="adj" fmla="val 7383"/>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La politique de l'entreprise couvre-t-elle le travail des enfants ?</a:t>
            </a:r>
            <a:endParaRPr b="0" lang="fr-FR" sz="1200" spc="-1" strike="noStrike">
              <a:solidFill>
                <a:srgbClr val="000000"/>
              </a:solidFill>
              <a:latin typeface="Arial"/>
            </a:endParaRPr>
          </a:p>
          <a:p>
            <a:pPr defTabSz="756000">
              <a:lnSpc>
                <a:spcPct val="100000"/>
              </a:lnSpc>
            </a:pPr>
            <a:r>
              <a:rPr b="1" lang="en-FR" sz="1200" spc="-1" strike="noStrike">
                <a:solidFill>
                  <a:srgbClr val="000000"/>
                </a:solidFill>
                <a:latin typeface="Marianne Medium"/>
              </a:rPr>
              <a:t>-</a:t>
            </a:r>
            <a:br>
              <a:rPr sz="1200"/>
            </a:b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96" name="Picture 2" descr=""/>
          <p:cNvPicPr/>
          <p:nvPr/>
        </p:nvPicPr>
        <p:blipFill>
          <a:blip r:embed="rId1"/>
          <a:srcRect l="0" t="0" r="0" b="0"/>
          <a:stretch/>
        </p:blipFill>
        <p:spPr>
          <a:xfrm>
            <a:off x="0" y="0"/>
            <a:ext cx="7546320" cy="10686960"/>
          </a:xfrm>
          <a:prstGeom prst="rect">
            <a:avLst/>
          </a:prstGeom>
          <a:ln w="0">
            <a:noFill/>
          </a:ln>
        </p:spPr>
      </p:pic>
      <p:sp>
        <p:nvSpPr>
          <p:cNvPr id="797"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798" name="Rounded Rectangle 3"/>
          <p:cNvSpPr/>
          <p:nvPr/>
        </p:nvSpPr>
        <p:spPr>
          <a:xfrm rot="16200000">
            <a:off x="3809520" y="-190440"/>
            <a:ext cx="700920" cy="6151320"/>
          </a:xfrm>
          <a:prstGeom prst="roundRect">
            <a:avLst>
              <a:gd name="adj" fmla="val 16667"/>
            </a:avLst>
          </a:prstGeom>
          <a:solidFill>
            <a:srgbClr val="ff5555">
              <a:alpha val="5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8d2f2f"/>
                </a:solidFill>
                <a:latin typeface="Marianne"/>
              </a:rPr>
              <a:t>C6</a:t>
            </a:r>
            <a:r>
              <a:rPr b="0" lang="fr-FR" sz="1400" spc="-1" strike="noStrike">
                <a:solidFill>
                  <a:srgbClr val="8d2f2f"/>
                </a:solidFill>
                <a:latin typeface="Marianne Medium"/>
              </a:rPr>
              <a:t> </a:t>
            </a:r>
            <a:r>
              <a:rPr b="0" lang="fr-FR" sz="1400" spc="-1" strike="noStrike">
                <a:solidFill>
                  <a:srgbClr val="8d2f2f"/>
                </a:solidFill>
                <a:latin typeface="Marianne"/>
              </a:rPr>
              <a:t>Informations complémentaires sur les effectifs de l'entreprise – Politiques et procédures en matière de droits de l’homme</a:t>
            </a:r>
            <a:endParaRPr b="0" lang="fr-FR" sz="1400" spc="-1" strike="noStrike">
              <a:solidFill>
                <a:srgbClr val="ffffff"/>
              </a:solidFill>
              <a:latin typeface="Arial"/>
            </a:endParaRPr>
          </a:p>
        </p:txBody>
      </p:sp>
      <p:cxnSp>
        <p:nvCxnSpPr>
          <p:cNvPr id="799" name="Straight Connector 17"/>
          <p:cNvCxnSpPr/>
          <p:nvPr/>
        </p:nvCxnSpPr>
        <p:spPr>
          <a:xfrm>
            <a:off x="893160" y="2525400"/>
            <a:ext cx="4680" cy="710280"/>
          </a:xfrm>
          <a:prstGeom prst="straightConnector1">
            <a:avLst/>
          </a:prstGeom>
          <a:ln w="3175">
            <a:solidFill>
              <a:srgbClr val="a6a6a6"/>
            </a:solidFill>
            <a:round/>
          </a:ln>
        </p:spPr>
      </p:cxnSp>
      <p:pic>
        <p:nvPicPr>
          <p:cNvPr id="800" name="Graphic 5"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801" name="TextBox 4"/>
          <p:cNvSpPr/>
          <p:nvPr/>
        </p:nvSpPr>
        <p:spPr>
          <a:xfrm>
            <a:off x="366480" y="187200"/>
            <a:ext cx="17820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Informations générales</a:t>
            </a:r>
            <a:endParaRPr b="0" lang="fr-FR" sz="1100" spc="-1" strike="noStrike">
              <a:solidFill>
                <a:srgbClr val="ffffff"/>
              </a:solidFill>
              <a:latin typeface="Arial"/>
            </a:endParaRPr>
          </a:p>
        </p:txBody>
      </p:sp>
      <p:sp>
        <p:nvSpPr>
          <p:cNvPr id="802" name="TextBox 6"/>
          <p:cNvSpPr/>
          <p:nvPr/>
        </p:nvSpPr>
        <p:spPr>
          <a:xfrm>
            <a:off x="3654000" y="187200"/>
            <a:ext cx="643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Social</a:t>
            </a:r>
            <a:endParaRPr b="0" lang="fr-FR" sz="1100" spc="-1" strike="noStrike">
              <a:solidFill>
                <a:srgbClr val="000000"/>
              </a:solidFill>
              <a:latin typeface="Arial"/>
            </a:endParaRPr>
          </a:p>
        </p:txBody>
      </p:sp>
      <p:sp>
        <p:nvSpPr>
          <p:cNvPr id="803" name="TextBox 7"/>
          <p:cNvSpPr/>
          <p:nvPr/>
        </p:nvSpPr>
        <p:spPr>
          <a:xfrm>
            <a:off x="2293920" y="187200"/>
            <a:ext cx="124884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Environnement</a:t>
            </a:r>
            <a:endParaRPr b="0" lang="fr-FR" sz="1100" spc="-1" strike="noStrike">
              <a:solidFill>
                <a:srgbClr val="ffffff"/>
              </a:solidFill>
              <a:latin typeface="Arial"/>
            </a:endParaRPr>
          </a:p>
        </p:txBody>
      </p:sp>
      <p:sp>
        <p:nvSpPr>
          <p:cNvPr id="804" name="TextBox 8"/>
          <p:cNvSpPr/>
          <p:nvPr/>
        </p:nvSpPr>
        <p:spPr>
          <a:xfrm>
            <a:off x="4407840" y="187200"/>
            <a:ext cx="11178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Gouvernance</a:t>
            </a:r>
            <a:endParaRPr b="0" lang="fr-FR" sz="1100" spc="-1" strike="noStrike">
              <a:solidFill>
                <a:srgbClr val="ffffff"/>
              </a:solidFill>
              <a:latin typeface="Arial"/>
            </a:endParaRPr>
          </a:p>
        </p:txBody>
      </p:sp>
      <p:sp>
        <p:nvSpPr>
          <p:cNvPr id="805" name="Rounded Rectangle 9"/>
          <p:cNvSpPr/>
          <p:nvPr/>
        </p:nvSpPr>
        <p:spPr>
          <a:xfrm>
            <a:off x="410400" y="3488040"/>
            <a:ext cx="6734160" cy="967320"/>
          </a:xfrm>
          <a:prstGeom prst="roundRect">
            <a:avLst>
              <a:gd name="adj" fmla="val 7383"/>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La politique de l'entreprise couvre-t-elle le travail des enfants ?</a:t>
            </a:r>
            <a:br>
              <a:rPr sz="1200"/>
            </a:br>
            <a:r>
              <a:rPr b="1" lang="en-FR" sz="1200" spc="-1" strike="noStrike">
                <a:solidFill>
                  <a:srgbClr val="000000"/>
                </a:solidFill>
                <a:latin typeface="Marianne Medium"/>
              </a:rPr>
              <a:t>L'entreprise ne dispose pas d’un code de conduite ou d’une politique en matière de droits de l’homme pour son personnel.</a:t>
            </a:r>
            <a:endParaRPr b="0" lang="fr-FR" sz="1200" spc="-1" strike="noStrike">
              <a:solidFill>
                <a:srgbClr val="000000"/>
              </a:solidFill>
              <a:latin typeface="Arial"/>
            </a:endParaRPr>
          </a:p>
          <a:p>
            <a:pPr defTabSz="756000">
              <a:lnSpc>
                <a:spcPct val="100000"/>
              </a:lnSpc>
            </a:pPr>
            <a:endParaRPr b="0" lang="fr-FR" sz="1200" spc="-1" strike="noStrike">
              <a:solidFill>
                <a:srgbClr val="000000"/>
              </a:solidFill>
              <a:latin typeface="Arial"/>
            </a:endParaRPr>
          </a:p>
        </p:txBody>
      </p:sp>
      <p:sp>
        <p:nvSpPr>
          <p:cNvPr id="806" name="Rounded Rectangle 10"/>
          <p:cNvSpPr/>
          <p:nvPr/>
        </p:nvSpPr>
        <p:spPr>
          <a:xfrm>
            <a:off x="410400" y="4593240"/>
            <a:ext cx="6734160" cy="967320"/>
          </a:xfrm>
          <a:prstGeom prst="roundRect">
            <a:avLst>
              <a:gd name="adj" fmla="val 7383"/>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La politique de l'entreprise couvre-t-elle le travail forcé ?</a:t>
            </a:r>
            <a:endParaRPr b="0" lang="fr-FR" sz="1200" spc="-1" strike="noStrike">
              <a:solidFill>
                <a:srgbClr val="000000"/>
              </a:solidFill>
              <a:latin typeface="Arial"/>
            </a:endParaRPr>
          </a:p>
          <a:p>
            <a:pPr defTabSz="756000">
              <a:lnSpc>
                <a:spcPct val="100000"/>
              </a:lnSpc>
            </a:pPr>
            <a:r>
              <a:rPr b="1" lang="en-FR" sz="1200" spc="-1" strike="noStrike">
                <a:solidFill>
                  <a:srgbClr val="000000"/>
                </a:solidFill>
                <a:latin typeface="Marianne Medium"/>
              </a:rPr>
              <a:t>L'entreprise ne dispose pas d’un code de conduite ou d’une politique en matière de droits de l’homme pour son personnel.</a:t>
            </a:r>
            <a:endParaRPr b="0" lang="fr-FR" sz="1200" spc="-1" strike="noStrike">
              <a:solidFill>
                <a:srgbClr val="000000"/>
              </a:solidFill>
              <a:latin typeface="Arial"/>
            </a:endParaRPr>
          </a:p>
          <a:p>
            <a:pPr defTabSz="756000">
              <a:lnSpc>
                <a:spcPct val="100000"/>
              </a:lnSpc>
            </a:pPr>
            <a:endParaRPr b="0" lang="fr-FR" sz="1200" spc="-1" strike="noStrike">
              <a:solidFill>
                <a:srgbClr val="000000"/>
              </a:solidFill>
              <a:latin typeface="Arial"/>
            </a:endParaRPr>
          </a:p>
        </p:txBody>
      </p:sp>
      <p:sp>
        <p:nvSpPr>
          <p:cNvPr id="807" name="Rounded Rectangle 11"/>
          <p:cNvSpPr/>
          <p:nvPr/>
        </p:nvSpPr>
        <p:spPr>
          <a:xfrm>
            <a:off x="410400" y="5698080"/>
            <a:ext cx="6734160" cy="967320"/>
          </a:xfrm>
          <a:prstGeom prst="roundRect">
            <a:avLst>
              <a:gd name="adj" fmla="val 7383"/>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La politique de l'entreprise couvre-t-elle la traite des êtres humains ?</a:t>
            </a:r>
            <a:endParaRPr b="0" lang="fr-FR" sz="1200" spc="-1" strike="noStrike">
              <a:solidFill>
                <a:srgbClr val="000000"/>
              </a:solidFill>
              <a:latin typeface="Arial"/>
            </a:endParaRPr>
          </a:p>
          <a:p>
            <a:pPr defTabSz="756000">
              <a:lnSpc>
                <a:spcPct val="100000"/>
              </a:lnSpc>
            </a:pPr>
            <a:r>
              <a:rPr b="1" lang="en-FR" sz="1200" spc="-1" strike="noStrike">
                <a:solidFill>
                  <a:srgbClr val="000000"/>
                </a:solidFill>
                <a:latin typeface="Marianne Medium"/>
              </a:rPr>
              <a:t>L'entreprise ne dispose pas d’un code de conduite ou d’une politique en matière de droits de l’homme pour son personnel.</a:t>
            </a:r>
            <a:endParaRPr b="0" lang="fr-FR" sz="1200" spc="-1" strike="noStrike">
              <a:solidFill>
                <a:srgbClr val="000000"/>
              </a:solidFill>
              <a:latin typeface="Arial"/>
            </a:endParaRPr>
          </a:p>
          <a:p>
            <a:pPr defTabSz="756000">
              <a:lnSpc>
                <a:spcPct val="100000"/>
              </a:lnSpc>
            </a:pPr>
            <a:br>
              <a:rPr sz="1200"/>
            </a:br>
            <a:endParaRPr b="0" lang="fr-FR" sz="1200" spc="-1" strike="noStrike">
              <a:solidFill>
                <a:srgbClr val="000000"/>
              </a:solidFill>
              <a:latin typeface="Arial"/>
            </a:endParaRPr>
          </a:p>
        </p:txBody>
      </p:sp>
      <p:sp>
        <p:nvSpPr>
          <p:cNvPr id="808" name="Rounded Rectangle 12"/>
          <p:cNvSpPr/>
          <p:nvPr/>
        </p:nvSpPr>
        <p:spPr>
          <a:xfrm>
            <a:off x="410400" y="6802920"/>
            <a:ext cx="6734160" cy="967320"/>
          </a:xfrm>
          <a:prstGeom prst="roundRect">
            <a:avLst>
              <a:gd name="adj" fmla="val 7383"/>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La politique de l'entreprise couvre-t-elle la discrimination ?</a:t>
            </a:r>
            <a:endParaRPr b="0" lang="fr-FR" sz="1200" spc="-1" strike="noStrike">
              <a:solidFill>
                <a:srgbClr val="000000"/>
              </a:solidFill>
              <a:latin typeface="Arial"/>
            </a:endParaRPr>
          </a:p>
          <a:p>
            <a:pPr defTabSz="756000">
              <a:lnSpc>
                <a:spcPct val="100000"/>
              </a:lnSpc>
            </a:pPr>
            <a:r>
              <a:rPr b="1" lang="en-FR" sz="1200" spc="-1" strike="noStrike">
                <a:solidFill>
                  <a:srgbClr val="000000"/>
                </a:solidFill>
                <a:latin typeface="Marianne Medium"/>
              </a:rPr>
              <a:t>L'entreprise ne dispose pas d’un code de conduite ou d’une politique en matière de droits de l’homme pour son personnel.</a:t>
            </a:r>
            <a:endParaRPr b="0" lang="fr-FR" sz="1200" spc="-1" strike="noStrike">
              <a:solidFill>
                <a:srgbClr val="000000"/>
              </a:solidFill>
              <a:latin typeface="Arial"/>
            </a:endParaRPr>
          </a:p>
          <a:p>
            <a:pPr defTabSz="756000">
              <a:lnSpc>
                <a:spcPct val="100000"/>
              </a:lnSpc>
            </a:pPr>
            <a:endParaRPr b="0" lang="fr-FR" sz="1200" spc="-1" strike="noStrike">
              <a:solidFill>
                <a:srgbClr val="000000"/>
              </a:solidFill>
              <a:latin typeface="Arial"/>
            </a:endParaRPr>
          </a:p>
        </p:txBody>
      </p:sp>
      <p:sp>
        <p:nvSpPr>
          <p:cNvPr id="809" name="Rounded Rectangle 13"/>
          <p:cNvSpPr/>
          <p:nvPr/>
        </p:nvSpPr>
        <p:spPr>
          <a:xfrm>
            <a:off x="410400" y="7908120"/>
            <a:ext cx="6734160" cy="967320"/>
          </a:xfrm>
          <a:prstGeom prst="roundRect">
            <a:avLst>
              <a:gd name="adj" fmla="val 7383"/>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La politique de l'entreprise couvre-t-elle la prévention des accidents ?</a:t>
            </a:r>
            <a:endParaRPr b="0" lang="fr-FR" sz="1200" spc="-1" strike="noStrike">
              <a:solidFill>
                <a:srgbClr val="000000"/>
              </a:solidFill>
              <a:latin typeface="Arial"/>
            </a:endParaRPr>
          </a:p>
          <a:p>
            <a:pPr defTabSz="756000">
              <a:lnSpc>
                <a:spcPct val="100000"/>
              </a:lnSpc>
            </a:pPr>
            <a:r>
              <a:rPr b="1" lang="en-FR" sz="1200" spc="-1" strike="noStrike">
                <a:solidFill>
                  <a:srgbClr val="000000"/>
                </a:solidFill>
                <a:latin typeface="Marianne Medium"/>
              </a:rPr>
              <a:t>L'entreprise ne dispose pas d’un code de conduite ou d’une politique en matière de droits de l’homme pour son personnel.</a:t>
            </a:r>
            <a:endParaRPr b="0" lang="fr-FR" sz="1200" spc="-1" strike="noStrike">
              <a:solidFill>
                <a:srgbClr val="000000"/>
              </a:solidFill>
              <a:latin typeface="Arial"/>
            </a:endParaRPr>
          </a:p>
          <a:p>
            <a:pPr defTabSz="756000">
              <a:lnSpc>
                <a:spcPct val="100000"/>
              </a:lnSpc>
            </a:pPr>
            <a:br>
              <a:rPr sz="1200"/>
            </a:b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0" name="Picture 2" descr=""/>
          <p:cNvPicPr/>
          <p:nvPr/>
        </p:nvPicPr>
        <p:blipFill>
          <a:blip r:embed="rId1"/>
          <a:srcRect l="0" t="0" r="0" b="0"/>
          <a:stretch/>
        </p:blipFill>
        <p:spPr>
          <a:xfrm>
            <a:off x="0" y="0"/>
            <a:ext cx="7546320" cy="10686960"/>
          </a:xfrm>
          <a:prstGeom prst="rect">
            <a:avLst/>
          </a:prstGeom>
          <a:ln w="0">
            <a:noFill/>
          </a:ln>
        </p:spPr>
      </p:pic>
      <p:sp>
        <p:nvSpPr>
          <p:cNvPr id="811"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812" name="Rounded Rectangle 3"/>
          <p:cNvSpPr/>
          <p:nvPr/>
        </p:nvSpPr>
        <p:spPr>
          <a:xfrm rot="16200000">
            <a:off x="3809520" y="-190440"/>
            <a:ext cx="700920" cy="6151320"/>
          </a:xfrm>
          <a:prstGeom prst="roundRect">
            <a:avLst>
              <a:gd name="adj" fmla="val 16667"/>
            </a:avLst>
          </a:prstGeom>
          <a:solidFill>
            <a:srgbClr val="ff5555">
              <a:alpha val="5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8d2f2f"/>
                </a:solidFill>
                <a:latin typeface="Marianne"/>
              </a:rPr>
              <a:t>C6</a:t>
            </a:r>
            <a:r>
              <a:rPr b="0" lang="fr-FR" sz="1400" spc="-1" strike="noStrike">
                <a:solidFill>
                  <a:srgbClr val="8d2f2f"/>
                </a:solidFill>
                <a:latin typeface="Marianne Medium"/>
              </a:rPr>
              <a:t> </a:t>
            </a:r>
            <a:r>
              <a:rPr b="0" lang="fr-FR" sz="1400" spc="-1" strike="noStrike">
                <a:solidFill>
                  <a:srgbClr val="8d2f2f"/>
                </a:solidFill>
                <a:latin typeface="Marianne"/>
              </a:rPr>
              <a:t>Informations complémentaires sur les effectifs de l'entreprise – Politiques et procédures en matière de droits de l’homme</a:t>
            </a:r>
            <a:endParaRPr b="0" lang="fr-FR" sz="1400" spc="-1" strike="noStrike">
              <a:solidFill>
                <a:srgbClr val="ffffff"/>
              </a:solidFill>
              <a:latin typeface="Arial"/>
            </a:endParaRPr>
          </a:p>
        </p:txBody>
      </p:sp>
      <p:cxnSp>
        <p:nvCxnSpPr>
          <p:cNvPr id="813" name="Straight Connector 17"/>
          <p:cNvCxnSpPr/>
          <p:nvPr/>
        </p:nvCxnSpPr>
        <p:spPr>
          <a:xfrm>
            <a:off x="893160" y="2525400"/>
            <a:ext cx="4680" cy="710280"/>
          </a:xfrm>
          <a:prstGeom prst="straightConnector1">
            <a:avLst/>
          </a:prstGeom>
          <a:ln w="3175">
            <a:solidFill>
              <a:srgbClr val="a6a6a6"/>
            </a:solidFill>
            <a:round/>
          </a:ln>
        </p:spPr>
      </p:cxnSp>
      <p:pic>
        <p:nvPicPr>
          <p:cNvPr id="814" name="Graphic 5"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815" name="TextBox 4"/>
          <p:cNvSpPr/>
          <p:nvPr/>
        </p:nvSpPr>
        <p:spPr>
          <a:xfrm>
            <a:off x="366480" y="187200"/>
            <a:ext cx="17820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Informations générales</a:t>
            </a:r>
            <a:endParaRPr b="0" lang="fr-FR" sz="1100" spc="-1" strike="noStrike">
              <a:solidFill>
                <a:srgbClr val="ffffff"/>
              </a:solidFill>
              <a:latin typeface="Arial"/>
            </a:endParaRPr>
          </a:p>
        </p:txBody>
      </p:sp>
      <p:sp>
        <p:nvSpPr>
          <p:cNvPr id="816" name="TextBox 6"/>
          <p:cNvSpPr/>
          <p:nvPr/>
        </p:nvSpPr>
        <p:spPr>
          <a:xfrm>
            <a:off x="3654000" y="187200"/>
            <a:ext cx="643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Social</a:t>
            </a:r>
            <a:endParaRPr b="0" lang="fr-FR" sz="1100" spc="-1" strike="noStrike">
              <a:solidFill>
                <a:srgbClr val="000000"/>
              </a:solidFill>
              <a:latin typeface="Arial"/>
            </a:endParaRPr>
          </a:p>
        </p:txBody>
      </p:sp>
      <p:sp>
        <p:nvSpPr>
          <p:cNvPr id="817" name="TextBox 7"/>
          <p:cNvSpPr/>
          <p:nvPr/>
        </p:nvSpPr>
        <p:spPr>
          <a:xfrm>
            <a:off x="2293920" y="187200"/>
            <a:ext cx="124884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Environnement</a:t>
            </a:r>
            <a:endParaRPr b="0" lang="fr-FR" sz="1100" spc="-1" strike="noStrike">
              <a:solidFill>
                <a:srgbClr val="ffffff"/>
              </a:solidFill>
              <a:latin typeface="Arial"/>
            </a:endParaRPr>
          </a:p>
        </p:txBody>
      </p:sp>
      <p:sp>
        <p:nvSpPr>
          <p:cNvPr id="818" name="TextBox 8"/>
          <p:cNvSpPr/>
          <p:nvPr/>
        </p:nvSpPr>
        <p:spPr>
          <a:xfrm>
            <a:off x="4407840" y="187200"/>
            <a:ext cx="11178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Gouvernance</a:t>
            </a:r>
            <a:endParaRPr b="0" lang="fr-FR" sz="1100" spc="-1" strike="noStrike">
              <a:solidFill>
                <a:srgbClr val="ffffff"/>
              </a:solidFill>
              <a:latin typeface="Arial"/>
            </a:endParaRPr>
          </a:p>
        </p:txBody>
      </p:sp>
      <p:sp>
        <p:nvSpPr>
          <p:cNvPr id="819" name="Rounded Rectangle 2"/>
          <p:cNvSpPr/>
          <p:nvPr/>
        </p:nvSpPr>
        <p:spPr>
          <a:xfrm>
            <a:off x="406080" y="6415200"/>
            <a:ext cx="6734160" cy="1137960"/>
          </a:xfrm>
          <a:prstGeom prst="roundRect">
            <a:avLst>
              <a:gd name="adj" fmla="val 15120"/>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L'entreprise dispose-t-elle d’un mécanisme permettant aux salariés de déposer des plaintes relatives aux droits de l’homme et aux conditions de travail ?</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a:t>
            </a:r>
            <a:br>
              <a:rPr sz="1200"/>
            </a:br>
            <a:endParaRPr b="0" lang="fr-FR" sz="1200" spc="-1" strike="noStrike">
              <a:solidFill>
                <a:srgbClr val="000000"/>
              </a:solidFill>
              <a:latin typeface="Arial"/>
            </a:endParaRPr>
          </a:p>
        </p:txBody>
      </p:sp>
      <p:sp>
        <p:nvSpPr>
          <p:cNvPr id="820" name="Rounded Rectangle 10"/>
          <p:cNvSpPr/>
          <p:nvPr/>
        </p:nvSpPr>
        <p:spPr>
          <a:xfrm>
            <a:off x="406080" y="3605760"/>
            <a:ext cx="6734160" cy="2610360"/>
          </a:xfrm>
          <a:prstGeom prst="roundRect">
            <a:avLst>
              <a:gd name="adj" fmla="val 5784"/>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Autres thèmes couverts par la politique de l'entreprise</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a:t>
            </a:r>
            <a:br>
              <a:rPr sz="1200"/>
            </a:b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1" name="Picture 2" descr=""/>
          <p:cNvPicPr/>
          <p:nvPr/>
        </p:nvPicPr>
        <p:blipFill>
          <a:blip r:embed="rId1"/>
          <a:srcRect l="0" t="0" r="0" b="0"/>
          <a:stretch/>
        </p:blipFill>
        <p:spPr>
          <a:xfrm>
            <a:off x="0" y="0"/>
            <a:ext cx="7546320" cy="10686960"/>
          </a:xfrm>
          <a:prstGeom prst="rect">
            <a:avLst/>
          </a:prstGeom>
          <a:ln w="0">
            <a:noFill/>
          </a:ln>
        </p:spPr>
      </p:pic>
      <p:sp>
        <p:nvSpPr>
          <p:cNvPr id="822"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823" name="Rounded Rectangle 3"/>
          <p:cNvSpPr/>
          <p:nvPr/>
        </p:nvSpPr>
        <p:spPr>
          <a:xfrm rot="16200000">
            <a:off x="3985560" y="-322560"/>
            <a:ext cx="394560" cy="6151320"/>
          </a:xfrm>
          <a:prstGeom prst="roundRect">
            <a:avLst>
              <a:gd name="adj" fmla="val 16667"/>
            </a:avLst>
          </a:prstGeom>
          <a:solidFill>
            <a:srgbClr val="ff5555">
              <a:alpha val="5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8d2f2f"/>
                </a:solidFill>
                <a:latin typeface="Marianne"/>
              </a:rPr>
              <a:t>C7</a:t>
            </a:r>
            <a:r>
              <a:rPr b="0" lang="fr-FR" sz="1400" spc="-1" strike="noStrike">
                <a:solidFill>
                  <a:srgbClr val="8d2f2f"/>
                </a:solidFill>
                <a:latin typeface="Marianne Medium"/>
              </a:rPr>
              <a:t> </a:t>
            </a:r>
            <a:r>
              <a:rPr b="0" lang="fr-FR" sz="1400" spc="-1" strike="noStrike">
                <a:solidFill>
                  <a:srgbClr val="8d2f2f"/>
                </a:solidFill>
                <a:latin typeface="Marianne"/>
              </a:rPr>
              <a:t>Incidents graves en matière de droits de l’homme</a:t>
            </a:r>
            <a:endParaRPr b="0" lang="fr-FR" sz="1400" spc="-1" strike="noStrike">
              <a:solidFill>
                <a:srgbClr val="ffffff"/>
              </a:solidFill>
              <a:latin typeface="Arial"/>
            </a:endParaRPr>
          </a:p>
        </p:txBody>
      </p:sp>
      <p:cxnSp>
        <p:nvCxnSpPr>
          <p:cNvPr id="824" name="Straight Connector 17"/>
          <p:cNvCxnSpPr/>
          <p:nvPr/>
        </p:nvCxnSpPr>
        <p:spPr>
          <a:xfrm>
            <a:off x="893160" y="2525400"/>
            <a:ext cx="4680" cy="426240"/>
          </a:xfrm>
          <a:prstGeom prst="straightConnector1">
            <a:avLst/>
          </a:prstGeom>
          <a:ln w="3175">
            <a:solidFill>
              <a:srgbClr val="a6a6a6"/>
            </a:solidFill>
            <a:round/>
          </a:ln>
        </p:spPr>
      </p:cxnSp>
      <p:pic>
        <p:nvPicPr>
          <p:cNvPr id="825" name="Graphic 5"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826" name="TextBox 4"/>
          <p:cNvSpPr/>
          <p:nvPr/>
        </p:nvSpPr>
        <p:spPr>
          <a:xfrm>
            <a:off x="366480" y="187200"/>
            <a:ext cx="17820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Informations générales</a:t>
            </a:r>
            <a:endParaRPr b="0" lang="fr-FR" sz="1100" spc="-1" strike="noStrike">
              <a:solidFill>
                <a:srgbClr val="ffffff"/>
              </a:solidFill>
              <a:latin typeface="Arial"/>
            </a:endParaRPr>
          </a:p>
        </p:txBody>
      </p:sp>
      <p:sp>
        <p:nvSpPr>
          <p:cNvPr id="827" name="TextBox 6"/>
          <p:cNvSpPr/>
          <p:nvPr/>
        </p:nvSpPr>
        <p:spPr>
          <a:xfrm>
            <a:off x="3654000" y="187200"/>
            <a:ext cx="643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Social</a:t>
            </a:r>
            <a:endParaRPr b="0" lang="fr-FR" sz="1100" spc="-1" strike="noStrike">
              <a:solidFill>
                <a:srgbClr val="000000"/>
              </a:solidFill>
              <a:latin typeface="Arial"/>
            </a:endParaRPr>
          </a:p>
        </p:txBody>
      </p:sp>
      <p:sp>
        <p:nvSpPr>
          <p:cNvPr id="828" name="TextBox 7"/>
          <p:cNvSpPr/>
          <p:nvPr/>
        </p:nvSpPr>
        <p:spPr>
          <a:xfrm>
            <a:off x="2293920" y="187200"/>
            <a:ext cx="124884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Environnement</a:t>
            </a:r>
            <a:endParaRPr b="0" lang="fr-FR" sz="1100" spc="-1" strike="noStrike">
              <a:solidFill>
                <a:srgbClr val="ffffff"/>
              </a:solidFill>
              <a:latin typeface="Arial"/>
            </a:endParaRPr>
          </a:p>
        </p:txBody>
      </p:sp>
      <p:sp>
        <p:nvSpPr>
          <p:cNvPr id="829" name="TextBox 8"/>
          <p:cNvSpPr/>
          <p:nvPr/>
        </p:nvSpPr>
        <p:spPr>
          <a:xfrm>
            <a:off x="4407840" y="187200"/>
            <a:ext cx="11178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Gouvernance</a:t>
            </a:r>
            <a:endParaRPr b="0" lang="fr-FR" sz="1100" spc="-1" strike="noStrike">
              <a:solidFill>
                <a:srgbClr val="ffffff"/>
              </a:solidFill>
              <a:latin typeface="Arial"/>
            </a:endParaRPr>
          </a:p>
        </p:txBody>
      </p:sp>
      <p:sp>
        <p:nvSpPr>
          <p:cNvPr id="830" name="Rounded Rectangle 11"/>
          <p:cNvSpPr/>
          <p:nvPr/>
        </p:nvSpPr>
        <p:spPr>
          <a:xfrm>
            <a:off x="410400" y="4750200"/>
            <a:ext cx="6734160" cy="1147320"/>
          </a:xfrm>
          <a:prstGeom prst="roundRect">
            <a:avLst>
              <a:gd name="adj" fmla="val 7383"/>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L’entreprise a-t-elle confirmé des incidents graves au sein de son personnel liés au travail forcé ?</a:t>
            </a:r>
            <a:endParaRPr b="0" lang="fr-FR" sz="1200" spc="-1" strike="noStrike">
              <a:solidFill>
                <a:srgbClr val="000000"/>
              </a:solidFill>
              <a:latin typeface="Arial"/>
            </a:endParaRPr>
          </a:p>
          <a:p>
            <a:pPr defTabSz="756000">
              <a:lnSpc>
                <a:spcPct val="100000"/>
              </a:lnSpc>
            </a:pPr>
            <a:r>
              <a:rPr b="1" lang="en-FR" sz="1200" spc="-1" strike="noStrike">
                <a:solidFill>
                  <a:srgbClr val="000000"/>
                </a:solidFill>
                <a:latin typeface="Marianne Medium"/>
              </a:rPr>
              <a:t>-</a:t>
            </a:r>
            <a:br>
              <a:rPr sz="1200"/>
            </a:br>
            <a:endParaRPr b="0" lang="fr-FR" sz="1200" spc="-1" strike="noStrike">
              <a:solidFill>
                <a:srgbClr val="000000"/>
              </a:solidFill>
              <a:latin typeface="Arial"/>
            </a:endParaRPr>
          </a:p>
        </p:txBody>
      </p:sp>
      <p:sp>
        <p:nvSpPr>
          <p:cNvPr id="831" name="Rounded Rectangle 12"/>
          <p:cNvSpPr/>
          <p:nvPr/>
        </p:nvSpPr>
        <p:spPr>
          <a:xfrm>
            <a:off x="410400" y="6012000"/>
            <a:ext cx="6734160" cy="1147320"/>
          </a:xfrm>
          <a:prstGeom prst="roundRect">
            <a:avLst>
              <a:gd name="adj" fmla="val 7383"/>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L’entreprise a-t-elle confirmé des incidents graves au sein de son personnel liés à la traite des êtres humains ?</a:t>
            </a:r>
            <a:endParaRPr b="0" lang="fr-FR" sz="1200" spc="-1" strike="noStrike">
              <a:solidFill>
                <a:srgbClr val="000000"/>
              </a:solidFill>
              <a:latin typeface="Arial"/>
            </a:endParaRPr>
          </a:p>
          <a:p>
            <a:pPr defTabSz="756000">
              <a:lnSpc>
                <a:spcPct val="100000"/>
              </a:lnSpc>
            </a:pPr>
            <a:r>
              <a:rPr b="1" lang="en-FR" sz="1200" spc="-1" strike="noStrike">
                <a:solidFill>
                  <a:srgbClr val="000000"/>
                </a:solidFill>
                <a:latin typeface="Marianne Medium"/>
              </a:rPr>
              <a:t>-</a:t>
            </a:r>
            <a:br>
              <a:rPr sz="1200"/>
            </a:br>
            <a:endParaRPr b="0" lang="fr-FR" sz="1200" spc="-1" strike="noStrike">
              <a:solidFill>
                <a:srgbClr val="000000"/>
              </a:solidFill>
              <a:latin typeface="Arial"/>
            </a:endParaRPr>
          </a:p>
        </p:txBody>
      </p:sp>
      <p:sp>
        <p:nvSpPr>
          <p:cNvPr id="832" name="Rounded Rectangle 13"/>
          <p:cNvSpPr/>
          <p:nvPr/>
        </p:nvSpPr>
        <p:spPr>
          <a:xfrm>
            <a:off x="410400" y="7274160"/>
            <a:ext cx="6734160" cy="1147320"/>
          </a:xfrm>
          <a:prstGeom prst="roundRect">
            <a:avLst>
              <a:gd name="adj" fmla="val 7383"/>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L’entreprise a-t-elle confirmé des incidents graves au sein de son personnel liés à la discrimination ?</a:t>
            </a:r>
            <a:endParaRPr b="0" lang="fr-FR" sz="1200" spc="-1" strike="noStrike">
              <a:solidFill>
                <a:srgbClr val="000000"/>
              </a:solidFill>
              <a:latin typeface="Arial"/>
            </a:endParaRPr>
          </a:p>
          <a:p>
            <a:pPr defTabSz="756000">
              <a:lnSpc>
                <a:spcPct val="100000"/>
              </a:lnSpc>
            </a:pPr>
            <a:r>
              <a:rPr b="1" lang="en-FR" sz="1200" spc="-1" strike="noStrike">
                <a:solidFill>
                  <a:srgbClr val="000000"/>
                </a:solidFill>
                <a:latin typeface="Marianne Medium"/>
              </a:rPr>
              <a:t>-</a:t>
            </a:r>
            <a:br>
              <a:rPr sz="1200"/>
            </a:br>
            <a:endParaRPr b="0" lang="fr-FR" sz="1200" spc="-1" strike="noStrike">
              <a:solidFill>
                <a:srgbClr val="000000"/>
              </a:solidFill>
              <a:latin typeface="Arial"/>
            </a:endParaRPr>
          </a:p>
        </p:txBody>
      </p:sp>
      <p:sp>
        <p:nvSpPr>
          <p:cNvPr id="833" name="Rounded Rectangle 14"/>
          <p:cNvSpPr/>
          <p:nvPr/>
        </p:nvSpPr>
        <p:spPr>
          <a:xfrm>
            <a:off x="410400" y="8535960"/>
            <a:ext cx="6734160" cy="1147320"/>
          </a:xfrm>
          <a:prstGeom prst="roundRect">
            <a:avLst>
              <a:gd name="adj" fmla="val 7383"/>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Autres thèmes concernant des incidents graves confirmés relatifs aux droits de l’homme</a:t>
            </a:r>
            <a:endParaRPr b="0" lang="fr-FR" sz="1200" spc="-1" strike="noStrike">
              <a:solidFill>
                <a:srgbClr val="000000"/>
              </a:solidFill>
              <a:latin typeface="Arial"/>
            </a:endParaRPr>
          </a:p>
          <a:p>
            <a:pPr defTabSz="756000">
              <a:lnSpc>
                <a:spcPct val="100000"/>
              </a:lnSpc>
            </a:pPr>
            <a:r>
              <a:rPr b="1" lang="en-FR" sz="1200" spc="-1" strike="noStrike">
                <a:solidFill>
                  <a:srgbClr val="000000"/>
                </a:solidFill>
                <a:latin typeface="Marianne Medium"/>
              </a:rPr>
              <a:t>-</a:t>
            </a:r>
            <a:br>
              <a:rPr sz="1200"/>
            </a:br>
            <a:endParaRPr b="0" lang="fr-FR" sz="1200" spc="-1" strike="noStrike">
              <a:solidFill>
                <a:srgbClr val="000000"/>
              </a:solidFill>
              <a:latin typeface="Arial"/>
            </a:endParaRPr>
          </a:p>
        </p:txBody>
      </p:sp>
      <p:sp>
        <p:nvSpPr>
          <p:cNvPr id="834" name="Rounded Rectangle 1"/>
          <p:cNvSpPr/>
          <p:nvPr/>
        </p:nvSpPr>
        <p:spPr>
          <a:xfrm>
            <a:off x="406080" y="3480480"/>
            <a:ext cx="6734160" cy="1147320"/>
          </a:xfrm>
          <a:prstGeom prst="roundRect">
            <a:avLst>
              <a:gd name="adj" fmla="val 7383"/>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L’entreprise a-t-elle confirmé des incidents graves au sein de son personnel liés au travail des enfants ?</a:t>
            </a:r>
            <a:endParaRPr b="0" lang="fr-FR" sz="1200" spc="-1" strike="noStrike">
              <a:solidFill>
                <a:srgbClr val="000000"/>
              </a:solidFill>
              <a:latin typeface="Arial"/>
            </a:endParaRPr>
          </a:p>
          <a:p>
            <a:pPr defTabSz="756000">
              <a:lnSpc>
                <a:spcPct val="100000"/>
              </a:lnSpc>
            </a:pPr>
            <a:r>
              <a:rPr b="1" lang="en-FR" sz="1200" spc="-1" strike="noStrike">
                <a:solidFill>
                  <a:srgbClr val="000000"/>
                </a:solidFill>
                <a:latin typeface="Marianne Medium"/>
              </a:rPr>
              <a:t>-</a:t>
            </a:r>
            <a:br>
              <a:rPr sz="1200"/>
            </a:b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35" name="Picture 2" descr=""/>
          <p:cNvPicPr/>
          <p:nvPr/>
        </p:nvPicPr>
        <p:blipFill>
          <a:blip r:embed="rId1"/>
          <a:srcRect l="0" t="0" r="0" b="0"/>
          <a:stretch/>
        </p:blipFill>
        <p:spPr>
          <a:xfrm>
            <a:off x="0" y="0"/>
            <a:ext cx="7546320" cy="10686960"/>
          </a:xfrm>
          <a:prstGeom prst="rect">
            <a:avLst/>
          </a:prstGeom>
          <a:ln w="0">
            <a:noFill/>
          </a:ln>
        </p:spPr>
      </p:pic>
      <p:sp>
        <p:nvSpPr>
          <p:cNvPr id="836"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837" name="Rounded Rectangle 3"/>
          <p:cNvSpPr/>
          <p:nvPr/>
        </p:nvSpPr>
        <p:spPr>
          <a:xfrm rot="16200000">
            <a:off x="3985560" y="-322560"/>
            <a:ext cx="394560" cy="6151320"/>
          </a:xfrm>
          <a:prstGeom prst="roundRect">
            <a:avLst>
              <a:gd name="adj" fmla="val 16667"/>
            </a:avLst>
          </a:prstGeom>
          <a:solidFill>
            <a:srgbClr val="ff5555">
              <a:alpha val="5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8d2f2f"/>
                </a:solidFill>
                <a:latin typeface="Marianne"/>
              </a:rPr>
              <a:t>C7</a:t>
            </a:r>
            <a:r>
              <a:rPr b="0" lang="fr-FR" sz="1400" spc="-1" strike="noStrike">
                <a:solidFill>
                  <a:srgbClr val="8d2f2f"/>
                </a:solidFill>
                <a:latin typeface="Marianne Medium"/>
              </a:rPr>
              <a:t> </a:t>
            </a:r>
            <a:r>
              <a:rPr b="0" lang="fr-FR" sz="1400" spc="-1" strike="noStrike">
                <a:solidFill>
                  <a:srgbClr val="8d2f2f"/>
                </a:solidFill>
                <a:latin typeface="Marianne"/>
              </a:rPr>
              <a:t>Incidents graves en matière de droits de l’homme</a:t>
            </a:r>
            <a:endParaRPr b="0" lang="fr-FR" sz="1400" spc="-1" strike="noStrike">
              <a:solidFill>
                <a:srgbClr val="ffffff"/>
              </a:solidFill>
              <a:latin typeface="Arial"/>
            </a:endParaRPr>
          </a:p>
        </p:txBody>
      </p:sp>
      <p:cxnSp>
        <p:nvCxnSpPr>
          <p:cNvPr id="838" name="Straight Connector 17"/>
          <p:cNvCxnSpPr/>
          <p:nvPr/>
        </p:nvCxnSpPr>
        <p:spPr>
          <a:xfrm>
            <a:off x="893160" y="2525400"/>
            <a:ext cx="4680" cy="426240"/>
          </a:xfrm>
          <a:prstGeom prst="straightConnector1">
            <a:avLst/>
          </a:prstGeom>
          <a:ln w="3175">
            <a:solidFill>
              <a:srgbClr val="a6a6a6"/>
            </a:solidFill>
            <a:round/>
          </a:ln>
        </p:spPr>
      </p:cxnSp>
      <p:pic>
        <p:nvPicPr>
          <p:cNvPr id="839" name="Graphic 5" descr=""/>
          <p:cNvPicPr/>
          <p:nvPr/>
        </p:nvPicPr>
        <p:blipFill>
          <a:blip r:embed="rId2">
            <a:extLst>
              <a:ext uri="{96DAC541-7B7A-43D3-8B79-37D633B846F1}">
                <asvg:svgBlip xmlns:asvg="http://schemas.microsoft.com/office/drawing/2016/SVG/main" r:embed="rId3"/>
              </a:ext>
            </a:extLst>
          </a:blip>
          <a:stretch/>
        </p:blipFill>
        <p:spPr>
          <a:xfrm>
            <a:off x="318960" y="2549880"/>
            <a:ext cx="391320" cy="391320"/>
          </a:xfrm>
          <a:prstGeom prst="rect">
            <a:avLst/>
          </a:prstGeom>
          <a:ln w="0">
            <a:noFill/>
          </a:ln>
        </p:spPr>
      </p:pic>
      <p:sp>
        <p:nvSpPr>
          <p:cNvPr id="840" name="TextBox 4"/>
          <p:cNvSpPr/>
          <p:nvPr/>
        </p:nvSpPr>
        <p:spPr>
          <a:xfrm>
            <a:off x="366480" y="187200"/>
            <a:ext cx="17820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Informations générales</a:t>
            </a:r>
            <a:endParaRPr b="0" lang="fr-FR" sz="1100" spc="-1" strike="noStrike">
              <a:solidFill>
                <a:srgbClr val="ffffff"/>
              </a:solidFill>
              <a:latin typeface="Arial"/>
            </a:endParaRPr>
          </a:p>
        </p:txBody>
      </p:sp>
      <p:sp>
        <p:nvSpPr>
          <p:cNvPr id="841" name="TextBox 6"/>
          <p:cNvSpPr/>
          <p:nvPr/>
        </p:nvSpPr>
        <p:spPr>
          <a:xfrm>
            <a:off x="3654000" y="187200"/>
            <a:ext cx="64368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Social</a:t>
            </a:r>
            <a:endParaRPr b="0" lang="fr-FR" sz="1100" spc="-1" strike="noStrike">
              <a:solidFill>
                <a:srgbClr val="000000"/>
              </a:solidFill>
              <a:latin typeface="Arial"/>
            </a:endParaRPr>
          </a:p>
        </p:txBody>
      </p:sp>
      <p:sp>
        <p:nvSpPr>
          <p:cNvPr id="842" name="TextBox 7"/>
          <p:cNvSpPr/>
          <p:nvPr/>
        </p:nvSpPr>
        <p:spPr>
          <a:xfrm>
            <a:off x="2293920" y="187200"/>
            <a:ext cx="124884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Environnement</a:t>
            </a:r>
            <a:endParaRPr b="0" lang="fr-FR" sz="1100" spc="-1" strike="noStrike">
              <a:solidFill>
                <a:srgbClr val="ffffff"/>
              </a:solidFill>
              <a:latin typeface="Arial"/>
            </a:endParaRPr>
          </a:p>
        </p:txBody>
      </p:sp>
      <p:sp>
        <p:nvSpPr>
          <p:cNvPr id="843" name="TextBox 8"/>
          <p:cNvSpPr/>
          <p:nvPr/>
        </p:nvSpPr>
        <p:spPr>
          <a:xfrm>
            <a:off x="4407840" y="187200"/>
            <a:ext cx="1117800" cy="305280"/>
          </a:xfrm>
          <a:prstGeom prst="roundRect">
            <a:avLst>
              <a:gd name="adj" fmla="val 16667"/>
            </a:avLst>
          </a:prstGeom>
          <a:solidFill>
            <a:schemeClr val="dk1">
              <a:alpha val="23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68000"/>
                  </a:schemeClr>
                </a:solidFill>
                <a:latin typeface="Marianne Light"/>
                <a:ea typeface="Arial"/>
              </a:rPr>
              <a:t>Gouvernance</a:t>
            </a:r>
            <a:endParaRPr b="0" lang="fr-FR" sz="1100" spc="-1" strike="noStrike">
              <a:solidFill>
                <a:srgbClr val="ffffff"/>
              </a:solidFill>
              <a:latin typeface="Arial"/>
            </a:endParaRPr>
          </a:p>
        </p:txBody>
      </p:sp>
      <p:sp>
        <p:nvSpPr>
          <p:cNvPr id="844" name="Rounded Rectangle 1"/>
          <p:cNvSpPr/>
          <p:nvPr/>
        </p:nvSpPr>
        <p:spPr>
          <a:xfrm>
            <a:off x="410400" y="6596280"/>
            <a:ext cx="6734160" cy="3086640"/>
          </a:xfrm>
          <a:prstGeom prst="roundRect">
            <a:avLst>
              <a:gd name="adj" fmla="val 2131"/>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fr-FR" sz="1200" spc="-1" strike="noStrike">
                <a:solidFill>
                  <a:srgbClr val="8d2f2f"/>
                </a:solidFill>
                <a:latin typeface="Marianne Light"/>
              </a:rPr>
              <a:t>Incidents graves en matière de droits de l’homme dans la chaîne de valeur et auprès des parties prenantes externes</a:t>
            </a:r>
            <a:endParaRPr b="0" lang="fr-FR" sz="1200" spc="-1" strike="noStrike">
              <a:solidFill>
                <a:srgbClr val="000000"/>
              </a:solidFill>
              <a:latin typeface="Arial"/>
            </a:endParaRPr>
          </a:p>
          <a:p>
            <a:pPr defTabSz="457200">
              <a:lnSpc>
                <a:spcPct val="100000"/>
              </a:lnSpc>
            </a:pPr>
            <a:r>
              <a:rPr b="1" i="1" lang="fr-FR" sz="1200" spc="-1" strike="noStrike">
                <a:solidFill>
                  <a:srgbClr val="000000"/>
                </a:solidFill>
                <a:latin typeface="Marianne Medium"/>
              </a:rPr>
              <a:t>-</a:t>
            </a:r>
            <a:endParaRPr b="0" lang="fr-FR" sz="1200" spc="-1" strike="noStrike">
              <a:solidFill>
                <a:srgbClr val="000000"/>
              </a:solidFill>
              <a:latin typeface="Arial"/>
            </a:endParaRPr>
          </a:p>
        </p:txBody>
      </p:sp>
      <p:sp>
        <p:nvSpPr>
          <p:cNvPr id="845" name="Rounded Rectangle 9"/>
          <p:cNvSpPr/>
          <p:nvPr/>
        </p:nvSpPr>
        <p:spPr>
          <a:xfrm>
            <a:off x="410400" y="3308760"/>
            <a:ext cx="6734160" cy="3086640"/>
          </a:xfrm>
          <a:prstGeom prst="roundRect">
            <a:avLst>
              <a:gd name="adj" fmla="val 383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8d2f2f"/>
                </a:solidFill>
                <a:latin typeface="Marianne Light"/>
              </a:rPr>
              <a:t>Description des actions mises en œuvre pour gérer les incidents confirmés</a:t>
            </a:r>
            <a:endParaRPr b="0" lang="fr-FR" sz="1200" spc="-1" strike="noStrike">
              <a:solidFill>
                <a:srgbClr val="000000"/>
              </a:solidFill>
              <a:latin typeface="Arial"/>
            </a:endParaRPr>
          </a:p>
          <a:p>
            <a:pPr defTabSz="457200">
              <a:lnSpc>
                <a:spcPct val="100000"/>
              </a:lnSpc>
            </a:pPr>
            <a:r>
              <a:rPr b="1" i="1" lang="fr-FR" sz="1200" spc="-1" strike="noStrike">
                <a:solidFill>
                  <a:srgbClr val="000000"/>
                </a:solidFill>
                <a:latin typeface="Marianne Medium"/>
              </a:rPr>
              <a:t>-</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46" name="Image 1" descr=""/>
          <p:cNvPicPr/>
          <p:nvPr/>
        </p:nvPicPr>
        <p:blipFill>
          <a:blip r:embed="rId1"/>
          <a:srcRect l="0" t="0" r="0" b="0"/>
          <a:stretch/>
        </p:blipFill>
        <p:spPr>
          <a:xfrm>
            <a:off x="0" y="0"/>
            <a:ext cx="7554960" cy="10738440"/>
          </a:xfrm>
          <a:prstGeom prst="rect">
            <a:avLst/>
          </a:prstGeom>
          <a:ln w="0">
            <a:noFill/>
          </a:ln>
        </p:spPr>
      </p:pic>
      <p:grpSp>
        <p:nvGrpSpPr>
          <p:cNvPr id="847" name="Group 23"/>
          <p:cNvGrpSpPr/>
          <p:nvPr/>
        </p:nvGrpSpPr>
        <p:grpSpPr>
          <a:xfrm>
            <a:off x="0" y="3256920"/>
            <a:ext cx="7554960" cy="4173480"/>
            <a:chOff x="0" y="3256920"/>
            <a:chExt cx="7554960" cy="4173480"/>
          </a:xfrm>
        </p:grpSpPr>
        <p:sp>
          <p:nvSpPr>
            <p:cNvPr id="848" name="Rectangle 9"/>
            <p:cNvSpPr/>
            <p:nvPr/>
          </p:nvSpPr>
          <p:spPr>
            <a:xfrm>
              <a:off x="0" y="3256920"/>
              <a:ext cx="7554960" cy="41734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849" name="Round Same-side Corner of Rectangle 14"/>
            <p:cNvSpPr/>
            <p:nvPr/>
          </p:nvSpPr>
          <p:spPr>
            <a:xfrm rot="16200000">
              <a:off x="3996720" y="1166040"/>
              <a:ext cx="236160" cy="6879960"/>
            </a:xfrm>
            <a:prstGeom prst="round2SameRect">
              <a:avLst>
                <a:gd name="adj1" fmla="val 26772"/>
                <a:gd name="adj2" fmla="val 0"/>
              </a:avLst>
            </a:prstGeom>
            <a:solidFill>
              <a:srgbClr val="0175e9">
                <a:alpha val="7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064e9d"/>
                  </a:solidFill>
                  <a:latin typeface="Marianne"/>
                </a:rPr>
                <a:t>B11</a:t>
              </a:r>
              <a:r>
                <a:rPr b="0" lang="fr-FR" sz="850" spc="-1" strike="noStrike">
                  <a:solidFill>
                    <a:srgbClr val="064e9d"/>
                  </a:solidFill>
                  <a:latin typeface="Marianne Medium"/>
                </a:rPr>
                <a:t> </a:t>
              </a:r>
              <a:r>
                <a:rPr b="0" lang="fr-FR" sz="850" spc="-1" strike="noStrike">
                  <a:solidFill>
                    <a:srgbClr val="064e9d"/>
                  </a:solidFill>
                  <a:latin typeface="Marianne"/>
                </a:rPr>
                <a:t>Condamnations et amendes en matière de lutte contre la corruption et les actes de corruption</a:t>
              </a:r>
              <a:endParaRPr b="0" lang="fr-FR" sz="850" spc="-1" strike="noStrike">
                <a:solidFill>
                  <a:srgbClr val="ffffff"/>
                </a:solidFill>
                <a:latin typeface="Arial"/>
              </a:endParaRPr>
            </a:p>
          </p:txBody>
        </p:sp>
        <p:cxnSp>
          <p:nvCxnSpPr>
            <p:cNvPr id="850" name="Straight Connector 15"/>
            <p:cNvCxnSpPr/>
            <p:nvPr/>
          </p:nvCxnSpPr>
          <p:spPr>
            <a:xfrm>
              <a:off x="1255320" y="3802680"/>
              <a:ext cx="4680" cy="426600"/>
            </a:xfrm>
            <a:prstGeom prst="straightConnector1">
              <a:avLst/>
            </a:prstGeom>
            <a:ln w="3175">
              <a:solidFill>
                <a:srgbClr val="a6a6a6"/>
              </a:solidFill>
              <a:round/>
            </a:ln>
          </p:spPr>
        </p:cxnSp>
        <p:sp>
          <p:nvSpPr>
            <p:cNvPr id="851" name="TextBox 16"/>
            <p:cNvSpPr/>
            <p:nvPr/>
          </p:nvSpPr>
          <p:spPr>
            <a:xfrm>
              <a:off x="1299960" y="3767400"/>
              <a:ext cx="5605200" cy="528480"/>
            </a:xfrm>
            <a:prstGeom prst="rect">
              <a:avLst/>
            </a:prstGeom>
            <a:noFill/>
            <a:ln w="0">
              <a:noFill/>
            </a:ln>
          </p:spPr>
          <p:style>
            <a:lnRef idx="0"/>
            <a:fillRef idx="0"/>
            <a:effectRef idx="0"/>
            <a:fontRef idx="minor"/>
          </p:style>
          <p:txBody>
            <a:bodyPr lIns="90000" rIns="90000" tIns="45000" bIns="45000" anchor="t">
              <a:spAutoFit/>
            </a:bodyPr>
            <a:p>
              <a:pPr marL="11160" defTabSz="457200">
                <a:lnSpc>
                  <a:spcPct val="120000"/>
                </a:lnSpc>
              </a:pPr>
              <a:r>
                <a:rPr b="1" lang="fr-FR" sz="2400" spc="-1" strike="noStrike">
                  <a:solidFill>
                    <a:schemeClr val="dk1"/>
                  </a:solidFill>
                  <a:latin typeface="Marianne"/>
                  <a:ea typeface="Arial"/>
                </a:rPr>
                <a:t>Gouvernance</a:t>
              </a:r>
              <a:endParaRPr b="0" lang="fr-FR" sz="2400" spc="-1" strike="noStrike">
                <a:solidFill>
                  <a:srgbClr val="000000"/>
                </a:solidFill>
                <a:latin typeface="Arial"/>
              </a:endParaRPr>
            </a:p>
          </p:txBody>
        </p:sp>
        <p:sp>
          <p:nvSpPr>
            <p:cNvPr id="852" name="Round Same-side Corner of Rectangle 17"/>
            <p:cNvSpPr/>
            <p:nvPr/>
          </p:nvSpPr>
          <p:spPr>
            <a:xfrm rot="16200000">
              <a:off x="3996720" y="1458000"/>
              <a:ext cx="236160" cy="6879960"/>
            </a:xfrm>
            <a:prstGeom prst="round2SameRect">
              <a:avLst>
                <a:gd name="adj1" fmla="val 26772"/>
                <a:gd name="adj2" fmla="val 0"/>
              </a:avLst>
            </a:prstGeom>
            <a:solidFill>
              <a:srgbClr val="0175e9">
                <a:alpha val="7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064e9d"/>
                  </a:solidFill>
                  <a:latin typeface="Marianne"/>
                </a:rPr>
                <a:t>C8</a:t>
              </a:r>
              <a:r>
                <a:rPr b="0" lang="fr-FR" sz="850" spc="-1" strike="noStrike">
                  <a:solidFill>
                    <a:srgbClr val="064e9d"/>
                  </a:solidFill>
                  <a:latin typeface="Marianne Medium"/>
                </a:rPr>
                <a:t> </a:t>
              </a:r>
              <a:r>
                <a:rPr b="0" lang="fr-FR" sz="850" spc="-1" strike="noStrike">
                  <a:solidFill>
                    <a:srgbClr val="064e9d"/>
                  </a:solidFill>
                  <a:latin typeface="Marianne"/>
                </a:rPr>
                <a:t>Recettes de certains secteurs et exclusion des indices de référence de l'UE</a:t>
              </a:r>
              <a:endParaRPr b="0" lang="fr-FR" sz="850" spc="-1" strike="noStrike">
                <a:solidFill>
                  <a:srgbClr val="ffffff"/>
                </a:solidFill>
                <a:latin typeface="Arial"/>
              </a:endParaRPr>
            </a:p>
          </p:txBody>
        </p:sp>
        <p:sp>
          <p:nvSpPr>
            <p:cNvPr id="853" name="Round Same-side Corner of Rectangle 18"/>
            <p:cNvSpPr/>
            <p:nvPr/>
          </p:nvSpPr>
          <p:spPr>
            <a:xfrm rot="16200000">
              <a:off x="3996720" y="1750320"/>
              <a:ext cx="236160" cy="6879960"/>
            </a:xfrm>
            <a:prstGeom prst="round2SameRect">
              <a:avLst>
                <a:gd name="adj1" fmla="val 26772"/>
                <a:gd name="adj2" fmla="val 0"/>
              </a:avLst>
            </a:prstGeom>
            <a:solidFill>
              <a:srgbClr val="0175e9">
                <a:alpha val="7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064e9d"/>
                  </a:solidFill>
                  <a:latin typeface="Marianne"/>
                </a:rPr>
                <a:t>C8</a:t>
              </a:r>
              <a:r>
                <a:rPr b="0" lang="fr-FR" sz="850" spc="-1" strike="noStrike">
                  <a:solidFill>
                    <a:srgbClr val="064e9d"/>
                  </a:solidFill>
                  <a:latin typeface="Marianne Medium"/>
                </a:rPr>
                <a:t> </a:t>
              </a:r>
              <a:r>
                <a:rPr b="0" lang="fr-FR" sz="850" spc="-1" strike="noStrike">
                  <a:solidFill>
                    <a:srgbClr val="064e9d"/>
                  </a:solidFill>
                  <a:latin typeface="Marianne"/>
                </a:rPr>
                <a:t>Recettes de certains secteurs et exclusion des indices de référence de l'UE</a:t>
              </a:r>
              <a:endParaRPr b="0" lang="fr-FR" sz="850" spc="-1" strike="noStrike">
                <a:solidFill>
                  <a:srgbClr val="ffffff"/>
                </a:solidFill>
                <a:latin typeface="Arial"/>
              </a:endParaRPr>
            </a:p>
          </p:txBody>
        </p:sp>
        <p:sp>
          <p:nvSpPr>
            <p:cNvPr id="854" name="Round Same-side Corner of Rectangle 20"/>
            <p:cNvSpPr/>
            <p:nvPr/>
          </p:nvSpPr>
          <p:spPr>
            <a:xfrm rot="16200000">
              <a:off x="3996720" y="2042640"/>
              <a:ext cx="236160" cy="6879960"/>
            </a:xfrm>
            <a:prstGeom prst="round2SameRect">
              <a:avLst>
                <a:gd name="adj1" fmla="val 26772"/>
                <a:gd name="adj2" fmla="val 0"/>
              </a:avLst>
            </a:prstGeom>
            <a:solidFill>
              <a:srgbClr val="0175e9">
                <a:alpha val="7000"/>
              </a:srgbClr>
            </a:solidFill>
            <a:ln>
              <a:noFill/>
            </a:ln>
          </p:spPr>
          <p:style>
            <a:lnRef idx="2">
              <a:schemeClr val="accent1">
                <a:shade val="15000"/>
              </a:schemeClr>
            </a:lnRef>
            <a:fillRef idx="1">
              <a:schemeClr val="accent1"/>
            </a:fillRef>
            <a:effectRef idx="0">
              <a:schemeClr val="accent1"/>
            </a:effectRef>
            <a:fontRef idx="minor"/>
          </p:style>
          <p:txBody>
            <a:bodyPr lIns="36000" rIns="36000" tIns="72000" bIns="72000" anchor="ctr" vert="vert">
              <a:noAutofit/>
            </a:bodyPr>
            <a:p>
              <a:pPr defTabSz="457200">
                <a:lnSpc>
                  <a:spcPct val="100000"/>
                </a:lnSpc>
              </a:pPr>
              <a:r>
                <a:rPr b="1" lang="fr-FR" sz="850" spc="-1" strike="noStrike">
                  <a:solidFill>
                    <a:srgbClr val="064e9d"/>
                  </a:solidFill>
                  <a:latin typeface="Marianne"/>
                </a:rPr>
                <a:t>C9</a:t>
              </a:r>
              <a:r>
                <a:rPr b="0" lang="fr-FR" sz="850" spc="-1" strike="noStrike">
                  <a:solidFill>
                    <a:srgbClr val="064e9d"/>
                  </a:solidFill>
                  <a:latin typeface="Marianne Medium"/>
                </a:rPr>
                <a:t> </a:t>
              </a:r>
              <a:r>
                <a:rPr b="0" lang="fr-FR" sz="850" spc="-1" strike="noStrike">
                  <a:solidFill>
                    <a:srgbClr val="064e9d"/>
                  </a:solidFill>
                  <a:latin typeface="Marianne"/>
                </a:rPr>
                <a:t>Ratio femmes/hommes au sein de l'organe de gouvernance</a:t>
              </a:r>
              <a:endParaRPr b="0" lang="fr-FR" sz="850" spc="-1" strike="noStrike">
                <a:solidFill>
                  <a:srgbClr val="ffffff"/>
                </a:solidFill>
                <a:latin typeface="Arial"/>
              </a:endParaRPr>
            </a:p>
          </p:txBody>
        </p:sp>
        <p:pic>
          <p:nvPicPr>
            <p:cNvPr id="855" name="Graphic 21" descr=""/>
            <p:cNvPicPr/>
            <p:nvPr/>
          </p:nvPicPr>
          <p:blipFill>
            <a:blip r:embed="rId2"/>
            <a:stretch/>
          </p:blipFill>
          <p:spPr>
            <a:xfrm>
              <a:off x="782280" y="3876480"/>
              <a:ext cx="291600" cy="291600"/>
            </a:xfrm>
            <a:prstGeom prst="rect">
              <a:avLst/>
            </a:prstGeom>
            <a:ln w="0">
              <a:noFill/>
            </a:ln>
          </p:spPr>
        </p:pic>
        <p:sp>
          <p:nvSpPr>
            <p:cNvPr id="856" name="TextBox 22"/>
            <p:cNvSpPr/>
            <p:nvPr/>
          </p:nvSpPr>
          <p:spPr>
            <a:xfrm>
              <a:off x="666360" y="5846760"/>
              <a:ext cx="6281280" cy="821160"/>
            </a:xfrm>
            <a:prstGeom prst="rect">
              <a:avLst/>
            </a:prstGeom>
            <a:noFill/>
            <a:ln w="0">
              <a:noFill/>
            </a:ln>
          </p:spPr>
          <p:style>
            <a:lnRef idx="0"/>
            <a:fillRef idx="0"/>
            <a:effectRef idx="0"/>
            <a:fontRef idx="minor"/>
          </p:style>
          <p:txBody>
            <a:bodyPr lIns="90000" rIns="90000" tIns="45000" bIns="45000" anchor="t">
              <a:spAutoFit/>
            </a:bodyPr>
            <a:p>
              <a:pPr marL="11160" algn="just" defTabSz="457200">
                <a:lnSpc>
                  <a:spcPct val="120000"/>
                </a:lnSpc>
                <a:spcAft>
                  <a:spcPts val="601"/>
                </a:spcAft>
              </a:pPr>
              <a:r>
                <a:rPr b="0" lang="en-US" sz="1000" spc="-1" strike="noStrike">
                  <a:solidFill>
                    <a:schemeClr val="dk1"/>
                  </a:solidFill>
                  <a:latin typeface="Marianne Light"/>
                  <a:ea typeface="Arial"/>
                </a:rPr>
                <a:t>Les métriques de gouvernance permettent d’évaluer la manière dont notre entreprise est dirigée, contrôlée et responsabilisée. Elles apportent une vision claire et factuelle de nos pratiques de gouvernance, renforcent la crédibilité de notre démarche, soutiennent la confiance des parties prenantes et contribuent à une gestion transparente et durable de l’entreprise.</a:t>
              </a:r>
              <a:endParaRPr b="0" lang="fr-FR" sz="1000" spc="-1" strike="noStrike">
                <a:solidFill>
                  <a:srgbClr val="000000"/>
                </a:solidFill>
                <a:latin typeface="Arial"/>
              </a:endParaRPr>
            </a:p>
          </p:txBody>
        </p:sp>
      </p:gr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57" name="Image 10" descr=""/>
          <p:cNvPicPr/>
          <p:nvPr/>
        </p:nvPicPr>
        <p:blipFill>
          <a:blip r:embed="rId1"/>
          <a:srcRect l="0" t="0" r="0" b="0"/>
          <a:stretch/>
        </p:blipFill>
        <p:spPr>
          <a:xfrm>
            <a:off x="0" y="0"/>
            <a:ext cx="7554960" cy="10738440"/>
          </a:xfrm>
          <a:prstGeom prst="rect">
            <a:avLst/>
          </a:prstGeom>
          <a:ln w="0">
            <a:noFill/>
          </a:ln>
        </p:spPr>
      </p:pic>
      <p:sp>
        <p:nvSpPr>
          <p:cNvPr id="858"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859" name="Rounded Rectangle 3"/>
          <p:cNvSpPr/>
          <p:nvPr/>
        </p:nvSpPr>
        <p:spPr>
          <a:xfrm rot="16200000">
            <a:off x="3814920" y="-190440"/>
            <a:ext cx="700920" cy="6151320"/>
          </a:xfrm>
          <a:prstGeom prst="roundRect">
            <a:avLst>
              <a:gd name="adj" fmla="val 16667"/>
            </a:avLst>
          </a:prstGeom>
          <a:solidFill>
            <a:srgbClr val="0175e9">
              <a:alpha val="5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064e9d"/>
                </a:solidFill>
                <a:latin typeface="Marianne"/>
              </a:rPr>
              <a:t>B11</a:t>
            </a:r>
            <a:r>
              <a:rPr b="0" lang="fr-FR" sz="1400" spc="-1" strike="noStrike">
                <a:solidFill>
                  <a:srgbClr val="064e9d"/>
                </a:solidFill>
                <a:latin typeface="Marianne Medium"/>
              </a:rPr>
              <a:t> </a:t>
            </a:r>
            <a:r>
              <a:rPr b="0" lang="fr-FR" sz="1400" spc="-1" strike="noStrike">
                <a:solidFill>
                  <a:srgbClr val="064e9d"/>
                </a:solidFill>
                <a:latin typeface="Marianne"/>
              </a:rPr>
              <a:t>Condamnations et amendes en matière de lutte contre la corruption et les actes de corruption</a:t>
            </a:r>
            <a:endParaRPr b="0" lang="fr-FR" sz="1400" spc="-1" strike="noStrike">
              <a:solidFill>
                <a:srgbClr val="ffffff"/>
              </a:solidFill>
              <a:latin typeface="Arial"/>
            </a:endParaRPr>
          </a:p>
        </p:txBody>
      </p:sp>
      <p:cxnSp>
        <p:nvCxnSpPr>
          <p:cNvPr id="860" name="Straight Connector 17"/>
          <p:cNvCxnSpPr/>
          <p:nvPr/>
        </p:nvCxnSpPr>
        <p:spPr>
          <a:xfrm>
            <a:off x="893160" y="2525400"/>
            <a:ext cx="4680" cy="642240"/>
          </a:xfrm>
          <a:prstGeom prst="straightConnector1">
            <a:avLst/>
          </a:prstGeom>
          <a:ln w="3175">
            <a:solidFill>
              <a:srgbClr val="a6a6a6"/>
            </a:solidFill>
            <a:round/>
          </a:ln>
        </p:spPr>
      </p:cxnSp>
      <p:pic>
        <p:nvPicPr>
          <p:cNvPr id="861" name="Graphic 1" descr=""/>
          <p:cNvPicPr/>
          <p:nvPr/>
        </p:nvPicPr>
        <p:blipFill>
          <a:blip r:embed="rId2"/>
          <a:stretch/>
        </p:blipFill>
        <p:spPr>
          <a:xfrm>
            <a:off x="348480" y="2563200"/>
            <a:ext cx="276480" cy="276480"/>
          </a:xfrm>
          <a:prstGeom prst="rect">
            <a:avLst/>
          </a:prstGeom>
          <a:ln w="0">
            <a:noFill/>
          </a:ln>
        </p:spPr>
      </p:pic>
      <p:sp>
        <p:nvSpPr>
          <p:cNvPr id="862" name="Rounded Rectangle 2"/>
          <p:cNvSpPr/>
          <p:nvPr/>
        </p:nvSpPr>
        <p:spPr>
          <a:xfrm>
            <a:off x="410400" y="3399840"/>
            <a:ext cx="6734160" cy="1532160"/>
          </a:xfrm>
          <a:prstGeom prst="roundRect">
            <a:avLst>
              <a:gd name="adj" fmla="val 4838"/>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72000" tIns="180000" bIns="180000" anchor="t">
            <a:noAutofit/>
          </a:bodyPr>
          <a:p>
            <a:pPr defTabSz="457200">
              <a:lnSpc>
                <a:spcPct val="100000"/>
              </a:lnSpc>
            </a:pPr>
            <a:r>
              <a:rPr b="0" lang="en-FR" sz="1200" spc="-1" strike="noStrike">
                <a:solidFill>
                  <a:srgbClr val="064e9d"/>
                </a:solidFill>
                <a:latin typeface="Marianne Light"/>
              </a:rPr>
              <a:t>Nombre de condamnations pour violations des lois anti-corruption</a:t>
            </a:r>
            <a:endParaRPr b="0" lang="fr-FR" sz="1200" spc="-1" strike="noStrike">
              <a:solidFill>
                <a:srgbClr val="000000"/>
              </a:solidFill>
              <a:latin typeface="Arial"/>
            </a:endParaRPr>
          </a:p>
          <a:p>
            <a:pPr defTabSz="457200">
              <a:lnSpc>
                <a:spcPct val="100000"/>
              </a:lnSpc>
            </a:pPr>
            <a:r>
              <a:rPr b="1" lang="en-FR" sz="1200" spc="-1" strike="noStrike">
                <a:solidFill>
                  <a:schemeClr val="dk1"/>
                </a:solidFill>
                <a:latin typeface="Marianne Light"/>
              </a:rPr>
              <a:t>-</a:t>
            </a:r>
            <a:endParaRPr b="0" lang="fr-FR" sz="1200" spc="-1" strike="noStrike">
              <a:solidFill>
                <a:srgbClr val="000000"/>
              </a:solidFill>
              <a:latin typeface="Arial"/>
            </a:endParaRPr>
          </a:p>
        </p:txBody>
      </p:sp>
      <p:sp>
        <p:nvSpPr>
          <p:cNvPr id="863" name="TextBox 6"/>
          <p:cNvSpPr/>
          <p:nvPr/>
        </p:nvSpPr>
        <p:spPr>
          <a:xfrm>
            <a:off x="366480" y="187200"/>
            <a:ext cx="1782000" cy="305280"/>
          </a:xfrm>
          <a:prstGeom prst="roundRect">
            <a:avLst>
              <a:gd name="adj" fmla="val 16667"/>
            </a:avLst>
          </a:prstGeom>
          <a:solidFill>
            <a:schemeClr val="dk1">
              <a:alpha val="35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41000"/>
                  </a:schemeClr>
                </a:solidFill>
                <a:latin typeface="Marianne Light"/>
                <a:ea typeface="Arial"/>
              </a:rPr>
              <a:t>Informations générales</a:t>
            </a:r>
            <a:endParaRPr b="0" lang="fr-FR" sz="1100" spc="-1" strike="noStrike">
              <a:solidFill>
                <a:srgbClr val="ffffff"/>
              </a:solidFill>
              <a:latin typeface="Arial"/>
            </a:endParaRPr>
          </a:p>
        </p:txBody>
      </p:sp>
      <p:sp>
        <p:nvSpPr>
          <p:cNvPr id="864" name="TextBox 7"/>
          <p:cNvSpPr/>
          <p:nvPr/>
        </p:nvSpPr>
        <p:spPr>
          <a:xfrm>
            <a:off x="3666960" y="187200"/>
            <a:ext cx="617760" cy="305280"/>
          </a:xfrm>
          <a:prstGeom prst="roundRect">
            <a:avLst>
              <a:gd name="adj" fmla="val 16667"/>
            </a:avLst>
          </a:prstGeom>
          <a:solidFill>
            <a:schemeClr val="dk1">
              <a:alpha val="35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41000"/>
                  </a:schemeClr>
                </a:solidFill>
                <a:latin typeface="Marianne Light"/>
                <a:ea typeface="Arial"/>
              </a:rPr>
              <a:t>Social</a:t>
            </a:r>
            <a:endParaRPr b="0" lang="fr-FR" sz="1100" spc="-1" strike="noStrike">
              <a:solidFill>
                <a:srgbClr val="ffffff"/>
              </a:solidFill>
              <a:latin typeface="Arial"/>
            </a:endParaRPr>
          </a:p>
        </p:txBody>
      </p:sp>
      <p:sp>
        <p:nvSpPr>
          <p:cNvPr id="865" name="TextBox 8"/>
          <p:cNvSpPr/>
          <p:nvPr/>
        </p:nvSpPr>
        <p:spPr>
          <a:xfrm>
            <a:off x="2293920" y="187200"/>
            <a:ext cx="1248840" cy="305280"/>
          </a:xfrm>
          <a:prstGeom prst="roundRect">
            <a:avLst>
              <a:gd name="adj" fmla="val 16667"/>
            </a:avLst>
          </a:prstGeom>
          <a:solidFill>
            <a:schemeClr val="dk1">
              <a:alpha val="35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41000"/>
                  </a:schemeClr>
                </a:solidFill>
                <a:latin typeface="Marianne Light"/>
                <a:ea typeface="Arial"/>
              </a:rPr>
              <a:t>Environnement</a:t>
            </a:r>
            <a:endParaRPr b="0" lang="fr-FR" sz="1100" spc="-1" strike="noStrike">
              <a:solidFill>
                <a:srgbClr val="ffffff"/>
              </a:solidFill>
              <a:latin typeface="Arial"/>
            </a:endParaRPr>
          </a:p>
        </p:txBody>
      </p:sp>
      <p:sp>
        <p:nvSpPr>
          <p:cNvPr id="866" name="TextBox 9"/>
          <p:cNvSpPr/>
          <p:nvPr/>
        </p:nvSpPr>
        <p:spPr>
          <a:xfrm>
            <a:off x="4383000" y="187200"/>
            <a:ext cx="116784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Gouvernance</a:t>
            </a:r>
            <a:endParaRPr b="0" lang="fr-FR" sz="1100" spc="-1" strike="noStrike">
              <a:solidFill>
                <a:srgbClr val="000000"/>
              </a:solidFill>
              <a:latin typeface="Arial"/>
            </a:endParaRPr>
          </a:p>
        </p:txBody>
      </p:sp>
      <p:sp>
        <p:nvSpPr>
          <p:cNvPr id="867" name="Rounded Rectangle 13"/>
          <p:cNvSpPr/>
          <p:nvPr/>
        </p:nvSpPr>
        <p:spPr>
          <a:xfrm>
            <a:off x="410400" y="5109480"/>
            <a:ext cx="6734160" cy="1532160"/>
          </a:xfrm>
          <a:prstGeom prst="roundRect">
            <a:avLst>
              <a:gd name="adj" fmla="val 4838"/>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72000" tIns="180000" bIns="180000" anchor="t">
            <a:noAutofit/>
          </a:bodyPr>
          <a:p>
            <a:pPr defTabSz="457200">
              <a:lnSpc>
                <a:spcPct val="100000"/>
              </a:lnSpc>
            </a:pPr>
            <a:r>
              <a:rPr b="0" lang="fr-FR" sz="1200" spc="-1" strike="noStrike">
                <a:solidFill>
                  <a:srgbClr val="064e9d"/>
                </a:solidFill>
                <a:latin typeface="Marianne Light"/>
              </a:rPr>
              <a:t>Montant total des amendes infligées pour corruption</a:t>
            </a:r>
            <a:endParaRPr b="0" lang="fr-FR" sz="1200" spc="-1" strike="noStrike">
              <a:solidFill>
                <a:srgbClr val="000000"/>
              </a:solidFill>
              <a:latin typeface="Arial"/>
            </a:endParaRPr>
          </a:p>
          <a:p>
            <a:pPr defTabSz="457200">
              <a:lnSpc>
                <a:spcPct val="100000"/>
              </a:lnSpc>
            </a:pPr>
            <a:r>
              <a:rPr b="1" lang="en-FR" sz="1200" spc="-1" strike="noStrike">
                <a:solidFill>
                  <a:schemeClr val="dk1"/>
                </a:solidFill>
                <a:latin typeface="Marianne Light"/>
              </a:rPr>
              <a:t>-</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68" name="Image 4" descr=""/>
          <p:cNvPicPr/>
          <p:nvPr/>
        </p:nvPicPr>
        <p:blipFill>
          <a:blip r:embed="rId1"/>
          <a:srcRect l="0" t="0" r="0" b="0"/>
          <a:stretch/>
        </p:blipFill>
        <p:spPr>
          <a:xfrm>
            <a:off x="0" y="0"/>
            <a:ext cx="7554960" cy="10738440"/>
          </a:xfrm>
          <a:prstGeom prst="rect">
            <a:avLst/>
          </a:prstGeom>
          <a:ln w="0">
            <a:noFill/>
          </a:ln>
        </p:spPr>
      </p:pic>
      <p:sp>
        <p:nvSpPr>
          <p:cNvPr id="869"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870" name="Rounded Rectangle 3"/>
          <p:cNvSpPr/>
          <p:nvPr/>
        </p:nvSpPr>
        <p:spPr>
          <a:xfrm rot="16200000">
            <a:off x="3814920" y="-190440"/>
            <a:ext cx="700920" cy="6151320"/>
          </a:xfrm>
          <a:prstGeom prst="roundRect">
            <a:avLst>
              <a:gd name="adj" fmla="val 16667"/>
            </a:avLst>
          </a:prstGeom>
          <a:solidFill>
            <a:srgbClr val="0175e9">
              <a:alpha val="5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064e9d"/>
                </a:solidFill>
                <a:latin typeface="Marianne"/>
              </a:rPr>
              <a:t>C8</a:t>
            </a:r>
            <a:r>
              <a:rPr b="0" lang="fr-FR" sz="1400" spc="-1" strike="noStrike">
                <a:solidFill>
                  <a:srgbClr val="064e9d"/>
                </a:solidFill>
                <a:latin typeface="Marianne Medium"/>
              </a:rPr>
              <a:t> </a:t>
            </a:r>
            <a:r>
              <a:rPr b="0" lang="fr-FR" sz="1400" spc="-1" strike="noStrike">
                <a:solidFill>
                  <a:srgbClr val="064e9d"/>
                </a:solidFill>
                <a:latin typeface="Marianne"/>
              </a:rPr>
              <a:t>Recettes de certains secteurs et exclusion des indices de référence de l'UE</a:t>
            </a:r>
            <a:endParaRPr b="0" lang="fr-FR" sz="1400" spc="-1" strike="noStrike">
              <a:solidFill>
                <a:srgbClr val="ffffff"/>
              </a:solidFill>
              <a:latin typeface="Arial"/>
            </a:endParaRPr>
          </a:p>
        </p:txBody>
      </p:sp>
      <p:cxnSp>
        <p:nvCxnSpPr>
          <p:cNvPr id="871" name="Straight Connector 17"/>
          <p:cNvCxnSpPr/>
          <p:nvPr/>
        </p:nvCxnSpPr>
        <p:spPr>
          <a:xfrm>
            <a:off x="893160" y="2525400"/>
            <a:ext cx="4680" cy="642240"/>
          </a:xfrm>
          <a:prstGeom prst="straightConnector1">
            <a:avLst/>
          </a:prstGeom>
          <a:ln w="3175">
            <a:solidFill>
              <a:srgbClr val="a6a6a6"/>
            </a:solidFill>
            <a:round/>
          </a:ln>
        </p:spPr>
      </p:cxnSp>
      <p:pic>
        <p:nvPicPr>
          <p:cNvPr id="872" name="Graphic 1" descr=""/>
          <p:cNvPicPr/>
          <p:nvPr/>
        </p:nvPicPr>
        <p:blipFill>
          <a:blip r:embed="rId2"/>
          <a:stretch/>
        </p:blipFill>
        <p:spPr>
          <a:xfrm>
            <a:off x="348480" y="2563200"/>
            <a:ext cx="276480" cy="276480"/>
          </a:xfrm>
          <a:prstGeom prst="rect">
            <a:avLst/>
          </a:prstGeom>
          <a:ln w="0">
            <a:noFill/>
          </a:ln>
        </p:spPr>
      </p:pic>
      <p:sp>
        <p:nvSpPr>
          <p:cNvPr id="873" name="TextBox 1"/>
          <p:cNvSpPr/>
          <p:nvPr/>
        </p:nvSpPr>
        <p:spPr>
          <a:xfrm>
            <a:off x="366480" y="187200"/>
            <a:ext cx="1782000" cy="305280"/>
          </a:xfrm>
          <a:prstGeom prst="roundRect">
            <a:avLst>
              <a:gd name="adj" fmla="val 16667"/>
            </a:avLst>
          </a:prstGeom>
          <a:solidFill>
            <a:schemeClr val="dk1">
              <a:alpha val="35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41000"/>
                  </a:schemeClr>
                </a:solidFill>
                <a:latin typeface="Marianne Light"/>
                <a:ea typeface="Arial"/>
              </a:rPr>
              <a:t>Informations générales</a:t>
            </a:r>
            <a:endParaRPr b="0" lang="fr-FR" sz="1100" spc="-1" strike="noStrike">
              <a:solidFill>
                <a:srgbClr val="ffffff"/>
              </a:solidFill>
              <a:latin typeface="Arial"/>
            </a:endParaRPr>
          </a:p>
        </p:txBody>
      </p:sp>
      <p:sp>
        <p:nvSpPr>
          <p:cNvPr id="874" name="TextBox 5"/>
          <p:cNvSpPr/>
          <p:nvPr/>
        </p:nvSpPr>
        <p:spPr>
          <a:xfrm>
            <a:off x="3666960" y="187200"/>
            <a:ext cx="617760" cy="305280"/>
          </a:xfrm>
          <a:prstGeom prst="roundRect">
            <a:avLst>
              <a:gd name="adj" fmla="val 16667"/>
            </a:avLst>
          </a:prstGeom>
          <a:solidFill>
            <a:schemeClr val="dk1">
              <a:alpha val="35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41000"/>
                  </a:schemeClr>
                </a:solidFill>
                <a:latin typeface="Marianne Light"/>
                <a:ea typeface="Arial"/>
              </a:rPr>
              <a:t>Social</a:t>
            </a:r>
            <a:endParaRPr b="0" lang="fr-FR" sz="1100" spc="-1" strike="noStrike">
              <a:solidFill>
                <a:srgbClr val="ffffff"/>
              </a:solidFill>
              <a:latin typeface="Arial"/>
            </a:endParaRPr>
          </a:p>
        </p:txBody>
      </p:sp>
      <p:sp>
        <p:nvSpPr>
          <p:cNvPr id="875" name="TextBox 6"/>
          <p:cNvSpPr/>
          <p:nvPr/>
        </p:nvSpPr>
        <p:spPr>
          <a:xfrm>
            <a:off x="2293920" y="187200"/>
            <a:ext cx="1248840" cy="305280"/>
          </a:xfrm>
          <a:prstGeom prst="roundRect">
            <a:avLst>
              <a:gd name="adj" fmla="val 16667"/>
            </a:avLst>
          </a:prstGeom>
          <a:solidFill>
            <a:schemeClr val="dk1">
              <a:alpha val="35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41000"/>
                  </a:schemeClr>
                </a:solidFill>
                <a:latin typeface="Marianne Light"/>
                <a:ea typeface="Arial"/>
              </a:rPr>
              <a:t>Environnement</a:t>
            </a:r>
            <a:endParaRPr b="0" lang="fr-FR" sz="1100" spc="-1" strike="noStrike">
              <a:solidFill>
                <a:srgbClr val="ffffff"/>
              </a:solidFill>
              <a:latin typeface="Arial"/>
            </a:endParaRPr>
          </a:p>
        </p:txBody>
      </p:sp>
      <p:sp>
        <p:nvSpPr>
          <p:cNvPr id="876" name="TextBox 7"/>
          <p:cNvSpPr/>
          <p:nvPr/>
        </p:nvSpPr>
        <p:spPr>
          <a:xfrm>
            <a:off x="4383000" y="187200"/>
            <a:ext cx="116784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Gouvernance</a:t>
            </a:r>
            <a:endParaRPr b="0" lang="fr-FR" sz="1100" spc="-1" strike="noStrike">
              <a:solidFill>
                <a:srgbClr val="000000"/>
              </a:solidFill>
              <a:latin typeface="Arial"/>
            </a:endParaRPr>
          </a:p>
        </p:txBody>
      </p:sp>
      <p:sp>
        <p:nvSpPr>
          <p:cNvPr id="877" name="Rounded Rectangle 8"/>
          <p:cNvSpPr/>
          <p:nvPr/>
        </p:nvSpPr>
        <p:spPr>
          <a:xfrm>
            <a:off x="410400" y="3506400"/>
            <a:ext cx="6734160" cy="1030320"/>
          </a:xfrm>
          <a:prstGeom prst="roundRect">
            <a:avLst>
              <a:gd name="adj" fmla="val 1072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72000" tIns="180000" bIns="180000" anchor="t">
            <a:noAutofit/>
          </a:bodyPr>
          <a:p>
            <a:pPr defTabSz="756000">
              <a:lnSpc>
                <a:spcPct val="100000"/>
              </a:lnSpc>
            </a:pPr>
            <a:r>
              <a:rPr b="0" lang="fr-FR" sz="1200" spc="-1" strike="noStrike">
                <a:solidFill>
                  <a:srgbClr val="064e9d"/>
                </a:solidFill>
                <a:latin typeface="Marianne Light"/>
              </a:rPr>
              <a:t>Chiffre d’affaires issu des armes controversées (Mines antipersonnel, sous-munitions, armes chimiques, biologiques)</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 €</a:t>
            </a:r>
            <a:endParaRPr b="0" lang="fr-FR" sz="1200" spc="-1" strike="noStrike">
              <a:solidFill>
                <a:srgbClr val="000000"/>
              </a:solidFill>
              <a:latin typeface="Arial"/>
            </a:endParaRPr>
          </a:p>
        </p:txBody>
      </p:sp>
      <p:sp>
        <p:nvSpPr>
          <p:cNvPr id="878" name="Rounded Rectangle 11"/>
          <p:cNvSpPr/>
          <p:nvPr/>
        </p:nvSpPr>
        <p:spPr>
          <a:xfrm>
            <a:off x="410400" y="4676400"/>
            <a:ext cx="6734160" cy="787320"/>
          </a:xfrm>
          <a:prstGeom prst="roundRect">
            <a:avLst>
              <a:gd name="adj" fmla="val 1072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72000" tIns="180000" bIns="180000" anchor="t">
            <a:noAutofit/>
          </a:bodyPr>
          <a:p>
            <a:pPr defTabSz="756000">
              <a:lnSpc>
                <a:spcPct val="100000"/>
              </a:lnSpc>
            </a:pPr>
            <a:r>
              <a:rPr b="0" lang="fr-FR" sz="1200" spc="-1" strike="noStrike">
                <a:solidFill>
                  <a:srgbClr val="064e9d"/>
                </a:solidFill>
                <a:latin typeface="Marianne Light"/>
              </a:rPr>
              <a:t>Chiffre d’affaires issu du tabac</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 €</a:t>
            </a:r>
            <a:endParaRPr b="0" lang="fr-FR" sz="1200" spc="-1" strike="noStrike">
              <a:solidFill>
                <a:srgbClr val="000000"/>
              </a:solidFill>
              <a:latin typeface="Arial"/>
            </a:endParaRPr>
          </a:p>
        </p:txBody>
      </p:sp>
      <p:sp>
        <p:nvSpPr>
          <p:cNvPr id="879" name="Rounded Rectangle 12"/>
          <p:cNvSpPr/>
          <p:nvPr/>
        </p:nvSpPr>
        <p:spPr>
          <a:xfrm>
            <a:off x="410400" y="5603040"/>
            <a:ext cx="6734160" cy="787320"/>
          </a:xfrm>
          <a:prstGeom prst="roundRect">
            <a:avLst>
              <a:gd name="adj" fmla="val 1072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72000" tIns="180000" bIns="180000" anchor="t">
            <a:noAutofit/>
          </a:bodyPr>
          <a:p>
            <a:pPr defTabSz="756000">
              <a:lnSpc>
                <a:spcPct val="100000"/>
              </a:lnSpc>
            </a:pPr>
            <a:r>
              <a:rPr b="0" lang="fr-FR" sz="1200" spc="-1" strike="noStrike">
                <a:solidFill>
                  <a:srgbClr val="064e9d"/>
                </a:solidFill>
                <a:latin typeface="Marianne Light"/>
              </a:rPr>
              <a:t>Chiffre d’affaires issu des combustibles fossiles du charbon</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 €</a:t>
            </a:r>
            <a:endParaRPr b="0" lang="fr-FR" sz="1200" spc="-1" strike="noStrike">
              <a:solidFill>
                <a:srgbClr val="000000"/>
              </a:solidFill>
              <a:latin typeface="Arial"/>
            </a:endParaRPr>
          </a:p>
        </p:txBody>
      </p:sp>
      <p:sp>
        <p:nvSpPr>
          <p:cNvPr id="880" name="Rounded Rectangle 13"/>
          <p:cNvSpPr/>
          <p:nvPr/>
        </p:nvSpPr>
        <p:spPr>
          <a:xfrm>
            <a:off x="410400" y="6530040"/>
            <a:ext cx="6734160" cy="787320"/>
          </a:xfrm>
          <a:prstGeom prst="roundRect">
            <a:avLst>
              <a:gd name="adj" fmla="val 1072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72000" tIns="180000" bIns="180000" anchor="t">
            <a:noAutofit/>
          </a:bodyPr>
          <a:p>
            <a:pPr defTabSz="756000">
              <a:lnSpc>
                <a:spcPct val="100000"/>
              </a:lnSpc>
            </a:pPr>
            <a:r>
              <a:rPr b="0" lang="fr-FR" sz="1200" spc="-1" strike="noStrike">
                <a:solidFill>
                  <a:srgbClr val="064e9d"/>
                </a:solidFill>
                <a:latin typeface="Marianne Light"/>
              </a:rPr>
              <a:t>Chiffre d’affaires issu des combustibles fossiles du pétrole</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 €</a:t>
            </a:r>
            <a:endParaRPr b="0" lang="fr-FR" sz="1200" spc="-1" strike="noStrike">
              <a:solidFill>
                <a:srgbClr val="000000"/>
              </a:solidFill>
              <a:latin typeface="Arial"/>
            </a:endParaRPr>
          </a:p>
        </p:txBody>
      </p:sp>
      <p:sp>
        <p:nvSpPr>
          <p:cNvPr id="881" name="Rounded Rectangle 14"/>
          <p:cNvSpPr/>
          <p:nvPr/>
        </p:nvSpPr>
        <p:spPr>
          <a:xfrm>
            <a:off x="410400" y="7456680"/>
            <a:ext cx="6734160" cy="787320"/>
          </a:xfrm>
          <a:prstGeom prst="roundRect">
            <a:avLst>
              <a:gd name="adj" fmla="val 1072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72000" tIns="180000" bIns="180000" anchor="t">
            <a:noAutofit/>
          </a:bodyPr>
          <a:p>
            <a:pPr defTabSz="756000">
              <a:lnSpc>
                <a:spcPct val="100000"/>
              </a:lnSpc>
            </a:pPr>
            <a:r>
              <a:rPr b="0" lang="fr-FR" sz="1200" spc="-1" strike="noStrike">
                <a:solidFill>
                  <a:srgbClr val="064e9d"/>
                </a:solidFill>
                <a:latin typeface="Marianne Light"/>
              </a:rPr>
              <a:t>Chiffre d’affaires issu des combustibles fossiles du gaz</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 €</a:t>
            </a:r>
            <a:endParaRPr b="0" lang="fr-FR" sz="1200" spc="-1" strike="noStrike">
              <a:solidFill>
                <a:srgbClr val="000000"/>
              </a:solidFill>
              <a:latin typeface="Arial"/>
            </a:endParaRPr>
          </a:p>
        </p:txBody>
      </p:sp>
      <p:sp>
        <p:nvSpPr>
          <p:cNvPr id="882" name="Rounded Rectangle 15"/>
          <p:cNvSpPr/>
          <p:nvPr/>
        </p:nvSpPr>
        <p:spPr>
          <a:xfrm>
            <a:off x="410400" y="8383680"/>
            <a:ext cx="6734160" cy="787320"/>
          </a:xfrm>
          <a:prstGeom prst="roundRect">
            <a:avLst>
              <a:gd name="adj" fmla="val 1072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72000" tIns="180000" bIns="180000" anchor="t">
            <a:noAutofit/>
          </a:bodyPr>
          <a:p>
            <a:pPr defTabSz="756000">
              <a:lnSpc>
                <a:spcPct val="100000"/>
              </a:lnSpc>
            </a:pPr>
            <a:r>
              <a:rPr b="0" lang="fr-FR" sz="1200" spc="-1" strike="noStrike">
                <a:solidFill>
                  <a:srgbClr val="064e9d"/>
                </a:solidFill>
                <a:latin typeface="Marianne Light"/>
              </a:rPr>
              <a:t>Total du chiffre d’affaires issu des combustibles fossiles (charbon, pétrole, gaz)</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 €</a:t>
            </a:r>
            <a:endParaRPr b="0" lang="fr-FR" sz="1200" spc="-1" strike="noStrike">
              <a:solidFill>
                <a:srgbClr val="000000"/>
              </a:solidFill>
              <a:latin typeface="Arial"/>
            </a:endParaRPr>
          </a:p>
        </p:txBody>
      </p:sp>
      <p:sp>
        <p:nvSpPr>
          <p:cNvPr id="883" name="Rounded Rectangle 18"/>
          <p:cNvSpPr/>
          <p:nvPr/>
        </p:nvSpPr>
        <p:spPr>
          <a:xfrm>
            <a:off x="410400" y="9310320"/>
            <a:ext cx="6734160" cy="787320"/>
          </a:xfrm>
          <a:prstGeom prst="roundRect">
            <a:avLst>
              <a:gd name="adj" fmla="val 10727"/>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72000" tIns="180000" bIns="180000" anchor="t">
            <a:noAutofit/>
          </a:bodyPr>
          <a:p>
            <a:pPr defTabSz="756000">
              <a:lnSpc>
                <a:spcPct val="100000"/>
              </a:lnSpc>
            </a:pPr>
            <a:r>
              <a:rPr b="0" lang="fr-FR" sz="1200" spc="-1" strike="noStrike">
                <a:solidFill>
                  <a:srgbClr val="064e9d"/>
                </a:solidFill>
                <a:latin typeface="Marianne Light"/>
              </a:rPr>
              <a:t>Chiffre d’affaires issu des pesticides et produits agrochimiques</a:t>
            </a:r>
            <a:endParaRPr b="0" lang="fr-FR" sz="1200" spc="-1" strike="noStrike">
              <a:solidFill>
                <a:srgbClr val="000000"/>
              </a:solidFill>
              <a:latin typeface="Arial"/>
            </a:endParaRPr>
          </a:p>
          <a:p>
            <a:pPr defTabSz="457200">
              <a:lnSpc>
                <a:spcPct val="100000"/>
              </a:lnSpc>
            </a:pPr>
            <a:r>
              <a:rPr b="1" lang="fr-FR" sz="1200" spc="-1" strike="noStrike">
                <a:solidFill>
                  <a:srgbClr val="000000"/>
                </a:solidFill>
                <a:latin typeface="Marianne Medium"/>
              </a:rPr>
              <a:t>- €</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84" name="Image 4" descr=""/>
          <p:cNvPicPr/>
          <p:nvPr/>
        </p:nvPicPr>
        <p:blipFill>
          <a:blip r:embed="rId1"/>
          <a:srcRect l="0" t="0" r="0" b="0"/>
          <a:stretch/>
        </p:blipFill>
        <p:spPr>
          <a:xfrm>
            <a:off x="0" y="0"/>
            <a:ext cx="7554960" cy="10738440"/>
          </a:xfrm>
          <a:prstGeom prst="rect">
            <a:avLst/>
          </a:prstGeom>
          <a:ln w="0">
            <a:noFill/>
          </a:ln>
        </p:spPr>
      </p:pic>
      <p:sp>
        <p:nvSpPr>
          <p:cNvPr id="885"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886" name="Rounded Rectangle 3"/>
          <p:cNvSpPr/>
          <p:nvPr/>
        </p:nvSpPr>
        <p:spPr>
          <a:xfrm rot="16200000">
            <a:off x="3814920" y="-190440"/>
            <a:ext cx="700920" cy="6151320"/>
          </a:xfrm>
          <a:prstGeom prst="roundRect">
            <a:avLst>
              <a:gd name="adj" fmla="val 16667"/>
            </a:avLst>
          </a:prstGeom>
          <a:solidFill>
            <a:srgbClr val="0175e9">
              <a:alpha val="5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20000"/>
              </a:lnSpc>
            </a:pPr>
            <a:r>
              <a:rPr b="1" lang="fr-FR" sz="1400" spc="-1" strike="noStrike">
                <a:solidFill>
                  <a:srgbClr val="064e9d"/>
                </a:solidFill>
                <a:latin typeface="Marianne"/>
              </a:rPr>
              <a:t>C8</a:t>
            </a:r>
            <a:r>
              <a:rPr b="0" lang="fr-FR" sz="1400" spc="-1" strike="noStrike">
                <a:solidFill>
                  <a:srgbClr val="064e9d"/>
                </a:solidFill>
                <a:latin typeface="Marianne Medium"/>
              </a:rPr>
              <a:t> </a:t>
            </a:r>
            <a:r>
              <a:rPr b="0" lang="fr-FR" sz="1400" spc="-1" strike="noStrike">
                <a:solidFill>
                  <a:srgbClr val="064e9d"/>
                </a:solidFill>
                <a:latin typeface="Marianne"/>
              </a:rPr>
              <a:t>Recettes de certains secteurs et exclusion des indices de référence de l'UE</a:t>
            </a:r>
            <a:endParaRPr b="0" lang="fr-FR" sz="1400" spc="-1" strike="noStrike">
              <a:solidFill>
                <a:srgbClr val="ffffff"/>
              </a:solidFill>
              <a:latin typeface="Arial"/>
            </a:endParaRPr>
          </a:p>
        </p:txBody>
      </p:sp>
      <p:cxnSp>
        <p:nvCxnSpPr>
          <p:cNvPr id="887" name="Straight Connector 17"/>
          <p:cNvCxnSpPr/>
          <p:nvPr/>
        </p:nvCxnSpPr>
        <p:spPr>
          <a:xfrm>
            <a:off x="893160" y="2525400"/>
            <a:ext cx="4680" cy="642240"/>
          </a:xfrm>
          <a:prstGeom prst="straightConnector1">
            <a:avLst/>
          </a:prstGeom>
          <a:ln w="3175">
            <a:solidFill>
              <a:srgbClr val="a6a6a6"/>
            </a:solidFill>
            <a:round/>
          </a:ln>
        </p:spPr>
      </p:cxnSp>
      <p:pic>
        <p:nvPicPr>
          <p:cNvPr id="888" name="Graphic 1" descr=""/>
          <p:cNvPicPr/>
          <p:nvPr/>
        </p:nvPicPr>
        <p:blipFill>
          <a:blip r:embed="rId2"/>
          <a:stretch/>
        </p:blipFill>
        <p:spPr>
          <a:xfrm>
            <a:off x="348480" y="2563200"/>
            <a:ext cx="276480" cy="276480"/>
          </a:xfrm>
          <a:prstGeom prst="rect">
            <a:avLst/>
          </a:prstGeom>
          <a:ln w="0">
            <a:noFill/>
          </a:ln>
        </p:spPr>
      </p:pic>
      <p:sp>
        <p:nvSpPr>
          <p:cNvPr id="889" name="TextBox 1"/>
          <p:cNvSpPr/>
          <p:nvPr/>
        </p:nvSpPr>
        <p:spPr>
          <a:xfrm>
            <a:off x="366480" y="187200"/>
            <a:ext cx="1782000" cy="305280"/>
          </a:xfrm>
          <a:prstGeom prst="roundRect">
            <a:avLst>
              <a:gd name="adj" fmla="val 16667"/>
            </a:avLst>
          </a:prstGeom>
          <a:solidFill>
            <a:schemeClr val="dk1">
              <a:alpha val="35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41000"/>
                  </a:schemeClr>
                </a:solidFill>
                <a:latin typeface="Marianne Light"/>
                <a:ea typeface="Arial"/>
              </a:rPr>
              <a:t>Informations générales</a:t>
            </a:r>
            <a:endParaRPr b="0" lang="fr-FR" sz="1100" spc="-1" strike="noStrike">
              <a:solidFill>
                <a:srgbClr val="ffffff"/>
              </a:solidFill>
              <a:latin typeface="Arial"/>
            </a:endParaRPr>
          </a:p>
        </p:txBody>
      </p:sp>
      <p:sp>
        <p:nvSpPr>
          <p:cNvPr id="890" name="TextBox 5"/>
          <p:cNvSpPr/>
          <p:nvPr/>
        </p:nvSpPr>
        <p:spPr>
          <a:xfrm>
            <a:off x="3666960" y="187200"/>
            <a:ext cx="617760" cy="305280"/>
          </a:xfrm>
          <a:prstGeom prst="roundRect">
            <a:avLst>
              <a:gd name="adj" fmla="val 16667"/>
            </a:avLst>
          </a:prstGeom>
          <a:solidFill>
            <a:schemeClr val="dk1">
              <a:alpha val="35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41000"/>
                  </a:schemeClr>
                </a:solidFill>
                <a:latin typeface="Marianne Light"/>
                <a:ea typeface="Arial"/>
              </a:rPr>
              <a:t>Social</a:t>
            </a:r>
            <a:endParaRPr b="0" lang="fr-FR" sz="1100" spc="-1" strike="noStrike">
              <a:solidFill>
                <a:srgbClr val="ffffff"/>
              </a:solidFill>
              <a:latin typeface="Arial"/>
            </a:endParaRPr>
          </a:p>
        </p:txBody>
      </p:sp>
      <p:sp>
        <p:nvSpPr>
          <p:cNvPr id="891" name="TextBox 6"/>
          <p:cNvSpPr/>
          <p:nvPr/>
        </p:nvSpPr>
        <p:spPr>
          <a:xfrm>
            <a:off x="2293920" y="187200"/>
            <a:ext cx="1248840" cy="305280"/>
          </a:xfrm>
          <a:prstGeom prst="roundRect">
            <a:avLst>
              <a:gd name="adj" fmla="val 16667"/>
            </a:avLst>
          </a:prstGeom>
          <a:solidFill>
            <a:schemeClr val="dk1">
              <a:alpha val="35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41000"/>
                  </a:schemeClr>
                </a:solidFill>
                <a:latin typeface="Marianne Light"/>
                <a:ea typeface="Arial"/>
              </a:rPr>
              <a:t>Environnement</a:t>
            </a:r>
            <a:endParaRPr b="0" lang="fr-FR" sz="1100" spc="-1" strike="noStrike">
              <a:solidFill>
                <a:srgbClr val="ffffff"/>
              </a:solidFill>
              <a:latin typeface="Arial"/>
            </a:endParaRPr>
          </a:p>
        </p:txBody>
      </p:sp>
      <p:sp>
        <p:nvSpPr>
          <p:cNvPr id="892" name="TextBox 7"/>
          <p:cNvSpPr/>
          <p:nvPr/>
        </p:nvSpPr>
        <p:spPr>
          <a:xfrm>
            <a:off x="4383000" y="187200"/>
            <a:ext cx="116784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Gouvernance</a:t>
            </a:r>
            <a:endParaRPr b="0" lang="fr-FR" sz="1100" spc="-1" strike="noStrike">
              <a:solidFill>
                <a:srgbClr val="000000"/>
              </a:solidFill>
              <a:latin typeface="Arial"/>
            </a:endParaRPr>
          </a:p>
        </p:txBody>
      </p:sp>
      <p:sp>
        <p:nvSpPr>
          <p:cNvPr id="893" name="Rounded Rectangle 9"/>
          <p:cNvSpPr/>
          <p:nvPr/>
        </p:nvSpPr>
        <p:spPr>
          <a:xfrm>
            <a:off x="410400" y="3425040"/>
            <a:ext cx="6734160" cy="1683360"/>
          </a:xfrm>
          <a:prstGeom prst="roundRect">
            <a:avLst>
              <a:gd name="adj" fmla="val 7735"/>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756000">
              <a:lnSpc>
                <a:spcPct val="100000"/>
              </a:lnSpc>
            </a:pPr>
            <a:r>
              <a:rPr b="0" lang="fr-FR" sz="1200" spc="-1" strike="noStrike">
                <a:solidFill>
                  <a:srgbClr val="064e9d"/>
                </a:solidFill>
                <a:latin typeface="Marianne Light"/>
              </a:rPr>
              <a:t>L’entreprise est-elle exclue des indices de référence « Accord de Paris » de l’Union ?</a:t>
            </a:r>
            <a:endParaRPr b="0" lang="fr-FR" sz="1200" spc="-1" strike="noStrike">
              <a:solidFill>
                <a:srgbClr val="000000"/>
              </a:solidFill>
              <a:latin typeface="Arial"/>
            </a:endParaRPr>
          </a:p>
          <a:p>
            <a:pPr defTabSz="457200">
              <a:lnSpc>
                <a:spcPct val="100000"/>
              </a:lnSpc>
            </a:pPr>
            <a:r>
              <a:rPr b="1" lang="fr-FR" sz="1200" spc="-1" strike="noStrike">
                <a:solidFill>
                  <a:schemeClr val="dk1"/>
                </a:solidFill>
                <a:latin typeface="Marianne Light"/>
              </a:rPr>
              <a:t>-</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4" name="Image 9" descr=""/>
          <p:cNvPicPr/>
          <p:nvPr/>
        </p:nvPicPr>
        <p:blipFill>
          <a:blip r:embed="rId1"/>
          <a:srcRect l="0" t="0" r="0" b="0"/>
          <a:stretch/>
        </p:blipFill>
        <p:spPr>
          <a:xfrm>
            <a:off x="0" y="0"/>
            <a:ext cx="7554960" cy="10738440"/>
          </a:xfrm>
          <a:prstGeom prst="rect">
            <a:avLst/>
          </a:prstGeom>
          <a:ln w="0">
            <a:noFill/>
          </a:ln>
        </p:spPr>
      </p:pic>
      <p:sp>
        <p:nvSpPr>
          <p:cNvPr id="895" name="TextBox 2"/>
          <p:cNvSpPr/>
          <p:nvPr/>
        </p:nvSpPr>
        <p:spPr>
          <a:xfrm>
            <a:off x="366480" y="187200"/>
            <a:ext cx="1782000" cy="305280"/>
          </a:xfrm>
          <a:prstGeom prst="roundRect">
            <a:avLst>
              <a:gd name="adj" fmla="val 16667"/>
            </a:avLst>
          </a:prstGeom>
          <a:solidFill>
            <a:schemeClr val="dk1">
              <a:alpha val="35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41000"/>
                  </a:schemeClr>
                </a:solidFill>
                <a:latin typeface="Marianne Light"/>
                <a:ea typeface="Arial"/>
              </a:rPr>
              <a:t>Informations générales</a:t>
            </a:r>
            <a:endParaRPr b="0" lang="fr-FR" sz="1100" spc="-1" strike="noStrike">
              <a:solidFill>
                <a:srgbClr val="ffffff"/>
              </a:solidFill>
              <a:latin typeface="Arial"/>
            </a:endParaRPr>
          </a:p>
        </p:txBody>
      </p:sp>
      <p:sp>
        <p:nvSpPr>
          <p:cNvPr id="896" name="TextBox 6"/>
          <p:cNvSpPr/>
          <p:nvPr/>
        </p:nvSpPr>
        <p:spPr>
          <a:xfrm>
            <a:off x="3666960" y="187200"/>
            <a:ext cx="617760" cy="305280"/>
          </a:xfrm>
          <a:prstGeom prst="roundRect">
            <a:avLst>
              <a:gd name="adj" fmla="val 16667"/>
            </a:avLst>
          </a:prstGeom>
          <a:solidFill>
            <a:schemeClr val="dk1">
              <a:alpha val="35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41000"/>
                  </a:schemeClr>
                </a:solidFill>
                <a:latin typeface="Marianne Light"/>
                <a:ea typeface="Arial"/>
              </a:rPr>
              <a:t>Social</a:t>
            </a:r>
            <a:endParaRPr b="0" lang="fr-FR" sz="1100" spc="-1" strike="noStrike">
              <a:solidFill>
                <a:srgbClr val="ffffff"/>
              </a:solidFill>
              <a:latin typeface="Arial"/>
            </a:endParaRPr>
          </a:p>
        </p:txBody>
      </p:sp>
      <p:sp>
        <p:nvSpPr>
          <p:cNvPr id="897" name="TextBox 7"/>
          <p:cNvSpPr/>
          <p:nvPr/>
        </p:nvSpPr>
        <p:spPr>
          <a:xfrm>
            <a:off x="2293920" y="187200"/>
            <a:ext cx="1248840" cy="305280"/>
          </a:xfrm>
          <a:prstGeom prst="roundRect">
            <a:avLst>
              <a:gd name="adj" fmla="val 16667"/>
            </a:avLst>
          </a:prstGeom>
          <a:solidFill>
            <a:schemeClr val="dk1">
              <a:alpha val="35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41000"/>
                  </a:schemeClr>
                </a:solidFill>
                <a:latin typeface="Marianne Light"/>
                <a:ea typeface="Arial"/>
              </a:rPr>
              <a:t>Environnement</a:t>
            </a:r>
            <a:endParaRPr b="0" lang="fr-FR" sz="1100" spc="-1" strike="noStrike">
              <a:solidFill>
                <a:srgbClr val="ffffff"/>
              </a:solidFill>
              <a:latin typeface="Arial"/>
            </a:endParaRPr>
          </a:p>
        </p:txBody>
      </p:sp>
      <p:sp>
        <p:nvSpPr>
          <p:cNvPr id="898" name="TextBox 8"/>
          <p:cNvSpPr/>
          <p:nvPr/>
        </p:nvSpPr>
        <p:spPr>
          <a:xfrm>
            <a:off x="4383000" y="187200"/>
            <a:ext cx="116784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Gouvernance</a:t>
            </a:r>
            <a:endParaRPr b="0" lang="fr-FR" sz="1100" spc="-1" strike="noStrike">
              <a:solidFill>
                <a:srgbClr val="000000"/>
              </a:solidFill>
              <a:latin typeface="Arial"/>
            </a:endParaRPr>
          </a:p>
        </p:txBody>
      </p:sp>
      <p:sp>
        <p:nvSpPr>
          <p:cNvPr id="899"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900" name="Rounded Rectangle 3"/>
          <p:cNvSpPr/>
          <p:nvPr/>
        </p:nvSpPr>
        <p:spPr>
          <a:xfrm rot="16200000">
            <a:off x="3985560" y="-322560"/>
            <a:ext cx="394560" cy="6151320"/>
          </a:xfrm>
          <a:prstGeom prst="roundRect">
            <a:avLst>
              <a:gd name="adj" fmla="val 16667"/>
            </a:avLst>
          </a:prstGeom>
          <a:solidFill>
            <a:srgbClr val="0175e9">
              <a:alpha val="5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064e9d"/>
                </a:solidFill>
                <a:latin typeface="Marianne"/>
              </a:rPr>
              <a:t>C9</a:t>
            </a:r>
            <a:r>
              <a:rPr b="0" lang="fr-FR" sz="1400" spc="-1" strike="noStrike">
                <a:solidFill>
                  <a:srgbClr val="064e9d"/>
                </a:solidFill>
                <a:latin typeface="Marianne Medium"/>
              </a:rPr>
              <a:t> </a:t>
            </a:r>
            <a:r>
              <a:rPr b="0" lang="fr-FR" sz="1400" spc="-1" strike="noStrike">
                <a:solidFill>
                  <a:srgbClr val="064e9d"/>
                </a:solidFill>
                <a:latin typeface="Marianne"/>
              </a:rPr>
              <a:t>Ratio femmes/hommes au sein de l'organe de gouvernance</a:t>
            </a:r>
            <a:endParaRPr b="0" lang="fr-FR" sz="1400" spc="-1" strike="noStrike">
              <a:solidFill>
                <a:srgbClr val="ffffff"/>
              </a:solidFill>
              <a:latin typeface="Arial"/>
            </a:endParaRPr>
          </a:p>
        </p:txBody>
      </p:sp>
      <p:cxnSp>
        <p:nvCxnSpPr>
          <p:cNvPr id="901" name="Straight Connector 17"/>
          <p:cNvCxnSpPr/>
          <p:nvPr/>
        </p:nvCxnSpPr>
        <p:spPr>
          <a:xfrm>
            <a:off x="893160" y="2525400"/>
            <a:ext cx="4680" cy="426240"/>
          </a:xfrm>
          <a:prstGeom prst="straightConnector1">
            <a:avLst/>
          </a:prstGeom>
          <a:ln w="3175">
            <a:solidFill>
              <a:srgbClr val="a6a6a6"/>
            </a:solidFill>
            <a:round/>
          </a:ln>
        </p:spPr>
      </p:cxnSp>
      <p:pic>
        <p:nvPicPr>
          <p:cNvPr id="902" name="Graphic 1" descr=""/>
          <p:cNvPicPr/>
          <p:nvPr/>
        </p:nvPicPr>
        <p:blipFill>
          <a:blip r:embed="rId2"/>
          <a:stretch/>
        </p:blipFill>
        <p:spPr>
          <a:xfrm>
            <a:off x="348480" y="2563200"/>
            <a:ext cx="276480" cy="276480"/>
          </a:xfrm>
          <a:prstGeom prst="rect">
            <a:avLst/>
          </a:prstGeom>
          <a:ln w="0">
            <a:noFill/>
          </a:ln>
        </p:spPr>
      </p:pic>
      <p:sp>
        <p:nvSpPr>
          <p:cNvPr id="903" name="Rounded Rectangle 1"/>
          <p:cNvSpPr/>
          <p:nvPr/>
        </p:nvSpPr>
        <p:spPr>
          <a:xfrm>
            <a:off x="410400" y="3425040"/>
            <a:ext cx="6734160" cy="1683360"/>
          </a:xfrm>
          <a:prstGeom prst="roundRect">
            <a:avLst>
              <a:gd name="adj" fmla="val 7735"/>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en-FR" sz="1200" spc="-1" strike="noStrike">
                <a:solidFill>
                  <a:srgbClr val="064e9d"/>
                </a:solidFill>
                <a:latin typeface="Marianne Light"/>
              </a:rPr>
              <a:t>Ratio de mixité au sein de l’organe de gouvernance</a:t>
            </a:r>
            <a:endParaRPr b="0" lang="fr-FR" sz="1200" spc="-1" strike="noStrike">
              <a:solidFill>
                <a:srgbClr val="000000"/>
              </a:solidFill>
              <a:latin typeface="Arial"/>
            </a:endParaRPr>
          </a:p>
          <a:p>
            <a:pPr defTabSz="457200">
              <a:lnSpc>
                <a:spcPct val="100000"/>
              </a:lnSpc>
            </a:pPr>
            <a:r>
              <a:rPr b="1" lang="fr-FR" sz="1200" spc="-1" strike="noStrike">
                <a:solidFill>
                  <a:schemeClr val="dk1"/>
                </a:solidFill>
                <a:latin typeface="Marianne Medium"/>
              </a:rPr>
              <a:t>- %</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4" name="Image 9" descr=""/>
          <p:cNvPicPr/>
          <p:nvPr/>
        </p:nvPicPr>
        <p:blipFill>
          <a:blip r:embed="rId1"/>
          <a:srcRect l="0" t="0" r="0" b="0"/>
          <a:stretch/>
        </p:blipFill>
        <p:spPr>
          <a:xfrm>
            <a:off x="0" y="0"/>
            <a:ext cx="7554960" cy="10738440"/>
          </a:xfrm>
          <a:prstGeom prst="rect">
            <a:avLst/>
          </a:prstGeom>
          <a:ln w="0">
            <a:noFill/>
          </a:ln>
        </p:spPr>
      </p:pic>
      <p:sp>
        <p:nvSpPr>
          <p:cNvPr id="905" name="TextBox 2"/>
          <p:cNvSpPr/>
          <p:nvPr/>
        </p:nvSpPr>
        <p:spPr>
          <a:xfrm>
            <a:off x="366480" y="187200"/>
            <a:ext cx="1782000" cy="305280"/>
          </a:xfrm>
          <a:prstGeom prst="roundRect">
            <a:avLst>
              <a:gd name="adj" fmla="val 16667"/>
            </a:avLst>
          </a:prstGeom>
          <a:solidFill>
            <a:schemeClr val="dk1">
              <a:alpha val="35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41000"/>
                  </a:schemeClr>
                </a:solidFill>
                <a:latin typeface="Marianne Light"/>
                <a:ea typeface="Arial"/>
              </a:rPr>
              <a:t>Informations générales</a:t>
            </a:r>
            <a:endParaRPr b="0" lang="fr-FR" sz="1100" spc="-1" strike="noStrike">
              <a:solidFill>
                <a:srgbClr val="ffffff"/>
              </a:solidFill>
              <a:latin typeface="Arial"/>
            </a:endParaRPr>
          </a:p>
        </p:txBody>
      </p:sp>
      <p:sp>
        <p:nvSpPr>
          <p:cNvPr id="906" name="TextBox 6"/>
          <p:cNvSpPr/>
          <p:nvPr/>
        </p:nvSpPr>
        <p:spPr>
          <a:xfrm>
            <a:off x="3666960" y="187200"/>
            <a:ext cx="617760" cy="305280"/>
          </a:xfrm>
          <a:prstGeom prst="roundRect">
            <a:avLst>
              <a:gd name="adj" fmla="val 16667"/>
            </a:avLst>
          </a:prstGeom>
          <a:solidFill>
            <a:schemeClr val="dk1">
              <a:alpha val="35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41000"/>
                  </a:schemeClr>
                </a:solidFill>
                <a:latin typeface="Marianne Light"/>
                <a:ea typeface="Arial"/>
              </a:rPr>
              <a:t>Social</a:t>
            </a:r>
            <a:endParaRPr b="0" lang="fr-FR" sz="1100" spc="-1" strike="noStrike">
              <a:solidFill>
                <a:srgbClr val="ffffff"/>
              </a:solidFill>
              <a:latin typeface="Arial"/>
            </a:endParaRPr>
          </a:p>
        </p:txBody>
      </p:sp>
      <p:sp>
        <p:nvSpPr>
          <p:cNvPr id="907" name="TextBox 7"/>
          <p:cNvSpPr/>
          <p:nvPr/>
        </p:nvSpPr>
        <p:spPr>
          <a:xfrm>
            <a:off x="2293920" y="187200"/>
            <a:ext cx="1248840" cy="305280"/>
          </a:xfrm>
          <a:prstGeom prst="roundRect">
            <a:avLst>
              <a:gd name="adj" fmla="val 16667"/>
            </a:avLst>
          </a:prstGeom>
          <a:solidFill>
            <a:schemeClr val="dk1">
              <a:alpha val="35000"/>
            </a:schemeClr>
          </a:solidFill>
          <a:ln w="0">
            <a:noFill/>
          </a:ln>
        </p:spPr>
        <p:style>
          <a:lnRef idx="0"/>
          <a:fillRef idx="0"/>
          <a:effectRef idx="0"/>
          <a:fontRef idx="minor"/>
        </p:style>
        <p:txBody>
          <a:bodyPr wrap="none" lIns="108000" rIns="108000" tIns="72000" bIns="36000" anchor="t">
            <a:spAutoFit/>
          </a:bodyPr>
          <a:p>
            <a:pPr algn="ctr" defTabSz="457200">
              <a:lnSpc>
                <a:spcPct val="100000"/>
              </a:lnSpc>
            </a:pPr>
            <a:r>
              <a:rPr b="0" lang="fr-FR" sz="1100" spc="-1" strike="noStrike">
                <a:solidFill>
                  <a:schemeClr val="lt1">
                    <a:alpha val="41000"/>
                  </a:schemeClr>
                </a:solidFill>
                <a:latin typeface="Marianne Light"/>
                <a:ea typeface="Arial"/>
              </a:rPr>
              <a:t>Environnement</a:t>
            </a:r>
            <a:endParaRPr b="0" lang="fr-FR" sz="1100" spc="-1" strike="noStrike">
              <a:solidFill>
                <a:srgbClr val="ffffff"/>
              </a:solidFill>
              <a:latin typeface="Arial"/>
            </a:endParaRPr>
          </a:p>
        </p:txBody>
      </p:sp>
      <p:sp>
        <p:nvSpPr>
          <p:cNvPr id="908" name="TextBox 8"/>
          <p:cNvSpPr/>
          <p:nvPr/>
        </p:nvSpPr>
        <p:spPr>
          <a:xfrm>
            <a:off x="4383000" y="187200"/>
            <a:ext cx="1167840" cy="305280"/>
          </a:xfrm>
          <a:prstGeom prst="roundRect">
            <a:avLst>
              <a:gd name="adj" fmla="val 16667"/>
            </a:avLst>
          </a:prstGeom>
          <a:solidFill>
            <a:srgbClr val="ffffff"/>
          </a:solidFill>
          <a:ln w="3175">
            <a:solidFill>
              <a:srgbClr val="000000">
                <a:alpha val="61000"/>
              </a:srgbClr>
            </a:solidFill>
            <a:round/>
          </a:ln>
        </p:spPr>
        <p:style>
          <a:lnRef idx="0"/>
          <a:fillRef idx="0"/>
          <a:effectRef idx="0"/>
          <a:fontRef idx="minor"/>
        </p:style>
        <p:txBody>
          <a:bodyPr wrap="none" lIns="108000" rIns="108000" tIns="72000" bIns="36000" anchor="t">
            <a:spAutoFit/>
          </a:bodyPr>
          <a:p>
            <a:pPr algn="ctr" defTabSz="457200">
              <a:lnSpc>
                <a:spcPct val="100000"/>
              </a:lnSpc>
            </a:pPr>
            <a:r>
              <a:rPr b="1" lang="fr-FR" sz="1100" spc="-1" strike="noStrike">
                <a:solidFill>
                  <a:schemeClr val="dk1"/>
                </a:solidFill>
                <a:latin typeface="Marianne"/>
                <a:ea typeface="Arial"/>
              </a:rPr>
              <a:t>Gouvernance</a:t>
            </a:r>
            <a:endParaRPr b="0" lang="fr-FR" sz="1100" spc="-1" strike="noStrike">
              <a:solidFill>
                <a:srgbClr val="000000"/>
              </a:solidFill>
              <a:latin typeface="Arial"/>
            </a:endParaRPr>
          </a:p>
        </p:txBody>
      </p:sp>
      <p:sp>
        <p:nvSpPr>
          <p:cNvPr id="909" name="Rectangle 16"/>
          <p:cNvSpPr/>
          <p:nvPr/>
        </p:nvSpPr>
        <p:spPr>
          <a:xfrm>
            <a:off x="0" y="2268720"/>
            <a:ext cx="7554960" cy="847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sp>
        <p:nvSpPr>
          <p:cNvPr id="910" name="Rounded Rectangle 3"/>
          <p:cNvSpPr/>
          <p:nvPr/>
        </p:nvSpPr>
        <p:spPr>
          <a:xfrm rot="16200000">
            <a:off x="3985560" y="-322560"/>
            <a:ext cx="394560" cy="6151320"/>
          </a:xfrm>
          <a:prstGeom prst="roundRect">
            <a:avLst>
              <a:gd name="adj" fmla="val 16667"/>
            </a:avLst>
          </a:prstGeom>
          <a:solidFill>
            <a:srgbClr val="0175e9">
              <a:alpha val="5000"/>
            </a:srgbClr>
          </a:solidFill>
          <a:ln>
            <a:noFill/>
          </a:ln>
        </p:spPr>
        <p:style>
          <a:lnRef idx="2">
            <a:schemeClr val="accent1">
              <a:shade val="15000"/>
            </a:schemeClr>
          </a:lnRef>
          <a:fillRef idx="1">
            <a:schemeClr val="accent1"/>
          </a:fillRef>
          <a:effectRef idx="0">
            <a:schemeClr val="accent1"/>
          </a:effectRef>
          <a:fontRef idx="minor"/>
        </p:style>
        <p:txBody>
          <a:bodyPr lIns="72000" rIns="72000" tIns="108000" bIns="72000" anchor="ctr" vert="vert">
            <a:noAutofit/>
          </a:bodyPr>
          <a:p>
            <a:pPr defTabSz="457200">
              <a:lnSpc>
                <a:spcPct val="100000"/>
              </a:lnSpc>
            </a:pPr>
            <a:r>
              <a:rPr b="1" lang="fr-FR" sz="1400" spc="-1" strike="noStrike">
                <a:solidFill>
                  <a:srgbClr val="064e9d"/>
                </a:solidFill>
                <a:latin typeface="Marianne"/>
              </a:rPr>
              <a:t>C9</a:t>
            </a:r>
            <a:r>
              <a:rPr b="0" lang="fr-FR" sz="1400" spc="-1" strike="noStrike">
                <a:solidFill>
                  <a:srgbClr val="064e9d"/>
                </a:solidFill>
                <a:latin typeface="Marianne Medium"/>
              </a:rPr>
              <a:t> </a:t>
            </a:r>
            <a:r>
              <a:rPr b="0" lang="fr-FR" sz="1400" spc="-1" strike="noStrike">
                <a:solidFill>
                  <a:srgbClr val="064e9d"/>
                </a:solidFill>
                <a:latin typeface="Marianne"/>
              </a:rPr>
              <a:t>Ratio femmes/hommes au sein de l'organe de gouvernance</a:t>
            </a:r>
            <a:endParaRPr b="0" lang="fr-FR" sz="1400" spc="-1" strike="noStrike">
              <a:solidFill>
                <a:srgbClr val="ffffff"/>
              </a:solidFill>
              <a:latin typeface="Arial"/>
            </a:endParaRPr>
          </a:p>
        </p:txBody>
      </p:sp>
      <p:cxnSp>
        <p:nvCxnSpPr>
          <p:cNvPr id="911" name="Straight Connector 17"/>
          <p:cNvCxnSpPr/>
          <p:nvPr/>
        </p:nvCxnSpPr>
        <p:spPr>
          <a:xfrm>
            <a:off x="893160" y="2525400"/>
            <a:ext cx="4680" cy="426240"/>
          </a:xfrm>
          <a:prstGeom prst="straightConnector1">
            <a:avLst/>
          </a:prstGeom>
          <a:ln w="3175">
            <a:solidFill>
              <a:srgbClr val="a6a6a6"/>
            </a:solidFill>
            <a:round/>
          </a:ln>
        </p:spPr>
      </p:cxnSp>
      <p:pic>
        <p:nvPicPr>
          <p:cNvPr id="912" name="Graphic 1" descr=""/>
          <p:cNvPicPr/>
          <p:nvPr/>
        </p:nvPicPr>
        <p:blipFill>
          <a:blip r:embed="rId2"/>
          <a:stretch/>
        </p:blipFill>
        <p:spPr>
          <a:xfrm>
            <a:off x="348480" y="2563200"/>
            <a:ext cx="276480" cy="276480"/>
          </a:xfrm>
          <a:prstGeom prst="rect">
            <a:avLst/>
          </a:prstGeom>
          <a:ln w="0">
            <a:noFill/>
          </a:ln>
        </p:spPr>
      </p:pic>
      <p:sp>
        <p:nvSpPr>
          <p:cNvPr id="913" name="Rounded Rectangle 1"/>
          <p:cNvSpPr/>
          <p:nvPr/>
        </p:nvSpPr>
        <p:spPr>
          <a:xfrm>
            <a:off x="410400" y="3425040"/>
            <a:ext cx="6734160" cy="1683360"/>
          </a:xfrm>
          <a:prstGeom prst="roundRect">
            <a:avLst>
              <a:gd name="adj" fmla="val 7735"/>
            </a:avLst>
          </a:prstGeom>
          <a:solidFill>
            <a:schemeClr val="lt1">
              <a:lumMod val="95000"/>
              <a:alpha val="30000"/>
            </a:schemeClr>
          </a:solidFill>
          <a:ln w="3175">
            <a:solidFill>
              <a:srgbClr val="d9d9d9"/>
            </a:solidFill>
          </a:ln>
        </p:spPr>
        <p:style>
          <a:lnRef idx="2">
            <a:schemeClr val="accent1">
              <a:shade val="15000"/>
            </a:schemeClr>
          </a:lnRef>
          <a:fillRef idx="1">
            <a:schemeClr val="accent1"/>
          </a:fillRef>
          <a:effectRef idx="0">
            <a:schemeClr val="accent1"/>
          </a:effectRef>
          <a:fontRef idx="minor"/>
        </p:style>
        <p:txBody>
          <a:bodyPr lIns="216000" rIns="180000" tIns="180000" bIns="180000" anchor="t">
            <a:noAutofit/>
          </a:bodyPr>
          <a:p>
            <a:pPr defTabSz="457200">
              <a:lnSpc>
                <a:spcPct val="100000"/>
              </a:lnSpc>
            </a:pPr>
            <a:r>
              <a:rPr b="0" lang="en-FR" sz="1200" spc="-1" strike="noStrike">
                <a:solidFill>
                  <a:srgbClr val="064e9d"/>
                </a:solidFill>
                <a:latin typeface="Marianne Light"/>
              </a:rPr>
              <a:t>Ratio de mixité au sein de l’organe de gouvernance</a:t>
            </a:r>
            <a:endParaRPr b="0" lang="fr-FR" sz="1200" spc="-1" strike="noStrike">
              <a:solidFill>
                <a:srgbClr val="000000"/>
              </a:solidFill>
              <a:latin typeface="Arial"/>
            </a:endParaRPr>
          </a:p>
          <a:p>
            <a:pPr defTabSz="914400">
              <a:lnSpc>
                <a:spcPct val="100000"/>
              </a:lnSpc>
            </a:pPr>
            <a:r>
              <a:rPr b="1" lang="en-FR" sz="1200" spc="-1" strike="noStrike">
                <a:solidFill>
                  <a:srgbClr val="3a3a3a"/>
                </a:solidFill>
                <a:latin typeface="Marianne"/>
              </a:rPr>
              <a:t>L'entreprise ne dispose pas d'organe de gouvernance</a:t>
            </a:r>
            <a:r>
              <a:rPr b="1" lang="en-FR" sz="1200" spc="-1" strike="noStrike">
                <a:solidFill>
                  <a:schemeClr val="dk1"/>
                </a:solidFill>
                <a:latin typeface="Arial"/>
              </a:rPr>
              <a:t>.</a:t>
            </a:r>
            <a:endParaRPr b="0" lang="fr-FR" sz="1200" spc="-1" strike="noStrike">
              <a:solidFill>
                <a:srgbClr val="000000"/>
              </a:solidFill>
              <a:latin typeface="Arial"/>
            </a:endParaRPr>
          </a:p>
        </p:txBody>
      </p:sp>
      <p:sp>
        <p:nvSpPr>
          <p:cNvPr id="2" name="PlaceHolder 1"/>
          <p:cNvSpPr>
            <a:spLocks noGrp="1"/>
          </p:cNvSpPr>
          <p:nvPr>
            <p:ph type="ftr" idx="1"/>
          </p:nvPr>
        </p:nvSpPr>
        <p:spPr/>
        <p:txBody>
          <a:bodyPr/>
          <a:p>
            <a:r>
              <a:t>Nom de l'entreprise - Rapport VSME 2025</a:t>
            </a: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4" name="Picture 2" descr="A building with trees reflected in windows&#10;&#10;AI-generated content may be incorrect."/>
          <p:cNvPicPr/>
          <p:nvPr/>
        </p:nvPicPr>
        <p:blipFill>
          <a:blip r:embed="rId1"/>
          <a:srcRect l="0" t="0" r="0" b="0"/>
          <a:stretch/>
        </p:blipFill>
        <p:spPr>
          <a:xfrm>
            <a:off x="0" y="0"/>
            <a:ext cx="7554960" cy="10686960"/>
          </a:xfrm>
          <a:prstGeom prst="rect">
            <a:avLst/>
          </a:prstGeom>
          <a:ln w="0">
            <a:noFill/>
          </a:ln>
        </p:spPr>
      </p:pic>
      <p:sp>
        <p:nvSpPr>
          <p:cNvPr id="915" name="Rectangle 4"/>
          <p:cNvSpPr/>
          <p:nvPr/>
        </p:nvSpPr>
        <p:spPr>
          <a:xfrm>
            <a:off x="0" y="0"/>
            <a:ext cx="7554960" cy="10686960"/>
          </a:xfrm>
          <a:prstGeom prst="rect">
            <a:avLst/>
          </a:prstGeom>
          <a:gradFill rotWithShape="0">
            <a:gsLst>
              <a:gs pos="14000">
                <a:srgbClr val="000000">
                  <a:alpha val="0"/>
                </a:srgbClr>
              </a:gs>
              <a:gs pos="100000">
                <a:srgbClr val="000000">
                  <a:alpha val="66000"/>
                </a:srgbClr>
              </a:gs>
            </a:gsLst>
            <a:lin ang="5400000"/>
          </a:gra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grpSp>
        <p:nvGrpSpPr>
          <p:cNvPr id="916" name="Group 33"/>
          <p:cNvGrpSpPr/>
          <p:nvPr/>
        </p:nvGrpSpPr>
        <p:grpSpPr>
          <a:xfrm>
            <a:off x="1580760" y="4489920"/>
            <a:ext cx="4393440" cy="1707120"/>
            <a:chOff x="1580760" y="4489920"/>
            <a:chExt cx="4393440" cy="1707120"/>
          </a:xfrm>
        </p:grpSpPr>
        <p:sp>
          <p:nvSpPr>
            <p:cNvPr id="917" name="Rectangle 28"/>
            <p:cNvSpPr/>
            <p:nvPr/>
          </p:nvSpPr>
          <p:spPr>
            <a:xfrm>
              <a:off x="1580760" y="4489920"/>
              <a:ext cx="4393440" cy="17071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FR" sz="1800" spc="-1" strike="noStrike">
                <a:solidFill>
                  <a:schemeClr val="lt1"/>
                </a:solidFill>
                <a:latin typeface="Aptos"/>
              </a:endParaRPr>
            </a:p>
          </p:txBody>
        </p:sp>
        <p:pic>
          <p:nvPicPr>
            <p:cNvPr id="918" name="Picture 4" descr="Fichier:Ministère de l'Économie des Finances et de la ..."/>
            <p:cNvPicPr/>
            <p:nvPr/>
          </p:nvPicPr>
          <p:blipFill>
            <a:blip r:embed="rId2"/>
            <a:stretch/>
          </p:blipFill>
          <p:spPr>
            <a:xfrm>
              <a:off x="1595880" y="4521600"/>
              <a:ext cx="2761200" cy="1675440"/>
            </a:xfrm>
            <a:prstGeom prst="rect">
              <a:avLst/>
            </a:prstGeom>
            <a:ln w="0">
              <a:noFill/>
            </a:ln>
          </p:spPr>
        </p:pic>
        <p:pic>
          <p:nvPicPr>
            <p:cNvPr id="919" name="Picture 32" descr="A logo of a building and a couple of people hugging&#10;&#10;AI-generated content may be incorrect."/>
            <p:cNvPicPr/>
            <p:nvPr/>
          </p:nvPicPr>
          <p:blipFill>
            <a:blip r:embed="rId3"/>
            <a:stretch/>
          </p:blipFill>
          <p:spPr>
            <a:xfrm>
              <a:off x="4395600" y="4780440"/>
              <a:ext cx="1385280" cy="1050480"/>
            </a:xfrm>
            <a:prstGeom prst="rect">
              <a:avLst/>
            </a:prstGeom>
            <a:ln w="0">
              <a:noFill/>
            </a:ln>
          </p:spPr>
        </p:pic>
      </p:grpSp>
      <p:sp>
        <p:nvSpPr>
          <p:cNvPr id="920" name="TextBox 1"/>
          <p:cNvSpPr/>
          <p:nvPr/>
        </p:nvSpPr>
        <p:spPr>
          <a:xfrm>
            <a:off x="2253600" y="9569160"/>
            <a:ext cx="3047400" cy="2696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FR" sz="1050" spc="-1" strike="noStrike">
                <a:solidFill>
                  <a:schemeClr val="lt1"/>
                </a:solidFill>
                <a:latin typeface="Marianne Thin"/>
              </a:rPr>
              <a:t>Rendez-vous sur </a:t>
            </a:r>
            <a:r>
              <a:rPr b="0" lang="en-FR" sz="1050" spc="-1" strike="noStrike" u="sng">
                <a:solidFill>
                  <a:schemeClr val="lt1"/>
                </a:solidFill>
                <a:uFillTx/>
                <a:latin typeface="Marianne Thin"/>
                <a:hlinkClick r:id="rId4"/>
              </a:rPr>
              <a:t>portail-rse.beta.gouv.fr</a:t>
            </a:r>
            <a:endParaRPr b="0" lang="fr-FR"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489EED18C97664891FBABF60CE85E0C" ma:contentTypeVersion="18" ma:contentTypeDescription="Crée un document." ma:contentTypeScope="" ma:versionID="ed1179c15668db0c77eb89d8de1dbb5f">
  <xsd:schema xmlns:xsd="http://www.w3.org/2001/XMLSchema" xmlns:xs="http://www.w3.org/2001/XMLSchema" xmlns:p="http://schemas.microsoft.com/office/2006/metadata/properties" xmlns:ns2="5afdc98b-fce0-40ac-83a4-57138f1784c8" xmlns:ns3="6752113b-ca4c-47bc-8bea-19f6161a3152" targetNamespace="http://schemas.microsoft.com/office/2006/metadata/properties" ma:root="true" ma:fieldsID="28fc24cf4be06dad309e9de5afbd8d71" ns2:_="" ns3:_="">
    <xsd:import namespace="5afdc98b-fce0-40ac-83a4-57138f1784c8"/>
    <xsd:import namespace="6752113b-ca4c-47bc-8bea-19f6161a315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LengthInSeconds" minOccurs="0"/>
                <xsd:element ref="ns2:MediaServiceLocation"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fdc98b-fce0-40ac-83a4-57138f1784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Balises d’images" ma:readOnly="false" ma:fieldId="{5cf76f15-5ced-4ddc-b409-7134ff3c332f}" ma:taxonomyMulti="true" ma:sspId="34bdd932-de4c-4e83-b27c-d9de28fbbd8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752113b-ca4c-47bc-8bea-19f6161a3152" elementFormDefault="qualified">
    <xsd:import namespace="http://schemas.microsoft.com/office/2006/documentManagement/types"/>
    <xsd:import namespace="http://schemas.microsoft.com/office/infopath/2007/PartnerControls"/>
    <xsd:element name="SharedWithUsers" ma:index="15"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Partagé avec détails" ma:internalName="SharedWithDetails" ma:readOnly="true">
      <xsd:simpleType>
        <xsd:restriction base="dms:Note">
          <xsd:maxLength value="255"/>
        </xsd:restriction>
      </xsd:simpleType>
    </xsd:element>
    <xsd:element name="TaxCatchAll" ma:index="23" nillable="true" ma:displayName="Taxonomy Catch All Column" ma:hidden="true" ma:list="{c2655910-b12f-438e-879f-c2dc70ee3c16}" ma:internalName="TaxCatchAll" ma:showField="CatchAllData" ma:web="6752113b-ca4c-47bc-8bea-19f6161a315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afdc98b-fce0-40ac-83a4-57138f1784c8">
      <Terms xmlns="http://schemas.microsoft.com/office/infopath/2007/PartnerControls"/>
    </lcf76f155ced4ddcb4097134ff3c332f>
    <TaxCatchAll xmlns="6752113b-ca4c-47bc-8bea-19f6161a3152" xsi:nil="true"/>
    <SharedWithUsers xmlns="6752113b-ca4c-47bc-8bea-19f6161a3152">
      <UserInfo>
        <DisplayName>Emma Keirle</DisplayName>
        <AccountId>35</AccountId>
        <AccountType/>
      </UserInfo>
      <UserInfo>
        <DisplayName>Olivier Baudry</DisplayName>
        <AccountId>23</AccountId>
        <AccountType/>
      </UserInfo>
    </SharedWithUsers>
  </documentManagement>
</p:properties>
</file>

<file path=customXml/itemProps1.xml><?xml version="1.0" encoding="utf-8"?>
<ds:datastoreItem xmlns:ds="http://schemas.openxmlformats.org/officeDocument/2006/customXml" ds:itemID="{9F6742B5-A9A7-41FD-9F6E-7A6C4CA19CD3}">
  <ds:schemaRefs>
    <ds:schemaRef ds:uri="http://schemas.microsoft.com/sharepoint/v3/contenttype/forms"/>
  </ds:schemaRefs>
</ds:datastoreItem>
</file>

<file path=customXml/itemProps2.xml><?xml version="1.0" encoding="utf-8"?>
<ds:datastoreItem xmlns:ds="http://schemas.openxmlformats.org/officeDocument/2006/customXml" ds:itemID="{0825DCEC-EFA0-4B05-9EFD-87183066E15C}">
  <ds:schemaRefs>
    <ds:schemaRef ds:uri="5afdc98b-fce0-40ac-83a4-57138f1784c8"/>
    <ds:schemaRef ds:uri="6752113b-ca4c-47bc-8bea-19f6161a31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6E9CE1-51C0-4799-8816-E914381F6E53}">
  <ds:schemaRefs>
    <ds:schemaRef ds:uri="5afdc98b-fce0-40ac-83a4-57138f1784c8"/>
    <ds:schemaRef ds:uri="6752113b-ca4c-47bc-8bea-19f6161a31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TM03090430[[fn=À bandes]]</Template>
  <TotalTime>19089</TotalTime>
  <Application>LibreOffice/24.2.7.2$Linux_X86_64 LibreOffice_project/420$Build-2</Application>
  <AppVersion>15.0000</AppVersion>
  <Words>6633</Words>
  <Paragraphs>1650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2024-04-10T08:39:20Z</dcterms:created>
  <dc:creator>Tess Kouati</dc:creator>
  <dc:description/>
  <dc:language>fr-FR</dc:language>
  <cp:lastModifiedBy>Camille Daniel</cp:lastModifiedBy>
  <dcterms:modified xsi:type="dcterms:W3CDTF">2026-07-15T12:43:10Z</dcterms:modified>
  <cp:revision>215</cp:revision>
  <dc:subject/>
  <dc:title>Présentation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0x0101000489EED18C97664891FBABF60CE85E0C</vt:lpwstr>
  </property>
  <property fmtid="{D5CDD505-2E9C-101B-9397-08002B2CF9AE}" pid="3" name="HiddenSlides">
    <vt:i4>26</vt:i4>
  </property>
  <property fmtid="{D5CDD505-2E9C-101B-9397-08002B2CF9AE}" pid="4" name="MediaServiceImageTags">
    <vt:lpwstr/>
  </property>
  <property fmtid="{D5CDD505-2E9C-101B-9397-08002B2CF9AE}" pid="5" name="Notes">
    <vt:i4>2</vt:i4>
  </property>
  <property fmtid="{D5CDD505-2E9C-101B-9397-08002B2CF9AE}" pid="6" name="PresentationFormat">
    <vt:lpwstr>Custom</vt:lpwstr>
  </property>
  <property fmtid="{D5CDD505-2E9C-101B-9397-08002B2CF9AE}" pid="7" name="Slides">
    <vt:i4>83</vt:i4>
  </property>
</Properties>
</file>