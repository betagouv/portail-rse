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media/image5.svg" ContentType="image/svg"/>
  <Override PartName="/ppt/media/image9.svg" ContentType="image/svg"/>
  <Override PartName="/ppt/media/image11.svg" ContentType="image/svg"/>
  <Override PartName="/ppt/media/image7.svg" ContentType="image/svg"/>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45.xml" ContentType="application/vnd.openxmlformats-officedocument.presentationml.slide+xml"/>
  <Override PartName="/ppt/slides/slide44.xml" ContentType="application/vnd.openxmlformats-officedocument.presentationml.slide+xml"/>
  <Override PartName="/ppt/slides/slide43.xml" ContentType="application/vnd.openxmlformats-officedocument.presentationml.slide+xml"/>
  <Override PartName="/ppt/slides/slide42.xml" ContentType="application/vnd.openxmlformats-officedocument.presentationml.slide+xml"/>
  <Override PartName="/ppt/slides/slide40.xml" ContentType="application/vnd.openxmlformats-officedocument.presentationml.slide+xml"/>
  <Override PartName="/ppt/slides/slide38.xml" ContentType="application/vnd.openxmlformats-officedocument.presentationml.slide+xml"/>
  <Override PartName="/ppt/slides/slide36.xml" ContentType="application/vnd.openxmlformats-officedocument.presentationml.slide+xml"/>
  <Override PartName="/ppt/slides/slide46.xml" ContentType="application/vnd.openxmlformats-officedocument.presentationml.slide+xml"/>
  <Override PartName="/ppt/slides/slide27.xml" ContentType="application/vnd.openxmlformats-officedocument.presentationml.slide+xml"/>
  <Override PartName="/ppt/slides/slide65.xml" ContentType="application/vnd.openxmlformats-officedocument.presentationml.slide+xml"/>
  <Override PartName="/ppt/slides/slide61.xml" ContentType="application/vnd.openxmlformats-officedocument.presentationml.slide+xml"/>
  <Override PartName="/ppt/slides/slide12.xml" ContentType="application/vnd.openxmlformats-officedocument.presentationml.slide+xml"/>
  <Override PartName="/ppt/slides/slide29.xml" ContentType="application/vnd.openxmlformats-officedocument.presentationml.slide+xml"/>
  <Override PartName="/ppt/slides/slide62.xml" ContentType="application/vnd.openxmlformats-officedocument.presentationml.slide+xml"/>
  <Override PartName="/ppt/slides/slide48.xml" ContentType="application/vnd.openxmlformats-officedocument.presentationml.slide+xml"/>
  <Override PartName="/ppt/slides/slide31.xml" ContentType="application/vnd.openxmlformats-officedocument.presentationml.slide+xml"/>
  <Override PartName="/ppt/slides/slide63.xml" ContentType="application/vnd.openxmlformats-officedocument.presentationml.slide+xml"/>
  <Override PartName="/ppt/slides/slide67.xml" ContentType="application/vnd.openxmlformats-officedocument.presentationml.slide+xml"/>
  <Override PartName="/ppt/slides/slide35.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77.xml" ContentType="application/vnd.openxmlformats-officedocument.presentationml.slide+xml"/>
  <Override PartName="/ppt/slides/slide37.xml" ContentType="application/vnd.openxmlformats-officedocument.presentationml.slide+xml"/>
  <Override PartName="/ppt/slides/slide69.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58.xml" ContentType="application/vnd.openxmlformats-officedocument.presentationml.slide+xml"/>
  <Override PartName="/ppt/slides/slide72.xml" ContentType="application/vnd.openxmlformats-officedocument.presentationml.slide+xml"/>
  <Override PartName="/ppt/slides/slide75.xml" ContentType="application/vnd.openxmlformats-officedocument.presentationml.slide+xml"/>
  <Override PartName="/ppt/slides/slide49.xml" ContentType="application/vnd.openxmlformats-officedocument.presentationml.slide+xml"/>
  <Override PartName="/ppt/slides/slide76.xml" ContentType="application/vnd.openxmlformats-officedocument.presentationml.slide+xml"/>
  <Override PartName="/ppt/slides/slide66.xml" ContentType="application/vnd.openxmlformats-officedocument.presentationml.slide+xml"/>
  <Override PartName="/ppt/slides/slide2.xml" ContentType="application/vnd.openxmlformats-officedocument.presentationml.slide+xml"/>
  <Override PartName="/ppt/slides/slide41.xml" ContentType="application/vnd.openxmlformats-officedocument.presentationml.slide+xml"/>
  <Override PartName="/ppt/slides/slide23.xml" ContentType="application/vnd.openxmlformats-officedocument.presentationml.slide+xml"/>
  <Override PartName="/ppt/slides/slide71.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0.xml" ContentType="application/vnd.openxmlformats-officedocument.presentationml.slide+xml"/>
  <Override PartName="/ppt/slides/slide14.xml" ContentType="application/vnd.openxmlformats-officedocument.presentationml.slide+xml"/>
  <Override PartName="/ppt/slides/slide73.xml" ContentType="application/vnd.openxmlformats-officedocument.presentationml.slide+xml"/>
  <Override PartName="/ppt/slides/slide52.xml" ContentType="application/vnd.openxmlformats-officedocument.presentationml.slide+xml"/>
  <Override PartName="/ppt/slides/slide30.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6.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34.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26.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74.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59.xml" ContentType="application/vnd.openxmlformats-officedocument.presentationml.slide+xml"/>
  <Override PartName="/ppt/slides/slide56.xml" ContentType="application/vnd.openxmlformats-officedocument.presentationml.slide+xml"/>
  <Override PartName="/ppt/slides/slide50.xml" ContentType="application/vnd.openxmlformats-officedocument.presentationml.slide+xml"/>
  <Override PartName="/ppt/slides/slide24.xml" ContentType="application/vnd.openxmlformats-officedocument.presentationml.slide+xml"/>
  <Override PartName="/ppt/slides/slide39.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77.xml" ContentType="application/vnd.openxmlformats-officedocument.presentationml.notesSlide+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Lst>
  <p:sldSz cx="7559675" cy="10691813"/>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theme" Target="theme/theme1.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fr-FR" sz="4400" b="0" u="none" strike="noStrike">
                <a:solidFill>
                  <a:srgbClr val="000000"/>
                </a:solidFill>
                <a:effectLst/>
                <a:uFillTx/>
                <a:latin typeface="Arial"/>
              </a:rPr>
              <a:t>Cliquez pour déplacer la diapo</a:t>
            </a:r>
            <a:endParaRPr lang="fr-FR" sz="4400" b="0" u="none" strike="noStrike">
              <a:solidFill>
                <a:srgbClr val="000000"/>
              </a:solidFill>
              <a:effectLst/>
              <a:uFillTx/>
              <a:latin typeface="Arial"/>
            </a:endParaRPr>
          </a:p>
        </p:txBody>
      </p:sp>
      <p:sp>
        <p:nvSpPr>
          <p:cNvPr id="7"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Cliquez pour modifier le format des notes</a:t>
            </a:r>
            <a:endParaRPr lang="fr-FR" sz="2000" b="0" u="none" strike="noStrike">
              <a:solidFill>
                <a:srgbClr val="000000"/>
              </a:solidFill>
              <a:effectLst/>
              <a:uFillTx/>
              <a:latin typeface="Arial"/>
            </a:endParaRPr>
          </a:p>
        </p:txBody>
      </p:sp>
      <p:sp>
        <p:nvSpPr>
          <p:cNvPr id="8"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9" name="PlaceHolder 4"/>
          <p:cNvSpPr>
            <a:spLocks noGrp="1"/>
          </p:cNvSpPr>
          <p:nvPr>
            <p:ph type="dt" idx="3"/>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10" name="PlaceHolder 5"/>
          <p:cNvSpPr>
            <a:spLocks noGrp="1"/>
          </p:cNvSpPr>
          <p:nvPr>
            <p:ph type="ftr" idx="4"/>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 </a:t>
            </a:r>
            <a:endParaRPr lang="fr-FR" sz="1400" b="0" u="none" strike="noStrike">
              <a:solidFill>
                <a:srgbClr val="000000"/>
              </a:solidFill>
              <a:effectLst/>
              <a:uFillTx/>
              <a:latin typeface="Times New Roman"/>
            </a:endParaRPr>
          </a:p>
        </p:txBody>
      </p:sp>
      <p:sp>
        <p:nvSpPr>
          <p:cNvPr id="11" name="PlaceHolder 6"/>
          <p:cNvSpPr>
            <a:spLocks noGrp="1"/>
          </p:cNvSpPr>
          <p:nvPr>
            <p:ph type="sldNum" idx="5"/>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204F6878-46BA-480D-9129-6473989BE324}" type="slidenum">
              <a:rPr lang="fr-FR" sz="1400" b="0" u="none" strike="noStrike">
                <a:solidFill>
                  <a:srgbClr val="000000"/>
                </a:solidFill>
                <a:effectLst/>
                <a:uFillTx/>
                <a:latin typeface="Times New Roman"/>
              </a:rPr>
              <a:t>1</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3" name="PlaceHolder 1"/>
          <p:cNvSpPr>
            <a:spLocks noGrp="1"/>
          </p:cNvSpPr>
          <p:nvPr>
            <p:ph type="sldImg"/>
          </p:nvPr>
        </p:nvSpPr>
        <p:spPr>
          <a:xfrm>
            <a:off x="2338560" y="1143000"/>
            <a:ext cx="2176200" cy="3081240"/>
          </a:xfrm>
          <a:prstGeom prst="rect">
            <a:avLst/>
          </a:prstGeom>
          <a:ln w="0">
            <a:noFill/>
          </a:ln>
        </p:spPr>
      </p:sp>
      <p:sp>
        <p:nvSpPr>
          <p:cNvPr id="924" name="PlaceHolder 2"/>
          <p:cNvSpPr>
            <a:spLocks noGrp="1"/>
          </p:cNvSpPr>
          <p:nvPr>
            <p:ph type="body"/>
          </p:nvPr>
        </p:nvSpPr>
        <p:spPr>
          <a:xfrm>
            <a:off x="685800" y="4400640"/>
            <a:ext cx="5481360" cy="3595320"/>
          </a:xfrm>
          <a:prstGeom prst="rect">
            <a:avLst/>
          </a:prstGeom>
          <a:noFill/>
          <a:ln w="0">
            <a:noFill/>
          </a:ln>
        </p:spPr>
        <p:txBody>
          <a:bodyPr lIns="91440" tIns="45720" rIns="91440" bIns="45720" anchor="t">
            <a:noAutofit/>
          </a:bodyPr>
          <a:p>
            <a:pPr indent="0" algn="l">
              <a:buNone/>
            </a:pPr>
            <a:endParaRPr lang="fr-FR" sz="1800" b="0" u="none" strike="noStrike">
              <a:solidFill>
                <a:srgbClr val="000000"/>
              </a:solidFill>
              <a:effectLst/>
              <a:uFillTx/>
              <a:latin typeface="Arial"/>
            </a:endParaRPr>
          </a:p>
        </p:txBody>
      </p:sp>
      <p:sp>
        <p:nvSpPr>
          <p:cNvPr id="925" name="PlaceHolder 3"/>
          <p:cNvSpPr>
            <a:spLocks noGrp="1"/>
          </p:cNvSpPr>
          <p:nvPr>
            <p:ph type="sldNum" idx="6"/>
          </p:nvPr>
        </p:nvSpPr>
        <p:spPr>
          <a:xfrm>
            <a:off x="3884760" y="8685360"/>
            <a:ext cx="2966760" cy="453600"/>
          </a:xfrm>
          <a:prstGeom prst="rect">
            <a:avLst/>
          </a:prstGeom>
          <a:noFill/>
          <a:ln w="0">
            <a:noFill/>
          </a:ln>
        </p:spPr>
        <p:txBody>
          <a:bodyPr lIns="91440" tIns="45720" rIns="91440" bIns="45720" anchor="b">
            <a:noAutofit/>
          </a:bodyPr>
          <a:lstStyle>
            <a:lvl1pPr indent="0" algn="r">
              <a:lnSpc>
                <a:spcPct val="100000"/>
              </a:lnSpc>
              <a:buNone/>
              <a:tabLst>
                <a:tab pos="0" algn="l"/>
              </a:tabLst>
              <a:defRPr lang="fr-FR" sz="1200" b="0" u="none" strike="noStrike">
                <a:solidFill>
                  <a:srgbClr val="000000"/>
                </a:solidFill>
                <a:effectLst/>
                <a:uFillTx/>
                <a:latin typeface="Times New Roman"/>
              </a:defRPr>
            </a:lvl1pPr>
          </a:lstStyle>
          <a:p>
            <a:pPr indent="0" algn="r">
              <a:lnSpc>
                <a:spcPct val="100000"/>
              </a:lnSpc>
              <a:buNone/>
              <a:tabLst>
                <a:tab pos="0" algn="l"/>
              </a:tabLst>
            </a:pPr>
            <a:fld id="{E6D51AF9-9913-4AC4-B23A-793F6A22BE06}" type="slidenum">
              <a:rPr lang="fr-FR"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PlaceHolder 1"/>
          <p:cNvSpPr>
            <a:spLocks noGrp="1"/>
          </p:cNvSpPr>
          <p:nvPr>
            <p:ph type="sldImg"/>
          </p:nvPr>
        </p:nvSpPr>
        <p:spPr>
          <a:xfrm>
            <a:off x="2338560" y="1143000"/>
            <a:ext cx="2176200" cy="3081240"/>
          </a:xfrm>
          <a:prstGeom prst="rect">
            <a:avLst/>
          </a:prstGeom>
          <a:ln w="0">
            <a:noFill/>
          </a:ln>
        </p:spPr>
      </p:sp>
      <p:sp>
        <p:nvSpPr>
          <p:cNvPr id="927" name="PlaceHolder 2"/>
          <p:cNvSpPr>
            <a:spLocks noGrp="1"/>
          </p:cNvSpPr>
          <p:nvPr>
            <p:ph type="body"/>
          </p:nvPr>
        </p:nvSpPr>
        <p:spPr>
          <a:xfrm>
            <a:off x="685800" y="4400640"/>
            <a:ext cx="5481360" cy="3595320"/>
          </a:xfrm>
          <a:prstGeom prst="rect">
            <a:avLst/>
          </a:prstGeom>
          <a:noFill/>
          <a:ln w="0">
            <a:noFill/>
          </a:ln>
        </p:spPr>
        <p:txBody>
          <a:bodyPr lIns="91440" tIns="45720" rIns="91440" bIns="45720" anchor="t">
            <a:noAutofit/>
          </a:bodyPr>
          <a:p>
            <a:pPr indent="0" algn="l">
              <a:buNone/>
            </a:pPr>
            <a:endParaRPr lang="fr-FR" sz="1800" b="0" u="none" strike="noStrike">
              <a:solidFill>
                <a:srgbClr val="000000"/>
              </a:solidFill>
              <a:effectLst/>
              <a:uFillTx/>
              <a:latin typeface="Arial"/>
            </a:endParaRPr>
          </a:p>
        </p:txBody>
      </p:sp>
      <p:sp>
        <p:nvSpPr>
          <p:cNvPr id="928" name="PlaceHolder 3"/>
          <p:cNvSpPr>
            <a:spLocks noGrp="1"/>
          </p:cNvSpPr>
          <p:nvPr>
            <p:ph type="sldNum" idx="7"/>
          </p:nvPr>
        </p:nvSpPr>
        <p:spPr>
          <a:xfrm>
            <a:off x="3884760" y="8685360"/>
            <a:ext cx="2966760" cy="453600"/>
          </a:xfrm>
          <a:prstGeom prst="rect">
            <a:avLst/>
          </a:prstGeom>
          <a:noFill/>
          <a:ln w="0">
            <a:noFill/>
          </a:ln>
        </p:spPr>
        <p:txBody>
          <a:bodyPr lIns="91440" tIns="45720" rIns="91440" bIns="45720" anchor="b">
            <a:noAutofit/>
          </a:bodyPr>
          <a:lstStyle>
            <a:lvl1pPr indent="0" algn="r">
              <a:lnSpc>
                <a:spcPct val="100000"/>
              </a:lnSpc>
              <a:buNone/>
              <a:tabLst>
                <a:tab pos="0" algn="l"/>
              </a:tabLst>
              <a:defRPr lang="fr-FR" sz="1200" b="0" u="none" strike="noStrike">
                <a:solidFill>
                  <a:srgbClr val="000000"/>
                </a:solidFill>
                <a:effectLst/>
                <a:uFillTx/>
                <a:latin typeface="Times New Roman"/>
              </a:defRPr>
            </a:lvl1pPr>
          </a:lstStyle>
          <a:p>
            <a:pPr indent="0" algn="r">
              <a:lnSpc>
                <a:spcPct val="100000"/>
              </a:lnSpc>
              <a:buNone/>
              <a:tabLst>
                <a:tab pos="0" algn="l"/>
              </a:tabLst>
            </a:pPr>
            <a:fld id="{3380DA96-27A0-4556-861B-1E04F85849BD}" type="slidenum">
              <a:rPr lang="fr-FR" sz="1200" b="0" u="none" strike="noStrike">
                <a:solidFill>
                  <a:srgbClr val="000000"/>
                </a:solidFill>
                <a:effectLst/>
                <a:uFillTx/>
                <a:latin typeface="Times New Roman"/>
              </a:rPr>
              <a:t>&lt;numéro&gt;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67F8B94E-4582-42D4-8869-0AB9C8DDD224}" type="slidenum">
              <a:t>&lt;#&gt;</a:t>
            </a:fld>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ftr" idx="1"/>
          </p:nvPr>
        </p:nvSpPr>
        <p:spPr>
          <a:xfrm>
            <a:off x="133200" y="10363320"/>
            <a:ext cx="2546280" cy="205920"/>
          </a:xfrm>
          <a:prstGeom prst="rect">
            <a:avLst/>
          </a:prstGeom>
          <a:noFill/>
          <a:ln w="0">
            <a:noFill/>
          </a:ln>
        </p:spPr>
        <p:txBody>
          <a:bodyPr lIns="90000" tIns="45000" rIns="90000" bIns="45000" anchor="t">
            <a:noAutofit/>
          </a:bodyPr>
          <a:lstStyle>
            <a:lvl1pPr indent="0" algn="l" defTabSz="457200">
              <a:lnSpc>
                <a:spcPct val="100000"/>
              </a:lnSpc>
              <a:buNone/>
              <a:tabLst>
                <a:tab pos="0" algn="l"/>
              </a:tabLst>
              <a:defRPr lang="fr-FR" sz="700" b="0" u="none" strike="noStrike">
                <a:solidFill>
                  <a:schemeClr val="lt1">
                    <a:lumMod val="65000"/>
                  </a:schemeClr>
                </a:solidFill>
                <a:effectLst/>
                <a:uFillTx/>
                <a:latin typeface="Marianne Light"/>
              </a:defRPr>
            </a:lvl1pPr>
          </a:lstStyle>
          <a:p>
            <a:pPr indent="0" algn="l" defTabSz="457200">
              <a:lnSpc>
                <a:spcPct val="100000"/>
              </a:lnSpc>
              <a:buNone/>
              <a:tabLst>
                <a:tab pos="0" algn="l"/>
              </a:tabLst>
            </a:pPr>
            <a:r>
              <a:rPr lang="fr-FR" sz="700" b="0" u="none" strike="noStrike">
                <a:solidFill>
                  <a:schemeClr val="lt1">
                    <a:lumMod val="65000"/>
                  </a:schemeClr>
                </a:solidFill>
                <a:effectLst/>
                <a:uFillTx/>
                <a:latin typeface="Marianne Light"/>
              </a:rPr>
              <a:t>&lt;pied de page&gt;</a:t>
            </a:r>
            <a:endParaRPr lang="fr-FR" sz="700" b="0" u="none" strike="noStrike">
              <a:solidFill>
                <a:srgbClr val="000000"/>
              </a:solidFill>
              <a:effectLst/>
              <a:uFillTx/>
              <a:latin typeface="Times New Roman"/>
            </a:endParaRPr>
          </a:p>
        </p:txBody>
      </p:sp>
      <p:sp>
        <p:nvSpPr>
          <p:cNvPr id="3" name="PlaceHolder 2"/>
          <p:cNvSpPr>
            <a:spLocks noGrp="1"/>
          </p:cNvSpPr>
          <p:nvPr>
            <p:ph type="sldNum" idx="2"/>
          </p:nvPr>
        </p:nvSpPr>
        <p:spPr>
          <a:xfrm>
            <a:off x="4597560" y="10363320"/>
            <a:ext cx="2823840" cy="187200"/>
          </a:xfrm>
          <a:prstGeom prst="rect">
            <a:avLst/>
          </a:prstGeom>
          <a:noFill/>
          <a:ln w="0">
            <a:noFill/>
          </a:ln>
        </p:spPr>
        <p:txBody>
          <a:bodyPr lIns="90000" tIns="45000" rIns="90000" bIns="45000" anchor="t">
            <a:noAutofit/>
          </a:bodyPr>
          <a:lstStyle>
            <a:lvl1pPr indent="0" algn="r" defTabSz="457200">
              <a:lnSpc>
                <a:spcPct val="100000"/>
              </a:lnSpc>
              <a:buNone/>
              <a:tabLst>
                <a:tab pos="0" algn="l"/>
              </a:tabLst>
              <a:defRPr lang="en-FR" sz="700" b="0" u="none" strike="noStrike">
                <a:solidFill>
                  <a:schemeClr val="lt1">
                    <a:lumMod val="65000"/>
                  </a:schemeClr>
                </a:solidFill>
                <a:effectLst/>
                <a:uFillTx/>
                <a:latin typeface="Marianne Light"/>
              </a:defRPr>
            </a:lvl1pPr>
          </a:lstStyle>
          <a:p>
            <a:pPr indent="0" algn="r" defTabSz="457200">
              <a:lnSpc>
                <a:spcPct val="100000"/>
              </a:lnSpc>
              <a:buNone/>
              <a:tabLst>
                <a:tab pos="0" algn="l"/>
              </a:tabLst>
            </a:pPr>
            <a:fld id="{46BBA9CA-86B9-4CF5-A87B-793CAE696D29}" type="slidenum">
              <a:rPr lang="en-FR" sz="700" b="0" u="none" strike="noStrike">
                <a:solidFill>
                  <a:schemeClr val="lt1">
                    <a:lumMod val="65000"/>
                  </a:schemeClr>
                </a:solidFill>
                <a:effectLst/>
                <a:uFillTx/>
                <a:latin typeface="Marianne Light"/>
              </a:rPr>
              <a:t>&lt;numéro&gt;</a:t>
            </a:fld>
            <a:endParaRPr lang="fr-FR" sz="700" b="0" u="none" strike="noStrike">
              <a:solidFill>
                <a:srgbClr val="000000"/>
              </a:solidFill>
              <a:effectLst/>
              <a:uFillTx/>
              <a:latin typeface="Times New Roman"/>
            </a:endParaRPr>
          </a:p>
        </p:txBody>
      </p:sp>
      <p:sp>
        <p:nvSpPr>
          <p:cNvPr id="4" name="PlaceHolder 3"/>
          <p:cNvSpPr>
            <a:spLocks noGrp="1"/>
          </p:cNvSpPr>
          <p:nvPr>
            <p:ph type="title"/>
          </p:nvPr>
        </p:nvSpPr>
        <p:spPr>
          <a:xfrm>
            <a:off x="377640" y="426240"/>
            <a:ext cx="6803280" cy="1784880"/>
          </a:xfrm>
          <a:prstGeom prst="rect">
            <a:avLst/>
          </a:prstGeom>
          <a:noFill/>
          <a:ln w="0">
            <a:noFill/>
          </a:ln>
        </p:spPr>
        <p:txBody>
          <a:bodyPr lIns="0" tIns="0" rIns="0" bIns="0" anchor="ctr">
            <a:noAutofit/>
          </a:bodyPr>
          <a:lstStyle>
            <a:lvl1pPr indent="0" algn="l">
              <a:buNone/>
              <a:defRPr lang="fr-FR" sz="4400" b="0" u="none" strike="noStrike">
                <a:solidFill>
                  <a:srgbClr val="000000"/>
                </a:solidFill>
                <a:effectLst/>
                <a:uFillTx/>
                <a:latin typeface="Arial"/>
              </a:defRPr>
            </a:lvl1pPr>
          </a:lstStyle>
          <a:p>
            <a:pPr indent="0" algn="l">
              <a:buNone/>
            </a:pPr>
            <a:r>
              <a:rPr lang="fr-FR" sz="4400" b="0" u="none" strike="noStrike">
                <a:solidFill>
                  <a:srgbClr val="000000"/>
                </a:solidFill>
                <a:effectLst/>
                <a:uFillTx/>
                <a:latin typeface="Arial"/>
              </a:rPr>
              <a:t>Cliquez pour éditer le format du texte-titre</a:t>
            </a:r>
            <a:endParaRPr lang="fr-FR" sz="4400" b="0" u="none" strike="noStrike">
              <a:solidFill>
                <a:srgbClr val="000000"/>
              </a:solidFill>
              <a:effectLst/>
              <a:uFillTx/>
              <a:latin typeface="Arial"/>
            </a:endParaRPr>
          </a:p>
        </p:txBody>
      </p:sp>
      <p:sp>
        <p:nvSpPr>
          <p:cNvPr id="5" name="PlaceHolder 4"/>
          <p:cNvSpPr>
            <a:spLocks noGrp="1"/>
          </p:cNvSpPr>
          <p:nvPr>
            <p:ph type="body"/>
          </p:nvPr>
        </p:nvSpPr>
        <p:spPr>
          <a:xfrm>
            <a:off x="377640" y="2501640"/>
            <a:ext cx="6803280" cy="6200640"/>
          </a:xfrm>
          <a:prstGeom prst="rect">
            <a:avLst/>
          </a:prstGeom>
          <a:noFill/>
          <a:ln w="0">
            <a:noFill/>
          </a:ln>
        </p:spPr>
        <p:txBody>
          <a:bodyPr lIns="0" tIns="0" rIns="0" bIns="0" anchor="t">
            <a:normAutofit/>
          </a:bodyPr>
          <a:lstStyle>
            <a:lvl1pPr algn="l">
              <a:buClr>
                <a:srgbClr val="000000"/>
              </a:buClr>
              <a:buFont typeface="Wingdings" charset="2"/>
              <a:buChar char=""/>
              <a:defRPr lang="fr-FR" sz="3200" b="0" u="none" strike="noStrike">
                <a:solidFill>
                  <a:srgbClr val="000000"/>
                </a:solidFill>
                <a:effectLst/>
                <a:uFillTx/>
                <a:latin typeface="Arial"/>
              </a:defRPr>
            </a:lvl1pPr>
            <a:lvl2pPr lvl="1" algn="l">
              <a:buClr>
                <a:srgbClr val="000000"/>
              </a:buClr>
              <a:buSzPct val="75000"/>
              <a:buFont typeface="Symbol" charset="2"/>
              <a:buChar char=""/>
              <a:defRPr lang="fr-FR" sz="2800" b="0" u="none" strike="noStrike">
                <a:solidFill>
                  <a:srgbClr val="000000"/>
                </a:solidFill>
                <a:effectLst/>
                <a:uFillTx/>
                <a:latin typeface="Arial"/>
              </a:defRPr>
            </a:lvl2pPr>
            <a:lvl3pPr lvl="2" algn="l">
              <a:buClr>
                <a:srgbClr val="000000"/>
              </a:buClr>
              <a:buSzPct val="45000"/>
              <a:buFont typeface="Wingdings" charset="2"/>
              <a:buChar char=""/>
              <a:defRPr lang="fr-FR" sz="2400" b="0" u="none" strike="noStrike">
                <a:solidFill>
                  <a:srgbClr val="000000"/>
                </a:solidFill>
                <a:effectLst/>
                <a:uFillTx/>
                <a:latin typeface="Arial"/>
              </a:defRPr>
            </a:lvl3pPr>
            <a:lvl4pPr lvl="3" algn="l">
              <a:buClr>
                <a:srgbClr val="000000"/>
              </a:buClr>
              <a:buSzPct val="75000"/>
              <a:buFont typeface="Symbol" charset="2"/>
              <a:buChar char=""/>
              <a:defRPr lang="fr-FR" sz="2000" b="0" u="none" strike="noStrike">
                <a:solidFill>
                  <a:srgbClr val="000000"/>
                </a:solidFill>
                <a:effectLst/>
                <a:uFillTx/>
                <a:latin typeface="Arial"/>
              </a:defRPr>
            </a:lvl4pPr>
            <a:lvl5pPr lvl="4" algn="l">
              <a:buClr>
                <a:srgbClr val="000000"/>
              </a:buClr>
              <a:buSzPct val="45000"/>
              <a:buFont typeface="Wingdings" charset="2"/>
              <a:buChar char=""/>
              <a:defRPr lang="fr-FR" sz="2000" b="0" u="none" strike="noStrike">
                <a:solidFill>
                  <a:srgbClr val="000000"/>
                </a:solidFill>
                <a:effectLst/>
                <a:uFillTx/>
                <a:latin typeface="Arial"/>
              </a:defRPr>
            </a:lvl5pPr>
            <a:lvl6pPr lvl="5" algn="l">
              <a:buClr>
                <a:srgbClr val="000000"/>
              </a:buClr>
              <a:buSzPct val="45000"/>
              <a:buFont typeface="Wingdings" charset="2"/>
              <a:buChar char=""/>
              <a:defRPr lang="fr-FR" sz="2000" b="0" u="none" strike="noStrike">
                <a:solidFill>
                  <a:srgbClr val="000000"/>
                </a:solidFill>
                <a:effectLst/>
                <a:uFillTx/>
                <a:latin typeface="Arial"/>
              </a:defRPr>
            </a:lvl6pPr>
            <a:lvl7pPr lvl="6" algn="l">
              <a:buClr>
                <a:srgbClr val="000000"/>
              </a:buClr>
              <a:buSzPct val="45000"/>
              <a:buFont typeface="Wingdings" charset="2"/>
              <a:buChar char=""/>
              <a:defRPr lang="fr-FR" sz="2000" b="0" u="none" strike="noStrike">
                <a:solidFill>
                  <a:srgbClr val="000000"/>
                </a:solidFill>
                <a:effectLst/>
                <a:uFillTx/>
                <a:latin typeface="Arial"/>
              </a:defRPr>
            </a:lvl7pPr>
          </a:lstStyle>
          <a:p>
            <a:pPr indent="-324000" algn="l">
              <a:buClr>
                <a:srgbClr val="000000"/>
              </a:buClr>
              <a:buFont typeface="Wingdings" charset="2"/>
              <a:buChar char=""/>
            </a:pPr>
            <a:r>
              <a:rPr lang="fr-FR" sz="3200" b="0" u="none" strike="noStrike">
                <a:solidFill>
                  <a:srgbClr val="000000"/>
                </a:solidFill>
                <a:effectLst/>
                <a:uFillTx/>
                <a:latin typeface="Arial"/>
              </a:rPr>
              <a:t>Cliquez pour éditer le format du plan de texte</a:t>
            </a:r>
            <a:endParaRPr lang="fr-FR" sz="32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fr-FR" sz="2800" b="0" u="none" strike="noStrike">
                <a:solidFill>
                  <a:srgbClr val="000000"/>
                </a:solidFill>
                <a:effectLst/>
                <a:uFillTx/>
                <a:latin typeface="Arial"/>
              </a:rPr>
              <a:t>Second niveau de plan</a:t>
            </a:r>
            <a:endParaRPr lang="fr-FR" sz="2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fr-FR" sz="2400" b="0" u="none" strike="noStrike">
                <a:solidFill>
                  <a:srgbClr val="000000"/>
                </a:solidFill>
                <a:effectLst/>
                <a:uFillTx/>
                <a:latin typeface="Arial"/>
              </a:rPr>
              <a:t>Troisième niveau de plan</a:t>
            </a:r>
            <a:endParaRPr lang="fr-FR" sz="24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fr-FR" sz="2000" b="0" u="none" strike="noStrike">
                <a:solidFill>
                  <a:srgbClr val="000000"/>
                </a:solidFill>
                <a:effectLst/>
                <a:uFillTx/>
                <a:latin typeface="Arial"/>
              </a:rPr>
              <a:t>Quatrième niveau de plan</a:t>
            </a:r>
            <a:endParaRPr lang="fr-FR" sz="20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fr-FR" sz="2000" b="0" u="none" strike="noStrike">
                <a:solidFill>
                  <a:srgbClr val="000000"/>
                </a:solidFill>
                <a:effectLst/>
                <a:uFillTx/>
                <a:latin typeface="Arial"/>
              </a:rPr>
              <a:t>Cinquième niveau de plan</a:t>
            </a:r>
            <a:endParaRPr lang="fr-FR" sz="20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fr-FR" sz="2000" b="0" u="none" strike="noStrike">
                <a:solidFill>
                  <a:srgbClr val="000000"/>
                </a:solidFill>
                <a:effectLst/>
                <a:uFillTx/>
                <a:latin typeface="Arial"/>
              </a:rPr>
              <a:t>Sixième niveau de plan</a:t>
            </a:r>
            <a:endParaRPr lang="fr-FR" sz="20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fr-FR" sz="2000" b="0" u="none" strike="noStrike">
                <a:solidFill>
                  <a:srgbClr val="000000"/>
                </a:solidFill>
                <a:effectLst/>
                <a:uFillTx/>
                <a:latin typeface="Arial"/>
              </a:rPr>
              <a:t>Septième niveau de plan</a:t>
            </a:r>
            <a:endParaRPr lang="fr-FR"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1.xml"/><Relationship Id="rId5"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hyperlink" Target="file:///home/stephane/src/yaal/portail-rse/impact/vsme/exports/portail-rse.beta.gouv.fr" TargetMode="External"/><Relationship Id="rId5"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image" Target="../media/image14.jpe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6.png"/><Relationship Id="rId3"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hyperlink" Target="file:///home/stephane/src/yaal/portail-rse/impact/vsme/exports/portail-rse.beta.gouv.fr" TargetMode="External"/><Relationship Id="rId5" Type="http://schemas.openxmlformats.org/officeDocument/2006/relationships/slideLayout" Target="../slideLayouts/slideLayout1.xml"/><Relationship Id="rId6" Type="http://schemas.openxmlformats.org/officeDocument/2006/relationships/notesSlide" Target="../notesSlides/notesSlide7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 name="Picture 4" descr="A building with trees reflected in windows&#10;&#10;AI-generated content may be incorrect."/>
          <p:cNvPicPr/>
          <p:nvPr/>
        </p:nvPicPr>
        <p:blipFill>
          <a:blip r:embed="rId1"/>
          <a:stretch/>
        </p:blipFill>
        <p:spPr>
          <a:xfrm>
            <a:off x="0" y="0"/>
            <a:ext cx="7554600" cy="10686600"/>
          </a:xfrm>
          <a:prstGeom prst="rect">
            <a:avLst/>
          </a:prstGeom>
          <a:noFill/>
          <a:ln w="0">
            <a:noFill/>
          </a:ln>
        </p:spPr>
      </p:pic>
      <p:sp>
        <p:nvSpPr>
          <p:cNvPr id="13" name="Rectangle 5"/>
          <p:cNvSpPr/>
          <p:nvPr/>
        </p:nvSpPr>
        <p:spPr>
          <a:xfrm>
            <a:off x="0" y="0"/>
            <a:ext cx="7554600" cy="10686600"/>
          </a:xfrm>
          <a:prstGeom prst="rect">
            <a:avLst/>
          </a:prstGeom>
          <a:gradFill rotWithShape="0">
            <a:gsLst>
              <a:gs pos="14000">
                <a:srgbClr val="000000">
                  <a:alpha val="0"/>
                </a:srgbClr>
              </a:gs>
              <a:gs pos="100000">
                <a:srgbClr val="000000">
                  <a:alpha val="66000"/>
                </a:srgbClr>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4" name="ZoneTexte 9"/>
          <p:cNvSpPr/>
          <p:nvPr/>
        </p:nvSpPr>
        <p:spPr>
          <a:xfrm>
            <a:off x="597240" y="7671960"/>
            <a:ext cx="6242760" cy="9680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20000"/>
              </a:lnSpc>
            </a:pPr>
            <a:r>
              <a:rPr lang="fr-FR" sz="2400" b="1" u="none" strike="noStrike">
                <a:solidFill>
                  <a:schemeClr val="lt1"/>
                </a:solidFill>
                <a:effectLst/>
                <a:uFillTx/>
                <a:latin typeface="Marianne"/>
              </a:rPr>
              <a:t>NOM DE L’ENTREPRISE</a:t>
            </a:r>
            <a:endParaRPr lang="fr-FR" sz="2400" b="0" u="none" strike="noStrike">
              <a:solidFill>
                <a:srgbClr val="000000"/>
              </a:solidFill>
              <a:effectLst/>
              <a:uFillTx/>
              <a:latin typeface="Arial"/>
            </a:endParaRPr>
          </a:p>
          <a:p>
            <a:pPr algn="r" defTabSz="457200">
              <a:lnSpc>
                <a:spcPct val="120000"/>
              </a:lnSpc>
            </a:pPr>
            <a:r>
              <a:rPr lang="fr-FR" sz="2400" b="0" u="none" strike="noStrike">
                <a:solidFill>
                  <a:schemeClr val="lt1"/>
                </a:solidFill>
                <a:effectLst/>
                <a:uFillTx/>
                <a:latin typeface="Marianne Light"/>
              </a:rPr>
              <a:t>Rapport VSME 2025</a:t>
            </a:r>
            <a:endParaRPr lang="fr-FR" sz="2400" b="0" u="none" strike="noStrike">
              <a:solidFill>
                <a:srgbClr val="000000"/>
              </a:solidFill>
              <a:effectLst/>
              <a:uFillTx/>
              <a:latin typeface="Arial"/>
            </a:endParaRPr>
          </a:p>
        </p:txBody>
      </p:sp>
      <p:grpSp>
        <p:nvGrpSpPr>
          <p:cNvPr id="15" name="Group 33"/>
          <p:cNvGrpSpPr/>
          <p:nvPr/>
        </p:nvGrpSpPr>
        <p:grpSpPr>
          <a:xfrm>
            <a:off x="4417200" y="658800"/>
            <a:ext cx="2487240" cy="965160"/>
            <a:chOff x="4417200" y="658800"/>
            <a:chExt cx="2487240" cy="965160"/>
          </a:xfrm>
        </p:grpSpPr>
        <p:sp>
          <p:nvSpPr>
            <p:cNvPr id="16" name="Rectangle 28"/>
            <p:cNvSpPr/>
            <p:nvPr/>
          </p:nvSpPr>
          <p:spPr>
            <a:xfrm>
              <a:off x="4417200" y="658800"/>
              <a:ext cx="2487240" cy="9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pic>
          <p:nvPicPr>
            <p:cNvPr id="17" name="Picture 4" descr="Fichier:Ministère de l'Économie des Finances et de la ..."/>
            <p:cNvPicPr/>
            <p:nvPr/>
          </p:nvPicPr>
          <p:blipFill>
            <a:blip r:embed="rId2"/>
            <a:stretch/>
          </p:blipFill>
          <p:spPr>
            <a:xfrm>
              <a:off x="4425480" y="676800"/>
              <a:ext cx="1562400" cy="947160"/>
            </a:xfrm>
            <a:prstGeom prst="rect">
              <a:avLst/>
            </a:prstGeom>
            <a:noFill/>
            <a:ln w="0">
              <a:noFill/>
            </a:ln>
          </p:spPr>
        </p:pic>
        <p:pic>
          <p:nvPicPr>
            <p:cNvPr id="18" name="Picture 32" descr="A logo of a building and a couple of people hugging&#10;&#10;AI-generated content may be incorrect."/>
            <p:cNvPicPr/>
            <p:nvPr/>
          </p:nvPicPr>
          <p:blipFill>
            <a:blip r:embed="rId3"/>
            <a:stretch/>
          </p:blipFill>
          <p:spPr>
            <a:xfrm>
              <a:off x="6012360" y="823320"/>
              <a:ext cx="782640" cy="592920"/>
            </a:xfrm>
            <a:prstGeom prst="rect">
              <a:avLst/>
            </a:prstGeom>
            <a:noFill/>
            <a:ln w="0">
              <a:noFill/>
            </a:ln>
          </p:spPr>
        </p:pic>
      </p:grpSp>
      <p:sp>
        <p:nvSpPr>
          <p:cNvPr id="19" name="TextBox 2"/>
          <p:cNvSpPr/>
          <p:nvPr/>
        </p:nvSpPr>
        <p:spPr>
          <a:xfrm>
            <a:off x="4410000" y="9658080"/>
            <a:ext cx="2355120" cy="305280"/>
          </a:xfrm>
          <a:prstGeom prst="roundRect">
            <a:avLst>
              <a:gd name="adj" fmla="val 16667"/>
            </a:avLst>
          </a:prstGeom>
          <a:solidFill>
            <a:schemeClr val="dk1">
              <a:alpha val="25000"/>
            </a:schemeClr>
          </a:solidFill>
          <a:ln w="0">
            <a:solidFill>
              <a:srgbClr val="FFFFFF">
                <a:alpha val="50000"/>
              </a:srgbClr>
            </a:solid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solidFill>
                <a:effectLst/>
                <a:uFillTx/>
                <a:latin typeface="Marianne Light"/>
                <a:ea typeface="Arial"/>
              </a:rPr>
              <a:t>Rapport généré avec Portail RSE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 name="Picture 3" descr="A building with trees reflected in windows&#10;&#10;AI-generated content may be incorrect."/>
          <p:cNvPicPr/>
          <p:nvPr/>
        </p:nvPicPr>
        <p:blipFill>
          <a:blip r:embed="rId1"/>
          <a:srcRect l="0" t="0" r="52022" b="0"/>
          <a:stretch/>
        </p:blipFill>
        <p:spPr>
          <a:xfrm>
            <a:off x="0" y="0"/>
            <a:ext cx="3616920" cy="10686600"/>
          </a:xfrm>
          <a:prstGeom prst="rect">
            <a:avLst/>
          </a:prstGeom>
          <a:noFill/>
          <a:ln w="0">
            <a:noFill/>
          </a:ln>
        </p:spPr>
      </p:pic>
      <p:sp>
        <p:nvSpPr>
          <p:cNvPr id="21" name="TextBox 16"/>
          <p:cNvSpPr/>
          <p:nvPr/>
        </p:nvSpPr>
        <p:spPr>
          <a:xfrm>
            <a:off x="3937680" y="2787120"/>
            <a:ext cx="3018240" cy="6460200"/>
          </a:xfrm>
          <a:prstGeom prst="rect">
            <a:avLst/>
          </a:prstGeom>
          <a:noFill/>
          <a:ln w="0">
            <a:noFill/>
          </a:ln>
        </p:spPr>
        <p:style>
          <a:lnRef idx="0"/>
          <a:fillRef idx="0"/>
          <a:effectRef idx="0"/>
          <a:fontRef idx="minor"/>
        </p:style>
        <p:txBody>
          <a:bodyPr lIns="90000" tIns="45000" rIns="90000" bIns="45000" anchor="t">
            <a:spAutoFit/>
          </a:bodyPr>
          <a:p>
            <a:pPr marL="11160" algn="just" defTabSz="457200">
              <a:lnSpc>
                <a:spcPct val="120000"/>
              </a:lnSpc>
              <a:spcAft>
                <a:spcPts val="601"/>
              </a:spcAft>
            </a:pPr>
            <a:r>
              <a:rPr lang="fr-FR" sz="1000" b="0" u="none" strike="noStrike">
                <a:solidFill>
                  <a:schemeClr val="dk1"/>
                </a:solidFill>
                <a:effectLst/>
                <a:uFillTx/>
                <a:latin typeface="Marianne Light"/>
                <a:ea typeface="Arial"/>
              </a:rPr>
              <a:t>Dans un contexte de transition économique, sociale et environnementale accélérée, notre entreprise est consciente de la nécessité de renforcer la transparence de ses pratiques et de structurer sa démarche de durabilité. Le VSME, Voluntary Sustainability Reporting Standard for SMEs, offre un cadre volontaire de référence permettant aux petites et moyennes entreprises de formaliser et de communiquer leurs engagements, leurs impacts et leurs progrès en matière de durabilité.</a:t>
            </a:r>
            <a:endParaRPr lang="fr-FR" sz="1000" b="0" u="none" strike="noStrike">
              <a:solidFill>
                <a:srgbClr val="000000"/>
              </a:solidFill>
              <a:effectLst/>
              <a:uFillTx/>
              <a:latin typeface="Arial"/>
            </a:endParaRPr>
          </a:p>
          <a:p>
            <a:pPr marL="11160" algn="just" defTabSz="457200">
              <a:lnSpc>
                <a:spcPct val="120000"/>
              </a:lnSpc>
              <a:spcAft>
                <a:spcPts val="601"/>
              </a:spcAft>
            </a:pPr>
            <a:r>
              <a:rPr lang="fr-FR" sz="1000" b="0" u="none" strike="noStrike">
                <a:solidFill>
                  <a:schemeClr val="dk1"/>
                </a:solidFill>
                <a:effectLst/>
                <a:uFillTx/>
                <a:latin typeface="Marianne Light"/>
                <a:ea typeface="Arial"/>
              </a:rPr>
              <a:t>Ce rapport s’inscrit dans cette dynamique. Il a pour objectif de présenter de manière structurée les pratiques, politiques et indicateurs clés de notre entreprise en matière environnementale, sociale et de gouvernance (ESG), en tenant compte de sa taille, de son modèle économique et de ses enjeux spécifiques. Au-delà d’un exercice de reporting, ce document constitue un outil de pilotage interne, de dialogue avec nos parties prenantes et de valorisation des actions engagées.</a:t>
            </a:r>
            <a:endParaRPr lang="fr-FR" sz="1000" b="0" u="none" strike="noStrike">
              <a:solidFill>
                <a:srgbClr val="000000"/>
              </a:solidFill>
              <a:effectLst/>
              <a:uFillTx/>
              <a:latin typeface="Arial"/>
            </a:endParaRPr>
          </a:p>
          <a:p>
            <a:pPr marL="11160" algn="just" defTabSz="457200">
              <a:lnSpc>
                <a:spcPct val="120000"/>
              </a:lnSpc>
              <a:spcAft>
                <a:spcPts val="601"/>
              </a:spcAft>
            </a:pPr>
            <a:r>
              <a:rPr lang="fr-FR" sz="1000" b="0" u="none" strike="noStrike">
                <a:solidFill>
                  <a:schemeClr val="dk1"/>
                </a:solidFill>
                <a:effectLst/>
                <a:uFillTx/>
                <a:latin typeface="Marianne Light"/>
                <a:ea typeface="Arial"/>
              </a:rPr>
              <a:t>En s’appuyant sur le cadre VSME, notre entreprise adopte une approche proportionnée, pragmatique et progressive de la durabilité. Ce rapport reflète l’état actuel de notre démarche, identifie les principaux risques et opportunités liés aux enjeux ESG, et met en lumière les priorités stratégiques définies pour les années à venir. Il constitue une base de référence appelée à évoluer dans le temps, au rythme de la maturité de notre organisation et des évolutions de son environnement économique et réglementaire.</a:t>
            </a:r>
            <a:endParaRPr lang="fr-FR" sz="1000" b="0" u="none" strike="noStrike">
              <a:solidFill>
                <a:srgbClr val="000000"/>
              </a:solidFill>
              <a:effectLst/>
              <a:uFillTx/>
              <a:latin typeface="Arial"/>
            </a:endParaRPr>
          </a:p>
        </p:txBody>
      </p:sp>
      <p:grpSp>
        <p:nvGrpSpPr>
          <p:cNvPr id="22" name="Group 17"/>
          <p:cNvGrpSpPr/>
          <p:nvPr/>
        </p:nvGrpSpPr>
        <p:grpSpPr>
          <a:xfrm>
            <a:off x="4417200" y="658800"/>
            <a:ext cx="2487240" cy="965160"/>
            <a:chOff x="4417200" y="658800"/>
            <a:chExt cx="2487240" cy="965160"/>
          </a:xfrm>
        </p:grpSpPr>
        <p:sp>
          <p:nvSpPr>
            <p:cNvPr id="23" name="Rectangle 18"/>
            <p:cNvSpPr/>
            <p:nvPr/>
          </p:nvSpPr>
          <p:spPr>
            <a:xfrm>
              <a:off x="4417200" y="658800"/>
              <a:ext cx="2487240" cy="9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pic>
          <p:nvPicPr>
            <p:cNvPr id="24" name="Picture 4" descr="Fichier:Ministère de l'Économie des Finances et de la ..."/>
            <p:cNvPicPr/>
            <p:nvPr/>
          </p:nvPicPr>
          <p:blipFill>
            <a:blip r:embed="rId2"/>
            <a:stretch/>
          </p:blipFill>
          <p:spPr>
            <a:xfrm>
              <a:off x="4425480" y="676800"/>
              <a:ext cx="1562400" cy="947160"/>
            </a:xfrm>
            <a:prstGeom prst="rect">
              <a:avLst/>
            </a:prstGeom>
            <a:noFill/>
            <a:ln w="0">
              <a:noFill/>
            </a:ln>
          </p:spPr>
        </p:pic>
        <p:pic>
          <p:nvPicPr>
            <p:cNvPr id="25" name="Picture 20" descr="A logo of a building and a couple of people hugging&#10;&#10;AI-generated content may be incorrect."/>
            <p:cNvPicPr/>
            <p:nvPr/>
          </p:nvPicPr>
          <p:blipFill>
            <a:blip r:embed="rId3"/>
            <a:stretch/>
          </p:blipFill>
          <p:spPr>
            <a:xfrm>
              <a:off x="6012360" y="823320"/>
              <a:ext cx="782640" cy="592920"/>
            </a:xfrm>
            <a:prstGeom prst="rect">
              <a:avLst/>
            </a:prstGeom>
            <a:noFill/>
            <a:ln w="0">
              <a:noFill/>
            </a:ln>
          </p:spPr>
        </p:pic>
      </p:grpSp>
      <p:sp>
        <p:nvSpPr>
          <p:cNvPr id="26" name="TextBox 27"/>
          <p:cNvSpPr/>
          <p:nvPr/>
        </p:nvSpPr>
        <p:spPr>
          <a:xfrm>
            <a:off x="5236920" y="1577880"/>
            <a:ext cx="1590120" cy="2098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FR" sz="700" b="0" u="sng" strike="noStrike">
                <a:solidFill>
                  <a:srgbClr val="467886"/>
                </a:solidFill>
                <a:effectLst/>
                <a:uFillTx/>
                <a:latin typeface="Marianne Light"/>
                <a:hlinkClick r:id="rId4"/>
              </a:rPr>
              <a:t>portail-rse.beta.gouv.fr</a:t>
            </a:r>
            <a:endParaRPr lang="fr-FR" sz="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 name="Picture 1" descr="A building with trees reflected in windows&#10;&#10;AI-generated content may be incorrect."/>
          <p:cNvPicPr/>
          <p:nvPr/>
        </p:nvPicPr>
        <p:blipFill>
          <a:blip r:embed="rId1"/>
          <a:stretch/>
        </p:blipFill>
        <p:spPr>
          <a:xfrm>
            <a:off x="0" y="0"/>
            <a:ext cx="7554600" cy="10686600"/>
          </a:xfrm>
          <a:prstGeom prst="rect">
            <a:avLst/>
          </a:prstGeom>
          <a:noFill/>
          <a:ln w="0">
            <a:noFill/>
          </a:ln>
        </p:spPr>
      </p:pic>
      <p:sp>
        <p:nvSpPr>
          <p:cNvPr id="28" name="Rectangle 9"/>
          <p:cNvSpPr/>
          <p:nvPr/>
        </p:nvSpPr>
        <p:spPr>
          <a:xfrm>
            <a:off x="132840" y="126000"/>
            <a:ext cx="7421760" cy="104349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grpSp>
        <p:nvGrpSpPr>
          <p:cNvPr id="29" name="Group 57"/>
          <p:cNvGrpSpPr/>
          <p:nvPr/>
        </p:nvGrpSpPr>
        <p:grpSpPr>
          <a:xfrm>
            <a:off x="666360" y="659880"/>
            <a:ext cx="6879600" cy="1717920"/>
            <a:chOff x="666360" y="659880"/>
            <a:chExt cx="6879600" cy="1717920"/>
          </a:xfrm>
        </p:grpSpPr>
        <p:sp>
          <p:nvSpPr>
            <p:cNvPr id="30" name="Round Same-side Corner of Rectangle 3"/>
            <p:cNvSpPr/>
            <p:nvPr/>
          </p:nvSpPr>
          <p:spPr>
            <a:xfrm rot="16200000">
              <a:off x="3988080" y="-205632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B1</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Base d’établissement</a:t>
              </a:r>
              <a:endParaRPr lang="fr-FR" sz="850" b="0" u="none" strike="noStrike">
                <a:solidFill>
                  <a:srgbClr val="000000"/>
                </a:solidFill>
                <a:effectLst/>
                <a:uFillTx/>
                <a:latin typeface="Arial"/>
              </a:endParaRPr>
            </a:p>
          </p:txBody>
        </p:sp>
        <p:cxnSp>
          <p:nvCxnSpPr>
            <p:cNvPr id="31" name="Straight Connector 14"/>
            <p:cNvCxnSpPr/>
            <p:nvPr/>
          </p:nvCxnSpPr>
          <p:spPr>
            <a:xfrm>
              <a:off x="1298160" y="695520"/>
              <a:ext cx="5040" cy="426600"/>
            </a:xfrm>
            <a:prstGeom prst="straightConnector1">
              <a:avLst/>
            </a:prstGeom>
            <a:ln w="3175">
              <a:solidFill>
                <a:srgbClr val="A6A6A6"/>
              </a:solidFill>
              <a:round/>
            </a:ln>
          </p:spPr>
        </p:cxnSp>
        <p:sp>
          <p:nvSpPr>
            <p:cNvPr id="32" name="TextBox 15"/>
            <p:cNvSpPr/>
            <p:nvPr/>
          </p:nvSpPr>
          <p:spPr>
            <a:xfrm>
              <a:off x="1342440" y="65988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Informations générales</a:t>
              </a:r>
              <a:endParaRPr lang="fr-FR" sz="2400" b="0" u="none" strike="noStrike">
                <a:solidFill>
                  <a:srgbClr val="000000"/>
                </a:solidFill>
                <a:effectLst/>
                <a:uFillTx/>
                <a:latin typeface="Arial"/>
              </a:endParaRPr>
            </a:p>
          </p:txBody>
        </p:sp>
        <p:sp>
          <p:nvSpPr>
            <p:cNvPr id="33" name="Round Same-side Corner of Rectangle 21"/>
            <p:cNvSpPr/>
            <p:nvPr/>
          </p:nvSpPr>
          <p:spPr>
            <a:xfrm rot="16200000">
              <a:off x="3988080" y="-176400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B2</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Pratiques, politiques et initiatives futures pour une transition vers une économie plus durable</a:t>
              </a:r>
              <a:endParaRPr lang="fr-FR" sz="850" b="0" u="none" strike="noStrike">
                <a:solidFill>
                  <a:srgbClr val="000000"/>
                </a:solidFill>
                <a:effectLst/>
                <a:uFillTx/>
                <a:latin typeface="Arial"/>
              </a:endParaRPr>
            </a:p>
          </p:txBody>
        </p:sp>
        <p:sp>
          <p:nvSpPr>
            <p:cNvPr id="34" name="Round Same-side Corner of Rectangle 22"/>
            <p:cNvSpPr/>
            <p:nvPr/>
          </p:nvSpPr>
          <p:spPr>
            <a:xfrm rot="16200000">
              <a:off x="3988080" y="-147168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C1</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Stratégie : modèle économique et initiatives liées à la durabilité </a:t>
              </a:r>
              <a:endParaRPr lang="fr-FR" sz="850" b="0" u="none" strike="noStrike">
                <a:solidFill>
                  <a:srgbClr val="000000"/>
                </a:solidFill>
                <a:effectLst/>
                <a:uFillTx/>
                <a:latin typeface="Arial"/>
              </a:endParaRPr>
            </a:p>
          </p:txBody>
        </p:sp>
        <p:sp>
          <p:nvSpPr>
            <p:cNvPr id="35" name="Round Same-side Corner of Rectangle 23"/>
            <p:cNvSpPr/>
            <p:nvPr/>
          </p:nvSpPr>
          <p:spPr>
            <a:xfrm rot="16200000">
              <a:off x="3988080" y="-117972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C2</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850" b="0" u="none" strike="noStrike">
                <a:solidFill>
                  <a:srgbClr val="000000"/>
                </a:solidFill>
                <a:effectLst/>
                <a:uFillTx/>
                <a:latin typeface="Arial"/>
              </a:endParaRPr>
            </a:p>
          </p:txBody>
        </p:sp>
      </p:grpSp>
      <p:grpSp>
        <p:nvGrpSpPr>
          <p:cNvPr id="36" name="Group 58"/>
          <p:cNvGrpSpPr/>
          <p:nvPr/>
        </p:nvGrpSpPr>
        <p:grpSpPr>
          <a:xfrm>
            <a:off x="666360" y="2654640"/>
            <a:ext cx="6879600" cy="2617200"/>
            <a:chOff x="666360" y="2654640"/>
            <a:chExt cx="6879600" cy="2617200"/>
          </a:xfrm>
        </p:grpSpPr>
        <p:cxnSp>
          <p:nvCxnSpPr>
            <p:cNvPr id="37" name="Straight Connector 25"/>
            <p:cNvCxnSpPr/>
            <p:nvPr/>
          </p:nvCxnSpPr>
          <p:spPr>
            <a:xfrm>
              <a:off x="1298160" y="2690280"/>
              <a:ext cx="5040" cy="426600"/>
            </a:xfrm>
            <a:prstGeom prst="straightConnector1">
              <a:avLst/>
            </a:prstGeom>
            <a:ln w="3175">
              <a:solidFill>
                <a:srgbClr val="A6A6A6"/>
              </a:solidFill>
              <a:round/>
            </a:ln>
          </p:spPr>
        </p:cxnSp>
        <p:sp>
          <p:nvSpPr>
            <p:cNvPr id="38" name="TextBox 26"/>
            <p:cNvSpPr/>
            <p:nvPr/>
          </p:nvSpPr>
          <p:spPr>
            <a:xfrm>
              <a:off x="1342440" y="265464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Environnement</a:t>
              </a:r>
              <a:endParaRPr lang="fr-FR" sz="2400" b="0" u="none" strike="noStrike">
                <a:solidFill>
                  <a:srgbClr val="000000"/>
                </a:solidFill>
                <a:effectLst/>
                <a:uFillTx/>
                <a:latin typeface="Arial"/>
              </a:endParaRPr>
            </a:p>
          </p:txBody>
        </p:sp>
        <p:sp>
          <p:nvSpPr>
            <p:cNvPr id="39" name="Round Same-side Corner of Rectangle 34"/>
            <p:cNvSpPr/>
            <p:nvPr/>
          </p:nvSpPr>
          <p:spPr>
            <a:xfrm rot="16200000">
              <a:off x="3988080" y="-3420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B3</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Énergie et émissions de gaz à effet de serre</a:t>
              </a:r>
              <a:endParaRPr lang="fr-FR" sz="850" b="0" u="none" strike="noStrike">
                <a:solidFill>
                  <a:srgbClr val="000000"/>
                </a:solidFill>
                <a:effectLst/>
                <a:uFillTx/>
                <a:latin typeface="Arial"/>
              </a:endParaRPr>
            </a:p>
          </p:txBody>
        </p:sp>
        <p:sp>
          <p:nvSpPr>
            <p:cNvPr id="40" name="Round Same-side Corner of Rectangle 35"/>
            <p:cNvSpPr/>
            <p:nvPr/>
          </p:nvSpPr>
          <p:spPr>
            <a:xfrm rot="16200000">
              <a:off x="3988080" y="25308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B4</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Pollution de l’air, de l’eau et des sols </a:t>
              </a:r>
              <a:endParaRPr lang="fr-FR" sz="850" b="0" u="none" strike="noStrike">
                <a:solidFill>
                  <a:srgbClr val="000000"/>
                </a:solidFill>
                <a:effectLst/>
                <a:uFillTx/>
                <a:latin typeface="Arial"/>
              </a:endParaRPr>
            </a:p>
          </p:txBody>
        </p:sp>
        <p:sp>
          <p:nvSpPr>
            <p:cNvPr id="41" name="Round Same-side Corner of Rectangle 36"/>
            <p:cNvSpPr/>
            <p:nvPr/>
          </p:nvSpPr>
          <p:spPr>
            <a:xfrm rot="16200000">
              <a:off x="3988080" y="54504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B5</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Biodiversité</a:t>
              </a:r>
              <a:endParaRPr lang="fr-FR" sz="850" b="0" u="none" strike="noStrike">
                <a:solidFill>
                  <a:srgbClr val="000000"/>
                </a:solidFill>
                <a:effectLst/>
                <a:uFillTx/>
                <a:latin typeface="Arial"/>
              </a:endParaRPr>
            </a:p>
          </p:txBody>
        </p:sp>
        <p:sp>
          <p:nvSpPr>
            <p:cNvPr id="42" name="Round Same-side Corner of Rectangle 37"/>
            <p:cNvSpPr/>
            <p:nvPr/>
          </p:nvSpPr>
          <p:spPr>
            <a:xfrm rot="16200000">
              <a:off x="3988080" y="83736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B6</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Eau</a:t>
              </a:r>
              <a:endParaRPr lang="fr-FR" sz="850" b="0" u="none" strike="noStrike">
                <a:solidFill>
                  <a:srgbClr val="000000"/>
                </a:solidFill>
                <a:effectLst/>
                <a:uFillTx/>
                <a:latin typeface="Arial"/>
              </a:endParaRPr>
            </a:p>
          </p:txBody>
        </p:sp>
        <p:sp>
          <p:nvSpPr>
            <p:cNvPr id="43" name="Round Same-side Corner of Rectangle 38"/>
            <p:cNvSpPr/>
            <p:nvPr/>
          </p:nvSpPr>
          <p:spPr>
            <a:xfrm rot="16200000">
              <a:off x="3988080" y="112968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B7</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Utilisation des ressources, économie circulaire et gestion des déchets</a:t>
              </a:r>
              <a:endParaRPr lang="fr-FR" sz="850" b="0" u="none" strike="noStrike">
                <a:solidFill>
                  <a:srgbClr val="000000"/>
                </a:solidFill>
                <a:effectLst/>
                <a:uFillTx/>
                <a:latin typeface="Arial"/>
              </a:endParaRPr>
            </a:p>
          </p:txBody>
        </p:sp>
        <p:sp>
          <p:nvSpPr>
            <p:cNvPr id="44" name="Round Same-side Corner of Rectangle 39"/>
            <p:cNvSpPr/>
            <p:nvPr/>
          </p:nvSpPr>
          <p:spPr>
            <a:xfrm rot="16200000">
              <a:off x="3988080" y="142164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C3</a:t>
              </a:r>
              <a:r>
                <a:rPr lang="fr-FR" sz="850" b="0" u="none" strike="noStrike">
                  <a:solidFill>
                    <a:srgbClr val="145C30"/>
                  </a:solidFill>
                  <a:effectLst/>
                  <a:uFillTx/>
                  <a:latin typeface="Marianne"/>
                </a:rPr>
                <a:t> Cibles de réduction des émissions de GES et transition climatique</a:t>
              </a:r>
              <a:endParaRPr lang="fr-FR" sz="850" b="0" u="none" strike="noStrike">
                <a:solidFill>
                  <a:srgbClr val="000000"/>
                </a:solidFill>
                <a:effectLst/>
                <a:uFillTx/>
                <a:latin typeface="Arial"/>
              </a:endParaRPr>
            </a:p>
          </p:txBody>
        </p:sp>
        <p:sp>
          <p:nvSpPr>
            <p:cNvPr id="45" name="Round Same-side Corner of Rectangle 40"/>
            <p:cNvSpPr/>
            <p:nvPr/>
          </p:nvSpPr>
          <p:spPr>
            <a:xfrm rot="16200000">
              <a:off x="3988080" y="171396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C4</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Risques climatiques</a:t>
              </a:r>
              <a:endParaRPr lang="fr-FR" sz="850" b="0" u="none" strike="noStrike">
                <a:solidFill>
                  <a:srgbClr val="000000"/>
                </a:solidFill>
                <a:effectLst/>
                <a:uFillTx/>
                <a:latin typeface="Arial"/>
              </a:endParaRPr>
            </a:p>
          </p:txBody>
        </p:sp>
      </p:grpSp>
      <p:grpSp>
        <p:nvGrpSpPr>
          <p:cNvPr id="46" name="Group 59"/>
          <p:cNvGrpSpPr/>
          <p:nvPr/>
        </p:nvGrpSpPr>
        <p:grpSpPr>
          <a:xfrm>
            <a:off x="666360" y="5553360"/>
            <a:ext cx="6879600" cy="2293920"/>
            <a:chOff x="666360" y="5553360"/>
            <a:chExt cx="6879600" cy="2293920"/>
          </a:xfrm>
        </p:grpSpPr>
        <p:cxnSp>
          <p:nvCxnSpPr>
            <p:cNvPr id="47" name="Straight Connector 42"/>
            <p:cNvCxnSpPr/>
            <p:nvPr/>
          </p:nvCxnSpPr>
          <p:spPr>
            <a:xfrm>
              <a:off x="1298160" y="5588640"/>
              <a:ext cx="5040" cy="426960"/>
            </a:xfrm>
            <a:prstGeom prst="straightConnector1">
              <a:avLst/>
            </a:prstGeom>
            <a:ln w="3175">
              <a:solidFill>
                <a:srgbClr val="A6A6A6"/>
              </a:solidFill>
              <a:round/>
            </a:ln>
          </p:spPr>
        </p:cxnSp>
        <p:sp>
          <p:nvSpPr>
            <p:cNvPr id="48" name="TextBox 43"/>
            <p:cNvSpPr/>
            <p:nvPr/>
          </p:nvSpPr>
          <p:spPr>
            <a:xfrm>
              <a:off x="1342440" y="555336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Social</a:t>
              </a:r>
              <a:endParaRPr lang="fr-FR" sz="2400" b="0" u="none" strike="noStrike">
                <a:solidFill>
                  <a:srgbClr val="000000"/>
                </a:solidFill>
                <a:effectLst/>
                <a:uFillTx/>
                <a:latin typeface="Arial"/>
              </a:endParaRPr>
            </a:p>
          </p:txBody>
        </p:sp>
        <p:sp>
          <p:nvSpPr>
            <p:cNvPr id="49" name="Round Same-side Corner of Rectangle 44"/>
            <p:cNvSpPr/>
            <p:nvPr/>
          </p:nvSpPr>
          <p:spPr>
            <a:xfrm rot="16200000">
              <a:off x="3988080" y="282816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B8</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caractéristiques générales</a:t>
              </a:r>
              <a:endParaRPr lang="fr-FR" sz="850" b="0" u="none" strike="noStrike">
                <a:solidFill>
                  <a:srgbClr val="FFFFFF"/>
                </a:solidFill>
                <a:effectLst/>
                <a:uFillTx/>
                <a:latin typeface="Arial"/>
              </a:endParaRPr>
            </a:p>
          </p:txBody>
        </p:sp>
        <p:sp>
          <p:nvSpPr>
            <p:cNvPr id="50" name="Round Same-side Corner of Rectangle 45"/>
            <p:cNvSpPr/>
            <p:nvPr/>
          </p:nvSpPr>
          <p:spPr>
            <a:xfrm rot="16200000">
              <a:off x="3988080" y="312048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B9</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santé et sécurité</a:t>
              </a:r>
              <a:endParaRPr lang="fr-FR" sz="850" b="0" u="none" strike="noStrike">
                <a:solidFill>
                  <a:srgbClr val="FFFFFF"/>
                </a:solidFill>
                <a:effectLst/>
                <a:uFillTx/>
                <a:latin typeface="Arial"/>
              </a:endParaRPr>
            </a:p>
          </p:txBody>
        </p:sp>
        <p:sp>
          <p:nvSpPr>
            <p:cNvPr id="51" name="Round Same-side Corner of Rectangle 46"/>
            <p:cNvSpPr/>
            <p:nvPr/>
          </p:nvSpPr>
          <p:spPr>
            <a:xfrm rot="16200000">
              <a:off x="3988080" y="341280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B10</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rémunération, négociation collective et formation</a:t>
              </a:r>
              <a:endParaRPr lang="fr-FR" sz="850" b="0" u="none" strike="noStrike">
                <a:solidFill>
                  <a:srgbClr val="FFFFFF"/>
                </a:solidFill>
                <a:effectLst/>
                <a:uFillTx/>
                <a:latin typeface="Arial"/>
              </a:endParaRPr>
            </a:p>
          </p:txBody>
        </p:sp>
        <p:sp>
          <p:nvSpPr>
            <p:cNvPr id="52" name="Round Same-side Corner of Rectangle 47"/>
            <p:cNvSpPr/>
            <p:nvPr/>
          </p:nvSpPr>
          <p:spPr>
            <a:xfrm rot="16200000">
              <a:off x="3988080" y="370476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C5</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Caractéristiques supplémentaires (générales) des effectifs</a:t>
              </a:r>
              <a:endParaRPr lang="fr-FR" sz="850" b="0" u="none" strike="noStrike">
                <a:solidFill>
                  <a:srgbClr val="FFFFFF"/>
                </a:solidFill>
                <a:effectLst/>
                <a:uFillTx/>
                <a:latin typeface="Arial"/>
              </a:endParaRPr>
            </a:p>
          </p:txBody>
        </p:sp>
        <p:sp>
          <p:nvSpPr>
            <p:cNvPr id="53" name="Round Same-side Corner of Rectangle 48"/>
            <p:cNvSpPr/>
            <p:nvPr/>
          </p:nvSpPr>
          <p:spPr>
            <a:xfrm rot="16200000">
              <a:off x="3988080" y="399708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C6</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Informations complémentaires sur les effectifs de l'entreprise – Politiques et procédures en matière de droits de l’homme</a:t>
              </a:r>
              <a:endParaRPr lang="fr-FR" sz="850" b="0" u="none" strike="noStrike">
                <a:solidFill>
                  <a:srgbClr val="FFFFFF"/>
                </a:solidFill>
                <a:effectLst/>
                <a:uFillTx/>
                <a:latin typeface="Arial"/>
              </a:endParaRPr>
            </a:p>
          </p:txBody>
        </p:sp>
        <p:sp>
          <p:nvSpPr>
            <p:cNvPr id="54" name="Round Same-side Corner of Rectangle 49"/>
            <p:cNvSpPr/>
            <p:nvPr/>
          </p:nvSpPr>
          <p:spPr>
            <a:xfrm rot="16200000">
              <a:off x="3988080" y="428940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C7</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Incidents graves en matière de droits de l’homme</a:t>
              </a:r>
              <a:endParaRPr lang="fr-FR" sz="850" b="0" u="none" strike="noStrike">
                <a:solidFill>
                  <a:srgbClr val="FFFFFF"/>
                </a:solidFill>
                <a:effectLst/>
                <a:uFillTx/>
                <a:latin typeface="Arial"/>
              </a:endParaRPr>
            </a:p>
          </p:txBody>
        </p:sp>
      </p:grpSp>
      <p:grpSp>
        <p:nvGrpSpPr>
          <p:cNvPr id="55" name="Group 60"/>
          <p:cNvGrpSpPr/>
          <p:nvPr/>
        </p:nvGrpSpPr>
        <p:grpSpPr>
          <a:xfrm>
            <a:off x="666360" y="8128800"/>
            <a:ext cx="6879600" cy="1731600"/>
            <a:chOff x="666360" y="8128800"/>
            <a:chExt cx="6879600" cy="1731600"/>
          </a:xfrm>
        </p:grpSpPr>
        <p:sp>
          <p:nvSpPr>
            <p:cNvPr id="56" name="Round Same-side Corner of Rectangle 50"/>
            <p:cNvSpPr/>
            <p:nvPr/>
          </p:nvSpPr>
          <p:spPr>
            <a:xfrm rot="16200000">
              <a:off x="3988080" y="542592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B11</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Condamnations et amendes en matière de lutte contre la corruption et les actes de corruption</a:t>
              </a:r>
              <a:endParaRPr lang="fr-FR" sz="850" b="0" u="none" strike="noStrike">
                <a:solidFill>
                  <a:srgbClr val="FFFFFF"/>
                </a:solidFill>
                <a:effectLst/>
                <a:uFillTx/>
                <a:latin typeface="Arial"/>
              </a:endParaRPr>
            </a:p>
          </p:txBody>
        </p:sp>
        <p:cxnSp>
          <p:nvCxnSpPr>
            <p:cNvPr id="57" name="Straight Connector 52"/>
            <p:cNvCxnSpPr/>
            <p:nvPr/>
          </p:nvCxnSpPr>
          <p:spPr>
            <a:xfrm>
              <a:off x="1246680" y="8164080"/>
              <a:ext cx="5040" cy="426600"/>
            </a:xfrm>
            <a:prstGeom prst="straightConnector1">
              <a:avLst/>
            </a:prstGeom>
            <a:ln w="3175">
              <a:solidFill>
                <a:srgbClr val="A6A6A6"/>
              </a:solidFill>
              <a:round/>
            </a:ln>
          </p:spPr>
        </p:cxnSp>
        <p:sp>
          <p:nvSpPr>
            <p:cNvPr id="58" name="TextBox 53"/>
            <p:cNvSpPr/>
            <p:nvPr/>
          </p:nvSpPr>
          <p:spPr>
            <a:xfrm>
              <a:off x="1290960" y="812880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Gouvernance</a:t>
              </a:r>
              <a:endParaRPr lang="fr-FR" sz="2400" b="0" u="none" strike="noStrike">
                <a:solidFill>
                  <a:srgbClr val="000000"/>
                </a:solidFill>
                <a:effectLst/>
                <a:uFillTx/>
                <a:latin typeface="Arial"/>
              </a:endParaRPr>
            </a:p>
          </p:txBody>
        </p:sp>
        <p:sp>
          <p:nvSpPr>
            <p:cNvPr id="59" name="Round Same-side Corner of Rectangle 54"/>
            <p:cNvSpPr/>
            <p:nvPr/>
          </p:nvSpPr>
          <p:spPr>
            <a:xfrm rot="16200000">
              <a:off x="3988080" y="571824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C8</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Recettes de certains secteurs et exclusion des indices de référence de l'UE</a:t>
              </a:r>
              <a:endParaRPr lang="fr-FR" sz="850" b="0" u="none" strike="noStrike">
                <a:solidFill>
                  <a:srgbClr val="FFFFFF"/>
                </a:solidFill>
                <a:effectLst/>
                <a:uFillTx/>
                <a:latin typeface="Arial"/>
              </a:endParaRPr>
            </a:p>
          </p:txBody>
        </p:sp>
        <p:sp>
          <p:nvSpPr>
            <p:cNvPr id="60" name="Round Same-side Corner of Rectangle 55"/>
            <p:cNvSpPr/>
            <p:nvPr/>
          </p:nvSpPr>
          <p:spPr>
            <a:xfrm rot="16200000">
              <a:off x="3988080" y="601056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C8</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Recettes de certains secteurs et exclusion des indices de référence de l'UE</a:t>
              </a:r>
              <a:endParaRPr lang="fr-FR" sz="850" b="0" u="none" strike="noStrike">
                <a:solidFill>
                  <a:srgbClr val="FFFFFF"/>
                </a:solidFill>
                <a:effectLst/>
                <a:uFillTx/>
                <a:latin typeface="Arial"/>
              </a:endParaRPr>
            </a:p>
          </p:txBody>
        </p:sp>
        <p:sp>
          <p:nvSpPr>
            <p:cNvPr id="61" name="Round Same-side Corner of Rectangle 56"/>
            <p:cNvSpPr/>
            <p:nvPr/>
          </p:nvSpPr>
          <p:spPr>
            <a:xfrm rot="16200000">
              <a:off x="3988080" y="630252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C9</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Ratio femmes/hommes au sein de l'organe de gouvernance</a:t>
              </a:r>
              <a:endParaRPr lang="fr-FR" sz="850" b="0" u="none" strike="noStrike">
                <a:solidFill>
                  <a:srgbClr val="FFFFFF"/>
                </a:solidFill>
                <a:effectLst/>
                <a:uFillTx/>
                <a:latin typeface="Arial"/>
              </a:endParaRPr>
            </a:p>
          </p:txBody>
        </p:sp>
      </p:grpSp>
      <p:pic>
        <p:nvPicPr>
          <p:cNvPr id="62" name="Graphic 5"/>
          <p:cNvPicPr/>
          <p:nvPr/>
        </p:nvPicPr>
        <p:blipFill>
          <a:blip r:embed="rId2">
            <a:extLst>
              <a:ext uri="{96DAC541-7B7A-43D3-8B79-37D633B846F1}">
                <asvg:svgBlip xmlns:asvg="http://schemas.microsoft.com/office/drawing/2016/SVG/main" r:embed="rId3"/>
              </a:ext>
            </a:extLst>
          </a:blip>
          <a:stretch/>
        </p:blipFill>
        <p:spPr>
          <a:xfrm>
            <a:off x="735120" y="2717280"/>
            <a:ext cx="390960" cy="390960"/>
          </a:xfrm>
          <a:prstGeom prst="rect">
            <a:avLst/>
          </a:prstGeom>
          <a:noFill/>
          <a:ln w="0">
            <a:noFill/>
          </a:ln>
        </p:spPr>
      </p:pic>
      <p:pic>
        <p:nvPicPr>
          <p:cNvPr id="63" name="Graphic 7"/>
          <p:cNvPicPr/>
          <p:nvPr/>
        </p:nvPicPr>
        <p:blipFill>
          <a:blip r:embed="rId4">
            <a:extLst>
              <a:ext uri="{96DAC541-7B7A-43D3-8B79-37D633B846F1}">
                <asvg:svgBlip xmlns:asvg="http://schemas.microsoft.com/office/drawing/2016/SVG/main" r:embed="rId5"/>
              </a:ext>
            </a:extLst>
          </a:blip>
          <a:stretch/>
        </p:blipFill>
        <p:spPr>
          <a:xfrm>
            <a:off x="735120" y="5606280"/>
            <a:ext cx="390960" cy="390960"/>
          </a:xfrm>
          <a:prstGeom prst="rect">
            <a:avLst/>
          </a:prstGeom>
          <a:noFill/>
          <a:ln w="0">
            <a:noFill/>
          </a:ln>
        </p:spPr>
      </p:pic>
      <p:pic>
        <p:nvPicPr>
          <p:cNvPr id="64" name="Graphic 11"/>
          <p:cNvPicPr/>
          <p:nvPr/>
        </p:nvPicPr>
        <p:blipFill>
          <a:blip r:embed="rId6">
            <a:extLst>
              <a:ext uri="{96DAC541-7B7A-43D3-8B79-37D633B846F1}">
                <asvg:svgBlip xmlns:asvg="http://schemas.microsoft.com/office/drawing/2016/SVG/main" r:embed="rId7"/>
              </a:ext>
            </a:extLst>
          </a:blip>
          <a:stretch/>
        </p:blipFill>
        <p:spPr>
          <a:xfrm>
            <a:off x="773280" y="8231400"/>
            <a:ext cx="354960" cy="354960"/>
          </a:xfrm>
          <a:prstGeom prst="rect">
            <a:avLst/>
          </a:prstGeom>
          <a:noFill/>
          <a:ln w="0">
            <a:noFill/>
          </a:ln>
        </p:spPr>
      </p:pic>
      <p:pic>
        <p:nvPicPr>
          <p:cNvPr id="65" name="Graphic 27"/>
          <p:cNvPicPr/>
          <p:nvPr/>
        </p:nvPicPr>
        <p:blipFill>
          <a:blip r:embed="rId8">
            <a:extLst>
              <a:ext uri="{96DAC541-7B7A-43D3-8B79-37D633B846F1}">
                <asvg:svgBlip xmlns:asvg="http://schemas.microsoft.com/office/drawing/2016/SVG/main" r:embed="rId9"/>
              </a:ext>
            </a:extLst>
          </a:blip>
          <a:stretch/>
        </p:blipFill>
        <p:spPr>
          <a:xfrm>
            <a:off x="735120" y="695880"/>
            <a:ext cx="390960" cy="390960"/>
          </a:xfrm>
          <a:prstGeom prst="rect">
            <a:avLst/>
          </a:prstGeom>
          <a:noFill/>
          <a:ln w="0">
            <a:noFill/>
          </a:ln>
        </p:spPr>
      </p:pic>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6" name="Picture 2"/>
          <p:cNvPicPr/>
          <p:nvPr/>
        </p:nvPicPr>
        <p:blipFill>
          <a:blip r:embed="rId1"/>
          <a:stretch/>
        </p:blipFill>
        <p:spPr>
          <a:xfrm>
            <a:off x="-9000" y="0"/>
            <a:ext cx="7554600" cy="10773360"/>
          </a:xfrm>
          <a:prstGeom prst="rect">
            <a:avLst/>
          </a:prstGeom>
          <a:noFill/>
          <a:ln w="0">
            <a:noFill/>
          </a:ln>
        </p:spPr>
      </p:pic>
      <p:sp>
        <p:nvSpPr>
          <p:cNvPr id="67" name="Rectangle 9"/>
          <p:cNvSpPr/>
          <p:nvPr/>
        </p:nvSpPr>
        <p:spPr>
          <a:xfrm>
            <a:off x="0" y="3263400"/>
            <a:ext cx="7554600" cy="41601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8" name="Round Same-side Corner of Rectangle 3"/>
          <p:cNvSpPr/>
          <p:nvPr/>
        </p:nvSpPr>
        <p:spPr>
          <a:xfrm rot="16200000">
            <a:off x="3988080" y="120240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B1</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Base d’établissement</a:t>
            </a:r>
            <a:endParaRPr lang="fr-FR" sz="850" b="0" u="none" strike="noStrike">
              <a:solidFill>
                <a:srgbClr val="000000"/>
              </a:solidFill>
              <a:effectLst/>
              <a:uFillTx/>
              <a:latin typeface="Arial"/>
            </a:endParaRPr>
          </a:p>
        </p:txBody>
      </p:sp>
      <p:cxnSp>
        <p:nvCxnSpPr>
          <p:cNvPr id="69" name="Straight Connector 14"/>
          <p:cNvCxnSpPr/>
          <p:nvPr/>
        </p:nvCxnSpPr>
        <p:spPr>
          <a:xfrm>
            <a:off x="1298160" y="3832560"/>
            <a:ext cx="5040" cy="426960"/>
          </a:xfrm>
          <a:prstGeom prst="straightConnector1">
            <a:avLst/>
          </a:prstGeom>
          <a:ln w="3175">
            <a:solidFill>
              <a:srgbClr val="A6A6A6"/>
            </a:solidFill>
            <a:round/>
          </a:ln>
        </p:spPr>
      </p:cxnSp>
      <p:sp>
        <p:nvSpPr>
          <p:cNvPr id="70" name="TextBox 15"/>
          <p:cNvSpPr/>
          <p:nvPr/>
        </p:nvSpPr>
        <p:spPr>
          <a:xfrm>
            <a:off x="1342440" y="379728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Informations générales</a:t>
            </a:r>
            <a:endParaRPr lang="fr-FR" sz="2400" b="0" u="none" strike="noStrike">
              <a:solidFill>
                <a:srgbClr val="000000"/>
              </a:solidFill>
              <a:effectLst/>
              <a:uFillTx/>
              <a:latin typeface="Arial"/>
            </a:endParaRPr>
          </a:p>
        </p:txBody>
      </p:sp>
      <p:sp>
        <p:nvSpPr>
          <p:cNvPr id="71" name="Round Same-side Corner of Rectangle 21"/>
          <p:cNvSpPr/>
          <p:nvPr/>
        </p:nvSpPr>
        <p:spPr>
          <a:xfrm rot="16200000">
            <a:off x="3988080" y="149436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B2</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Pratiques, politiques et initiatives futures pour une transition vers une économie plus durable</a:t>
            </a:r>
            <a:endParaRPr lang="fr-FR" sz="850" b="0" u="none" strike="noStrike">
              <a:solidFill>
                <a:srgbClr val="000000"/>
              </a:solidFill>
              <a:effectLst/>
              <a:uFillTx/>
              <a:latin typeface="Arial"/>
            </a:endParaRPr>
          </a:p>
        </p:txBody>
      </p:sp>
      <p:sp>
        <p:nvSpPr>
          <p:cNvPr id="72" name="Round Same-side Corner of Rectangle 22"/>
          <p:cNvSpPr/>
          <p:nvPr/>
        </p:nvSpPr>
        <p:spPr>
          <a:xfrm rot="16200000">
            <a:off x="3988080" y="178668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C1</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Stratégie : modèle économique et initiatives liées à la durabilité </a:t>
            </a:r>
            <a:endParaRPr lang="fr-FR" sz="850" b="0" u="none" strike="noStrike">
              <a:solidFill>
                <a:srgbClr val="000000"/>
              </a:solidFill>
              <a:effectLst/>
              <a:uFillTx/>
              <a:latin typeface="Arial"/>
            </a:endParaRPr>
          </a:p>
        </p:txBody>
      </p:sp>
      <p:sp>
        <p:nvSpPr>
          <p:cNvPr id="73" name="Round Same-side Corner of Rectangle 23"/>
          <p:cNvSpPr/>
          <p:nvPr/>
        </p:nvSpPr>
        <p:spPr>
          <a:xfrm rot="16200000">
            <a:off x="3988080" y="2079000"/>
            <a:ext cx="235800" cy="6879600"/>
          </a:xfrm>
          <a:prstGeom prst="round2SameRect">
            <a:avLst>
              <a:gd name="adj1" fmla="val 26772"/>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chemeClr val="lt1">
                    <a:lumMod val="50000"/>
                  </a:schemeClr>
                </a:solidFill>
                <a:effectLst/>
                <a:uFillTx/>
                <a:latin typeface="Marianne"/>
              </a:rPr>
              <a:t>C2</a:t>
            </a:r>
            <a:r>
              <a:rPr lang="fr-FR" sz="850" b="0" u="none" strike="noStrike">
                <a:solidFill>
                  <a:schemeClr val="lt1">
                    <a:lumMod val="50000"/>
                  </a:schemeClr>
                </a:solidFill>
                <a:effectLst/>
                <a:uFillTx/>
                <a:latin typeface="Marianne Medium"/>
              </a:rPr>
              <a:t> </a:t>
            </a:r>
            <a:r>
              <a:rPr lang="fr-FR" sz="85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850" b="0" u="none" strike="noStrike">
              <a:solidFill>
                <a:srgbClr val="000000"/>
              </a:solidFill>
              <a:effectLst/>
              <a:uFillTx/>
              <a:latin typeface="Arial"/>
            </a:endParaRPr>
          </a:p>
        </p:txBody>
      </p:sp>
      <p:pic>
        <p:nvPicPr>
          <p:cNvPr id="74" name="Graphic 27"/>
          <p:cNvPicPr/>
          <p:nvPr/>
        </p:nvPicPr>
        <p:blipFill>
          <a:blip r:embed="rId2">
            <a:extLst>
              <a:ext uri="{96DAC541-7B7A-43D3-8B79-37D633B846F1}">
                <asvg:svgBlip xmlns:asvg="http://schemas.microsoft.com/office/drawing/2016/SVG/main" r:embed="rId3"/>
              </a:ext>
            </a:extLst>
          </a:blip>
          <a:stretch/>
        </p:blipFill>
        <p:spPr>
          <a:xfrm>
            <a:off x="735120" y="3833280"/>
            <a:ext cx="390960" cy="390960"/>
          </a:xfrm>
          <a:prstGeom prst="rect">
            <a:avLst/>
          </a:prstGeom>
          <a:noFill/>
          <a:ln w="0">
            <a:noFill/>
          </a:ln>
        </p:spPr>
      </p:pic>
      <p:sp>
        <p:nvSpPr>
          <p:cNvPr id="75" name="TextBox 1"/>
          <p:cNvSpPr/>
          <p:nvPr/>
        </p:nvSpPr>
        <p:spPr>
          <a:xfrm>
            <a:off x="666360" y="5916600"/>
            <a:ext cx="6280920" cy="821160"/>
          </a:xfrm>
          <a:prstGeom prst="rect">
            <a:avLst/>
          </a:prstGeom>
          <a:noFill/>
          <a:ln w="0">
            <a:noFill/>
          </a:ln>
        </p:spPr>
        <p:style>
          <a:lnRef idx="0"/>
          <a:fillRef idx="0"/>
          <a:effectRef idx="0"/>
          <a:fontRef idx="minor"/>
        </p:style>
        <p:txBody>
          <a:bodyPr lIns="90000" tIns="45000" rIns="90000" bIns="45000" anchor="t">
            <a:spAutoFit/>
          </a:bodyPr>
          <a:p>
            <a:pPr marL="11160" algn="just" defTabSz="457200">
              <a:lnSpc>
                <a:spcPct val="120000"/>
              </a:lnSpc>
              <a:spcAft>
                <a:spcPts val="601"/>
              </a:spcAft>
            </a:pPr>
            <a:r>
              <a:rPr lang="fr-FR" sz="1000" b="0" u="none" strike="noStrike">
                <a:solidFill>
                  <a:schemeClr val="dk1"/>
                </a:solidFill>
                <a:effectLst/>
                <a:uFillTx/>
                <a:latin typeface="Marianne Light"/>
                <a:ea typeface="Arial"/>
              </a:rPr>
              <a:t>Cette première partie présente les éléments de contexte nécessaires à la compréhension du profil de notre entreprise. Ce socle descriptif permet de situer les données et indicateurs présentés dans les autres parties, d’en assurer la cohérence et de garantir une lecture claire et proportionnée des métriques communiquées.</a:t>
            </a:r>
            <a:endParaRPr lang="fr-FR" sz="10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6" name="Picture 2"/>
          <p:cNvPicPr/>
          <p:nvPr/>
        </p:nvPicPr>
        <p:blipFill>
          <a:blip r:embed="rId1"/>
          <a:stretch/>
        </p:blipFill>
        <p:spPr>
          <a:xfrm>
            <a:off x="-9000" y="0"/>
            <a:ext cx="7554600" cy="10773360"/>
          </a:xfrm>
          <a:prstGeom prst="rect">
            <a:avLst/>
          </a:prstGeom>
          <a:noFill/>
          <a:ln w="0">
            <a:noFill/>
          </a:ln>
        </p:spPr>
      </p:pic>
      <p:sp>
        <p:nvSpPr>
          <p:cNvPr id="7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8"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B1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Base d’établissement</a:t>
            </a:r>
            <a:endParaRPr lang="fr-FR" sz="1400" b="0" u="none" strike="noStrike">
              <a:solidFill>
                <a:srgbClr val="000000"/>
              </a:solidFill>
              <a:effectLst/>
              <a:uFillTx/>
              <a:latin typeface="Arial"/>
            </a:endParaRPr>
          </a:p>
        </p:txBody>
      </p:sp>
      <p:grpSp>
        <p:nvGrpSpPr>
          <p:cNvPr id="79" name="Group 28"/>
          <p:cNvGrpSpPr/>
          <p:nvPr/>
        </p:nvGrpSpPr>
        <p:grpSpPr>
          <a:xfrm>
            <a:off x="330120" y="2525400"/>
            <a:ext cx="567720" cy="426240"/>
            <a:chOff x="330120" y="2525400"/>
            <a:chExt cx="567720" cy="426240"/>
          </a:xfrm>
        </p:grpSpPr>
        <p:cxnSp>
          <p:nvCxnSpPr>
            <p:cNvPr id="80" name="Straight Connector 17"/>
            <p:cNvCxnSpPr/>
            <p:nvPr/>
          </p:nvCxnSpPr>
          <p:spPr>
            <a:xfrm>
              <a:off x="893160" y="2525400"/>
              <a:ext cx="5040" cy="426600"/>
            </a:xfrm>
            <a:prstGeom prst="straightConnector1">
              <a:avLst/>
            </a:prstGeom>
            <a:ln w="3175">
              <a:solidFill>
                <a:srgbClr val="A6A6A6"/>
              </a:solidFill>
              <a:round/>
            </a:ln>
          </p:spPr>
        </p:cxnSp>
        <p:pic>
          <p:nvPicPr>
            <p:cNvPr id="81"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82"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83"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84"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5"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86" name="B1-24-a"/>
          <p:cNvSpPr/>
          <p:nvPr/>
        </p:nvSpPr>
        <p:spPr>
          <a:xfrm>
            <a:off x="410400" y="3300120"/>
            <a:ext cx="3284280" cy="749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Choix du module</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87" name="B1-24-c"/>
          <p:cNvSpPr/>
          <p:nvPr/>
        </p:nvSpPr>
        <p:spPr>
          <a:xfrm>
            <a:off x="3859920" y="3300120"/>
            <a:ext cx="3284280" cy="749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Type de périmètre</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88" name="B1-24-e-iii"/>
          <p:cNvSpPr/>
          <p:nvPr/>
        </p:nvSpPr>
        <p:spPr>
          <a:xfrm>
            <a:off x="410400" y="7936560"/>
            <a:ext cx="3284280" cy="7545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Total du bilan (en euros)</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89" name="B1-24-e-iv"/>
          <p:cNvSpPr/>
          <p:nvPr/>
        </p:nvSpPr>
        <p:spPr>
          <a:xfrm>
            <a:off x="3859920" y="7936560"/>
            <a:ext cx="3284280" cy="749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Chiffre d'affaires (en euros)</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90" name="B1-24-e-v_nombre_salaries"/>
          <p:cNvSpPr/>
          <p:nvPr/>
        </p:nvSpPr>
        <p:spPr>
          <a:xfrm>
            <a:off x="410400" y="8873280"/>
            <a:ext cx="3284280" cy="749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Nombre de salariés</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91" name="B1-24-e-i_forme_juridique"/>
          <p:cNvSpPr/>
          <p:nvPr/>
        </p:nvSpPr>
        <p:spPr>
          <a:xfrm>
            <a:off x="410400" y="4236840"/>
            <a:ext cx="6733800" cy="93924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Forme juridique</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92" name="B1-24-e-i_coopérative"/>
          <p:cNvSpPr/>
          <p:nvPr/>
        </p:nvSpPr>
        <p:spPr>
          <a:xfrm>
            <a:off x="3859920" y="8873280"/>
            <a:ext cx="3284280" cy="749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Coopérative</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93" name="B1-24-e-ii"/>
          <p:cNvSpPr/>
          <p:nvPr/>
        </p:nvSpPr>
        <p:spPr>
          <a:xfrm>
            <a:off x="410400" y="5363640"/>
            <a:ext cx="6733800" cy="93816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Code(s) NACE</a:t>
            </a:r>
            <a:endParaRPr lang="fr-FR" sz="1200" b="0" u="none" strike="noStrike">
              <a:solidFill>
                <a:srgbClr val="000000"/>
              </a:solidFill>
              <a:effectLst/>
              <a:uFillTx/>
              <a:latin typeface="Arial"/>
            </a:endParaRPr>
          </a:p>
          <a:p>
            <a:pPr defTabSz="457200">
              <a:lnSpc>
                <a:spcPct val="100000"/>
              </a:lnSpc>
              <a:tabLst>
                <a:tab pos="0" algn="l"/>
              </a:tabLst>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94" name="B1-24-e-vi"/>
          <p:cNvSpPr/>
          <p:nvPr/>
        </p:nvSpPr>
        <p:spPr>
          <a:xfrm>
            <a:off x="410400" y="6489720"/>
            <a:ext cx="6733800" cy="1258920"/>
          </a:xfrm>
          <a:prstGeom prst="roundRect">
            <a:avLst>
              <a:gd name="adj" fmla="val 516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Pays d'exercice</a:t>
            </a:r>
            <a:endParaRPr lang="fr-FR" sz="1200" b="0" u="none" strike="noStrike">
              <a:solidFill>
                <a:srgbClr val="000000"/>
              </a:solidFill>
              <a:effectLst/>
              <a:uFillTx/>
              <a:latin typeface="Arial"/>
            </a:endParaRPr>
          </a:p>
          <a:p>
            <a:pPr defTabSz="457200">
              <a:lnSpc>
                <a:spcPct val="100000"/>
              </a:lnSpc>
              <a:tabLst>
                <a:tab pos="0" algn="l"/>
              </a:tabLst>
            </a:pPr>
            <a:r>
              <a:rPr lang="fr-FR"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5" name="Picture 2"/>
          <p:cNvPicPr/>
          <p:nvPr/>
        </p:nvPicPr>
        <p:blipFill>
          <a:blip r:embed="rId1"/>
          <a:stretch/>
        </p:blipFill>
        <p:spPr>
          <a:xfrm>
            <a:off x="-9000" y="0"/>
            <a:ext cx="7554600" cy="10773360"/>
          </a:xfrm>
          <a:prstGeom prst="rect">
            <a:avLst/>
          </a:prstGeom>
          <a:noFill/>
          <a:ln w="0">
            <a:noFill/>
          </a:ln>
        </p:spPr>
      </p:pic>
      <p:sp>
        <p:nvSpPr>
          <p:cNvPr id="9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97"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B1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Base d’établissement</a:t>
            </a:r>
            <a:endParaRPr lang="fr-FR" sz="1400" b="0" u="none" strike="noStrike">
              <a:solidFill>
                <a:srgbClr val="000000"/>
              </a:solidFill>
              <a:effectLst/>
              <a:uFillTx/>
              <a:latin typeface="Arial"/>
            </a:endParaRPr>
          </a:p>
        </p:txBody>
      </p:sp>
      <p:grpSp>
        <p:nvGrpSpPr>
          <p:cNvPr id="98" name="Group 28"/>
          <p:cNvGrpSpPr/>
          <p:nvPr/>
        </p:nvGrpSpPr>
        <p:grpSpPr>
          <a:xfrm>
            <a:off x="330120" y="2525400"/>
            <a:ext cx="567720" cy="426240"/>
            <a:chOff x="330120" y="2525400"/>
            <a:chExt cx="567720" cy="426240"/>
          </a:xfrm>
        </p:grpSpPr>
        <p:cxnSp>
          <p:nvCxnSpPr>
            <p:cNvPr id="99" name="Straight Connector 17"/>
            <p:cNvCxnSpPr/>
            <p:nvPr/>
          </p:nvCxnSpPr>
          <p:spPr>
            <a:xfrm>
              <a:off x="893160" y="2525400"/>
              <a:ext cx="5040" cy="426600"/>
            </a:xfrm>
            <a:prstGeom prst="straightConnector1">
              <a:avLst/>
            </a:prstGeom>
            <a:ln w="3175">
              <a:solidFill>
                <a:srgbClr val="A6A6A6"/>
              </a:solidFill>
              <a:round/>
            </a:ln>
          </p:spPr>
        </p:cxnSp>
        <p:pic>
          <p:nvPicPr>
            <p:cNvPr id="100"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01" name="TextBox 6"/>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02" name="TextBox 7"/>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03" name="TextBox 8"/>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04" name="TextBox 9"/>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05" name="B1-25_container"/>
          <p:cNvSpPr/>
          <p:nvPr/>
        </p:nvSpPr>
        <p:spPr>
          <a:xfrm>
            <a:off x="410400" y="3179520"/>
            <a:ext cx="6733800" cy="67921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Liste des filiales incluses dans le rapport</a:t>
            </a:r>
            <a:endParaRPr lang="fr-FR" sz="1200" b="0" u="none" strike="noStrike">
              <a:solidFill>
                <a:srgbClr val="000000"/>
              </a:solidFill>
              <a:effectLst/>
              <a:uFillTx/>
              <a:latin typeface="Arial"/>
            </a:endParaRPr>
          </a:p>
        </p:txBody>
      </p:sp>
      <p:graphicFrame>
        <p:nvGraphicFramePr>
          <p:cNvPr id="106" name="B1-25"/>
          <p:cNvGraphicFramePr/>
          <p:nvPr/>
        </p:nvGraphicFramePr>
        <p:xfrm>
          <a:off x="604080" y="3832920"/>
          <a:ext cx="6416640" cy="5992920"/>
        </p:xfrm>
        <a:graphic>
          <a:graphicData uri="http://schemas.openxmlformats.org/drawingml/2006/table">
            <a:tbl>
              <a:tblPr/>
              <a:tblGrid>
                <a:gridCol w="1283400"/>
                <a:gridCol w="1283400"/>
                <a:gridCol w="1283400"/>
                <a:gridCol w="1283400"/>
                <a:gridCol w="1283400"/>
              </a:tblGrid>
              <a:tr h="592200">
                <a:tc>
                  <a:txBody>
                    <a:bodyPr anchor="ctr">
                      <a:noAutofit/>
                    </a:bodyPr>
                    <a:p>
                      <a:pPr algn="ctr" defTabSz="756000">
                        <a:lnSpc>
                          <a:spcPct val="100000"/>
                        </a:lnSpc>
                      </a:pPr>
                      <a:r>
                        <a:rPr lang="en-FR" sz="1100" b="0" u="none" strike="noStrike">
                          <a:solidFill>
                            <a:schemeClr val="lt1">
                              <a:lumMod val="50000"/>
                            </a:schemeClr>
                          </a:solidFill>
                          <a:effectLst/>
                          <a:uFillTx/>
                          <a:latin typeface="Marianne Light"/>
                        </a:rPr>
                        <a:t>Nom de la filiale</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en-GB" sz="1100" b="0" u="none" strike="noStrike">
                          <a:solidFill>
                            <a:schemeClr val="lt1">
                              <a:lumMod val="50000"/>
                            </a:schemeClr>
                          </a:solidFill>
                          <a:effectLst/>
                          <a:uFillTx/>
                          <a:latin typeface="Marianne Light"/>
                        </a:rPr>
                        <a:t>A</a:t>
                      </a:r>
                      <a:r>
                        <a:rPr lang="en-FR" sz="1100" b="0" u="none" strike="noStrike">
                          <a:solidFill>
                            <a:schemeClr val="lt1">
                              <a:lumMod val="50000"/>
                            </a:schemeClr>
                          </a:solidFill>
                          <a:effectLst/>
                          <a:uFillTx/>
                          <a:latin typeface="Marianne Light"/>
                        </a:rPr>
                        <a:t>dresse légale</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en-FR" sz="1100" b="0" u="none" strike="noStrike">
                          <a:solidFill>
                            <a:schemeClr val="lt1">
                              <a:lumMod val="50000"/>
                            </a:schemeClr>
                          </a:solidFill>
                          <a:effectLst/>
                          <a:uFillTx/>
                          <a:latin typeface="Marianne Light"/>
                        </a:rPr>
                        <a:t>Pays</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Code postal</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Commentaires</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41544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7" name="Picture 2"/>
          <p:cNvPicPr/>
          <p:nvPr/>
        </p:nvPicPr>
        <p:blipFill>
          <a:blip r:embed="rId1"/>
          <a:stretch/>
        </p:blipFill>
        <p:spPr>
          <a:xfrm>
            <a:off x="-9000" y="0"/>
            <a:ext cx="7554600" cy="10773360"/>
          </a:xfrm>
          <a:prstGeom prst="rect">
            <a:avLst/>
          </a:prstGeom>
          <a:noFill/>
          <a:ln w="0">
            <a:noFill/>
          </a:ln>
        </p:spPr>
      </p:pic>
      <p:sp>
        <p:nvSpPr>
          <p:cNvPr id="108"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09"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B1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Base d’établissement</a:t>
            </a:r>
            <a:endParaRPr lang="fr-FR" sz="1400" b="0" u="none" strike="noStrike">
              <a:solidFill>
                <a:srgbClr val="000000"/>
              </a:solidFill>
              <a:effectLst/>
              <a:uFillTx/>
              <a:latin typeface="Arial"/>
            </a:endParaRPr>
          </a:p>
        </p:txBody>
      </p:sp>
      <p:grpSp>
        <p:nvGrpSpPr>
          <p:cNvPr id="110" name="Group 28"/>
          <p:cNvGrpSpPr/>
          <p:nvPr/>
        </p:nvGrpSpPr>
        <p:grpSpPr>
          <a:xfrm>
            <a:off x="330120" y="2525400"/>
            <a:ext cx="567720" cy="426240"/>
            <a:chOff x="330120" y="2525400"/>
            <a:chExt cx="567720" cy="426240"/>
          </a:xfrm>
        </p:grpSpPr>
        <p:cxnSp>
          <p:nvCxnSpPr>
            <p:cNvPr id="111" name="Straight Connector 17"/>
            <p:cNvCxnSpPr/>
            <p:nvPr/>
          </p:nvCxnSpPr>
          <p:spPr>
            <a:xfrm>
              <a:off x="893160" y="2525400"/>
              <a:ext cx="5040" cy="426600"/>
            </a:xfrm>
            <a:prstGeom prst="straightConnector1">
              <a:avLst/>
            </a:prstGeom>
            <a:ln w="3175">
              <a:solidFill>
                <a:srgbClr val="A6A6A6"/>
              </a:solidFill>
              <a:round/>
            </a:ln>
          </p:spPr>
        </p:cxnSp>
        <p:pic>
          <p:nvPicPr>
            <p:cNvPr id="112"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13" name="TextBox 6"/>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14" name="TextBox 7"/>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15" name="TextBox 8"/>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16" name="TextBox 9"/>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17" name="B1-25_container"/>
          <p:cNvSpPr/>
          <p:nvPr/>
        </p:nvSpPr>
        <p:spPr>
          <a:xfrm>
            <a:off x="410400" y="3179520"/>
            <a:ext cx="6733800" cy="67921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Liste des sites</a:t>
            </a:r>
            <a:endParaRPr lang="fr-FR" sz="1200" b="0" u="none" strike="noStrike">
              <a:solidFill>
                <a:srgbClr val="000000"/>
              </a:solidFill>
              <a:effectLst/>
              <a:uFillTx/>
              <a:latin typeface="Arial"/>
            </a:endParaRPr>
          </a:p>
        </p:txBody>
      </p:sp>
      <p:graphicFrame>
        <p:nvGraphicFramePr>
          <p:cNvPr id="118" name="B1-25"/>
          <p:cNvGraphicFramePr/>
          <p:nvPr/>
        </p:nvGraphicFramePr>
        <p:xfrm>
          <a:off x="587880" y="3832920"/>
          <a:ext cx="6415560" cy="5992200"/>
        </p:xfrm>
        <a:graphic>
          <a:graphicData uri="http://schemas.openxmlformats.org/drawingml/2006/table">
            <a:tbl>
              <a:tblPr/>
              <a:tblGrid>
                <a:gridCol w="916560"/>
                <a:gridCol w="916560"/>
                <a:gridCol w="916560"/>
                <a:gridCol w="916560"/>
                <a:gridCol w="916560"/>
                <a:gridCol w="916560"/>
                <a:gridCol w="916560"/>
              </a:tblGrid>
              <a:tr h="592200">
                <a:tc>
                  <a:txBody>
                    <a:bodyPr anchor="ctr">
                      <a:noAutofit/>
                    </a:bodyPr>
                    <a:p>
                      <a:pPr algn="ctr" defTabSz="756000">
                        <a:lnSpc>
                          <a:spcPct val="100000"/>
                        </a:lnSpc>
                      </a:pPr>
                      <a:r>
                        <a:rPr lang="en-FR" sz="1100" b="0" u="none" strike="noStrike">
                          <a:solidFill>
                            <a:schemeClr val="lt1">
                              <a:lumMod val="50000"/>
                            </a:schemeClr>
                          </a:solidFill>
                          <a:effectLst/>
                          <a:uFillTx/>
                          <a:latin typeface="Marianne Light"/>
                        </a:rPr>
                        <a:t>Numéro ID</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Nom du site</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en-FR" sz="1100" b="0" u="none" strike="noStrike">
                          <a:solidFill>
                            <a:schemeClr val="lt1">
                              <a:lumMod val="50000"/>
                            </a:schemeClr>
                          </a:solidFill>
                          <a:effectLst/>
                          <a:uFillTx/>
                          <a:latin typeface="Marianne Light"/>
                        </a:rPr>
                        <a:t>Adresse</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Code postal</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Ville</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Pays</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Géolocali-sation</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9" name="Picture 2"/>
          <p:cNvPicPr/>
          <p:nvPr/>
        </p:nvPicPr>
        <p:blipFill>
          <a:blip r:embed="rId1"/>
          <a:stretch/>
        </p:blipFill>
        <p:spPr>
          <a:xfrm>
            <a:off x="-9000" y="0"/>
            <a:ext cx="7554600" cy="10773360"/>
          </a:xfrm>
          <a:prstGeom prst="rect">
            <a:avLst/>
          </a:prstGeom>
          <a:noFill/>
          <a:ln w="0">
            <a:noFill/>
          </a:ln>
        </p:spPr>
      </p:pic>
      <p:sp>
        <p:nvSpPr>
          <p:cNvPr id="120"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21"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B1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Base d’établissement</a:t>
            </a:r>
            <a:endParaRPr lang="fr-FR" sz="1400" b="0" u="none" strike="noStrike">
              <a:solidFill>
                <a:srgbClr val="000000"/>
              </a:solidFill>
              <a:effectLst/>
              <a:uFillTx/>
              <a:latin typeface="Arial"/>
            </a:endParaRPr>
          </a:p>
        </p:txBody>
      </p:sp>
      <p:grpSp>
        <p:nvGrpSpPr>
          <p:cNvPr id="122" name="Group 28"/>
          <p:cNvGrpSpPr/>
          <p:nvPr/>
        </p:nvGrpSpPr>
        <p:grpSpPr>
          <a:xfrm>
            <a:off x="330120" y="2525400"/>
            <a:ext cx="567720" cy="426240"/>
            <a:chOff x="330120" y="2525400"/>
            <a:chExt cx="567720" cy="426240"/>
          </a:xfrm>
        </p:grpSpPr>
        <p:cxnSp>
          <p:nvCxnSpPr>
            <p:cNvPr id="123" name="Straight Connector 17"/>
            <p:cNvCxnSpPr/>
            <p:nvPr/>
          </p:nvCxnSpPr>
          <p:spPr>
            <a:xfrm>
              <a:off x="893160" y="2525400"/>
              <a:ext cx="5040" cy="426600"/>
            </a:xfrm>
            <a:prstGeom prst="straightConnector1">
              <a:avLst/>
            </a:prstGeom>
            <a:ln w="3175">
              <a:solidFill>
                <a:srgbClr val="A6A6A6"/>
              </a:solidFill>
              <a:round/>
            </a:ln>
          </p:spPr>
        </p:cxnSp>
        <p:pic>
          <p:nvPicPr>
            <p:cNvPr id="124"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25" name="TextBox 6"/>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26" name="TextBox 7"/>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27" name="TextBox 8"/>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28" name="TextBox 9"/>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29" name="B1-25_container"/>
          <p:cNvSpPr/>
          <p:nvPr/>
        </p:nvSpPr>
        <p:spPr>
          <a:xfrm>
            <a:off x="410400" y="3179520"/>
            <a:ext cx="6733800" cy="67921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Certifications ou labels en matière de durabilité</a:t>
            </a:r>
            <a:endParaRPr lang="fr-FR" sz="1200" b="0" u="none" strike="noStrike">
              <a:solidFill>
                <a:srgbClr val="000000"/>
              </a:solidFill>
              <a:effectLst/>
              <a:uFillTx/>
              <a:latin typeface="Arial"/>
            </a:endParaRPr>
          </a:p>
        </p:txBody>
      </p:sp>
      <p:graphicFrame>
        <p:nvGraphicFramePr>
          <p:cNvPr id="130" name="B1-25"/>
          <p:cNvGraphicFramePr/>
          <p:nvPr/>
        </p:nvGraphicFramePr>
        <p:xfrm>
          <a:off x="587880" y="3832920"/>
          <a:ext cx="6400440" cy="5992200"/>
        </p:xfrm>
        <a:graphic>
          <a:graphicData uri="http://schemas.openxmlformats.org/drawingml/2006/table">
            <a:tbl>
              <a:tblPr/>
              <a:tblGrid>
                <a:gridCol w="1280160"/>
                <a:gridCol w="1280160"/>
                <a:gridCol w="1280160"/>
                <a:gridCol w="1280160"/>
                <a:gridCol w="1280160"/>
              </a:tblGrid>
              <a:tr h="592200">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Nom du label ou certification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Émetteur</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Date d’obtention</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DED"/>
                    </a:solidFill>
                  </a:tcPr>
                </a:tc>
                <a:tc>
                  <a:txBody>
                    <a:bodyPr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Score ou niveau atteint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c>
                  <a:txBody>
                    <a:bodyPr anchor="ctr">
                      <a:noAutofit/>
                    </a:bodyPr>
                    <a:p>
                      <a:pPr algn="ctr" defTabSz="756000">
                        <a:lnSpc>
                          <a:spcPct val="100000"/>
                        </a:lnSpc>
                      </a:pPr>
                      <a:r>
                        <a:rPr lang="fr-FR" sz="1100" b="0" u="none" strike="noStrike">
                          <a:solidFill>
                            <a:schemeClr val="lt1">
                              <a:lumMod val="50000"/>
                            </a:schemeClr>
                          </a:solidFill>
                          <a:effectLst/>
                          <a:uFillTx/>
                          <a:latin typeface="Marianne Light"/>
                        </a:rPr>
                        <a:t>Commentaire</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38160">
                      <a:solidFill>
                        <a:srgbClr val="FFFFFF"/>
                      </a:solidFill>
                      <a:prstDash val="solid"/>
                    </a:lnB>
                    <a:solidFill>
                      <a:srgbClr val="EBEEED"/>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r h="540000">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1" u="none" strike="noStrike">
                          <a:solidFill>
                            <a:srgbClr val="000000"/>
                          </a:solidFill>
                          <a:effectLst/>
                          <a:uFillTx/>
                          <a:latin typeface="Marianne Light"/>
                        </a:rPr>
                        <a:t>-</a:t>
                      </a:r>
                      <a:endParaRPr lang="fr-FR" sz="1100" b="0" u="none" strike="noStrike">
                        <a:solidFill>
                          <a:srgbClr val="000000"/>
                        </a:solidFill>
                        <a:effectLst/>
                        <a:uFillTx/>
                        <a:latin typeface="Arial"/>
                      </a:endParaRPr>
                    </a:p>
                  </a:txBody>
                  <a:tcPr anchor="ctr" marL="91440" marR="91440" marT="45720" marB="45720">
                    <a:lnL w="2880">
                      <a:solidFill>
                        <a:srgbClr val="BFBFBF"/>
                      </a:solidFill>
                      <a:prstDash val="solid"/>
                    </a:lnL>
                    <a:lnR w="2880">
                      <a:solidFill>
                        <a:srgbClr val="BFBFBF"/>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1" name="Picture 5"/>
          <p:cNvPicPr/>
          <p:nvPr/>
        </p:nvPicPr>
        <p:blipFill>
          <a:blip r:embed="rId1"/>
          <a:stretch/>
        </p:blipFill>
        <p:spPr>
          <a:xfrm>
            <a:off x="-9000" y="0"/>
            <a:ext cx="7554600" cy="10773360"/>
          </a:xfrm>
          <a:prstGeom prst="rect">
            <a:avLst/>
          </a:prstGeom>
          <a:noFill/>
          <a:ln w="0">
            <a:noFill/>
          </a:ln>
        </p:spPr>
      </p:pic>
      <p:sp>
        <p:nvSpPr>
          <p:cNvPr id="132" name="Rectangle 2"/>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33" name="Rounded Rectangle 17"/>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B1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Base d’établissement</a:t>
            </a:r>
            <a:endParaRPr lang="fr-FR" sz="1400" b="0" u="none" strike="noStrike">
              <a:solidFill>
                <a:srgbClr val="000000"/>
              </a:solidFill>
              <a:effectLst/>
              <a:uFillTx/>
              <a:latin typeface="Arial"/>
            </a:endParaRPr>
          </a:p>
        </p:txBody>
      </p:sp>
      <p:grpSp>
        <p:nvGrpSpPr>
          <p:cNvPr id="134" name="Group 2"/>
          <p:cNvGrpSpPr/>
          <p:nvPr/>
        </p:nvGrpSpPr>
        <p:grpSpPr>
          <a:xfrm>
            <a:off x="330120" y="2525400"/>
            <a:ext cx="567720" cy="426240"/>
            <a:chOff x="330120" y="2525400"/>
            <a:chExt cx="567720" cy="426240"/>
          </a:xfrm>
        </p:grpSpPr>
        <p:cxnSp>
          <p:nvCxnSpPr>
            <p:cNvPr id="135" name="Straight Connector 2"/>
            <p:cNvCxnSpPr/>
            <p:nvPr/>
          </p:nvCxnSpPr>
          <p:spPr>
            <a:xfrm>
              <a:off x="893160" y="2525400"/>
              <a:ext cx="5040" cy="426600"/>
            </a:xfrm>
            <a:prstGeom prst="straightConnector1">
              <a:avLst/>
            </a:prstGeom>
            <a:ln w="3175">
              <a:solidFill>
                <a:srgbClr val="A6A6A6"/>
              </a:solidFill>
              <a:round/>
            </a:ln>
          </p:spPr>
        </p:cxnSp>
        <p:pic>
          <p:nvPicPr>
            <p:cNvPr id="136" name="Graphic 2"/>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37" name="TextBox 14"/>
          <p:cNvSpPr/>
          <p:nvPr/>
        </p:nvSpPr>
        <p:spPr>
          <a:xfrm>
            <a:off x="42984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38" name="TextBox 17"/>
          <p:cNvSpPr/>
          <p:nvPr/>
        </p:nvSpPr>
        <p:spPr>
          <a:xfrm>
            <a:off x="366696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39" name="TextBox 18"/>
          <p:cNvSpPr/>
          <p:nvPr/>
        </p:nvSpPr>
        <p:spPr>
          <a:xfrm>
            <a:off x="229392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40" name="TextBox 19"/>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41" name="B1-25_container 2"/>
          <p:cNvSpPr/>
          <p:nvPr/>
        </p:nvSpPr>
        <p:spPr>
          <a:xfrm>
            <a:off x="410400" y="3179520"/>
            <a:ext cx="6733800" cy="11358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Certifications ou labels en matière de durabilité</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Light"/>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2" name="Picture 2"/>
          <p:cNvPicPr/>
          <p:nvPr/>
        </p:nvPicPr>
        <p:blipFill>
          <a:blip r:embed="rId1"/>
          <a:stretch/>
        </p:blipFill>
        <p:spPr>
          <a:xfrm>
            <a:off x="-9000" y="0"/>
            <a:ext cx="7554600" cy="10773360"/>
          </a:xfrm>
          <a:prstGeom prst="rect">
            <a:avLst/>
          </a:prstGeom>
          <a:noFill/>
          <a:ln w="0">
            <a:noFill/>
          </a:ln>
        </p:spPr>
      </p:pic>
      <p:sp>
        <p:nvSpPr>
          <p:cNvPr id="14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44"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B2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Pratiques, politiques et initiatives futures pour une transition </a:t>
            </a:r>
            <a:br>
              <a:rPr sz="1400"/>
            </a:br>
            <a:r>
              <a:rPr lang="fr-FR" sz="1400" b="0" u="none" strike="noStrike">
                <a:solidFill>
                  <a:schemeClr val="lt1">
                    <a:lumMod val="50000"/>
                  </a:schemeClr>
                </a:solidFill>
                <a:effectLst/>
                <a:uFillTx/>
                <a:latin typeface="Marianne"/>
              </a:rPr>
              <a:t>vers une économie plus durable</a:t>
            </a:r>
            <a:endParaRPr lang="fr-FR" sz="1400" b="0" u="none" strike="noStrike">
              <a:solidFill>
                <a:srgbClr val="000000"/>
              </a:solidFill>
              <a:effectLst/>
              <a:uFillTx/>
              <a:latin typeface="Arial"/>
            </a:endParaRPr>
          </a:p>
        </p:txBody>
      </p:sp>
      <p:grpSp>
        <p:nvGrpSpPr>
          <p:cNvPr id="145" name="Group 28"/>
          <p:cNvGrpSpPr/>
          <p:nvPr/>
        </p:nvGrpSpPr>
        <p:grpSpPr>
          <a:xfrm>
            <a:off x="330120" y="2525400"/>
            <a:ext cx="567720" cy="710280"/>
            <a:chOff x="330120" y="2525400"/>
            <a:chExt cx="567720" cy="710280"/>
          </a:xfrm>
        </p:grpSpPr>
        <p:cxnSp>
          <p:nvCxnSpPr>
            <p:cNvPr id="146" name="Straight Connector 17"/>
            <p:cNvCxnSpPr/>
            <p:nvPr/>
          </p:nvCxnSpPr>
          <p:spPr>
            <a:xfrm>
              <a:off x="893160" y="2525400"/>
              <a:ext cx="5040" cy="710640"/>
            </a:xfrm>
            <a:prstGeom prst="straightConnector1">
              <a:avLst/>
            </a:prstGeom>
            <a:ln w="3175">
              <a:solidFill>
                <a:srgbClr val="A6A6A6"/>
              </a:solidFill>
              <a:round/>
            </a:ln>
          </p:spPr>
        </p:cxnSp>
        <p:pic>
          <p:nvPicPr>
            <p:cNvPr id="147"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48" name="Rounded Rectangle 1"/>
          <p:cNvSpPr/>
          <p:nvPr/>
        </p:nvSpPr>
        <p:spPr>
          <a:xfrm>
            <a:off x="401400" y="3391560"/>
            <a:ext cx="6733800" cy="938160"/>
          </a:xfrm>
          <a:prstGeom prst="roundRect">
            <a:avLst>
              <a:gd name="adj" fmla="val 16456"/>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Participation effective à la gouvernance</a:t>
            </a:r>
            <a:endParaRPr lang="fr-FR" sz="1200" b="0" u="none" strike="noStrike">
              <a:solidFill>
                <a:srgbClr val="000000"/>
              </a:solidFill>
              <a:effectLst/>
              <a:uFillTx/>
              <a:latin typeface="Arial"/>
            </a:endParaRPr>
          </a:p>
          <a:p>
            <a:pPr defTabSz="457200">
              <a:lnSpc>
                <a:spcPct val="100000"/>
              </a:lnSpc>
            </a:pPr>
            <a:r>
              <a:rPr lang="fr-CA" sz="1200" b="0" u="none" strike="noStrike">
                <a:solidFill>
                  <a:srgbClr val="D2B781"/>
                </a:solidFill>
                <a:effectLst/>
                <a:uFillTx/>
                <a:latin typeface="Marianne"/>
              </a:rPr>
              <a:t>Cet indicateur n'est pas applicable car la forme juridique renseignée par l'entreprise n'est pas une coopérative.</a:t>
            </a:r>
            <a:endParaRPr lang="fr-FR" sz="1200" b="0" u="none" strike="noStrike">
              <a:solidFill>
                <a:srgbClr val="000000"/>
              </a:solidFill>
              <a:effectLst/>
              <a:uFillTx/>
              <a:latin typeface="Arial"/>
            </a:endParaRPr>
          </a:p>
          <a:p>
            <a:pPr defTabSz="457200">
              <a:lnSpc>
                <a:spcPct val="100000"/>
              </a:lnSpc>
              <a:tabLst>
                <a:tab pos="0" algn="l"/>
              </a:tabLst>
            </a:pPr>
            <a:endParaRPr lang="fr-FR" sz="1200" b="0" u="none" strike="noStrike">
              <a:solidFill>
                <a:srgbClr val="000000"/>
              </a:solidFill>
              <a:effectLst/>
              <a:uFillTx/>
              <a:latin typeface="Arial"/>
            </a:endParaRPr>
          </a:p>
        </p:txBody>
      </p:sp>
      <p:sp>
        <p:nvSpPr>
          <p:cNvPr id="149" name="TextBox 7"/>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50" name="TextBox 8"/>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51" name="TextBox 9"/>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52" name="TextBox 10"/>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53" name="Rounded Rectangle 2"/>
          <p:cNvSpPr/>
          <p:nvPr/>
        </p:nvSpPr>
        <p:spPr>
          <a:xfrm>
            <a:off x="401400" y="4495320"/>
            <a:ext cx="6733800" cy="938160"/>
          </a:xfrm>
          <a:prstGeom prst="roundRect">
            <a:avLst>
              <a:gd name="adj" fmla="val 15000"/>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Investissement dans l'économie sociale (en euros)</a:t>
            </a:r>
            <a:endParaRPr lang="fr-FR" sz="1200" b="0" u="none" strike="noStrike">
              <a:solidFill>
                <a:srgbClr val="000000"/>
              </a:solidFill>
              <a:effectLst/>
              <a:uFillTx/>
              <a:latin typeface="Arial"/>
            </a:endParaRPr>
          </a:p>
          <a:p>
            <a:pPr defTabSz="457200">
              <a:lnSpc>
                <a:spcPct val="100000"/>
              </a:lnSpc>
            </a:pPr>
            <a:r>
              <a:rPr lang="fr-CA" sz="1200" b="0" u="none" strike="noStrike">
                <a:solidFill>
                  <a:srgbClr val="D2B781"/>
                </a:solidFill>
                <a:effectLst/>
                <a:uFillTx/>
                <a:latin typeface="Marianne"/>
              </a:rPr>
              <a:t>Cet indicateur n'est pas applicable car la forme juridique renseignée par l'entreprise n'est pas une coopérative.</a:t>
            </a:r>
            <a:endParaRPr lang="fr-FR" sz="1200" b="0" u="none" strike="noStrike">
              <a:solidFill>
                <a:srgbClr val="000000"/>
              </a:solidFill>
              <a:effectLst/>
              <a:uFillTx/>
              <a:latin typeface="Arial"/>
            </a:endParaRPr>
          </a:p>
        </p:txBody>
      </p:sp>
      <p:sp>
        <p:nvSpPr>
          <p:cNvPr id="154" name="Rounded Rectangle 6"/>
          <p:cNvSpPr/>
          <p:nvPr/>
        </p:nvSpPr>
        <p:spPr>
          <a:xfrm>
            <a:off x="401400" y="5636520"/>
            <a:ext cx="6733800" cy="938160"/>
          </a:xfrm>
          <a:prstGeom prst="roundRect">
            <a:avLst>
              <a:gd name="adj" fmla="val 15134"/>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Limites statutaires à la distribution des profits</a:t>
            </a:r>
            <a:endParaRPr lang="fr-FR" sz="1200" b="0" u="none" strike="noStrike">
              <a:solidFill>
                <a:srgbClr val="000000"/>
              </a:solidFill>
              <a:effectLst/>
              <a:uFillTx/>
              <a:latin typeface="Arial"/>
            </a:endParaRPr>
          </a:p>
          <a:p>
            <a:pPr defTabSz="457200">
              <a:lnSpc>
                <a:spcPct val="100000"/>
              </a:lnSpc>
            </a:pPr>
            <a:r>
              <a:rPr lang="fr-CA" sz="1200" b="0" u="none" strike="noStrike">
                <a:solidFill>
                  <a:srgbClr val="D2B781"/>
                </a:solidFill>
                <a:effectLst/>
                <a:uFillTx/>
                <a:latin typeface="Marianne"/>
              </a:rPr>
              <a:t>Cet indicateur n'est pas applicable car la forme juridique renseignée par l'entreprise n'est pas une coopérative.</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5" name="Picture 2"/>
          <p:cNvPicPr/>
          <p:nvPr/>
        </p:nvPicPr>
        <p:blipFill>
          <a:blip r:embed="rId1"/>
          <a:stretch/>
        </p:blipFill>
        <p:spPr>
          <a:xfrm>
            <a:off x="-9000" y="0"/>
            <a:ext cx="7554600" cy="10773360"/>
          </a:xfrm>
          <a:prstGeom prst="rect">
            <a:avLst/>
          </a:prstGeom>
          <a:noFill/>
          <a:ln w="0">
            <a:noFill/>
          </a:ln>
        </p:spPr>
      </p:pic>
      <p:sp>
        <p:nvSpPr>
          <p:cNvPr id="15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57"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B2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Pratiques, politiques et initiatives futures pour une transition </a:t>
            </a:r>
            <a:br>
              <a:rPr sz="1400"/>
            </a:br>
            <a:r>
              <a:rPr lang="fr-FR" sz="1400" b="0" u="none" strike="noStrike">
                <a:solidFill>
                  <a:schemeClr val="lt1">
                    <a:lumMod val="50000"/>
                  </a:schemeClr>
                </a:solidFill>
                <a:effectLst/>
                <a:uFillTx/>
                <a:latin typeface="Marianne"/>
              </a:rPr>
              <a:t>vers une économie plus durable</a:t>
            </a:r>
            <a:endParaRPr lang="fr-FR" sz="1400" b="0" u="none" strike="noStrike">
              <a:solidFill>
                <a:srgbClr val="000000"/>
              </a:solidFill>
              <a:effectLst/>
              <a:uFillTx/>
              <a:latin typeface="Arial"/>
            </a:endParaRPr>
          </a:p>
        </p:txBody>
      </p:sp>
      <p:grpSp>
        <p:nvGrpSpPr>
          <p:cNvPr id="158" name="Group 28"/>
          <p:cNvGrpSpPr/>
          <p:nvPr/>
        </p:nvGrpSpPr>
        <p:grpSpPr>
          <a:xfrm>
            <a:off x="330120" y="2525400"/>
            <a:ext cx="567720" cy="710280"/>
            <a:chOff x="330120" y="2525400"/>
            <a:chExt cx="567720" cy="710280"/>
          </a:xfrm>
        </p:grpSpPr>
        <p:cxnSp>
          <p:nvCxnSpPr>
            <p:cNvPr id="159" name="Straight Connector 17"/>
            <p:cNvCxnSpPr/>
            <p:nvPr/>
          </p:nvCxnSpPr>
          <p:spPr>
            <a:xfrm>
              <a:off x="893160" y="2525400"/>
              <a:ext cx="5040" cy="710640"/>
            </a:xfrm>
            <a:prstGeom prst="straightConnector1">
              <a:avLst/>
            </a:prstGeom>
            <a:ln w="3175">
              <a:solidFill>
                <a:srgbClr val="A6A6A6"/>
              </a:solidFill>
              <a:round/>
            </a:ln>
          </p:spPr>
        </p:cxnSp>
        <p:pic>
          <p:nvPicPr>
            <p:cNvPr id="160"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61" name="Rounded Rectangle 1"/>
          <p:cNvSpPr/>
          <p:nvPr/>
        </p:nvSpPr>
        <p:spPr>
          <a:xfrm>
            <a:off x="401400" y="3391560"/>
            <a:ext cx="6733800" cy="2464920"/>
          </a:xfrm>
          <a:prstGeom prst="roundRect">
            <a:avLst>
              <a:gd name="adj" fmla="val 606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Participation effective à la gouvernance</a:t>
            </a:r>
            <a:endParaRPr lang="fr-FR" sz="1200" b="0" u="none" strike="noStrike">
              <a:solidFill>
                <a:srgbClr val="000000"/>
              </a:solidFill>
              <a:effectLst/>
              <a:uFillTx/>
              <a:latin typeface="Arial"/>
            </a:endParaRPr>
          </a:p>
          <a:p>
            <a:pPr defTabSz="457200">
              <a:lnSpc>
                <a:spcPct val="100000"/>
              </a:lnSpc>
              <a:tabLst>
                <a:tab pos="0" algn="l"/>
              </a:tabLst>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162" name="TextBox 7"/>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63" name="TextBox 8"/>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64" name="TextBox 9"/>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65" name="TextBox 10"/>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166" name="Rounded Rectangle 2"/>
          <p:cNvSpPr/>
          <p:nvPr/>
        </p:nvSpPr>
        <p:spPr>
          <a:xfrm>
            <a:off x="401400" y="6042960"/>
            <a:ext cx="6733800" cy="938160"/>
          </a:xfrm>
          <a:prstGeom prst="roundRect">
            <a:avLst>
              <a:gd name="adj" fmla="val 15000"/>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Investissement dans l'économie sociale (en euros)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167" name="Rounded Rectangle 6"/>
          <p:cNvSpPr/>
          <p:nvPr/>
        </p:nvSpPr>
        <p:spPr>
          <a:xfrm>
            <a:off x="401400" y="7164000"/>
            <a:ext cx="6733800" cy="2464920"/>
          </a:xfrm>
          <a:prstGeom prst="roundRect">
            <a:avLst>
              <a:gd name="adj" fmla="val 540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Limites statutaires à la distribution des profits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8" name="Picture 2"/>
          <p:cNvPicPr/>
          <p:nvPr/>
        </p:nvPicPr>
        <p:blipFill>
          <a:blip r:embed="rId1"/>
          <a:stretch/>
        </p:blipFill>
        <p:spPr>
          <a:xfrm>
            <a:off x="-9000" y="0"/>
            <a:ext cx="7554600" cy="10773360"/>
          </a:xfrm>
          <a:prstGeom prst="rect">
            <a:avLst/>
          </a:prstGeom>
          <a:noFill/>
          <a:ln w="0">
            <a:noFill/>
          </a:ln>
        </p:spPr>
      </p:pic>
      <p:sp>
        <p:nvSpPr>
          <p:cNvPr id="169"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70"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B2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Pratiques, politiques et initiatives futures pour une transition </a:t>
            </a:r>
            <a:br>
              <a:rPr sz="1400"/>
            </a:br>
            <a:r>
              <a:rPr lang="fr-FR" sz="1400" b="0" u="none" strike="noStrike">
                <a:solidFill>
                  <a:schemeClr val="lt1">
                    <a:lumMod val="50000"/>
                  </a:schemeClr>
                </a:solidFill>
                <a:effectLst/>
                <a:uFillTx/>
                <a:latin typeface="Marianne"/>
              </a:rPr>
              <a:t>vers une économie plus durable</a:t>
            </a:r>
            <a:endParaRPr lang="fr-FR" sz="1400" b="0" u="none" strike="noStrike">
              <a:solidFill>
                <a:srgbClr val="000000"/>
              </a:solidFill>
              <a:effectLst/>
              <a:uFillTx/>
              <a:latin typeface="Arial"/>
            </a:endParaRPr>
          </a:p>
        </p:txBody>
      </p:sp>
      <p:grpSp>
        <p:nvGrpSpPr>
          <p:cNvPr id="171" name="Group 28"/>
          <p:cNvGrpSpPr/>
          <p:nvPr/>
        </p:nvGrpSpPr>
        <p:grpSpPr>
          <a:xfrm>
            <a:off x="330120" y="2525400"/>
            <a:ext cx="567720" cy="710280"/>
            <a:chOff x="330120" y="2525400"/>
            <a:chExt cx="567720" cy="710280"/>
          </a:xfrm>
        </p:grpSpPr>
        <p:cxnSp>
          <p:nvCxnSpPr>
            <p:cNvPr id="172" name="Straight Connector 17"/>
            <p:cNvCxnSpPr/>
            <p:nvPr/>
          </p:nvCxnSpPr>
          <p:spPr>
            <a:xfrm>
              <a:off x="893160" y="2525400"/>
              <a:ext cx="5040" cy="710640"/>
            </a:xfrm>
            <a:prstGeom prst="straightConnector1">
              <a:avLst/>
            </a:prstGeom>
            <a:ln w="3175">
              <a:solidFill>
                <a:srgbClr val="A6A6A6"/>
              </a:solidFill>
              <a:round/>
            </a:ln>
          </p:spPr>
        </p:cxnSp>
        <p:pic>
          <p:nvPicPr>
            <p:cNvPr id="173"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74"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Déclaration des pratiques et politiques de durabilité</a:t>
            </a:r>
            <a:endParaRPr lang="fr-FR" sz="1200" b="0" u="none" strike="noStrike">
              <a:solidFill>
                <a:srgbClr val="000000"/>
              </a:solidFill>
              <a:effectLst/>
              <a:uFillTx/>
              <a:latin typeface="Arial"/>
            </a:endParaRPr>
          </a:p>
        </p:txBody>
      </p:sp>
      <p:graphicFrame>
        <p:nvGraphicFramePr>
          <p:cNvPr id="175" name="Table 5"/>
          <p:cNvGraphicFramePr/>
          <p:nvPr/>
        </p:nvGraphicFramePr>
        <p:xfrm>
          <a:off x="605520" y="3955680"/>
          <a:ext cx="6381720" cy="6022080"/>
        </p:xfrm>
        <a:graphic>
          <a:graphicData uri="http://schemas.openxmlformats.org/drawingml/2006/table">
            <a:tbl>
              <a:tblPr/>
              <a:tblGrid>
                <a:gridCol w="2042640"/>
                <a:gridCol w="1446480"/>
                <a:gridCol w="1446480"/>
                <a:gridCol w="1446480"/>
              </a:tblGrid>
              <a:tr h="91008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 pratiques/ politiques sont mises en œuvre ou envisagées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Elles sont accessibles au public</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 cibles ont été fixées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Changement climatique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Pollution</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Eau et ressources aquatiques et marines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Biodiversité et écosystèmes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Économie circulaire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Personnel propre à l'entreprise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Travailleurs dans la chaîne de valeur</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Communautés affectées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Consommateurs et utilisateurs finaux</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r h="51120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Conduite des affaires et lutte contre la corruption</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80">
                      <a:solidFill>
                        <a:srgbClr val="D9D9D9"/>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2880">
                      <a:solidFill>
                        <a:srgbClr val="D9D9D9"/>
                      </a:solidFill>
                      <a:prstDash val="solid"/>
                    </a:lnR>
                    <a:lnT w="12240">
                      <a:solidFill>
                        <a:srgbClr val="FFFFFF"/>
                      </a:solidFill>
                      <a:prstDash val="solid"/>
                    </a:lnT>
                    <a:lnB w="2880">
                      <a:solidFill>
                        <a:srgbClr val="D9D9D9"/>
                      </a:solidFill>
                      <a:prstDash val="solid"/>
                    </a:lnB>
                    <a:solidFill>
                      <a:schemeClr val="lt1">
                        <a:lumMod val="95000"/>
                      </a:schemeClr>
                    </a:solidFill>
                  </a:tcPr>
                </a:tc>
              </a:tr>
            </a:tbl>
          </a:graphicData>
        </a:graphic>
      </p:graphicFrame>
      <p:sp>
        <p:nvSpPr>
          <p:cNvPr id="176" name="TextBox 7"/>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77" name="TextBox 8"/>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78" name="TextBox 9"/>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79" name="TextBox 10"/>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0" name="Picture 2"/>
          <p:cNvPicPr/>
          <p:nvPr/>
        </p:nvPicPr>
        <p:blipFill>
          <a:blip r:embed="rId1"/>
          <a:stretch/>
        </p:blipFill>
        <p:spPr>
          <a:xfrm>
            <a:off x="-9000" y="0"/>
            <a:ext cx="7554600" cy="10773360"/>
          </a:xfrm>
          <a:prstGeom prst="rect">
            <a:avLst/>
          </a:prstGeom>
          <a:noFill/>
          <a:ln w="0">
            <a:noFill/>
          </a:ln>
        </p:spPr>
      </p:pic>
      <p:sp>
        <p:nvSpPr>
          <p:cNvPr id="18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82"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B2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Pratiques, politiques et initiatives futures pour une transition </a:t>
            </a:r>
            <a:br>
              <a:rPr sz="1400"/>
            </a:br>
            <a:r>
              <a:rPr lang="fr-FR" sz="1400" b="0" u="none" strike="noStrike">
                <a:solidFill>
                  <a:schemeClr val="lt1">
                    <a:lumMod val="50000"/>
                  </a:schemeClr>
                </a:solidFill>
                <a:effectLst/>
                <a:uFillTx/>
                <a:latin typeface="Marianne"/>
              </a:rPr>
              <a:t>vers une économie plus durable</a:t>
            </a:r>
            <a:endParaRPr lang="fr-FR" sz="1400" b="0" u="none" strike="noStrike">
              <a:solidFill>
                <a:srgbClr val="000000"/>
              </a:solidFill>
              <a:effectLst/>
              <a:uFillTx/>
              <a:latin typeface="Arial"/>
            </a:endParaRPr>
          </a:p>
        </p:txBody>
      </p:sp>
      <p:grpSp>
        <p:nvGrpSpPr>
          <p:cNvPr id="183" name="Group 28"/>
          <p:cNvGrpSpPr/>
          <p:nvPr/>
        </p:nvGrpSpPr>
        <p:grpSpPr>
          <a:xfrm>
            <a:off x="330120" y="2525400"/>
            <a:ext cx="567720" cy="710280"/>
            <a:chOff x="330120" y="2525400"/>
            <a:chExt cx="567720" cy="710280"/>
          </a:xfrm>
        </p:grpSpPr>
        <p:cxnSp>
          <p:nvCxnSpPr>
            <p:cNvPr id="184" name="Straight Connector 17"/>
            <p:cNvCxnSpPr/>
            <p:nvPr/>
          </p:nvCxnSpPr>
          <p:spPr>
            <a:xfrm>
              <a:off x="893160" y="2525400"/>
              <a:ext cx="5040" cy="710640"/>
            </a:xfrm>
            <a:prstGeom prst="straightConnector1">
              <a:avLst/>
            </a:prstGeom>
            <a:ln w="3175">
              <a:solidFill>
                <a:srgbClr val="A6A6A6"/>
              </a:solidFill>
              <a:round/>
            </a:ln>
          </p:spPr>
        </p:cxnSp>
        <p:pic>
          <p:nvPicPr>
            <p:cNvPr id="185"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86" name="Rounded Rectangle 1"/>
          <p:cNvSpPr/>
          <p:nvPr/>
        </p:nvSpPr>
        <p:spPr>
          <a:xfrm>
            <a:off x="410400" y="3342600"/>
            <a:ext cx="6733800" cy="68821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Déclaration des pratiques et politiques de durabilité</a:t>
            </a:r>
            <a:endParaRPr lang="fr-FR" sz="1200" b="0" u="none" strike="noStrike">
              <a:solidFill>
                <a:srgbClr val="000000"/>
              </a:solidFill>
              <a:effectLst/>
              <a:uFillTx/>
              <a:latin typeface="Arial"/>
            </a:endParaRPr>
          </a:p>
          <a:p>
            <a:pPr defTabSz="457200">
              <a:lnSpc>
                <a:spcPct val="100000"/>
              </a:lnSpc>
              <a:tabLst>
                <a:tab pos="0" algn="l"/>
              </a:tabLst>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p:txBody>
      </p:sp>
      <p:sp>
        <p:nvSpPr>
          <p:cNvPr id="187" name="TextBox 7"/>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88" name="TextBox 8"/>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89" name="TextBox 9"/>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190" name="TextBox 10"/>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91" name="Picture 2"/>
          <p:cNvPicPr/>
          <p:nvPr/>
        </p:nvPicPr>
        <p:blipFill>
          <a:blip r:embed="rId1"/>
          <a:stretch/>
        </p:blipFill>
        <p:spPr>
          <a:xfrm>
            <a:off x="-9000" y="0"/>
            <a:ext cx="7554600" cy="10773360"/>
          </a:xfrm>
          <a:prstGeom prst="rect">
            <a:avLst/>
          </a:prstGeom>
          <a:noFill/>
          <a:ln w="0">
            <a:noFill/>
          </a:ln>
        </p:spPr>
      </p:pic>
      <p:sp>
        <p:nvSpPr>
          <p:cNvPr id="192" name="Rectangle 16"/>
          <p:cNvSpPr/>
          <p:nvPr/>
        </p:nvSpPr>
        <p:spPr>
          <a:xfrm>
            <a:off x="0" y="22849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193"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C1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Stratégie : modèle économique et initiatives liées à la durabilité </a:t>
            </a:r>
            <a:endParaRPr lang="fr-FR" sz="1400" b="0" u="none" strike="noStrike">
              <a:solidFill>
                <a:srgbClr val="000000"/>
              </a:solidFill>
              <a:effectLst/>
              <a:uFillTx/>
              <a:latin typeface="Arial"/>
            </a:endParaRPr>
          </a:p>
        </p:txBody>
      </p:sp>
      <p:grpSp>
        <p:nvGrpSpPr>
          <p:cNvPr id="194" name="Group 28"/>
          <p:cNvGrpSpPr/>
          <p:nvPr/>
        </p:nvGrpSpPr>
        <p:grpSpPr>
          <a:xfrm>
            <a:off x="330120" y="2525400"/>
            <a:ext cx="567720" cy="426240"/>
            <a:chOff x="330120" y="2525400"/>
            <a:chExt cx="567720" cy="426240"/>
          </a:xfrm>
        </p:grpSpPr>
        <p:cxnSp>
          <p:nvCxnSpPr>
            <p:cNvPr id="195" name="Straight Connector 17"/>
            <p:cNvCxnSpPr/>
            <p:nvPr/>
          </p:nvCxnSpPr>
          <p:spPr>
            <a:xfrm>
              <a:off x="893160" y="2525400"/>
              <a:ext cx="5040" cy="426600"/>
            </a:xfrm>
            <a:prstGeom prst="straightConnector1">
              <a:avLst/>
            </a:prstGeom>
            <a:ln w="3175">
              <a:solidFill>
                <a:srgbClr val="A6A6A6"/>
              </a:solidFill>
              <a:round/>
            </a:ln>
          </p:spPr>
        </p:cxnSp>
        <p:pic>
          <p:nvPicPr>
            <p:cNvPr id="196"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197"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198"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199"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00"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01" name="Rounded Rectangle 1"/>
          <p:cNvSpPr/>
          <p:nvPr/>
        </p:nvSpPr>
        <p:spPr>
          <a:xfrm>
            <a:off x="401400" y="3148200"/>
            <a:ext cx="6733800" cy="3417120"/>
          </a:xfrm>
          <a:prstGeom prst="roundRect">
            <a:avLst>
              <a:gd name="adj" fmla="val 606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Produits et services proposés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02" name="Rounded Rectangle 8"/>
          <p:cNvSpPr/>
          <p:nvPr/>
        </p:nvSpPr>
        <p:spPr>
          <a:xfrm>
            <a:off x="419040" y="6722280"/>
            <a:ext cx="6733800" cy="3417120"/>
          </a:xfrm>
          <a:prstGeom prst="roundRect">
            <a:avLst>
              <a:gd name="adj" fmla="val 606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Marchés sur lesquels l’entreprise exerce ses activités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3" name="Picture 2"/>
          <p:cNvPicPr/>
          <p:nvPr/>
        </p:nvPicPr>
        <p:blipFill>
          <a:blip r:embed="rId1"/>
          <a:stretch/>
        </p:blipFill>
        <p:spPr>
          <a:xfrm>
            <a:off x="-9000" y="0"/>
            <a:ext cx="7554600" cy="10773360"/>
          </a:xfrm>
          <a:prstGeom prst="rect">
            <a:avLst/>
          </a:prstGeom>
          <a:noFill/>
          <a:ln w="0">
            <a:noFill/>
          </a:ln>
        </p:spPr>
      </p:pic>
      <p:sp>
        <p:nvSpPr>
          <p:cNvPr id="204" name="Rectangle 16"/>
          <p:cNvSpPr/>
          <p:nvPr/>
        </p:nvSpPr>
        <p:spPr>
          <a:xfrm>
            <a:off x="0" y="22849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05" name="Rounded Rectangle 3"/>
          <p:cNvSpPr/>
          <p:nvPr/>
        </p:nvSpPr>
        <p:spPr>
          <a:xfrm rot="16200000">
            <a:off x="3985560" y="-321840"/>
            <a:ext cx="39420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chemeClr val="lt1">
                    <a:lumMod val="50000"/>
                  </a:schemeClr>
                </a:solidFill>
                <a:effectLst/>
                <a:uFillTx/>
                <a:latin typeface="Marianne"/>
              </a:rPr>
              <a:t>C1</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Stratégie : modèle économique et initiatives liées à la durabilité </a:t>
            </a:r>
            <a:endParaRPr lang="fr-FR" sz="1400" b="0" u="none" strike="noStrike">
              <a:solidFill>
                <a:srgbClr val="000000"/>
              </a:solidFill>
              <a:effectLst/>
              <a:uFillTx/>
              <a:latin typeface="Arial"/>
            </a:endParaRPr>
          </a:p>
        </p:txBody>
      </p:sp>
      <p:grpSp>
        <p:nvGrpSpPr>
          <p:cNvPr id="206" name="Group 28"/>
          <p:cNvGrpSpPr/>
          <p:nvPr/>
        </p:nvGrpSpPr>
        <p:grpSpPr>
          <a:xfrm>
            <a:off x="330120" y="2525400"/>
            <a:ext cx="567720" cy="426240"/>
            <a:chOff x="330120" y="2525400"/>
            <a:chExt cx="567720" cy="426240"/>
          </a:xfrm>
        </p:grpSpPr>
        <p:cxnSp>
          <p:nvCxnSpPr>
            <p:cNvPr id="207" name="Straight Connector 17"/>
            <p:cNvCxnSpPr/>
            <p:nvPr/>
          </p:nvCxnSpPr>
          <p:spPr>
            <a:xfrm>
              <a:off x="893160" y="2525400"/>
              <a:ext cx="5040" cy="426600"/>
            </a:xfrm>
            <a:prstGeom prst="straightConnector1">
              <a:avLst/>
            </a:prstGeom>
            <a:ln w="3175">
              <a:solidFill>
                <a:srgbClr val="A6A6A6"/>
              </a:solidFill>
              <a:round/>
            </a:ln>
          </p:spPr>
        </p:cxnSp>
        <p:pic>
          <p:nvPicPr>
            <p:cNvPr id="208"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09"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10"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11"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12"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13" name="Rounded Rectangle 1"/>
          <p:cNvSpPr/>
          <p:nvPr/>
        </p:nvSpPr>
        <p:spPr>
          <a:xfrm>
            <a:off x="401400" y="3148200"/>
            <a:ext cx="6733800" cy="3417120"/>
          </a:xfrm>
          <a:prstGeom prst="roundRect">
            <a:avLst>
              <a:gd name="adj" fmla="val 606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Principales relations d’affaires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14" name="Rounded Rectangle 8"/>
          <p:cNvSpPr/>
          <p:nvPr/>
        </p:nvSpPr>
        <p:spPr>
          <a:xfrm>
            <a:off x="401400" y="6695640"/>
            <a:ext cx="6733800" cy="3417120"/>
          </a:xfrm>
          <a:prstGeom prst="roundRect">
            <a:avLst>
              <a:gd name="adj" fmla="val 606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Éléments clés liés aux enjeux de durabilité</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5" name="Picture 2"/>
          <p:cNvPicPr/>
          <p:nvPr/>
        </p:nvPicPr>
        <p:blipFill>
          <a:blip r:embed="rId1"/>
          <a:stretch/>
        </p:blipFill>
        <p:spPr>
          <a:xfrm>
            <a:off x="-9000" y="0"/>
            <a:ext cx="7554600" cy="10773360"/>
          </a:xfrm>
          <a:prstGeom prst="rect">
            <a:avLst/>
          </a:prstGeom>
          <a:noFill/>
          <a:ln w="0">
            <a:noFill/>
          </a:ln>
        </p:spPr>
      </p:pic>
      <p:sp>
        <p:nvSpPr>
          <p:cNvPr id="21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17"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18" name="Group 28"/>
          <p:cNvGrpSpPr/>
          <p:nvPr/>
        </p:nvGrpSpPr>
        <p:grpSpPr>
          <a:xfrm>
            <a:off x="330120" y="2525400"/>
            <a:ext cx="567720" cy="710280"/>
            <a:chOff x="330120" y="2525400"/>
            <a:chExt cx="567720" cy="710280"/>
          </a:xfrm>
        </p:grpSpPr>
        <p:cxnSp>
          <p:nvCxnSpPr>
            <p:cNvPr id="219" name="Straight Connector 17"/>
            <p:cNvCxnSpPr/>
            <p:nvPr/>
          </p:nvCxnSpPr>
          <p:spPr>
            <a:xfrm>
              <a:off x="893160" y="2525400"/>
              <a:ext cx="5040" cy="710640"/>
            </a:xfrm>
            <a:prstGeom prst="straightConnector1">
              <a:avLst/>
            </a:prstGeom>
            <a:ln w="3175">
              <a:solidFill>
                <a:srgbClr val="A6A6A6"/>
              </a:solidFill>
              <a:round/>
            </a:ln>
          </p:spPr>
        </p:cxnSp>
        <p:pic>
          <p:nvPicPr>
            <p:cNvPr id="220"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21"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22"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23"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24"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25"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Description des pratiques et politiques de durabilité (1/5)</a:t>
            </a:r>
            <a:endParaRPr lang="fr-FR" sz="1200" b="0" u="none" strike="noStrike">
              <a:solidFill>
                <a:srgbClr val="000000"/>
              </a:solidFill>
              <a:effectLst/>
              <a:uFillTx/>
              <a:latin typeface="Arial"/>
            </a:endParaRPr>
          </a:p>
        </p:txBody>
      </p:sp>
      <p:graphicFrame>
        <p:nvGraphicFramePr>
          <p:cNvPr id="226" name="Table 8"/>
          <p:cNvGraphicFramePr/>
          <p:nvPr/>
        </p:nvGraphicFramePr>
        <p:xfrm>
          <a:off x="605520" y="3955680"/>
          <a:ext cx="6381720" cy="6102360"/>
        </p:xfrm>
        <a:graphic>
          <a:graphicData uri="http://schemas.openxmlformats.org/drawingml/2006/table">
            <a:tbl>
              <a:tblPr/>
              <a:tblGrid>
                <a:gridCol w="1595520"/>
                <a:gridCol w="1595520"/>
                <a:gridCol w="1595520"/>
                <a:gridCol w="1595520"/>
              </a:tblGrid>
              <a:tr h="115380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pratiques, politiques ou initiatives futures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cibles définies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Niveau hiérarchique le plus élevé responsable de la mise en œuvre des politiques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Changement climatique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Pollution</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7" name="Picture 2"/>
          <p:cNvPicPr/>
          <p:nvPr/>
        </p:nvPicPr>
        <p:blipFill>
          <a:blip r:embed="rId1"/>
          <a:stretch/>
        </p:blipFill>
        <p:spPr>
          <a:xfrm>
            <a:off x="-9000" y="0"/>
            <a:ext cx="7554600" cy="10773360"/>
          </a:xfrm>
          <a:prstGeom prst="rect">
            <a:avLst/>
          </a:prstGeom>
          <a:noFill/>
          <a:ln w="0">
            <a:noFill/>
          </a:ln>
        </p:spPr>
      </p:pic>
      <p:sp>
        <p:nvSpPr>
          <p:cNvPr id="228"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29"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30" name="Group 28"/>
          <p:cNvGrpSpPr/>
          <p:nvPr/>
        </p:nvGrpSpPr>
        <p:grpSpPr>
          <a:xfrm>
            <a:off x="330120" y="2525400"/>
            <a:ext cx="567720" cy="710280"/>
            <a:chOff x="330120" y="2525400"/>
            <a:chExt cx="567720" cy="710280"/>
          </a:xfrm>
        </p:grpSpPr>
        <p:cxnSp>
          <p:nvCxnSpPr>
            <p:cNvPr id="231" name="Straight Connector 17"/>
            <p:cNvCxnSpPr/>
            <p:nvPr/>
          </p:nvCxnSpPr>
          <p:spPr>
            <a:xfrm>
              <a:off x="893160" y="2525400"/>
              <a:ext cx="5040" cy="710640"/>
            </a:xfrm>
            <a:prstGeom prst="straightConnector1">
              <a:avLst/>
            </a:prstGeom>
            <a:ln w="3175">
              <a:solidFill>
                <a:srgbClr val="A6A6A6"/>
              </a:solidFill>
              <a:round/>
            </a:ln>
          </p:spPr>
        </p:cxnSp>
        <p:pic>
          <p:nvPicPr>
            <p:cNvPr id="232"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33"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34"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35"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36"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37"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Description des pratiques et politiques de durabilité (2/5)</a:t>
            </a:r>
            <a:endParaRPr lang="fr-FR" sz="1200" b="0" u="none" strike="noStrike">
              <a:solidFill>
                <a:srgbClr val="000000"/>
              </a:solidFill>
              <a:effectLst/>
              <a:uFillTx/>
              <a:latin typeface="Arial"/>
            </a:endParaRPr>
          </a:p>
        </p:txBody>
      </p:sp>
      <p:graphicFrame>
        <p:nvGraphicFramePr>
          <p:cNvPr id="238" name="Table 8"/>
          <p:cNvGraphicFramePr/>
          <p:nvPr/>
        </p:nvGraphicFramePr>
        <p:xfrm>
          <a:off x="605520" y="3955680"/>
          <a:ext cx="6381720" cy="6102360"/>
        </p:xfrm>
        <a:graphic>
          <a:graphicData uri="http://schemas.openxmlformats.org/drawingml/2006/table">
            <a:tbl>
              <a:tblPr/>
              <a:tblGrid>
                <a:gridCol w="1595520"/>
                <a:gridCol w="1595520"/>
                <a:gridCol w="1595520"/>
                <a:gridCol w="1595520"/>
              </a:tblGrid>
              <a:tr h="115380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pratiques, politiques ou initiatives futures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cibles définies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Niveau hiérarchique le plus élevé responsable de la mise en œuvre des politiques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Eau et ressources aquatiques et marines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Biodiversité et écosystèmes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9" name="Picture 2"/>
          <p:cNvPicPr/>
          <p:nvPr/>
        </p:nvPicPr>
        <p:blipFill>
          <a:blip r:embed="rId1"/>
          <a:stretch/>
        </p:blipFill>
        <p:spPr>
          <a:xfrm>
            <a:off x="-9000" y="0"/>
            <a:ext cx="7554600" cy="10773360"/>
          </a:xfrm>
          <a:prstGeom prst="rect">
            <a:avLst/>
          </a:prstGeom>
          <a:noFill/>
          <a:ln w="0">
            <a:noFill/>
          </a:ln>
        </p:spPr>
      </p:pic>
      <p:sp>
        <p:nvSpPr>
          <p:cNvPr id="240"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41"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42" name="Group 28"/>
          <p:cNvGrpSpPr/>
          <p:nvPr/>
        </p:nvGrpSpPr>
        <p:grpSpPr>
          <a:xfrm>
            <a:off x="330120" y="2525400"/>
            <a:ext cx="567720" cy="710280"/>
            <a:chOff x="330120" y="2525400"/>
            <a:chExt cx="567720" cy="710280"/>
          </a:xfrm>
        </p:grpSpPr>
        <p:cxnSp>
          <p:nvCxnSpPr>
            <p:cNvPr id="243" name="Straight Connector 17"/>
            <p:cNvCxnSpPr/>
            <p:nvPr/>
          </p:nvCxnSpPr>
          <p:spPr>
            <a:xfrm>
              <a:off x="893160" y="2525400"/>
              <a:ext cx="5040" cy="710640"/>
            </a:xfrm>
            <a:prstGeom prst="straightConnector1">
              <a:avLst/>
            </a:prstGeom>
            <a:ln w="3175">
              <a:solidFill>
                <a:srgbClr val="A6A6A6"/>
              </a:solidFill>
              <a:round/>
            </a:ln>
          </p:spPr>
        </p:cxnSp>
        <p:pic>
          <p:nvPicPr>
            <p:cNvPr id="244"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45"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46"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47"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48"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49"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Description des pratiques et politiques de durabilité (3/5)</a:t>
            </a:r>
            <a:endParaRPr lang="fr-FR" sz="1200" b="0" u="none" strike="noStrike">
              <a:solidFill>
                <a:srgbClr val="000000"/>
              </a:solidFill>
              <a:effectLst/>
              <a:uFillTx/>
              <a:latin typeface="Arial"/>
            </a:endParaRPr>
          </a:p>
        </p:txBody>
      </p:sp>
      <p:graphicFrame>
        <p:nvGraphicFramePr>
          <p:cNvPr id="250" name="Table 8"/>
          <p:cNvGraphicFramePr/>
          <p:nvPr/>
        </p:nvGraphicFramePr>
        <p:xfrm>
          <a:off x="605520" y="3955680"/>
          <a:ext cx="6381720" cy="6102360"/>
        </p:xfrm>
        <a:graphic>
          <a:graphicData uri="http://schemas.openxmlformats.org/drawingml/2006/table">
            <a:tbl>
              <a:tblPr/>
              <a:tblGrid>
                <a:gridCol w="1595520"/>
                <a:gridCol w="1595520"/>
                <a:gridCol w="1595520"/>
                <a:gridCol w="1595520"/>
              </a:tblGrid>
              <a:tr h="115380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pratiques, politiques ou initiatives futures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cibles définies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Niveau hiérarchique le plus élevé responsable de la mise en œuvre des politiques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Économie circulaire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Personnel propre à l'entreprise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1" name="Picture 2"/>
          <p:cNvPicPr/>
          <p:nvPr/>
        </p:nvPicPr>
        <p:blipFill>
          <a:blip r:embed="rId1"/>
          <a:stretch/>
        </p:blipFill>
        <p:spPr>
          <a:xfrm>
            <a:off x="-9000" y="0"/>
            <a:ext cx="7554600" cy="10773360"/>
          </a:xfrm>
          <a:prstGeom prst="rect">
            <a:avLst/>
          </a:prstGeom>
          <a:noFill/>
          <a:ln w="0">
            <a:noFill/>
          </a:ln>
        </p:spPr>
      </p:pic>
      <p:sp>
        <p:nvSpPr>
          <p:cNvPr id="25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53"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54" name="Group 28"/>
          <p:cNvGrpSpPr/>
          <p:nvPr/>
        </p:nvGrpSpPr>
        <p:grpSpPr>
          <a:xfrm>
            <a:off x="330120" y="2525400"/>
            <a:ext cx="567720" cy="710280"/>
            <a:chOff x="330120" y="2525400"/>
            <a:chExt cx="567720" cy="710280"/>
          </a:xfrm>
        </p:grpSpPr>
        <p:cxnSp>
          <p:nvCxnSpPr>
            <p:cNvPr id="255" name="Straight Connector 17"/>
            <p:cNvCxnSpPr/>
            <p:nvPr/>
          </p:nvCxnSpPr>
          <p:spPr>
            <a:xfrm>
              <a:off x="893160" y="2525400"/>
              <a:ext cx="5040" cy="710640"/>
            </a:xfrm>
            <a:prstGeom prst="straightConnector1">
              <a:avLst/>
            </a:prstGeom>
            <a:ln w="3175">
              <a:solidFill>
                <a:srgbClr val="A6A6A6"/>
              </a:solidFill>
              <a:round/>
            </a:ln>
          </p:spPr>
        </p:cxnSp>
        <p:pic>
          <p:nvPicPr>
            <p:cNvPr id="256"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57"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58"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59"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60"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61"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Description des pratiques et politiques de durabilité (4/5)</a:t>
            </a:r>
            <a:endParaRPr lang="fr-FR" sz="1200" b="0" u="none" strike="noStrike">
              <a:solidFill>
                <a:srgbClr val="000000"/>
              </a:solidFill>
              <a:effectLst/>
              <a:uFillTx/>
              <a:latin typeface="Arial"/>
            </a:endParaRPr>
          </a:p>
        </p:txBody>
      </p:sp>
      <p:graphicFrame>
        <p:nvGraphicFramePr>
          <p:cNvPr id="262" name="Table 8"/>
          <p:cNvGraphicFramePr/>
          <p:nvPr/>
        </p:nvGraphicFramePr>
        <p:xfrm>
          <a:off x="605520" y="3955680"/>
          <a:ext cx="6381720" cy="6102360"/>
        </p:xfrm>
        <a:graphic>
          <a:graphicData uri="http://schemas.openxmlformats.org/drawingml/2006/table">
            <a:tbl>
              <a:tblPr/>
              <a:tblGrid>
                <a:gridCol w="1595520"/>
                <a:gridCol w="1595520"/>
                <a:gridCol w="1595520"/>
                <a:gridCol w="1595520"/>
              </a:tblGrid>
              <a:tr h="115380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pratiques, politiques ou initiatives futures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cibles définies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Niveau hiérarchique le plus élevé responsable de la mise en œuvre des politiques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2474280">
                <a:tc>
                  <a:txBody>
                    <a:bodyPr lIns="72000" rIns="72000" anchor="ctr">
                      <a:noAutofit/>
                    </a:bodyPr>
                    <a:p>
                      <a:pPr defTabSz="756000">
                        <a:lnSpc>
                          <a:spcPct val="100000"/>
                        </a:lnSpc>
                        <a:tabLst>
                          <a:tab pos="0" algn="l"/>
                        </a:tabLst>
                      </a:pPr>
                      <a:r>
                        <a:rPr lang="fr-FR" sz="1100" b="0" u="none" strike="noStrike">
                          <a:solidFill>
                            <a:schemeClr val="dk1"/>
                          </a:solidFill>
                          <a:effectLst/>
                          <a:uFillTx/>
                          <a:latin typeface="Marianne Medium"/>
                        </a:rPr>
                        <a:t>Travailleurs dans la chaîne de valeur</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Communautés affectées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3" name="Picture 2"/>
          <p:cNvPicPr/>
          <p:nvPr/>
        </p:nvPicPr>
        <p:blipFill>
          <a:blip r:embed="rId1"/>
          <a:stretch/>
        </p:blipFill>
        <p:spPr>
          <a:xfrm>
            <a:off x="-9000" y="0"/>
            <a:ext cx="7554600" cy="10773360"/>
          </a:xfrm>
          <a:prstGeom prst="rect">
            <a:avLst/>
          </a:prstGeom>
          <a:noFill/>
          <a:ln w="0">
            <a:noFill/>
          </a:ln>
        </p:spPr>
      </p:pic>
      <p:sp>
        <p:nvSpPr>
          <p:cNvPr id="26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65"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66" name="Group 28"/>
          <p:cNvGrpSpPr/>
          <p:nvPr/>
        </p:nvGrpSpPr>
        <p:grpSpPr>
          <a:xfrm>
            <a:off x="330120" y="2525400"/>
            <a:ext cx="567720" cy="710280"/>
            <a:chOff x="330120" y="2525400"/>
            <a:chExt cx="567720" cy="710280"/>
          </a:xfrm>
        </p:grpSpPr>
        <p:cxnSp>
          <p:nvCxnSpPr>
            <p:cNvPr id="267" name="Straight Connector 17"/>
            <p:cNvCxnSpPr/>
            <p:nvPr/>
          </p:nvCxnSpPr>
          <p:spPr>
            <a:xfrm>
              <a:off x="893160" y="2525400"/>
              <a:ext cx="5040" cy="710640"/>
            </a:xfrm>
            <a:prstGeom prst="straightConnector1">
              <a:avLst/>
            </a:prstGeom>
            <a:ln w="3175">
              <a:solidFill>
                <a:srgbClr val="A6A6A6"/>
              </a:solidFill>
              <a:round/>
            </a:ln>
          </p:spPr>
        </p:cxnSp>
        <p:pic>
          <p:nvPicPr>
            <p:cNvPr id="268"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69"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70"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71"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72"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73" name="Rounded Rectangle 1"/>
          <p:cNvSpPr/>
          <p:nvPr/>
        </p:nvSpPr>
        <p:spPr>
          <a:xfrm>
            <a:off x="410400" y="3391560"/>
            <a:ext cx="6733800" cy="6797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tabLst>
                <a:tab pos="0" algn="l"/>
              </a:tabLst>
            </a:pPr>
            <a:r>
              <a:rPr lang="fr-FR" sz="1200" b="0" u="none" strike="noStrike">
                <a:solidFill>
                  <a:srgbClr val="808080"/>
                </a:solidFill>
                <a:effectLst/>
                <a:uFillTx/>
                <a:latin typeface="Marianne Light"/>
              </a:rPr>
              <a:t>Description des pratiques et politiques de durabilité (5/5)</a:t>
            </a:r>
            <a:endParaRPr lang="fr-FR" sz="1200" b="0" u="none" strike="noStrike">
              <a:solidFill>
                <a:srgbClr val="000000"/>
              </a:solidFill>
              <a:effectLst/>
              <a:uFillTx/>
              <a:latin typeface="Arial"/>
            </a:endParaRPr>
          </a:p>
        </p:txBody>
      </p:sp>
      <p:graphicFrame>
        <p:nvGraphicFramePr>
          <p:cNvPr id="274" name="Table 8"/>
          <p:cNvGraphicFramePr/>
          <p:nvPr/>
        </p:nvGraphicFramePr>
        <p:xfrm>
          <a:off x="605520" y="3955680"/>
          <a:ext cx="6381720" cy="6102360"/>
        </p:xfrm>
        <a:graphic>
          <a:graphicData uri="http://schemas.openxmlformats.org/drawingml/2006/table">
            <a:tbl>
              <a:tblPr/>
              <a:tblGrid>
                <a:gridCol w="1595520"/>
                <a:gridCol w="1595520"/>
                <a:gridCol w="1595520"/>
                <a:gridCol w="1595520"/>
              </a:tblGrid>
              <a:tr h="1153800">
                <a:tc>
                  <a:txBody>
                    <a:bodyPr lIns="108000" rIns="108000" anchor="ctr">
                      <a:noAutofit/>
                    </a:bodyPr>
                    <a:p>
                      <a:pPr algn="ctr" defTabSz="756000">
                        <a:lnSpc>
                          <a:spcPct val="100000"/>
                        </a:lnSpc>
                      </a:pPr>
                      <a:r>
                        <a:rPr lang="fr-FR" sz="1100" b="0" u="none" strike="noStrike">
                          <a:solidFill>
                            <a:schemeClr val="lt1">
                              <a:lumMod val="50000"/>
                            </a:schemeClr>
                          </a:solidFill>
                          <a:effectLst/>
                          <a:uFillTx/>
                          <a:latin typeface="Marianne Light"/>
                        </a:rPr>
                        <a:t>Enjeux de durabilité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pratiques, politiques ou initiatives futures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Description des cibles définies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chemeClr val="lt1">
                              <a:lumMod val="50000"/>
                            </a:schemeClr>
                          </a:solidFill>
                          <a:effectLst/>
                          <a:uFillTx/>
                          <a:latin typeface="Marianne Light"/>
                        </a:rPr>
                        <a:t>Niveau hiérarchique le plus élevé responsable de la mise en œuvre des politiques</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Consommateurs et utilisateurs finaux</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r h="247428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Conduite des affaires et lutte contre la corruption</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5" name="Picture 2"/>
          <p:cNvPicPr/>
          <p:nvPr/>
        </p:nvPicPr>
        <p:blipFill>
          <a:blip r:embed="rId1"/>
          <a:stretch/>
        </p:blipFill>
        <p:spPr>
          <a:xfrm>
            <a:off x="-9000" y="0"/>
            <a:ext cx="7554600" cy="10773360"/>
          </a:xfrm>
          <a:prstGeom prst="rect">
            <a:avLst/>
          </a:prstGeom>
          <a:noFill/>
          <a:ln w="0">
            <a:noFill/>
          </a:ln>
        </p:spPr>
      </p:pic>
      <p:sp>
        <p:nvSpPr>
          <p:cNvPr id="27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77" name="Rounded Rectangle 3"/>
          <p:cNvSpPr/>
          <p:nvPr/>
        </p:nvSpPr>
        <p:spPr>
          <a:xfrm rot="16200000">
            <a:off x="3856680" y="-189720"/>
            <a:ext cx="700560" cy="6150960"/>
          </a:xfrm>
          <a:prstGeom prst="roundRect">
            <a:avLst>
              <a:gd name="adj" fmla="val 16667"/>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chemeClr val="lt1">
                    <a:lumMod val="50000"/>
                  </a:schemeClr>
                </a:solidFill>
                <a:effectLst/>
                <a:uFillTx/>
                <a:latin typeface="Marianne"/>
              </a:rPr>
              <a:t>C2</a:t>
            </a:r>
            <a:r>
              <a:rPr lang="fr-FR" sz="1400" b="0" u="none" strike="noStrike">
                <a:solidFill>
                  <a:schemeClr val="lt1">
                    <a:lumMod val="50000"/>
                  </a:schemeClr>
                </a:solidFill>
                <a:effectLst/>
                <a:uFillTx/>
                <a:latin typeface="Marianne Medium"/>
              </a:rPr>
              <a:t> </a:t>
            </a:r>
            <a:r>
              <a:rPr lang="fr-FR" sz="1400" b="0" u="none" strike="noStrike">
                <a:solidFill>
                  <a:schemeClr val="lt1">
                    <a:lumMod val="50000"/>
                  </a:schemeClr>
                </a:solidFill>
                <a:effectLst/>
                <a:uFillTx/>
                <a:latin typeface="Marianne"/>
              </a:rPr>
              <a:t>Description des pratiques, des politiques et des initiatives futures pour une transition vers une économie plus durable</a:t>
            </a:r>
            <a:endParaRPr lang="fr-FR" sz="1400" b="0" u="none" strike="noStrike">
              <a:solidFill>
                <a:srgbClr val="000000"/>
              </a:solidFill>
              <a:effectLst/>
              <a:uFillTx/>
              <a:latin typeface="Arial"/>
            </a:endParaRPr>
          </a:p>
        </p:txBody>
      </p:sp>
      <p:grpSp>
        <p:nvGrpSpPr>
          <p:cNvPr id="278" name="Group 28"/>
          <p:cNvGrpSpPr/>
          <p:nvPr/>
        </p:nvGrpSpPr>
        <p:grpSpPr>
          <a:xfrm>
            <a:off x="330120" y="2525400"/>
            <a:ext cx="567720" cy="710280"/>
            <a:chOff x="330120" y="2525400"/>
            <a:chExt cx="567720" cy="710280"/>
          </a:xfrm>
        </p:grpSpPr>
        <p:cxnSp>
          <p:nvCxnSpPr>
            <p:cNvPr id="279" name="Straight Connector 17"/>
            <p:cNvCxnSpPr/>
            <p:nvPr/>
          </p:nvCxnSpPr>
          <p:spPr>
            <a:xfrm>
              <a:off x="893160" y="2525400"/>
              <a:ext cx="5040" cy="710640"/>
            </a:xfrm>
            <a:prstGeom prst="straightConnector1">
              <a:avLst/>
            </a:prstGeom>
            <a:ln w="3175">
              <a:solidFill>
                <a:srgbClr val="A6A6A6"/>
              </a:solidFill>
              <a:round/>
            </a:ln>
          </p:spPr>
        </p:cxnSp>
        <p:pic>
          <p:nvPicPr>
            <p:cNvPr id="280" name="Graphic 20"/>
            <p:cNvPicPr/>
            <p:nvPr/>
          </p:nvPicPr>
          <p:blipFill>
            <a:blip r:embed="rId2">
              <a:extLst>
                <a:ext uri="{96DAC541-7B7A-43D3-8B79-37D633B846F1}">
                  <asvg:svgBlip xmlns:asvg="http://schemas.microsoft.com/office/drawing/2016/SVG/main" r:embed="rId3"/>
                </a:ext>
              </a:extLst>
            </a:blip>
            <a:stretch/>
          </p:blipFill>
          <p:spPr>
            <a:xfrm>
              <a:off x="330120" y="2526120"/>
              <a:ext cx="390960" cy="390960"/>
            </a:xfrm>
            <a:prstGeom prst="rect">
              <a:avLst/>
            </a:prstGeom>
            <a:noFill/>
            <a:ln w="0">
              <a:noFill/>
            </a:ln>
          </p:spPr>
        </p:pic>
      </p:grpSp>
      <p:sp>
        <p:nvSpPr>
          <p:cNvPr id="281" name="TextBox 4"/>
          <p:cNvSpPr/>
          <p:nvPr/>
        </p:nvSpPr>
        <p:spPr>
          <a:xfrm>
            <a:off x="313920" y="187200"/>
            <a:ext cx="188676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Informations générales</a:t>
            </a:r>
            <a:endParaRPr lang="fr-FR" sz="1100" b="0" u="none" strike="noStrike">
              <a:solidFill>
                <a:srgbClr val="000000"/>
              </a:solidFill>
              <a:effectLst/>
              <a:uFillTx/>
              <a:latin typeface="Arial"/>
            </a:endParaRPr>
          </a:p>
        </p:txBody>
      </p:sp>
      <p:sp>
        <p:nvSpPr>
          <p:cNvPr id="282" name="TextBox 5"/>
          <p:cNvSpPr/>
          <p:nvPr/>
        </p:nvSpPr>
        <p:spPr>
          <a:xfrm>
            <a:off x="3666600" y="187200"/>
            <a:ext cx="61740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283" name="TextBox 6"/>
          <p:cNvSpPr/>
          <p:nvPr/>
        </p:nvSpPr>
        <p:spPr>
          <a:xfrm>
            <a:off x="2293560" y="187200"/>
            <a:ext cx="124848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284" name="TextBox 7"/>
          <p:cNvSpPr/>
          <p:nvPr/>
        </p:nvSpPr>
        <p:spPr>
          <a:xfrm>
            <a:off x="4407840" y="187200"/>
            <a:ext cx="1117440" cy="304920"/>
          </a:xfrm>
          <a:prstGeom prst="roundRect">
            <a:avLst>
              <a:gd name="adj" fmla="val 16667"/>
            </a:avLst>
          </a:prstGeom>
          <a:solidFill>
            <a:schemeClr val="dk1">
              <a:alpha val="16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79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85" name="Rounded Rectangle 1"/>
          <p:cNvSpPr/>
          <p:nvPr/>
        </p:nvSpPr>
        <p:spPr>
          <a:xfrm>
            <a:off x="410400" y="3391560"/>
            <a:ext cx="6733800" cy="930600"/>
          </a:xfrm>
          <a:prstGeom prst="roundRect">
            <a:avLst>
              <a:gd name="adj" fmla="val 10829"/>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08080"/>
                </a:solidFill>
                <a:effectLst/>
                <a:uFillTx/>
                <a:latin typeface="Marianne Light"/>
              </a:rPr>
              <a:t>Description des pratiques et politiques de durabilité</a:t>
            </a:r>
            <a:endParaRPr lang="fr-FR" sz="1200" b="0" u="none" strike="noStrike">
              <a:solidFill>
                <a:srgbClr val="000000"/>
              </a:solidFill>
              <a:effectLst/>
              <a:uFillTx/>
              <a:latin typeface="Arial"/>
            </a:endParaRPr>
          </a:p>
          <a:p>
            <a:pPr defTabSz="457200">
              <a:lnSpc>
                <a:spcPct val="100000"/>
              </a:lnSpc>
            </a:pPr>
            <a:r>
              <a:rPr lang="fr-CA" sz="1200" b="0" u="none" strike="noStrike">
                <a:solidFill>
                  <a:srgbClr val="D2B781"/>
                </a:solidFill>
                <a:effectLst/>
                <a:uFillTx/>
                <a:latin typeface="Marianne"/>
              </a:rPr>
              <a:t>Cet indicateur n'est pas applicable car l'entreprise n'a pas déclaré de pratiques, politiques ou initiatives futures en matière de durabilité.</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6" name="Picture 4" descr="Green leaves on the trees in spring"/>
          <p:cNvPicPr/>
          <p:nvPr/>
        </p:nvPicPr>
        <p:blipFill>
          <a:blip r:embed="rId1"/>
          <a:stretch/>
        </p:blipFill>
        <p:spPr>
          <a:xfrm>
            <a:off x="0" y="0"/>
            <a:ext cx="7554600" cy="10686600"/>
          </a:xfrm>
          <a:prstGeom prst="rect">
            <a:avLst/>
          </a:prstGeom>
          <a:noFill/>
          <a:ln w="0">
            <a:noFill/>
          </a:ln>
        </p:spPr>
      </p:pic>
      <p:grpSp>
        <p:nvGrpSpPr>
          <p:cNvPr id="287" name="Group 34"/>
          <p:cNvGrpSpPr/>
          <p:nvPr/>
        </p:nvGrpSpPr>
        <p:grpSpPr>
          <a:xfrm>
            <a:off x="0" y="2794680"/>
            <a:ext cx="7554600" cy="5097240"/>
            <a:chOff x="0" y="2794680"/>
            <a:chExt cx="7554600" cy="5097240"/>
          </a:xfrm>
        </p:grpSpPr>
        <p:sp>
          <p:nvSpPr>
            <p:cNvPr id="288" name="Rectangle 9"/>
            <p:cNvSpPr/>
            <p:nvPr/>
          </p:nvSpPr>
          <p:spPr>
            <a:xfrm>
              <a:off x="0" y="2794680"/>
              <a:ext cx="7554600" cy="50972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289" name="TextBox 1"/>
            <p:cNvSpPr/>
            <p:nvPr/>
          </p:nvSpPr>
          <p:spPr>
            <a:xfrm>
              <a:off x="666360" y="6361560"/>
              <a:ext cx="6280920" cy="821160"/>
            </a:xfrm>
            <a:prstGeom prst="rect">
              <a:avLst/>
            </a:prstGeom>
            <a:noFill/>
            <a:ln w="0">
              <a:noFill/>
            </a:ln>
          </p:spPr>
          <p:style>
            <a:lnRef idx="0"/>
            <a:fillRef idx="0"/>
            <a:effectRef idx="0"/>
            <a:fontRef idx="minor"/>
          </p:style>
          <p:txBody>
            <a:bodyPr lIns="90000" tIns="45000" rIns="90000" bIns="45000" anchor="t">
              <a:spAutoFit/>
            </a:bodyPr>
            <a:p>
              <a:pPr marL="11160" algn="just" defTabSz="457200">
                <a:lnSpc>
                  <a:spcPct val="120000"/>
                </a:lnSpc>
                <a:spcAft>
                  <a:spcPts val="601"/>
                </a:spcAft>
              </a:pPr>
              <a:r>
                <a:rPr lang="fr-FR" sz="1000" b="0" u="none" strike="noStrike">
                  <a:solidFill>
                    <a:schemeClr val="dk1"/>
                  </a:solidFill>
                  <a:effectLst/>
                  <a:uFillTx/>
                  <a:latin typeface="Marianne Light"/>
                  <a:ea typeface="Arial"/>
                </a:rPr>
                <a:t>Les métriques environnementales constituent un pilier essentiel du reporting VSME pour notre entreprise, car elles permettent d’évaluer de manière structurée les impacts, les risques et les opportunités liés à nos activités. Elles offrent une base factuelle pour suivre notre performance environnementale dans le temps, comparer les résultats et orienter nos décisions stratégiques. </a:t>
              </a:r>
              <a:endParaRPr lang="fr-FR" sz="1000" b="0" u="none" strike="noStrike">
                <a:solidFill>
                  <a:srgbClr val="000000"/>
                </a:solidFill>
                <a:effectLst/>
                <a:uFillTx/>
                <a:latin typeface="Arial"/>
              </a:endParaRPr>
            </a:p>
          </p:txBody>
        </p:sp>
        <p:cxnSp>
          <p:nvCxnSpPr>
            <p:cNvPr id="290" name="Straight Connector 20"/>
            <p:cNvCxnSpPr/>
            <p:nvPr/>
          </p:nvCxnSpPr>
          <p:spPr>
            <a:xfrm>
              <a:off x="1298160" y="3353760"/>
              <a:ext cx="5040" cy="426600"/>
            </a:xfrm>
            <a:prstGeom prst="straightConnector1">
              <a:avLst/>
            </a:prstGeom>
            <a:ln w="3175">
              <a:solidFill>
                <a:srgbClr val="A6A6A6"/>
              </a:solidFill>
              <a:round/>
            </a:ln>
          </p:spPr>
        </p:cxnSp>
        <p:sp>
          <p:nvSpPr>
            <p:cNvPr id="291" name="TextBox 24"/>
            <p:cNvSpPr/>
            <p:nvPr/>
          </p:nvSpPr>
          <p:spPr>
            <a:xfrm>
              <a:off x="1342440" y="331848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Environnement</a:t>
              </a:r>
              <a:endParaRPr lang="fr-FR" sz="2400" b="0" u="none" strike="noStrike">
                <a:solidFill>
                  <a:srgbClr val="000000"/>
                </a:solidFill>
                <a:effectLst/>
                <a:uFillTx/>
                <a:latin typeface="Arial"/>
              </a:endParaRPr>
            </a:p>
          </p:txBody>
        </p:sp>
        <p:sp>
          <p:nvSpPr>
            <p:cNvPr id="292" name="Round Same-side Corner of Rectangle 25"/>
            <p:cNvSpPr/>
            <p:nvPr/>
          </p:nvSpPr>
          <p:spPr>
            <a:xfrm rot="16200000">
              <a:off x="3988080" y="77436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B3</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Énergie et émissions de gaz à effet de serre</a:t>
              </a:r>
              <a:endParaRPr lang="fr-FR" sz="850" b="0" u="none" strike="noStrike">
                <a:solidFill>
                  <a:srgbClr val="000000"/>
                </a:solidFill>
                <a:effectLst/>
                <a:uFillTx/>
                <a:latin typeface="Arial"/>
              </a:endParaRPr>
            </a:p>
          </p:txBody>
        </p:sp>
        <p:sp>
          <p:nvSpPr>
            <p:cNvPr id="293" name="Round Same-side Corner of Rectangle 26"/>
            <p:cNvSpPr/>
            <p:nvPr/>
          </p:nvSpPr>
          <p:spPr>
            <a:xfrm rot="16200000">
              <a:off x="3988080" y="106632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B4</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Pollution de l’air, de l’eau et des sols </a:t>
              </a:r>
              <a:endParaRPr lang="fr-FR" sz="850" b="0" u="none" strike="noStrike">
                <a:solidFill>
                  <a:srgbClr val="000000"/>
                </a:solidFill>
                <a:effectLst/>
                <a:uFillTx/>
                <a:latin typeface="Arial"/>
              </a:endParaRPr>
            </a:p>
          </p:txBody>
        </p:sp>
        <p:sp>
          <p:nvSpPr>
            <p:cNvPr id="294" name="Round Same-side Corner of Rectangle 28"/>
            <p:cNvSpPr/>
            <p:nvPr/>
          </p:nvSpPr>
          <p:spPr>
            <a:xfrm rot="16200000">
              <a:off x="3988080" y="135864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B5</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Biodiversité</a:t>
              </a:r>
              <a:endParaRPr lang="fr-FR" sz="850" b="0" u="none" strike="noStrike">
                <a:solidFill>
                  <a:srgbClr val="000000"/>
                </a:solidFill>
                <a:effectLst/>
                <a:uFillTx/>
                <a:latin typeface="Arial"/>
              </a:endParaRPr>
            </a:p>
          </p:txBody>
        </p:sp>
        <p:sp>
          <p:nvSpPr>
            <p:cNvPr id="295" name="Round Same-side Corner of Rectangle 29"/>
            <p:cNvSpPr/>
            <p:nvPr/>
          </p:nvSpPr>
          <p:spPr>
            <a:xfrm rot="16200000">
              <a:off x="3988080" y="165096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B6</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Eau</a:t>
              </a:r>
              <a:endParaRPr lang="fr-FR" sz="850" b="0" u="none" strike="noStrike">
                <a:solidFill>
                  <a:srgbClr val="000000"/>
                </a:solidFill>
                <a:effectLst/>
                <a:uFillTx/>
                <a:latin typeface="Arial"/>
              </a:endParaRPr>
            </a:p>
          </p:txBody>
        </p:sp>
        <p:sp>
          <p:nvSpPr>
            <p:cNvPr id="296" name="Round Same-side Corner of Rectangle 30"/>
            <p:cNvSpPr/>
            <p:nvPr/>
          </p:nvSpPr>
          <p:spPr>
            <a:xfrm rot="16200000">
              <a:off x="3988080" y="194292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B7</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Utilisation des ressources, économie circulaire et gestion des déchets</a:t>
              </a:r>
              <a:endParaRPr lang="fr-FR" sz="850" b="0" u="none" strike="noStrike">
                <a:solidFill>
                  <a:srgbClr val="000000"/>
                </a:solidFill>
                <a:effectLst/>
                <a:uFillTx/>
                <a:latin typeface="Arial"/>
              </a:endParaRPr>
            </a:p>
          </p:txBody>
        </p:sp>
        <p:sp>
          <p:nvSpPr>
            <p:cNvPr id="297" name="Round Same-side Corner of Rectangle 31"/>
            <p:cNvSpPr/>
            <p:nvPr/>
          </p:nvSpPr>
          <p:spPr>
            <a:xfrm rot="16200000">
              <a:off x="3988080" y="223524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C3</a:t>
              </a:r>
              <a:r>
                <a:rPr lang="fr-FR" sz="850" b="0" u="none" strike="noStrike">
                  <a:solidFill>
                    <a:srgbClr val="145C30"/>
                  </a:solidFill>
                  <a:effectLst/>
                  <a:uFillTx/>
                  <a:latin typeface="Marianne"/>
                </a:rPr>
                <a:t> Cibles de réduction des émissions de GES et transition climatique</a:t>
              </a:r>
              <a:endParaRPr lang="fr-FR" sz="850" b="0" u="none" strike="noStrike">
                <a:solidFill>
                  <a:srgbClr val="000000"/>
                </a:solidFill>
                <a:effectLst/>
                <a:uFillTx/>
                <a:latin typeface="Arial"/>
              </a:endParaRPr>
            </a:p>
          </p:txBody>
        </p:sp>
        <p:sp>
          <p:nvSpPr>
            <p:cNvPr id="298" name="Round Same-side Corner of Rectangle 32"/>
            <p:cNvSpPr/>
            <p:nvPr/>
          </p:nvSpPr>
          <p:spPr>
            <a:xfrm rot="16200000">
              <a:off x="3988080" y="2527560"/>
              <a:ext cx="235800" cy="6879600"/>
            </a:xfrm>
            <a:prstGeom prst="round2SameRect">
              <a:avLst>
                <a:gd name="adj1" fmla="val 26772"/>
                <a:gd name="adj2" fmla="val 0"/>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145C30"/>
                  </a:solidFill>
                  <a:effectLst/>
                  <a:uFillTx/>
                  <a:latin typeface="Marianne"/>
                </a:rPr>
                <a:t>C4</a:t>
              </a:r>
              <a:r>
                <a:rPr lang="fr-FR" sz="850" b="0" u="none" strike="noStrike">
                  <a:solidFill>
                    <a:srgbClr val="145C30"/>
                  </a:solidFill>
                  <a:effectLst/>
                  <a:uFillTx/>
                  <a:latin typeface="Marianne Medium"/>
                </a:rPr>
                <a:t> </a:t>
              </a:r>
              <a:r>
                <a:rPr lang="fr-FR" sz="850" b="0" u="none" strike="noStrike">
                  <a:solidFill>
                    <a:srgbClr val="145C30"/>
                  </a:solidFill>
                  <a:effectLst/>
                  <a:uFillTx/>
                  <a:latin typeface="Marianne"/>
                </a:rPr>
                <a:t>Risques climatiques</a:t>
              </a:r>
              <a:endParaRPr lang="fr-FR" sz="850" b="0" u="none" strike="noStrike">
                <a:solidFill>
                  <a:srgbClr val="000000"/>
                </a:solidFill>
                <a:effectLst/>
                <a:uFillTx/>
                <a:latin typeface="Arial"/>
              </a:endParaRPr>
            </a:p>
          </p:txBody>
        </p:sp>
        <p:pic>
          <p:nvPicPr>
            <p:cNvPr id="299" name="Graphic 33"/>
            <p:cNvPicPr/>
            <p:nvPr/>
          </p:nvPicPr>
          <p:blipFill>
            <a:blip r:embed="rId2">
              <a:extLst>
                <a:ext uri="{96DAC541-7B7A-43D3-8B79-37D633B846F1}">
                  <asvg:svgBlip xmlns:asvg="http://schemas.microsoft.com/office/drawing/2016/SVG/main" r:embed="rId3"/>
                </a:ext>
              </a:extLst>
            </a:blip>
            <a:stretch/>
          </p:blipFill>
          <p:spPr>
            <a:xfrm>
              <a:off x="735120" y="3381120"/>
              <a:ext cx="390960" cy="390960"/>
            </a:xfrm>
            <a:prstGeom prst="rect">
              <a:avLst/>
            </a:prstGeom>
            <a:noFill/>
            <a:ln w="0">
              <a:noFill/>
            </a:ln>
          </p:spPr>
        </p:pic>
      </p:gr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00" name="Picture 4" descr="Green leaves on the trees in spring"/>
          <p:cNvPicPr/>
          <p:nvPr/>
        </p:nvPicPr>
        <p:blipFill>
          <a:blip r:embed="rId1"/>
          <a:stretch/>
        </p:blipFill>
        <p:spPr>
          <a:xfrm>
            <a:off x="0" y="0"/>
            <a:ext cx="7554600" cy="10686600"/>
          </a:xfrm>
          <a:prstGeom prst="rect">
            <a:avLst/>
          </a:prstGeom>
          <a:noFill/>
          <a:ln w="0">
            <a:noFill/>
          </a:ln>
        </p:spPr>
      </p:pic>
      <p:sp>
        <p:nvSpPr>
          <p:cNvPr id="30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02"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Énergie et émissions de gaz à effet de serre</a:t>
            </a:r>
            <a:endParaRPr lang="fr-FR" sz="1400" b="0" u="none" strike="noStrike">
              <a:solidFill>
                <a:srgbClr val="000000"/>
              </a:solidFill>
              <a:effectLst/>
              <a:uFillTx/>
              <a:latin typeface="Arial"/>
            </a:endParaRPr>
          </a:p>
        </p:txBody>
      </p:sp>
      <p:cxnSp>
        <p:nvCxnSpPr>
          <p:cNvPr id="303" name="Straight Connector 17"/>
          <p:cNvCxnSpPr/>
          <p:nvPr/>
        </p:nvCxnSpPr>
        <p:spPr>
          <a:xfrm>
            <a:off x="893160" y="2525400"/>
            <a:ext cx="5040" cy="426600"/>
          </a:xfrm>
          <a:prstGeom prst="straightConnector1">
            <a:avLst/>
          </a:prstGeom>
          <a:ln w="3175">
            <a:solidFill>
              <a:srgbClr val="A6A6A6"/>
            </a:solidFill>
            <a:round/>
          </a:ln>
        </p:spPr>
      </p:cxnSp>
      <p:pic>
        <p:nvPicPr>
          <p:cNvPr id="30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05" name="Rounded Rectangle 4"/>
          <p:cNvSpPr/>
          <p:nvPr/>
        </p:nvSpPr>
        <p:spPr>
          <a:xfrm>
            <a:off x="410400" y="3190320"/>
            <a:ext cx="6733800" cy="1938960"/>
          </a:xfrm>
          <a:prstGeom prst="roundRect">
            <a:avLst>
              <a:gd name="adj" fmla="val 5526"/>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Consommation d’électricité</a:t>
            </a:r>
            <a:endParaRPr lang="fr-FR" sz="1200" b="0" u="none" strike="noStrike">
              <a:solidFill>
                <a:srgbClr val="000000"/>
              </a:solidFill>
              <a:effectLst/>
              <a:uFillTx/>
              <a:latin typeface="Arial"/>
            </a:endParaRPr>
          </a:p>
        </p:txBody>
      </p:sp>
      <p:sp>
        <p:nvSpPr>
          <p:cNvPr id="306" name="Rounded Rectangle 6"/>
          <p:cNvSpPr/>
          <p:nvPr/>
        </p:nvSpPr>
        <p:spPr>
          <a:xfrm>
            <a:off x="410400" y="5269680"/>
            <a:ext cx="6733800" cy="1938960"/>
          </a:xfrm>
          <a:prstGeom prst="roundRect">
            <a:avLst>
              <a:gd name="adj" fmla="val 567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Consommation de combustibles</a:t>
            </a:r>
            <a:endParaRPr lang="fr-FR" sz="1200" b="0" u="none" strike="noStrike">
              <a:solidFill>
                <a:srgbClr val="000000"/>
              </a:solidFill>
              <a:effectLst/>
              <a:uFillTx/>
              <a:latin typeface="Arial"/>
            </a:endParaRPr>
          </a:p>
        </p:txBody>
      </p:sp>
      <p:sp>
        <p:nvSpPr>
          <p:cNvPr id="30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08"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09" name="TextBox 11"/>
          <p:cNvSpPr/>
          <p:nvPr/>
        </p:nvSpPr>
        <p:spPr>
          <a:xfrm>
            <a:off x="225828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10" name="TextBox 12"/>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graphicFrame>
        <p:nvGraphicFramePr>
          <p:cNvPr id="311" name="Table 13"/>
          <p:cNvGraphicFramePr/>
          <p:nvPr/>
        </p:nvGraphicFramePr>
        <p:xfrm>
          <a:off x="605520" y="3727080"/>
          <a:ext cx="6381720" cy="1229400"/>
        </p:xfrm>
        <a:graphic>
          <a:graphicData uri="http://schemas.openxmlformats.org/drawingml/2006/table">
            <a:tbl>
              <a:tblPr/>
              <a:tblGrid>
                <a:gridCol w="1595520"/>
                <a:gridCol w="1595520"/>
                <a:gridCol w="1595520"/>
                <a:gridCol w="1595520"/>
              </a:tblGrid>
              <a:tr h="58572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Renouvelable </a:t>
                      </a:r>
                      <a:br>
                        <a:rPr sz="1100"/>
                      </a:br>
                      <a:r>
                        <a:rPr lang="fr-FR" sz="1100" b="0" u="none" strike="noStrike">
                          <a:solidFill>
                            <a:srgbClr val="145C30"/>
                          </a:solidFill>
                          <a:effectLst/>
                          <a:uFillTx/>
                          <a:latin typeface="Marianne Light"/>
                        </a:rPr>
                        <a:t>(en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Non renouvelable (en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1" u="none" strike="noStrike">
                          <a:solidFill>
                            <a:srgbClr val="145C30"/>
                          </a:solidFill>
                          <a:effectLst/>
                          <a:uFillTx/>
                          <a:latin typeface="Marianne Light"/>
                        </a:rPr>
                        <a:t>Total (en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64368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Consommation d’énergie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bl>
          </a:graphicData>
        </a:graphic>
      </p:graphicFrame>
      <p:graphicFrame>
        <p:nvGraphicFramePr>
          <p:cNvPr id="312" name="Table 14"/>
          <p:cNvGraphicFramePr/>
          <p:nvPr/>
        </p:nvGraphicFramePr>
        <p:xfrm>
          <a:off x="605520" y="5844240"/>
          <a:ext cx="6381720" cy="1184760"/>
        </p:xfrm>
        <a:graphic>
          <a:graphicData uri="http://schemas.openxmlformats.org/drawingml/2006/table">
            <a:tbl>
              <a:tblPr/>
              <a:tblGrid>
                <a:gridCol w="1595520"/>
                <a:gridCol w="1595520"/>
                <a:gridCol w="1595520"/>
                <a:gridCol w="1595520"/>
              </a:tblGrid>
              <a:tr h="54108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Renouvelable </a:t>
                      </a:r>
                      <a:br>
                        <a:rPr sz="1100"/>
                      </a:br>
                      <a:r>
                        <a:rPr lang="fr-FR" sz="1100" b="0" u="none" strike="noStrike">
                          <a:solidFill>
                            <a:srgbClr val="145C30"/>
                          </a:solidFill>
                          <a:effectLst/>
                          <a:uFillTx/>
                          <a:latin typeface="Marianne Light"/>
                        </a:rPr>
                        <a:t>(en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Non renouvelable (en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1" u="none" strike="noStrike">
                          <a:solidFill>
                            <a:srgbClr val="145C30"/>
                          </a:solidFill>
                          <a:effectLst/>
                          <a:uFillTx/>
                          <a:latin typeface="Marianne Light"/>
                        </a:rPr>
                        <a:t>Total (en MWh)</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643680">
                <a:tc>
                  <a:txBody>
                    <a:bodyPr lIns="72000" rIns="72000" anchor="ctr">
                      <a:noAutofit/>
                    </a:bodyPr>
                    <a:p>
                      <a:pPr defTabSz="756000">
                        <a:lnSpc>
                          <a:spcPct val="100000"/>
                        </a:lnSpc>
                      </a:pPr>
                      <a:r>
                        <a:rPr lang="fr-FR" sz="1100" b="0" u="none" strike="noStrike">
                          <a:solidFill>
                            <a:schemeClr val="dk1"/>
                          </a:solidFill>
                          <a:effectLst/>
                          <a:uFillTx/>
                          <a:latin typeface="Marianne Medium"/>
                        </a:rPr>
                        <a:t>Consommation d’énergie</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1224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313" name="Rounded Rectangle 15"/>
          <p:cNvSpPr/>
          <p:nvPr/>
        </p:nvSpPr>
        <p:spPr>
          <a:xfrm>
            <a:off x="410400" y="7355520"/>
            <a:ext cx="6733800" cy="1830960"/>
          </a:xfrm>
          <a:prstGeom prst="roundRect">
            <a:avLst>
              <a:gd name="adj" fmla="val 567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Estimation des émissions brutes de GES des scopes 1 et 2</a:t>
            </a:r>
            <a:endParaRPr lang="fr-FR" sz="1200" b="0" u="none" strike="noStrike">
              <a:solidFill>
                <a:srgbClr val="000000"/>
              </a:solidFill>
              <a:effectLst/>
              <a:uFillTx/>
              <a:latin typeface="Arial"/>
            </a:endParaRPr>
          </a:p>
        </p:txBody>
      </p:sp>
      <p:graphicFrame>
        <p:nvGraphicFramePr>
          <p:cNvPr id="314" name="Table 18"/>
          <p:cNvGraphicFramePr/>
          <p:nvPr/>
        </p:nvGraphicFramePr>
        <p:xfrm>
          <a:off x="605520" y="7917840"/>
          <a:ext cx="6381720" cy="1170720"/>
        </p:xfrm>
        <a:graphic>
          <a:graphicData uri="http://schemas.openxmlformats.org/drawingml/2006/table">
            <a:tbl>
              <a:tblPr/>
              <a:tblGrid>
                <a:gridCol w="1595520"/>
                <a:gridCol w="1595520"/>
                <a:gridCol w="1595520"/>
                <a:gridCol w="1595520"/>
              </a:tblGrid>
              <a:tr h="52488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Scope 1 </a:t>
                      </a:r>
                      <a:br>
                        <a:rPr sz="1100"/>
                      </a:br>
                      <a:r>
                        <a:rPr lang="fr-FR" sz="1100" b="0" u="none" strike="noStrike">
                          <a:solidFill>
                            <a:srgbClr val="145C30"/>
                          </a:solidFill>
                          <a:effectLst/>
                          <a:uFillTx/>
                          <a:latin typeface="Marianne Light"/>
                        </a:rPr>
                        <a:t>(en teqCO₂)</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Scope 2 basé sur la locatlisation (en teqCO₂)</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1" u="none" strike="noStrike">
                          <a:solidFill>
                            <a:srgbClr val="145C30"/>
                          </a:solidFill>
                          <a:effectLst/>
                          <a:uFillTx/>
                          <a:latin typeface="Marianne Light"/>
                        </a:rPr>
                        <a:t>Total (en teqCO₂)</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575640">
                <a:tc>
                  <a:txBody>
                    <a:bodyPr lIns="72000" rIns="72000" anchor="ctr">
                      <a:noAutofit/>
                    </a:bodyPr>
                    <a:p>
                      <a:pPr defTabSz="756000">
                        <a:lnSpc>
                          <a:spcPct val="100000"/>
                        </a:lnSpc>
                        <a:tabLst>
                          <a:tab pos="0" algn="l"/>
                        </a:tabLst>
                      </a:pPr>
                      <a:r>
                        <a:rPr lang="fr-FR" sz="1100" b="0" u="none" strike="noStrike">
                          <a:solidFill>
                            <a:schemeClr val="dk1"/>
                          </a:solidFill>
                          <a:effectLst/>
                          <a:uFillTx/>
                          <a:latin typeface="Marianne Medium"/>
                        </a:rPr>
                        <a:t>Émissions brutes</a:t>
                      </a:r>
                      <a:endParaRPr lang="fr-FR" sz="1100" b="0" u="none" strike="noStrike">
                        <a:solidFill>
                          <a:srgbClr val="000000"/>
                        </a:solidFill>
                        <a:effectLst/>
                        <a:uFillTx/>
                        <a:latin typeface="Arial"/>
                      </a:endParaRPr>
                    </a:p>
                  </a:txBody>
                  <a:tcPr anchor="ctr" marL="72000" marR="7200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72000" rIns="108000" anchor="ctr">
                      <a:noAutofit/>
                    </a:bodyPr>
                    <a:p>
                      <a:pPr defTabSz="756000">
                        <a:lnSpc>
                          <a:spcPct val="100000"/>
                        </a:lnSpc>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72000" rIns="108000" anchor="ctr">
                      <a:noAutofit/>
                    </a:bodyPr>
                    <a:p>
                      <a:pP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72000" marR="108000" marT="45720" marB="45720">
                    <a:lnL w="12240">
                      <a:solidFill>
                        <a:srgbClr val="FFFFFF"/>
                      </a:solidFill>
                      <a:prstDash val="solid"/>
                    </a:lnL>
                    <a:lnR w="2880">
                      <a:solidFill>
                        <a:srgbClr val="D9D9D9"/>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315" name="Rounded Rectangle 5"/>
          <p:cNvSpPr/>
          <p:nvPr/>
        </p:nvSpPr>
        <p:spPr>
          <a:xfrm>
            <a:off x="410400" y="9334440"/>
            <a:ext cx="6733800" cy="793440"/>
          </a:xfrm>
          <a:prstGeom prst="roundRect">
            <a:avLst>
              <a:gd name="adj" fmla="val 1538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Intensité des GES</a:t>
            </a:r>
            <a:endParaRPr lang="fr-FR" sz="1200" b="0" u="none" strike="noStrike">
              <a:solidFill>
                <a:srgbClr val="000000"/>
              </a:solidFill>
              <a:effectLst/>
              <a:uFillTx/>
              <a:latin typeface="Arial"/>
            </a:endParaRPr>
          </a:p>
          <a:p>
            <a:pPr defTabSz="457200">
              <a:lnSpc>
                <a:spcPct val="100000"/>
              </a:lnSpc>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16" name="Picture 4" descr="Green leaves on the trees in spring"/>
          <p:cNvPicPr/>
          <p:nvPr/>
        </p:nvPicPr>
        <p:blipFill>
          <a:blip r:embed="rId1"/>
          <a:stretch/>
        </p:blipFill>
        <p:spPr>
          <a:xfrm>
            <a:off x="0" y="0"/>
            <a:ext cx="7554600" cy="10686600"/>
          </a:xfrm>
          <a:prstGeom prst="rect">
            <a:avLst/>
          </a:prstGeom>
          <a:noFill/>
          <a:ln w="0">
            <a:noFill/>
          </a:ln>
        </p:spPr>
      </p:pic>
      <p:sp>
        <p:nvSpPr>
          <p:cNvPr id="31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18"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Énergie et émissions de gaz à effet de serre</a:t>
            </a:r>
            <a:endParaRPr lang="fr-FR" sz="1400" b="0" u="none" strike="noStrike">
              <a:solidFill>
                <a:srgbClr val="000000"/>
              </a:solidFill>
              <a:effectLst/>
              <a:uFillTx/>
              <a:latin typeface="Arial"/>
            </a:endParaRPr>
          </a:p>
        </p:txBody>
      </p:sp>
      <p:cxnSp>
        <p:nvCxnSpPr>
          <p:cNvPr id="319" name="Straight Connector 17"/>
          <p:cNvCxnSpPr/>
          <p:nvPr/>
        </p:nvCxnSpPr>
        <p:spPr>
          <a:xfrm>
            <a:off x="893160" y="2525400"/>
            <a:ext cx="5040" cy="426600"/>
          </a:xfrm>
          <a:prstGeom prst="straightConnector1">
            <a:avLst/>
          </a:prstGeom>
          <a:ln w="3175">
            <a:solidFill>
              <a:srgbClr val="A6A6A6"/>
            </a:solidFill>
            <a:round/>
          </a:ln>
        </p:spPr>
      </p:cxnSp>
      <p:pic>
        <p:nvPicPr>
          <p:cNvPr id="320"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21"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22"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23" name="TextBox 11"/>
          <p:cNvSpPr/>
          <p:nvPr/>
        </p:nvSpPr>
        <p:spPr>
          <a:xfrm>
            <a:off x="225828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24" name="TextBox 12"/>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325" name="Rounded Rectangle 15"/>
          <p:cNvSpPr/>
          <p:nvPr/>
        </p:nvSpPr>
        <p:spPr>
          <a:xfrm>
            <a:off x="360000" y="3060000"/>
            <a:ext cx="6733800" cy="5755320"/>
          </a:xfrm>
          <a:prstGeom prst="roundRect">
            <a:avLst>
              <a:gd name="adj" fmla="val 2340"/>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Estimation des émissions brutes de GES de scope 3</a:t>
            </a:r>
            <a:endParaRPr lang="fr-FR" sz="1200" b="0" u="none" strike="noStrike">
              <a:solidFill>
                <a:srgbClr val="000000"/>
              </a:solidFill>
              <a:effectLst/>
              <a:uFillTx/>
              <a:latin typeface="Arial"/>
            </a:endParaRPr>
          </a:p>
        </p:txBody>
      </p:sp>
      <p:graphicFrame>
        <p:nvGraphicFramePr>
          <p:cNvPr id="326" name="Table 18"/>
          <p:cNvGraphicFramePr/>
          <p:nvPr/>
        </p:nvGraphicFramePr>
        <p:xfrm>
          <a:off x="649080" y="3600000"/>
          <a:ext cx="6260760" cy="5152320"/>
        </p:xfrm>
        <a:graphic>
          <a:graphicData uri="http://schemas.openxmlformats.org/drawingml/2006/table">
            <a:tbl>
              <a:tblPr/>
              <a:tblGrid>
                <a:gridCol w="4773600"/>
                <a:gridCol w="1487520"/>
              </a:tblGrid>
              <a:tr h="34200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Émissions brutes de GES (en teqCO₂)</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 Biens et services achetés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2. Biens d'investissement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3. Activités relevant des secteurs des combustibles et de l'énergie</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4. Transport et distribution en amont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5. Déchets produits lors de l'exploitation</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6. Voyages d'affaires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7. Déplacements domicile-travail des salariés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8. Actifs loués en amont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9. Acheminement en aval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10. Transformation des produits vendus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11. Utilisation des produits vendus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12. Traitement en fin de vie des produits vendus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13. Actifs loués en aval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14. Franchises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259560">
                <a:tc>
                  <a:txBody>
                    <a:bodyPr anchor="ctr">
                      <a:noAutofit/>
                    </a:bodyPr>
                    <a:p>
                      <a:pPr defTabSz="756000">
                        <a:lnSpc>
                          <a:spcPct val="100000"/>
                        </a:lnSpc>
                      </a:pPr>
                      <a:r>
                        <a:rPr lang="en-FR" sz="1100" b="0" u="none" strike="noStrike">
                          <a:solidFill>
                            <a:schemeClr val="dk1"/>
                          </a:solidFill>
                          <a:effectLst/>
                          <a:uFillTx/>
                          <a:latin typeface="Marianne Medium"/>
                        </a:rPr>
                        <a:t>15. Investissements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fr-FR" sz="1100" b="0" u="none" strike="noStrike">
                        <a:solidFill>
                          <a:schemeClr val="dk1"/>
                        </a:solidFill>
                        <a:effectLst/>
                        <a:uFillTx/>
                        <a:latin typeface="Marianne Medium"/>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327" name="Rounded Rectangle 5"/>
          <p:cNvSpPr/>
          <p:nvPr/>
        </p:nvSpPr>
        <p:spPr>
          <a:xfrm>
            <a:off x="360000" y="9000000"/>
            <a:ext cx="6784200" cy="1435320"/>
          </a:xfrm>
          <a:prstGeom prst="roundRect">
            <a:avLst>
              <a:gd name="adj" fmla="val 1379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Total des émissions brutes de GES de scope 3</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328" name="Table 1"/>
          <p:cNvGraphicFramePr/>
          <p:nvPr/>
        </p:nvGraphicFramePr>
        <p:xfrm>
          <a:off x="649440" y="9540000"/>
          <a:ext cx="6260760" cy="897480"/>
        </p:xfrm>
        <a:graphic>
          <a:graphicData uri="http://schemas.openxmlformats.org/drawingml/2006/table">
            <a:tbl>
              <a:tblPr/>
              <a:tblGrid>
                <a:gridCol w="3371040"/>
                <a:gridCol w="2890080"/>
              </a:tblGrid>
              <a:tr h="17424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Émissions brutes de GES (en teqCO₂)</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Total du scope 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18960">
                <a:tc>
                  <a:txBody>
                    <a:bodyPr anchor="ctr">
                      <a:noAutofit/>
                    </a:bodyPr>
                    <a:p>
                      <a:pPr defTabSz="756000">
                        <a:lnSpc>
                          <a:spcPct val="100000"/>
                        </a:lnSpc>
                      </a:pPr>
                      <a:r>
                        <a:rPr lang="en-FR" sz="1100" b="0" u="none" strike="noStrike">
                          <a:solidFill>
                            <a:schemeClr val="dk1"/>
                          </a:solidFill>
                          <a:effectLst/>
                          <a:uFillTx/>
                          <a:latin typeface="Marianne Medium"/>
                        </a:rPr>
                        <a:t>Total des scopes , 2 (basé sur la localisation) et 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endParaRPr lang="en-FR" sz="1490" b="0" u="none" strike="noStrike">
                        <a:solidFill>
                          <a:schemeClr val="dk1"/>
                        </a:solidFill>
                        <a:effectLst/>
                        <a:uFillTx/>
                        <a:latin typeface="Aptos"/>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29" name="Picture 7" descr="Green leaves on the trees in spring"/>
          <p:cNvPicPr/>
          <p:nvPr/>
        </p:nvPicPr>
        <p:blipFill>
          <a:blip r:embed="rId1"/>
          <a:stretch/>
        </p:blipFill>
        <p:spPr>
          <a:xfrm>
            <a:off x="0" y="0"/>
            <a:ext cx="7554600" cy="10686600"/>
          </a:xfrm>
          <a:prstGeom prst="rect">
            <a:avLst/>
          </a:prstGeom>
          <a:noFill/>
          <a:ln w="0">
            <a:noFill/>
          </a:ln>
        </p:spPr>
      </p:pic>
      <p:sp>
        <p:nvSpPr>
          <p:cNvPr id="330" name="Rectangle 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31" name="Rounded Rectangle 26"/>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Énergie et émissions de gaz à effet de serre</a:t>
            </a:r>
            <a:endParaRPr lang="fr-FR" sz="1400" b="0" u="none" strike="noStrike">
              <a:solidFill>
                <a:srgbClr val="000000"/>
              </a:solidFill>
              <a:effectLst/>
              <a:uFillTx/>
              <a:latin typeface="Arial"/>
            </a:endParaRPr>
          </a:p>
        </p:txBody>
      </p:sp>
      <p:cxnSp>
        <p:nvCxnSpPr>
          <p:cNvPr id="332" name="Straight Connector 5"/>
          <p:cNvCxnSpPr/>
          <p:nvPr/>
        </p:nvCxnSpPr>
        <p:spPr>
          <a:xfrm>
            <a:off x="893160" y="2525400"/>
            <a:ext cx="5040" cy="426600"/>
          </a:xfrm>
          <a:prstGeom prst="straightConnector1">
            <a:avLst/>
          </a:prstGeom>
          <a:ln w="3175">
            <a:solidFill>
              <a:srgbClr val="A6A6A6"/>
            </a:solidFill>
            <a:round/>
          </a:ln>
        </p:spPr>
      </p:cxnSp>
      <p:pic>
        <p:nvPicPr>
          <p:cNvPr id="333" name="Graphic 4"/>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34" name="TextBox 28"/>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35" name="TextBox 2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36" name="TextBox 30"/>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37" name="TextBox 31"/>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338" name="Rounded Rectangle 27"/>
          <p:cNvSpPr/>
          <p:nvPr/>
        </p:nvSpPr>
        <p:spPr>
          <a:xfrm>
            <a:off x="360000" y="3060000"/>
            <a:ext cx="6733800" cy="5755320"/>
          </a:xfrm>
          <a:prstGeom prst="roundRect">
            <a:avLst>
              <a:gd name="adj" fmla="val 2340"/>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Estimation des émissions brutes de GES de scope 3</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p:txBody>
      </p:sp>
      <p:sp>
        <p:nvSpPr>
          <p:cNvPr id="339" name="Rounded Rectangle 28"/>
          <p:cNvSpPr/>
          <p:nvPr/>
        </p:nvSpPr>
        <p:spPr>
          <a:xfrm>
            <a:off x="360000" y="9000000"/>
            <a:ext cx="6784200" cy="1435320"/>
          </a:xfrm>
          <a:prstGeom prst="roundRect">
            <a:avLst>
              <a:gd name="adj" fmla="val 1379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Total des émissions brutes de GES de scope 3</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40" name="Picture 4" descr="Green leaves on the trees in spring"/>
          <p:cNvPicPr/>
          <p:nvPr/>
        </p:nvPicPr>
        <p:blipFill>
          <a:blip r:embed="rId1"/>
          <a:stretch/>
        </p:blipFill>
        <p:spPr>
          <a:xfrm>
            <a:off x="0" y="0"/>
            <a:ext cx="7554600" cy="10686600"/>
          </a:xfrm>
          <a:prstGeom prst="rect">
            <a:avLst/>
          </a:prstGeom>
          <a:noFill/>
          <a:ln w="0">
            <a:noFill/>
          </a:ln>
        </p:spPr>
      </p:pic>
      <p:sp>
        <p:nvSpPr>
          <p:cNvPr id="34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42"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43" name="Straight Connector 17"/>
          <p:cNvCxnSpPr/>
          <p:nvPr/>
        </p:nvCxnSpPr>
        <p:spPr>
          <a:xfrm>
            <a:off x="893160" y="2525400"/>
            <a:ext cx="5040" cy="426600"/>
          </a:xfrm>
          <a:prstGeom prst="straightConnector1">
            <a:avLst/>
          </a:prstGeom>
          <a:ln w="3175">
            <a:solidFill>
              <a:srgbClr val="A6A6A6"/>
            </a:solidFill>
            <a:round/>
          </a:ln>
        </p:spPr>
      </p:cxnSp>
      <p:pic>
        <p:nvPicPr>
          <p:cNvPr id="34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45"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 l’air</a:t>
            </a:r>
            <a:endParaRPr lang="fr-FR" sz="1200" b="0" u="none" strike="noStrike">
              <a:solidFill>
                <a:srgbClr val="000000"/>
              </a:solidFill>
              <a:effectLst/>
              <a:uFillTx/>
              <a:latin typeface="Arial"/>
            </a:endParaRPr>
          </a:p>
        </p:txBody>
      </p:sp>
      <p:sp>
        <p:nvSpPr>
          <p:cNvPr id="346"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47"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48"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49"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graphicFrame>
        <p:nvGraphicFramePr>
          <p:cNvPr id="350" name="Table 5"/>
          <p:cNvGraphicFramePr/>
          <p:nvPr/>
        </p:nvGraphicFramePr>
        <p:xfrm>
          <a:off x="649080" y="3825720"/>
          <a:ext cx="6260760" cy="2622960"/>
        </p:xfrm>
        <a:graphic>
          <a:graphicData uri="http://schemas.openxmlformats.org/drawingml/2006/table">
            <a:tbl>
              <a:tblPr/>
              <a:tblGrid>
                <a:gridCol w="3338280"/>
                <a:gridCol w="895680"/>
                <a:gridCol w="2027160"/>
              </a:tblGrid>
              <a:tr h="302400">
                <a:tc>
                  <a:txBody>
                    <a:bodyPr lIns="108000" rIns="108000" anchor="ctr">
                      <a:noAutofit/>
                    </a:bodyPr>
                    <a:p>
                      <a:pPr algn="ctr" defTabSz="756000">
                        <a:lnSpc>
                          <a:spcPct val="100000"/>
                        </a:lnSpc>
                      </a:pPr>
                      <a:r>
                        <a:rPr lang="en-US" sz="1100" b="0" u="none" strike="noStrike">
                          <a:solidFill>
                            <a:srgbClr val="145C30"/>
                          </a:solidFill>
                          <a:effectLst/>
                          <a:uFillTx/>
                          <a:latin typeface="Marianne Light"/>
                        </a:rPr>
                        <a:t>Type de polluant</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en-US" sz="1100" b="0" u="none" strike="noStrike">
                          <a:solidFill>
                            <a:srgbClr val="145C30"/>
                          </a:solidFill>
                          <a:effectLst/>
                          <a:uFillTx/>
                          <a:latin typeface="Marianne Light"/>
                        </a:rPr>
                        <a:t>Unité</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en-US" sz="1100" b="0" u="none" strike="noStrike">
                          <a:solidFill>
                            <a:srgbClr val="145C30"/>
                          </a:solidFill>
                          <a:effectLst/>
                          <a:uFillTx/>
                          <a:latin typeface="Marianne Light"/>
                        </a:rPr>
                        <a:t>Valeur</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Atrazine</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100" b="0" u="none" strike="noStrike">
                          <a:solidFill>
                            <a:schemeClr val="dk1"/>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Arsenic et ses composés (As)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0">
                <a:tc>
                  <a:txBody>
                    <a:bodyPr anchor="ctr">
                      <a:noAutofit/>
                    </a:bodyPr>
                    <a:p>
                      <a:pPr defTabSz="756000">
                        <a:lnSpc>
                          <a:spcPct val="100000"/>
                        </a:lnSpc>
                      </a:pPr>
                      <a:r>
                        <a:rPr lang="en-US" sz="1100" b="0" u="none" strike="noStrike">
                          <a:solidFill>
                            <a:schemeClr val="dk1"/>
                          </a:solidFill>
                          <a:effectLst/>
                          <a:uFillTx/>
                          <a:latin typeface="Marianne Medium"/>
                        </a:rPr>
                        <a:t>Chlore et ses composés inorganiques (HCl)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470880">
                <a:tc>
                  <a:txBody>
                    <a:bodyPr anchor="ctr">
                      <a:noAutofit/>
                    </a:bodyPr>
                    <a:p>
                      <a:pPr defTabSz="756000">
                        <a:lnSpc>
                          <a:spcPct val="100000"/>
                        </a:lnSpc>
                      </a:pPr>
                      <a:r>
                        <a:rPr lang="en-US" sz="1100" b="0" u="none" strike="noStrike">
                          <a:solidFill>
                            <a:schemeClr val="dk1"/>
                          </a:solidFill>
                          <a:effectLst/>
                          <a:uFillTx/>
                          <a:latin typeface="Marianne Medium"/>
                        </a:rPr>
                        <a:t>Composés organiques volatils autres que le méthane (COVNM)</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Acide perfluorohexane sulfonique (PFHxS) et ses sels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0760">
                <a:tc>
                  <a:txBody>
                    <a:bodyPr anchor="ctr">
                      <a:noAutofit/>
                    </a:bodyPr>
                    <a:p>
                      <a:pPr defTabSz="756000">
                        <a:lnSpc>
                          <a:spcPct val="100000"/>
                        </a:lnSpc>
                      </a:pPr>
                      <a:r>
                        <a:rPr lang="en-US" sz="1100" b="0" u="none" strike="noStrike">
                          <a:solidFill>
                            <a:schemeClr val="dk1"/>
                          </a:solidFill>
                          <a:effectLst/>
                          <a:uFillTx/>
                          <a:latin typeface="Marianne Medium"/>
                        </a:rPr>
                        <a:t>Carbone organique total (TOC) (en C total ou DCO/3)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100" b="0" u="none" strike="noStrike">
                          <a:solidFill>
                            <a:schemeClr val="dk1"/>
                          </a:solidFill>
                          <a:effectLst/>
                          <a:uFillTx/>
                          <a:latin typeface="Marianne Light"/>
                        </a:rPr>
                        <a:t>tonnes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US"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51" name="Picture 4" descr="Green leaves on the trees in spring"/>
          <p:cNvPicPr/>
          <p:nvPr/>
        </p:nvPicPr>
        <p:blipFill>
          <a:blip r:embed="rId1"/>
          <a:stretch/>
        </p:blipFill>
        <p:spPr>
          <a:xfrm>
            <a:off x="0" y="0"/>
            <a:ext cx="7554600" cy="10686600"/>
          </a:xfrm>
          <a:prstGeom prst="rect">
            <a:avLst/>
          </a:prstGeom>
          <a:noFill/>
          <a:ln w="0">
            <a:noFill/>
          </a:ln>
        </p:spPr>
      </p:pic>
      <p:sp>
        <p:nvSpPr>
          <p:cNvPr id="35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53"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54" name="Straight Connector 17"/>
          <p:cNvCxnSpPr/>
          <p:nvPr/>
        </p:nvCxnSpPr>
        <p:spPr>
          <a:xfrm>
            <a:off x="893160" y="2525400"/>
            <a:ext cx="5040" cy="426600"/>
          </a:xfrm>
          <a:prstGeom prst="straightConnector1">
            <a:avLst/>
          </a:prstGeom>
          <a:ln w="3175">
            <a:solidFill>
              <a:srgbClr val="A6A6A6"/>
            </a:solidFill>
            <a:round/>
          </a:ln>
        </p:spPr>
      </p:cxnSp>
      <p:pic>
        <p:nvPicPr>
          <p:cNvPr id="355"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56"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 l’air</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35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58"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59"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60"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1" name="Picture 4" descr="Green leaves on the trees in spring"/>
          <p:cNvPicPr/>
          <p:nvPr/>
        </p:nvPicPr>
        <p:blipFill>
          <a:blip r:embed="rId1"/>
          <a:stretch/>
        </p:blipFill>
        <p:spPr>
          <a:xfrm>
            <a:off x="0" y="0"/>
            <a:ext cx="7554600" cy="10686600"/>
          </a:xfrm>
          <a:prstGeom prst="rect">
            <a:avLst/>
          </a:prstGeom>
          <a:noFill/>
          <a:ln w="0">
            <a:noFill/>
          </a:ln>
        </p:spPr>
      </p:pic>
      <p:sp>
        <p:nvSpPr>
          <p:cNvPr id="36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63"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64" name="Straight Connector 17"/>
          <p:cNvCxnSpPr/>
          <p:nvPr/>
        </p:nvCxnSpPr>
        <p:spPr>
          <a:xfrm>
            <a:off x="893160" y="2525400"/>
            <a:ext cx="5040" cy="426600"/>
          </a:xfrm>
          <a:prstGeom prst="straightConnector1">
            <a:avLst/>
          </a:prstGeom>
          <a:ln w="3175">
            <a:solidFill>
              <a:srgbClr val="A6A6A6"/>
            </a:solidFill>
            <a:round/>
          </a:ln>
        </p:spPr>
      </p:cxnSp>
      <p:pic>
        <p:nvPicPr>
          <p:cNvPr id="365"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66"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 l’eau</a:t>
            </a:r>
            <a:endParaRPr lang="fr-FR" sz="1200" b="0" u="none" strike="noStrike">
              <a:solidFill>
                <a:srgbClr val="000000"/>
              </a:solidFill>
              <a:effectLst/>
              <a:uFillTx/>
              <a:latin typeface="Arial"/>
            </a:endParaRPr>
          </a:p>
        </p:txBody>
      </p:sp>
      <p:sp>
        <p:nvSpPr>
          <p:cNvPr id="36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68"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69"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70"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graphicFrame>
        <p:nvGraphicFramePr>
          <p:cNvPr id="371" name="Table 5"/>
          <p:cNvGraphicFramePr/>
          <p:nvPr/>
        </p:nvGraphicFramePr>
        <p:xfrm>
          <a:off x="649080" y="3825720"/>
          <a:ext cx="6260760" cy="2622960"/>
        </p:xfrm>
        <a:graphic>
          <a:graphicData uri="http://schemas.openxmlformats.org/drawingml/2006/table">
            <a:tbl>
              <a:tblPr/>
              <a:tblGrid>
                <a:gridCol w="3338280"/>
                <a:gridCol w="895680"/>
                <a:gridCol w="2027160"/>
              </a:tblGrid>
              <a:tr h="3024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Type de polluant</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Unité</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Valeur</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Atrazine</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100" b="0" u="none" strike="noStrike">
                          <a:solidFill>
                            <a:schemeClr val="dk1"/>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FR" sz="1490" b="1" u="none" strike="noStrike">
                          <a:solidFill>
                            <a:schemeClr val="dk1"/>
                          </a:solidFill>
                          <a:effectLst/>
                          <a:uFillTx/>
                          <a:latin typeface="Aptos"/>
                        </a:rPr>
                        <a:t>-</a:t>
                      </a:r>
                      <a:endParaRPr lang="fr-FR" sz="149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Arsenic et ses composés (As)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0">
                <a:tc>
                  <a:txBody>
                    <a:bodyPr anchor="ctr">
                      <a:noAutofit/>
                    </a:bodyPr>
                    <a:p>
                      <a:pPr defTabSz="756000">
                        <a:lnSpc>
                          <a:spcPct val="100000"/>
                        </a:lnSpc>
                      </a:pPr>
                      <a:r>
                        <a:rPr lang="en-US" sz="1100" b="0" u="none" strike="noStrike">
                          <a:solidFill>
                            <a:schemeClr val="dk1"/>
                          </a:solidFill>
                          <a:effectLst/>
                          <a:uFillTx/>
                          <a:latin typeface="Marianne Medium"/>
                        </a:rPr>
                        <a:t>Chlore et ses composés inorganiques (HCl)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470880">
                <a:tc>
                  <a:txBody>
                    <a:bodyPr anchor="ctr">
                      <a:noAutofit/>
                    </a:bodyPr>
                    <a:p>
                      <a:pPr defTabSz="756000">
                        <a:lnSpc>
                          <a:spcPct val="100000"/>
                        </a:lnSpc>
                      </a:pPr>
                      <a:r>
                        <a:rPr lang="en-US" sz="1100" b="0" u="none" strike="noStrike">
                          <a:solidFill>
                            <a:schemeClr val="dk1"/>
                          </a:solidFill>
                          <a:effectLst/>
                          <a:uFillTx/>
                          <a:latin typeface="Marianne Medium"/>
                        </a:rPr>
                        <a:t>Composés organiques volatils autres que le méthane (COVNM)</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Acide perfluorohexane sulfonique (PFHxS) et ses sels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0760">
                <a:tc>
                  <a:txBody>
                    <a:bodyPr anchor="ctr">
                      <a:noAutofit/>
                    </a:bodyPr>
                    <a:p>
                      <a:pPr defTabSz="756000">
                        <a:lnSpc>
                          <a:spcPct val="100000"/>
                        </a:lnSpc>
                      </a:pPr>
                      <a:r>
                        <a:rPr lang="en-US" sz="1100" b="0" u="none" strike="noStrike">
                          <a:solidFill>
                            <a:schemeClr val="dk1"/>
                          </a:solidFill>
                          <a:effectLst/>
                          <a:uFillTx/>
                          <a:latin typeface="Marianne Medium"/>
                        </a:rPr>
                        <a:t>Carbone organique total (TOC) (en C total ou DCO/3)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100" b="0" u="none" strike="noStrike">
                          <a:solidFill>
                            <a:schemeClr val="dk1"/>
                          </a:solidFill>
                          <a:effectLst/>
                          <a:uFillTx/>
                          <a:latin typeface="Marianne Light"/>
                        </a:rPr>
                        <a:t>tonnes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2" name="Picture 4" descr="Green leaves on the trees in spring"/>
          <p:cNvPicPr/>
          <p:nvPr/>
        </p:nvPicPr>
        <p:blipFill>
          <a:blip r:embed="rId1"/>
          <a:stretch/>
        </p:blipFill>
        <p:spPr>
          <a:xfrm>
            <a:off x="0" y="0"/>
            <a:ext cx="7554600" cy="10686600"/>
          </a:xfrm>
          <a:prstGeom prst="rect">
            <a:avLst/>
          </a:prstGeom>
          <a:noFill/>
          <a:ln w="0">
            <a:noFill/>
          </a:ln>
        </p:spPr>
      </p:pic>
      <p:sp>
        <p:nvSpPr>
          <p:cNvPr id="37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74"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75" name="Straight Connector 17"/>
          <p:cNvCxnSpPr/>
          <p:nvPr/>
        </p:nvCxnSpPr>
        <p:spPr>
          <a:xfrm>
            <a:off x="893160" y="2525400"/>
            <a:ext cx="5040" cy="426600"/>
          </a:xfrm>
          <a:prstGeom prst="straightConnector1">
            <a:avLst/>
          </a:prstGeom>
          <a:ln w="3175">
            <a:solidFill>
              <a:srgbClr val="A6A6A6"/>
            </a:solidFill>
            <a:round/>
          </a:ln>
        </p:spPr>
      </p:cxnSp>
      <p:pic>
        <p:nvPicPr>
          <p:cNvPr id="37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77"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 l’eau</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378"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79"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80"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81"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2" name="Picture 4" descr="Green leaves on the trees in spring"/>
          <p:cNvPicPr/>
          <p:nvPr/>
        </p:nvPicPr>
        <p:blipFill>
          <a:blip r:embed="rId1"/>
          <a:stretch/>
        </p:blipFill>
        <p:spPr>
          <a:xfrm>
            <a:off x="0" y="0"/>
            <a:ext cx="7554600" cy="10686600"/>
          </a:xfrm>
          <a:prstGeom prst="rect">
            <a:avLst/>
          </a:prstGeom>
          <a:noFill/>
          <a:ln w="0">
            <a:noFill/>
          </a:ln>
        </p:spPr>
      </p:pic>
      <p:sp>
        <p:nvSpPr>
          <p:cNvPr id="38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84"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85" name="Straight Connector 17"/>
          <p:cNvCxnSpPr/>
          <p:nvPr/>
        </p:nvCxnSpPr>
        <p:spPr>
          <a:xfrm>
            <a:off x="893160" y="2525400"/>
            <a:ext cx="5040" cy="426600"/>
          </a:xfrm>
          <a:prstGeom prst="straightConnector1">
            <a:avLst/>
          </a:prstGeom>
          <a:ln w="3175">
            <a:solidFill>
              <a:srgbClr val="A6A6A6"/>
            </a:solidFill>
            <a:round/>
          </a:ln>
        </p:spPr>
      </p:cxnSp>
      <p:pic>
        <p:nvPicPr>
          <p:cNvPr id="38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87"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des sols</a:t>
            </a:r>
            <a:endParaRPr lang="fr-FR" sz="1200" b="0" u="none" strike="noStrike">
              <a:solidFill>
                <a:srgbClr val="000000"/>
              </a:solidFill>
              <a:effectLst/>
              <a:uFillTx/>
              <a:latin typeface="Arial"/>
            </a:endParaRPr>
          </a:p>
        </p:txBody>
      </p:sp>
      <p:sp>
        <p:nvSpPr>
          <p:cNvPr id="388"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389"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390"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391"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graphicFrame>
        <p:nvGraphicFramePr>
          <p:cNvPr id="392" name="Table 5"/>
          <p:cNvGraphicFramePr/>
          <p:nvPr/>
        </p:nvGraphicFramePr>
        <p:xfrm>
          <a:off x="649080" y="3825720"/>
          <a:ext cx="6260760" cy="2622960"/>
        </p:xfrm>
        <a:graphic>
          <a:graphicData uri="http://schemas.openxmlformats.org/drawingml/2006/table">
            <a:tbl>
              <a:tblPr/>
              <a:tblGrid>
                <a:gridCol w="3338280"/>
                <a:gridCol w="895680"/>
                <a:gridCol w="2027160"/>
              </a:tblGrid>
              <a:tr h="3024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Type de polluant</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Unité</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Valeur</a:t>
                      </a:r>
                      <a:endParaRPr lang="fr-FR" sz="1100" b="0" u="none" strike="noStrike">
                        <a:solidFill>
                          <a:srgbClr val="000000"/>
                        </a:solidFill>
                        <a:effectLst/>
                        <a:uFillTx/>
                        <a:latin typeface="Arial"/>
                      </a:endParaRPr>
                    </a:p>
                  </a:txBody>
                  <a:tcPr anchor="ctr" marL="108000" marR="108000" marT="45720" marB="45720">
                    <a:lnL w="2880">
                      <a:solidFill>
                        <a:srgbClr val="BFBFBF"/>
                      </a:solidFill>
                      <a:prstDash val="solid"/>
                    </a:lnL>
                    <a:lnR w="2880">
                      <a:solidFill>
                        <a:srgbClr val="BFBFBF"/>
                      </a:solidFill>
                      <a:prstDash val="solid"/>
                    </a:lnR>
                    <a:lnT w="28080">
                      <a:noFill/>
                      <a:prstDash val="solid"/>
                    </a:lnT>
                    <a:lnB w="28080">
                      <a:solidFill>
                        <a:srgbClr val="FFFFFF"/>
                      </a:solidFill>
                      <a:prstDash val="solid"/>
                    </a:lnB>
                    <a:solidFill>
                      <a:srgbClr val="EBEDED"/>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Atrazine</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100" b="0" u="none" strike="noStrike">
                          <a:solidFill>
                            <a:schemeClr val="dk1"/>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Arsenic et ses composés (As)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0">
                <a:tc>
                  <a:txBody>
                    <a:bodyPr anchor="ctr">
                      <a:noAutofit/>
                    </a:bodyPr>
                    <a:p>
                      <a:pPr defTabSz="756000">
                        <a:lnSpc>
                          <a:spcPct val="100000"/>
                        </a:lnSpc>
                      </a:pPr>
                      <a:r>
                        <a:rPr lang="en-US" sz="1100" b="0" u="none" strike="noStrike">
                          <a:solidFill>
                            <a:schemeClr val="dk1"/>
                          </a:solidFill>
                          <a:effectLst/>
                          <a:uFillTx/>
                          <a:latin typeface="Marianne Medium"/>
                        </a:rPr>
                        <a:t>Chlore et ses composés inorganiques (HCl)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470880">
                <a:tc>
                  <a:txBody>
                    <a:bodyPr anchor="ctr">
                      <a:noAutofit/>
                    </a:bodyPr>
                    <a:p>
                      <a:pPr defTabSz="756000">
                        <a:lnSpc>
                          <a:spcPct val="100000"/>
                        </a:lnSpc>
                      </a:pPr>
                      <a:r>
                        <a:rPr lang="en-US" sz="1100" b="0" u="none" strike="noStrike">
                          <a:solidFill>
                            <a:schemeClr val="dk1"/>
                          </a:solidFill>
                          <a:effectLst/>
                          <a:uFillTx/>
                          <a:latin typeface="Marianne Medium"/>
                        </a:rPr>
                        <a:t>Composés organiques volatils autres que le méthane (COVNM)</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Acide perfluorohexane sulfonique (PFHxS) et ses sels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FR" sz="1100" b="0" u="none" strike="noStrike">
                          <a:solidFill>
                            <a:srgbClr val="000000"/>
                          </a:solidFill>
                          <a:effectLst/>
                          <a:uFillTx/>
                          <a:latin typeface="Marianne Light"/>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0760">
                <a:tc>
                  <a:txBody>
                    <a:bodyPr anchor="ctr">
                      <a:noAutofit/>
                    </a:bodyPr>
                    <a:p>
                      <a:pPr defTabSz="756000">
                        <a:lnSpc>
                          <a:spcPct val="100000"/>
                        </a:lnSpc>
                      </a:pPr>
                      <a:r>
                        <a:rPr lang="en-US" sz="1100" b="0" u="none" strike="noStrike">
                          <a:solidFill>
                            <a:schemeClr val="dk1"/>
                          </a:solidFill>
                          <a:effectLst/>
                          <a:uFillTx/>
                          <a:latin typeface="Marianne Medium"/>
                        </a:rPr>
                        <a:t>Carbone organique total (TOC) (en C total ou DCO/3)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100" b="0" u="none" strike="noStrike">
                          <a:solidFill>
                            <a:schemeClr val="dk1"/>
                          </a:solidFill>
                          <a:effectLst/>
                          <a:uFillTx/>
                          <a:latin typeface="Marianne Light"/>
                        </a:rPr>
                        <a:t>tonnes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en-FR" sz="1490" b="1" u="none" strike="noStrike">
                          <a:solidFill>
                            <a:srgbClr val="000000"/>
                          </a:solidFill>
                          <a:effectLst/>
                          <a:uFillTx/>
                          <a:latin typeface="Aptos"/>
                        </a:rPr>
                        <a:t>-</a:t>
                      </a:r>
                      <a:endParaRPr lang="fr-FR" sz="149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3" name="Picture 4" descr="Green leaves on the trees in spring"/>
          <p:cNvPicPr/>
          <p:nvPr/>
        </p:nvPicPr>
        <p:blipFill>
          <a:blip r:embed="rId1"/>
          <a:stretch/>
        </p:blipFill>
        <p:spPr>
          <a:xfrm>
            <a:off x="0" y="0"/>
            <a:ext cx="7554600" cy="10686600"/>
          </a:xfrm>
          <a:prstGeom prst="rect">
            <a:avLst/>
          </a:prstGeom>
          <a:noFill/>
          <a:ln w="0">
            <a:noFill/>
          </a:ln>
        </p:spPr>
      </p:pic>
      <p:sp>
        <p:nvSpPr>
          <p:cNvPr id="39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395"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Pollution de l’air, de l’eau et des sols </a:t>
            </a:r>
            <a:endParaRPr lang="fr-FR" sz="1400" b="0" u="none" strike="noStrike">
              <a:solidFill>
                <a:srgbClr val="000000"/>
              </a:solidFill>
              <a:effectLst/>
              <a:uFillTx/>
              <a:latin typeface="Arial"/>
            </a:endParaRPr>
          </a:p>
        </p:txBody>
      </p:sp>
      <p:cxnSp>
        <p:nvCxnSpPr>
          <p:cNvPr id="396" name="Straight Connector 17"/>
          <p:cNvCxnSpPr/>
          <p:nvPr/>
        </p:nvCxnSpPr>
        <p:spPr>
          <a:xfrm>
            <a:off x="893160" y="2525400"/>
            <a:ext cx="5040" cy="426600"/>
          </a:xfrm>
          <a:prstGeom prst="straightConnector1">
            <a:avLst/>
          </a:prstGeom>
          <a:ln w="3175">
            <a:solidFill>
              <a:srgbClr val="A6A6A6"/>
            </a:solidFill>
            <a:round/>
          </a:ln>
        </p:spPr>
      </p:cxnSp>
      <p:pic>
        <p:nvPicPr>
          <p:cNvPr id="397"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398" name="Rounded Rectangle 4"/>
          <p:cNvSpPr/>
          <p:nvPr/>
        </p:nvSpPr>
        <p:spPr>
          <a:xfrm>
            <a:off x="410400" y="3282480"/>
            <a:ext cx="6733800" cy="695808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Pollution des sols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399"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00" name="TextBox 7"/>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01" name="TextBox 8"/>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02" name="TextBox 9"/>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03" name="Picture 4" descr="Green leaves on the trees in spring"/>
          <p:cNvPicPr/>
          <p:nvPr/>
        </p:nvPicPr>
        <p:blipFill>
          <a:blip r:embed="rId1"/>
          <a:stretch/>
        </p:blipFill>
        <p:spPr>
          <a:xfrm>
            <a:off x="0" y="0"/>
            <a:ext cx="7554600" cy="10686600"/>
          </a:xfrm>
          <a:prstGeom prst="rect">
            <a:avLst/>
          </a:prstGeom>
          <a:noFill/>
          <a:ln w="0">
            <a:noFill/>
          </a:ln>
        </p:spPr>
      </p:pic>
      <p:sp>
        <p:nvSpPr>
          <p:cNvPr id="40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05"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B5</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Biodiversité</a:t>
            </a:r>
            <a:endParaRPr lang="fr-FR" sz="1400" b="0" u="none" strike="noStrike">
              <a:solidFill>
                <a:srgbClr val="000000"/>
              </a:solidFill>
              <a:effectLst/>
              <a:uFillTx/>
              <a:latin typeface="Arial"/>
            </a:endParaRPr>
          </a:p>
        </p:txBody>
      </p:sp>
      <p:cxnSp>
        <p:nvCxnSpPr>
          <p:cNvPr id="406" name="Straight Connector 17"/>
          <p:cNvCxnSpPr/>
          <p:nvPr/>
        </p:nvCxnSpPr>
        <p:spPr>
          <a:xfrm>
            <a:off x="893160" y="2525400"/>
            <a:ext cx="5040" cy="426600"/>
          </a:xfrm>
          <a:prstGeom prst="straightConnector1">
            <a:avLst/>
          </a:prstGeom>
          <a:ln w="3175">
            <a:solidFill>
              <a:srgbClr val="A6A6A6"/>
            </a:solidFill>
            <a:round/>
          </a:ln>
        </p:spPr>
      </p:cxnSp>
      <p:pic>
        <p:nvPicPr>
          <p:cNvPr id="407"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08" name="Rounded Rectangle 6"/>
          <p:cNvSpPr/>
          <p:nvPr/>
        </p:nvSpPr>
        <p:spPr>
          <a:xfrm>
            <a:off x="410400" y="3204360"/>
            <a:ext cx="6733800" cy="70362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Sites situés dans les zones sensibles sur le plan de biodiversité</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 ne dispose pas de sites situés dans ou à proximité de zones sensibles sur le plan de la biodiversité.</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409"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10"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11" name="TextBox 10"/>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12" name="TextBox 11"/>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3" name="Picture 4" descr="Green leaves on the trees in spring"/>
          <p:cNvPicPr/>
          <p:nvPr/>
        </p:nvPicPr>
        <p:blipFill>
          <a:blip r:embed="rId1"/>
          <a:stretch/>
        </p:blipFill>
        <p:spPr>
          <a:xfrm>
            <a:off x="0" y="0"/>
            <a:ext cx="7554600" cy="10686600"/>
          </a:xfrm>
          <a:prstGeom prst="rect">
            <a:avLst/>
          </a:prstGeom>
          <a:noFill/>
          <a:ln w="0">
            <a:noFill/>
          </a:ln>
        </p:spPr>
      </p:pic>
      <p:sp>
        <p:nvSpPr>
          <p:cNvPr id="41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15"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B5</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Biodiversité</a:t>
            </a:r>
            <a:endParaRPr lang="fr-FR" sz="1400" b="0" u="none" strike="noStrike">
              <a:solidFill>
                <a:srgbClr val="000000"/>
              </a:solidFill>
              <a:effectLst/>
              <a:uFillTx/>
              <a:latin typeface="Arial"/>
            </a:endParaRPr>
          </a:p>
        </p:txBody>
      </p:sp>
      <p:cxnSp>
        <p:nvCxnSpPr>
          <p:cNvPr id="416" name="Straight Connector 17"/>
          <p:cNvCxnSpPr/>
          <p:nvPr/>
        </p:nvCxnSpPr>
        <p:spPr>
          <a:xfrm>
            <a:off x="893160" y="2525400"/>
            <a:ext cx="5040" cy="426600"/>
          </a:xfrm>
          <a:prstGeom prst="straightConnector1">
            <a:avLst/>
          </a:prstGeom>
          <a:ln w="3175">
            <a:solidFill>
              <a:srgbClr val="A6A6A6"/>
            </a:solidFill>
            <a:round/>
          </a:ln>
        </p:spPr>
      </p:cxnSp>
      <p:pic>
        <p:nvPicPr>
          <p:cNvPr id="417"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18" name="Rounded Rectangle 6"/>
          <p:cNvSpPr/>
          <p:nvPr/>
        </p:nvSpPr>
        <p:spPr>
          <a:xfrm>
            <a:off x="461520" y="4295160"/>
            <a:ext cx="6733800" cy="632016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Sites situés dans les zones sensibles sur le plan de biodiversité</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419"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20"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21" name="TextBox 10"/>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22" name="TextBox 11"/>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graphicFrame>
        <p:nvGraphicFramePr>
          <p:cNvPr id="423" name="Table 4"/>
          <p:cNvGraphicFramePr/>
          <p:nvPr/>
        </p:nvGraphicFramePr>
        <p:xfrm>
          <a:off x="649080" y="4860000"/>
          <a:ext cx="6190560" cy="3059280"/>
        </p:xfrm>
        <a:graphic>
          <a:graphicData uri="http://schemas.openxmlformats.org/drawingml/2006/table">
            <a:tbl>
              <a:tblPr/>
              <a:tblGrid>
                <a:gridCol w="1986480"/>
                <a:gridCol w="1187280"/>
                <a:gridCol w="1469160"/>
                <a:gridCol w="1548000"/>
              </a:tblGrid>
              <a:tr h="64512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Site (enregistré dans B1)</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Superficie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Site situé dans une zone sensible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Site à proximité d'une zone sensible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39492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39492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0348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55008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9492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75840">
                <a:tc>
                  <a:txBody>
                    <a:bodyPr anchor="ctr">
                      <a:noAutofit/>
                    </a:bodyPr>
                    <a:p>
                      <a:pPr algn="ctr" defTabSz="756000">
                        <a:lnSpc>
                          <a:spcPct val="100000"/>
                        </a:lnSpc>
                      </a:pPr>
                      <a:r>
                        <a:rPr lang="fr-FR" sz="1100" b="0" u="none" strike="noStrike">
                          <a:solidFill>
                            <a:schemeClr val="dk1"/>
                          </a:solidFill>
                          <a:effectLst/>
                          <a:uFillTx/>
                          <a:latin typeface="Marianne Medium"/>
                        </a:rPr>
                        <a:t>Aaaaa</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424" name="Rounded Rectangle 16"/>
          <p:cNvSpPr/>
          <p:nvPr/>
        </p:nvSpPr>
        <p:spPr>
          <a:xfrm>
            <a:off x="461160" y="3260160"/>
            <a:ext cx="6733800" cy="793440"/>
          </a:xfrm>
          <a:prstGeom prst="roundRect">
            <a:avLst>
              <a:gd name="adj" fmla="val 743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145C30"/>
                </a:solidFill>
                <a:effectLst/>
                <a:uFillTx/>
                <a:latin typeface="Marianne Light"/>
              </a:rPr>
              <a:t>Unité de surface</a:t>
            </a:r>
            <a:endParaRPr lang="fr-FR" sz="1200" b="0" u="none" strike="noStrike">
              <a:solidFill>
                <a:srgbClr val="000000"/>
              </a:solidFill>
              <a:effectLst/>
              <a:uFillTx/>
              <a:latin typeface="Arial"/>
            </a:endParaRPr>
          </a:p>
          <a:p>
            <a:pPr defTabSz="457200">
              <a:lnSpc>
                <a:spcPct val="100000"/>
              </a:lnSpc>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5" name="Picture 4" descr="Green leaves on the trees in spring"/>
          <p:cNvPicPr/>
          <p:nvPr/>
        </p:nvPicPr>
        <p:blipFill>
          <a:blip r:embed="rId1"/>
          <a:stretch/>
        </p:blipFill>
        <p:spPr>
          <a:xfrm>
            <a:off x="0" y="0"/>
            <a:ext cx="7554600" cy="10686600"/>
          </a:xfrm>
          <a:prstGeom prst="rect">
            <a:avLst/>
          </a:prstGeom>
          <a:noFill/>
          <a:ln w="0">
            <a:noFill/>
          </a:ln>
        </p:spPr>
      </p:pic>
      <p:sp>
        <p:nvSpPr>
          <p:cNvPr id="42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27"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B5</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Biodiversité</a:t>
            </a:r>
            <a:endParaRPr lang="fr-FR" sz="1400" b="0" u="none" strike="noStrike">
              <a:solidFill>
                <a:srgbClr val="000000"/>
              </a:solidFill>
              <a:effectLst/>
              <a:uFillTx/>
              <a:latin typeface="Arial"/>
            </a:endParaRPr>
          </a:p>
        </p:txBody>
      </p:sp>
      <p:cxnSp>
        <p:nvCxnSpPr>
          <p:cNvPr id="428" name="Straight Connector 17"/>
          <p:cNvCxnSpPr/>
          <p:nvPr/>
        </p:nvCxnSpPr>
        <p:spPr>
          <a:xfrm>
            <a:off x="893160" y="2525400"/>
            <a:ext cx="5040" cy="426600"/>
          </a:xfrm>
          <a:prstGeom prst="straightConnector1">
            <a:avLst/>
          </a:prstGeom>
          <a:ln w="3175">
            <a:solidFill>
              <a:srgbClr val="A6A6A6"/>
            </a:solidFill>
            <a:round/>
          </a:ln>
        </p:spPr>
      </p:cxnSp>
      <p:pic>
        <p:nvPicPr>
          <p:cNvPr id="429"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30"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31"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32" name="TextBox 10"/>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33" name="TextBox 11"/>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34" name="Rounded Rectangle 4"/>
          <p:cNvSpPr/>
          <p:nvPr/>
        </p:nvSpPr>
        <p:spPr>
          <a:xfrm>
            <a:off x="410400" y="3204360"/>
            <a:ext cx="6733800" cy="62046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Affectation des terres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5" name="Picture 4" descr="Green leaves on the trees in spring"/>
          <p:cNvPicPr/>
          <p:nvPr/>
        </p:nvPicPr>
        <p:blipFill>
          <a:blip r:embed="rId1"/>
          <a:stretch/>
        </p:blipFill>
        <p:spPr>
          <a:xfrm>
            <a:off x="0" y="0"/>
            <a:ext cx="7554600" cy="10686600"/>
          </a:xfrm>
          <a:prstGeom prst="rect">
            <a:avLst/>
          </a:prstGeom>
          <a:noFill/>
          <a:ln w="0">
            <a:noFill/>
          </a:ln>
        </p:spPr>
      </p:pic>
      <p:sp>
        <p:nvSpPr>
          <p:cNvPr id="436"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37"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B5</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Biodiversité</a:t>
            </a:r>
            <a:endParaRPr lang="fr-FR" sz="1400" b="0" u="none" strike="noStrike">
              <a:solidFill>
                <a:srgbClr val="000000"/>
              </a:solidFill>
              <a:effectLst/>
              <a:uFillTx/>
              <a:latin typeface="Arial"/>
            </a:endParaRPr>
          </a:p>
        </p:txBody>
      </p:sp>
      <p:cxnSp>
        <p:nvCxnSpPr>
          <p:cNvPr id="438" name="Straight Connector 17"/>
          <p:cNvCxnSpPr/>
          <p:nvPr/>
        </p:nvCxnSpPr>
        <p:spPr>
          <a:xfrm>
            <a:off x="893160" y="2525400"/>
            <a:ext cx="5040" cy="426600"/>
          </a:xfrm>
          <a:prstGeom prst="straightConnector1">
            <a:avLst/>
          </a:prstGeom>
          <a:ln w="3175">
            <a:solidFill>
              <a:srgbClr val="A6A6A6"/>
            </a:solidFill>
            <a:round/>
          </a:ln>
        </p:spPr>
      </p:cxnSp>
      <p:pic>
        <p:nvPicPr>
          <p:cNvPr id="439"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40" name="Rounded Rectangle 6"/>
          <p:cNvSpPr/>
          <p:nvPr/>
        </p:nvSpPr>
        <p:spPr>
          <a:xfrm>
            <a:off x="410400" y="3204360"/>
            <a:ext cx="6733800" cy="62046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Affectation des terres</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441" name="Table 7"/>
          <p:cNvGraphicFramePr/>
          <p:nvPr/>
        </p:nvGraphicFramePr>
        <p:xfrm>
          <a:off x="639360" y="3790080"/>
          <a:ext cx="6239880" cy="3804840"/>
        </p:xfrm>
        <a:graphic>
          <a:graphicData uri="http://schemas.openxmlformats.org/drawingml/2006/table">
            <a:tbl>
              <a:tblPr/>
              <a:tblGrid>
                <a:gridCol w="2080080"/>
                <a:gridCol w="2080080"/>
                <a:gridCol w="2080080"/>
              </a:tblGrid>
              <a:tr h="7218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Affectation des terres</a:t>
                      </a:r>
                      <a:endParaRPr lang="fr-FR" sz="1100" b="0" u="none" strike="noStrike">
                        <a:solidFill>
                          <a:srgbClr val="000000"/>
                        </a:solidFill>
                        <a:effectLst/>
                        <a:uFillTx/>
                        <a:latin typeface="Arial"/>
                      </a:endParaRPr>
                    </a:p>
                  </a:txBody>
                  <a:tcPr anchor="ctr" marL="108000" marR="108000" marT="45720" marB="45720">
                    <a:lnL w="12240">
                      <a:noFill/>
                      <a:prstDash val="solid"/>
                    </a:lnL>
                    <a:lnR w="12240">
                      <a:solidFill>
                        <a:srgbClr val="FFFFFF"/>
                      </a:solidFill>
                      <a:prstDash val="solid"/>
                    </a:lnR>
                    <a:lnT w="12240">
                      <a:noFill/>
                      <a:prstDash val="solid"/>
                    </a:lnT>
                    <a:lnB w="12240">
                      <a:solidFill>
                        <a:srgbClr val="FFFFFF"/>
                      </a:solidFill>
                      <a:prstDash val="solid"/>
                    </a:lnB>
                    <a:solidFill>
                      <a:srgbClr val="EBEE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Superficie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noFill/>
                      <a:prstDash val="solid"/>
                    </a:lnT>
                    <a:lnB w="12240">
                      <a:solidFill>
                        <a:srgbClr val="FFFFFF"/>
                      </a:solidFill>
                      <a:prstDash val="solid"/>
                    </a:lnB>
                    <a:solidFill>
                      <a:srgbClr val="EBEE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Unité</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noFill/>
                      <a:prstDash val="solid"/>
                    </a:lnR>
                    <a:lnT w="12240">
                      <a:noFill/>
                      <a:prstDash val="solid"/>
                    </a:lnT>
                    <a:lnB w="12240">
                      <a:solidFill>
                        <a:srgbClr val="FFFFFF"/>
                      </a:solidFill>
                      <a:prstDash val="solid"/>
                    </a:lnB>
                    <a:solidFill>
                      <a:srgbClr val="EBEEED"/>
                    </a:solidFill>
                  </a:tcPr>
                </a:tc>
              </a:tr>
              <a:tr h="770760">
                <a:tc>
                  <a:txBody>
                    <a:bodyPr anchor="ctr">
                      <a:noAutofit/>
                    </a:bodyPr>
                    <a:p>
                      <a:pPr defTabSz="756000">
                        <a:lnSpc>
                          <a:spcPct val="100000"/>
                        </a:lnSpc>
                      </a:pPr>
                      <a:r>
                        <a:rPr lang="en-FR" sz="1100" b="0" u="none" strike="noStrike">
                          <a:solidFill>
                            <a:schemeClr val="dk1"/>
                          </a:solidFill>
                          <a:effectLst/>
                          <a:uFillTx/>
                          <a:latin typeface="Marianne Medium"/>
                        </a:rPr>
                        <a:t>Surface totale imperméabilisée</a:t>
                      </a:r>
                      <a:endParaRPr lang="fr-FR" sz="1100" b="0" u="none" strike="noStrike">
                        <a:solidFill>
                          <a:srgbClr val="000000"/>
                        </a:solidFill>
                        <a:effectLst/>
                        <a:uFillTx/>
                        <a:latin typeface="Arial"/>
                      </a:endParaRPr>
                    </a:p>
                  </a:txBody>
                  <a:tcPr anchor="ctr" marL="91440" marR="9144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m²</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770760">
                <a:tc>
                  <a:txBody>
                    <a:bodyPr anchor="ctr">
                      <a:noAutofit/>
                    </a:bodyPr>
                    <a:p>
                      <a:pPr defTabSz="756000">
                        <a:lnSpc>
                          <a:spcPct val="100000"/>
                        </a:lnSpc>
                      </a:pPr>
                      <a:r>
                        <a:rPr lang="en-FR" sz="1100" b="0" u="none" strike="noStrike">
                          <a:solidFill>
                            <a:schemeClr val="dk1"/>
                          </a:solidFill>
                          <a:effectLst/>
                          <a:uFillTx/>
                          <a:latin typeface="Marianne Medium"/>
                        </a:rPr>
                        <a:t>Surface respecteuse de la nature sur le site</a:t>
                      </a:r>
                      <a:endParaRPr lang="fr-FR" sz="1100" b="0" u="none" strike="noStrike">
                        <a:solidFill>
                          <a:srgbClr val="000000"/>
                        </a:solidFill>
                        <a:effectLst/>
                        <a:uFillTx/>
                        <a:latin typeface="Arial"/>
                      </a:endParaRPr>
                    </a:p>
                  </a:txBody>
                  <a:tcPr anchor="ctr" marL="91440" marR="9144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m²</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770760">
                <a:tc>
                  <a:txBody>
                    <a:bodyPr anchor="ctr">
                      <a:noAutofit/>
                    </a:bodyPr>
                    <a:p>
                      <a:pPr defTabSz="756000">
                        <a:lnSpc>
                          <a:spcPct val="100000"/>
                        </a:lnSpc>
                      </a:pPr>
                      <a:r>
                        <a:rPr lang="en-FR" sz="1100" b="0" u="none" strike="noStrike">
                          <a:solidFill>
                            <a:schemeClr val="dk1"/>
                          </a:solidFill>
                          <a:effectLst/>
                          <a:uFillTx/>
                          <a:latin typeface="Marianne Medium"/>
                        </a:rPr>
                        <a:t>Surface respecteuse de la nature hors site</a:t>
                      </a:r>
                      <a:endParaRPr lang="fr-FR" sz="1100" b="0" u="none" strike="noStrike">
                        <a:solidFill>
                          <a:srgbClr val="000000"/>
                        </a:solidFill>
                        <a:effectLst/>
                        <a:uFillTx/>
                        <a:latin typeface="Arial"/>
                      </a:endParaRPr>
                    </a:p>
                  </a:txBody>
                  <a:tcPr anchor="ctr" marL="91440" marR="9144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m²</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770760">
                <a:tc>
                  <a:txBody>
                    <a:bodyPr anchor="ctr">
                      <a:noAutofit/>
                    </a:bodyPr>
                    <a:p>
                      <a:pPr defTabSz="756000">
                        <a:lnSpc>
                          <a:spcPct val="100000"/>
                        </a:lnSpc>
                      </a:pPr>
                      <a:r>
                        <a:rPr lang="en-FR" sz="1100" b="0" u="none" strike="noStrike">
                          <a:solidFill>
                            <a:schemeClr val="dk1"/>
                          </a:solidFill>
                          <a:effectLst/>
                          <a:uFillTx/>
                          <a:latin typeface="Marianne Medium"/>
                        </a:rPr>
                        <a:t>Utilisation totale des terres</a:t>
                      </a:r>
                      <a:endParaRPr lang="fr-FR" sz="1100" b="0" u="none" strike="noStrike">
                        <a:solidFill>
                          <a:srgbClr val="000000"/>
                        </a:solidFill>
                        <a:effectLst/>
                        <a:uFillTx/>
                        <a:latin typeface="Arial"/>
                      </a:endParaRPr>
                    </a:p>
                  </a:txBody>
                  <a:tcPr anchor="ctr" marL="91440" marR="9144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300</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m²</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442"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43" name="TextBox 9"/>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44" name="TextBox 10"/>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45" name="TextBox 11"/>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6" name="Picture 4" descr="Green leaves on the trees in spring"/>
          <p:cNvPicPr/>
          <p:nvPr/>
        </p:nvPicPr>
        <p:blipFill>
          <a:blip r:embed="rId1"/>
          <a:stretch/>
        </p:blipFill>
        <p:spPr>
          <a:xfrm>
            <a:off x="0" y="0"/>
            <a:ext cx="7554600" cy="10686600"/>
          </a:xfrm>
          <a:prstGeom prst="rect">
            <a:avLst/>
          </a:prstGeom>
          <a:noFill/>
          <a:ln w="0">
            <a:noFill/>
          </a:ln>
        </p:spPr>
      </p:pic>
      <p:sp>
        <p:nvSpPr>
          <p:cNvPr id="44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48"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B6</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Eau</a:t>
            </a:r>
            <a:endParaRPr lang="fr-FR" sz="1400" b="0" u="none" strike="noStrike">
              <a:solidFill>
                <a:srgbClr val="000000"/>
              </a:solidFill>
              <a:effectLst/>
              <a:uFillTx/>
              <a:latin typeface="Arial"/>
            </a:endParaRPr>
          </a:p>
        </p:txBody>
      </p:sp>
      <p:cxnSp>
        <p:nvCxnSpPr>
          <p:cNvPr id="449" name="Straight Connector 17"/>
          <p:cNvCxnSpPr/>
          <p:nvPr/>
        </p:nvCxnSpPr>
        <p:spPr>
          <a:xfrm>
            <a:off x="893160" y="2525400"/>
            <a:ext cx="5040" cy="426600"/>
          </a:xfrm>
          <a:prstGeom prst="straightConnector1">
            <a:avLst/>
          </a:prstGeom>
          <a:ln w="3175">
            <a:solidFill>
              <a:srgbClr val="A6A6A6"/>
            </a:solidFill>
            <a:round/>
          </a:ln>
        </p:spPr>
      </p:cxnSp>
      <p:pic>
        <p:nvPicPr>
          <p:cNvPr id="450"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51"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52"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53"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54"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55" name="Rounded Rectangle 13"/>
          <p:cNvSpPr/>
          <p:nvPr/>
        </p:nvSpPr>
        <p:spPr>
          <a:xfrm>
            <a:off x="461160" y="3259800"/>
            <a:ext cx="6733800" cy="793440"/>
          </a:xfrm>
          <a:prstGeom prst="roundRect">
            <a:avLst>
              <a:gd name="adj" fmla="val 743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145C30"/>
                </a:solidFill>
                <a:effectLst/>
                <a:uFillTx/>
                <a:latin typeface="Marianne Light"/>
              </a:rPr>
              <a:t>Total des prélèvements d’eau sur l’ensemble des sites (en </a:t>
            </a:r>
            <a:r>
              <a:rPr lang="en-FR" sz="1200" b="0" u="none" strike="noStrike">
                <a:solidFill>
                  <a:srgbClr val="145C30"/>
                </a:solidFill>
                <a:effectLst/>
                <a:uFillTx/>
                <a:latin typeface="Marianne Light"/>
              </a:rPr>
              <a:t>m³</a:t>
            </a:r>
            <a:r>
              <a:rPr lang="fr-FR" sz="1200" b="0" u="none" strike="noStrike">
                <a:solidFill>
                  <a:srgbClr val="145C30"/>
                </a:solidFill>
                <a:effectLst/>
                <a:uFillTx/>
                <a:latin typeface="Marianne Light"/>
              </a:rPr>
              <a:t>) </a:t>
            </a:r>
            <a:endParaRPr lang="fr-FR" sz="1200" b="0" u="none" strike="noStrike">
              <a:solidFill>
                <a:srgbClr val="000000"/>
              </a:solidFill>
              <a:effectLst/>
              <a:uFillTx/>
              <a:latin typeface="Arial"/>
            </a:endParaRPr>
          </a:p>
          <a:p>
            <a:pPr defTabSz="457200">
              <a:lnSpc>
                <a:spcPct val="100000"/>
              </a:lnSpc>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456" name="Rounded Rectangle 14"/>
          <p:cNvSpPr/>
          <p:nvPr/>
        </p:nvSpPr>
        <p:spPr>
          <a:xfrm>
            <a:off x="461160" y="4237560"/>
            <a:ext cx="6733800" cy="958680"/>
          </a:xfrm>
          <a:prstGeom prst="roundRect">
            <a:avLst>
              <a:gd name="adj" fmla="val 743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145C30"/>
                </a:solidFill>
                <a:effectLst/>
                <a:uFillTx/>
                <a:latin typeface="Marianne Light"/>
              </a:rPr>
              <a:t>Total des prélèvements d’eau sur les sites situés dans les zones soumises à un stress hydrique élevé (en </a:t>
            </a:r>
            <a:r>
              <a:rPr lang="en-FR" sz="1200" b="0" u="none" strike="noStrike">
                <a:solidFill>
                  <a:srgbClr val="145C30"/>
                </a:solidFill>
                <a:effectLst/>
                <a:uFillTx/>
                <a:latin typeface="Marianne Light"/>
              </a:rPr>
              <a:t>m³</a:t>
            </a:r>
            <a:r>
              <a:rPr lang="fr-FR" sz="1200" b="0" u="none" strike="noStrike">
                <a:solidFill>
                  <a:srgbClr val="145C30"/>
                </a:solidFill>
                <a:effectLst/>
                <a:uFillTx/>
                <a:latin typeface="Marianne Light"/>
              </a:rPr>
              <a:t>) </a:t>
            </a:r>
            <a:endParaRPr lang="fr-FR" sz="1200" b="0" u="none" strike="noStrike">
              <a:solidFill>
                <a:srgbClr val="000000"/>
              </a:solidFill>
              <a:effectLst/>
              <a:uFillTx/>
              <a:latin typeface="Arial"/>
            </a:endParaRPr>
          </a:p>
          <a:p>
            <a:pPr defTabSz="457200">
              <a:lnSpc>
                <a:spcPct val="100000"/>
              </a:lnSpc>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457" name="Rounded Rectangle 15"/>
          <p:cNvSpPr/>
          <p:nvPr/>
        </p:nvSpPr>
        <p:spPr>
          <a:xfrm>
            <a:off x="461160" y="5380560"/>
            <a:ext cx="6733800" cy="793440"/>
          </a:xfrm>
          <a:prstGeom prst="roundRect">
            <a:avLst>
              <a:gd name="adj" fmla="val 743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145C30"/>
                </a:solidFill>
                <a:effectLst/>
                <a:uFillTx/>
                <a:latin typeface="Marianne Light"/>
              </a:rPr>
              <a:t>Consommation d’eau (en </a:t>
            </a:r>
            <a:r>
              <a:rPr lang="en-FR" sz="1200" b="0" u="none" strike="noStrike">
                <a:solidFill>
                  <a:srgbClr val="145C30"/>
                </a:solidFill>
                <a:effectLst/>
                <a:uFillTx/>
                <a:latin typeface="Marianne Light"/>
              </a:rPr>
              <a:t>m³</a:t>
            </a:r>
            <a:r>
              <a:rPr lang="fr-FR" sz="1200" b="0" u="none" strike="noStrike">
                <a:solidFill>
                  <a:srgbClr val="145C30"/>
                </a:solidFill>
                <a:effectLst/>
                <a:uFillTx/>
                <a:latin typeface="Marianne Light"/>
              </a:rPr>
              <a:t>) </a:t>
            </a:r>
            <a:endParaRPr lang="fr-FR" sz="1200" b="0" u="none" strike="noStrike">
              <a:solidFill>
                <a:srgbClr val="000000"/>
              </a:solidFill>
              <a:effectLst/>
              <a:uFillTx/>
              <a:latin typeface="Arial"/>
            </a:endParaRPr>
          </a:p>
          <a:p>
            <a:pPr defTabSz="457200">
              <a:lnSpc>
                <a:spcPct val="100000"/>
              </a:lnSpc>
            </a:pPr>
            <a:r>
              <a:rPr lang="en-GB" sz="1200" b="0"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8" name="Picture 4" descr="Green leaves on the trees in spring"/>
          <p:cNvPicPr/>
          <p:nvPr/>
        </p:nvPicPr>
        <p:blipFill>
          <a:blip r:embed="rId1"/>
          <a:stretch/>
        </p:blipFill>
        <p:spPr>
          <a:xfrm>
            <a:off x="0" y="0"/>
            <a:ext cx="7554600" cy="10686600"/>
          </a:xfrm>
          <a:prstGeom prst="rect">
            <a:avLst/>
          </a:prstGeom>
          <a:noFill/>
          <a:ln w="0">
            <a:noFill/>
          </a:ln>
        </p:spPr>
      </p:pic>
      <p:sp>
        <p:nvSpPr>
          <p:cNvPr id="459"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60"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461" name="Straight Connector 17"/>
          <p:cNvCxnSpPr/>
          <p:nvPr/>
        </p:nvCxnSpPr>
        <p:spPr>
          <a:xfrm>
            <a:off x="893160" y="2525400"/>
            <a:ext cx="5040" cy="710640"/>
          </a:xfrm>
          <a:prstGeom prst="straightConnector1">
            <a:avLst/>
          </a:prstGeom>
          <a:ln w="3175">
            <a:solidFill>
              <a:srgbClr val="A6A6A6"/>
            </a:solidFill>
            <a:round/>
          </a:ln>
        </p:spPr>
      </p:cxnSp>
      <p:pic>
        <p:nvPicPr>
          <p:cNvPr id="462"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63"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64"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65"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66"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67"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Description des principes de l'économie circulaire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8" name="Picture 4" descr="Green leaves on the trees in spring"/>
          <p:cNvPicPr/>
          <p:nvPr/>
        </p:nvPicPr>
        <p:blipFill>
          <a:blip r:embed="rId1"/>
          <a:stretch/>
        </p:blipFill>
        <p:spPr>
          <a:xfrm>
            <a:off x="0" y="0"/>
            <a:ext cx="7554600" cy="10686600"/>
          </a:xfrm>
          <a:prstGeom prst="rect">
            <a:avLst/>
          </a:prstGeom>
          <a:noFill/>
          <a:ln w="0">
            <a:noFill/>
          </a:ln>
        </p:spPr>
      </p:pic>
      <p:sp>
        <p:nvSpPr>
          <p:cNvPr id="469"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70"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471" name="Straight Connector 17"/>
          <p:cNvCxnSpPr/>
          <p:nvPr/>
        </p:nvCxnSpPr>
        <p:spPr>
          <a:xfrm>
            <a:off x="893160" y="2525400"/>
            <a:ext cx="5040" cy="710640"/>
          </a:xfrm>
          <a:prstGeom prst="straightConnector1">
            <a:avLst/>
          </a:prstGeom>
          <a:ln w="3175">
            <a:solidFill>
              <a:srgbClr val="A6A6A6"/>
            </a:solidFill>
            <a:round/>
          </a:ln>
        </p:spPr>
      </p:cxnSp>
      <p:pic>
        <p:nvPicPr>
          <p:cNvPr id="472"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73"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74"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75"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76"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77"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Classification des déchets (1/2)</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478" name="Table 9"/>
          <p:cNvGraphicFramePr/>
          <p:nvPr/>
        </p:nvGraphicFramePr>
        <p:xfrm>
          <a:off x="649080" y="4037400"/>
          <a:ext cx="6215400" cy="6033600"/>
        </p:xfrm>
        <a:graphic>
          <a:graphicData uri="http://schemas.openxmlformats.org/drawingml/2006/table">
            <a:tbl>
              <a:tblPr/>
              <a:tblGrid>
                <a:gridCol w="1898640"/>
                <a:gridCol w="4317120"/>
              </a:tblGrid>
              <a:tr h="46008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Type de déchets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71280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01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Déchets provenant de l'exploration et de l'exploitation des mines et des carrières ainsi que du traitement physique et chimique des minéraux</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rgbClr val="EBEEED"/>
                    </a:solidFill>
                  </a:tcPr>
                </a:tc>
              </a:tr>
              <a:tr h="91404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02</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Déchets provenant de l'agriculture, de l'horticulture, de l'aquaculture, de la sylviculture, de la chasse et de la pêche ainsi que de la préparation et de la transformation des aliments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712800">
                <a:tc>
                  <a:txBody>
                    <a:bodyPr anchor="ctr">
                      <a:noAutofit/>
                    </a:bodyPr>
                    <a:p>
                      <a:pPr algn="ctr" defTabSz="756000">
                        <a:lnSpc>
                          <a:spcPct val="100000"/>
                        </a:lnSpc>
                      </a:pPr>
                      <a:r>
                        <a:rPr lang="fr-FR" sz="1100" b="0" u="none" strike="noStrike">
                          <a:solidFill>
                            <a:schemeClr val="dk1"/>
                          </a:solidFill>
                          <a:effectLst/>
                          <a:uFillTx/>
                          <a:latin typeface="Marianne Medium"/>
                        </a:rPr>
                        <a:t>03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Déchets provenant de la transformation du bois et de la production de panneaux et de meubles, de pâte à papier, de papier et de carton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565200">
                <a:tc>
                  <a:txBody>
                    <a:bodyPr anchor="ctr">
                      <a:noAutofit/>
                    </a:bodyPr>
                    <a:p>
                      <a:pPr algn="ctr" defTabSz="756000">
                        <a:lnSpc>
                          <a:spcPct val="100000"/>
                        </a:lnSpc>
                      </a:pPr>
                      <a:r>
                        <a:rPr lang="fr-FR" sz="1100" b="0" u="none" strike="noStrike">
                          <a:solidFill>
                            <a:schemeClr val="dk1"/>
                          </a:solidFill>
                          <a:effectLst/>
                          <a:uFillTx/>
                          <a:latin typeface="Marianne Medium"/>
                        </a:rPr>
                        <a:t>04</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Déchets provenant des industries du cuir, de la fourrure et du textile</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511920">
                <a:tc>
                  <a:txBody>
                    <a:bodyPr anchor="ctr">
                      <a:noAutofit/>
                    </a:bodyPr>
                    <a:p>
                      <a:pPr algn="ctr" defTabSz="756000">
                        <a:lnSpc>
                          <a:spcPct val="100000"/>
                        </a:lnSpc>
                      </a:pPr>
                      <a:r>
                        <a:rPr lang="fr-FR" sz="1100" b="0" u="none" strike="noStrike">
                          <a:solidFill>
                            <a:schemeClr val="dk1"/>
                          </a:solidFill>
                          <a:effectLst/>
                          <a:uFillTx/>
                          <a:latin typeface="Marianne Medium"/>
                        </a:rPr>
                        <a:t>05</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Déchets provenant du raffinage du pétrole, de la purification du gaz naturel et du traitement pyrolitique du charbon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310680">
                <a:tc>
                  <a:txBody>
                    <a:bodyPr anchor="ctr">
                      <a:noAutofit/>
                    </a:bodyPr>
                    <a:p>
                      <a:pPr algn="ctr" defTabSz="756000">
                        <a:lnSpc>
                          <a:spcPct val="100000"/>
                        </a:lnSpc>
                      </a:pPr>
                      <a:r>
                        <a:rPr lang="fr-FR" sz="1100" b="0" u="none" strike="noStrike">
                          <a:solidFill>
                            <a:schemeClr val="dk1"/>
                          </a:solidFill>
                          <a:effectLst/>
                          <a:uFillTx/>
                          <a:latin typeface="Marianne Medium"/>
                        </a:rPr>
                        <a:t>06</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des procédés de la chimie minérale</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310680">
                <a:tc>
                  <a:txBody>
                    <a:bodyPr anchor="ctr">
                      <a:noAutofit/>
                    </a:bodyPr>
                    <a:p>
                      <a:pPr algn="ctr" defTabSz="756000">
                        <a:lnSpc>
                          <a:spcPct val="100000"/>
                        </a:lnSpc>
                      </a:pPr>
                      <a:r>
                        <a:rPr lang="fr-FR" sz="1100" b="0" u="none" strike="noStrike">
                          <a:solidFill>
                            <a:schemeClr val="dk1"/>
                          </a:solidFill>
                          <a:effectLst/>
                          <a:uFillTx/>
                          <a:latin typeface="Marianne Medium"/>
                        </a:rPr>
                        <a:t>07</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des procédés de la chimie organique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914040">
                <a:tc>
                  <a:txBody>
                    <a:bodyPr anchor="ctr">
                      <a:noAutofit/>
                    </a:bodyPr>
                    <a:p>
                      <a:pPr algn="ctr" defTabSz="756000">
                        <a:lnSpc>
                          <a:spcPct val="100000"/>
                        </a:lnSpc>
                      </a:pPr>
                      <a:r>
                        <a:rPr lang="fr-FR" sz="1100" b="0" u="none" strike="noStrike">
                          <a:solidFill>
                            <a:schemeClr val="dk1"/>
                          </a:solidFill>
                          <a:effectLst/>
                          <a:uFillTx/>
                          <a:latin typeface="Marianne Medium"/>
                        </a:rPr>
                        <a:t>08</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de la fabrication, de la formulation, de la distribution et de l'utilisation (FFDU) de produits de revêtement (peintures, vernis et émaux vitrifiés), mastics et encres d'impression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310680">
                <a:tc>
                  <a:txBody>
                    <a:bodyPr anchor="ctr">
                      <a:noAutofit/>
                    </a:bodyPr>
                    <a:p>
                      <a:pPr algn="ctr" defTabSz="756000">
                        <a:lnSpc>
                          <a:spcPct val="100000"/>
                        </a:lnSpc>
                      </a:pPr>
                      <a:r>
                        <a:rPr lang="fr-FR" sz="1100" b="0" u="none" strike="noStrike">
                          <a:solidFill>
                            <a:schemeClr val="dk1"/>
                          </a:solidFill>
                          <a:effectLst/>
                          <a:uFillTx/>
                          <a:latin typeface="Marianne Medium"/>
                        </a:rPr>
                        <a:t>09</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fr-FR" sz="1100" b="0" u="none" strike="noStrike">
                          <a:solidFill>
                            <a:schemeClr val="dk1"/>
                          </a:solidFill>
                          <a:effectLst/>
                          <a:uFillTx/>
                          <a:latin typeface="Marianne Light"/>
                        </a:rPr>
                        <a:t>D</a:t>
                      </a:r>
                      <a:r>
                        <a:rPr lang="en-FR" sz="1100" b="0" u="none" strike="noStrike">
                          <a:solidFill>
                            <a:schemeClr val="dk1"/>
                          </a:solidFill>
                          <a:effectLst/>
                          <a:uFillTx/>
                          <a:latin typeface="Marianne Light"/>
                        </a:rPr>
                        <a:t>échets provenant de l'industrie photographique</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310680">
                <a:tc>
                  <a:txBody>
                    <a:bodyPr anchor="ctr">
                      <a:noAutofit/>
                    </a:bodyPr>
                    <a:p>
                      <a:pPr algn="ctr" defTabSz="756000">
                        <a:lnSpc>
                          <a:spcPct val="100000"/>
                        </a:lnSpc>
                      </a:pPr>
                      <a:r>
                        <a:rPr lang="fr-FR" sz="1100" b="0" u="none" strike="noStrike">
                          <a:solidFill>
                            <a:schemeClr val="dk1"/>
                          </a:solidFill>
                          <a:effectLst/>
                          <a:uFillTx/>
                          <a:latin typeface="Marianne Medium"/>
                        </a:rPr>
                        <a:t>10</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de procédés thermiques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9" name="Picture 4" descr="Green leaves on the trees in spring"/>
          <p:cNvPicPr/>
          <p:nvPr/>
        </p:nvPicPr>
        <p:blipFill>
          <a:blip r:embed="rId1"/>
          <a:stretch/>
        </p:blipFill>
        <p:spPr>
          <a:xfrm>
            <a:off x="0" y="0"/>
            <a:ext cx="7554600" cy="10686600"/>
          </a:xfrm>
          <a:prstGeom prst="rect">
            <a:avLst/>
          </a:prstGeom>
          <a:noFill/>
          <a:ln w="0">
            <a:noFill/>
          </a:ln>
        </p:spPr>
      </p:pic>
      <p:sp>
        <p:nvSpPr>
          <p:cNvPr id="480"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81"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482" name="Straight Connector 17"/>
          <p:cNvCxnSpPr/>
          <p:nvPr/>
        </p:nvCxnSpPr>
        <p:spPr>
          <a:xfrm>
            <a:off x="893160" y="2525400"/>
            <a:ext cx="5040" cy="710640"/>
          </a:xfrm>
          <a:prstGeom prst="straightConnector1">
            <a:avLst/>
          </a:prstGeom>
          <a:ln w="3175">
            <a:solidFill>
              <a:srgbClr val="A6A6A6"/>
            </a:solidFill>
            <a:round/>
          </a:ln>
        </p:spPr>
      </p:cxnSp>
      <p:pic>
        <p:nvPicPr>
          <p:cNvPr id="483"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84"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85"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86"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87"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88"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Classification des déchets (2/2)</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489" name="Table 9"/>
          <p:cNvGraphicFramePr/>
          <p:nvPr/>
        </p:nvGraphicFramePr>
        <p:xfrm>
          <a:off x="649080" y="4037400"/>
          <a:ext cx="6215400" cy="5793480"/>
        </p:xfrm>
        <a:graphic>
          <a:graphicData uri="http://schemas.openxmlformats.org/drawingml/2006/table">
            <a:tbl>
              <a:tblPr/>
              <a:tblGrid>
                <a:gridCol w="1898640"/>
                <a:gridCol w="4317120"/>
              </a:tblGrid>
              <a:tr h="3024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Type de déchets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338040">
                <a:tc>
                  <a:txBody>
                    <a:bodyPr anchor="ctr">
                      <a:noAutofit/>
                    </a:bodyPr>
                    <a:p>
                      <a:pPr algn="ctr" defTabSz="756000">
                        <a:lnSpc>
                          <a:spcPct val="100000"/>
                        </a:lnSpc>
                      </a:pPr>
                      <a:r>
                        <a:rPr lang="fr-FR" sz="1100" b="0" u="none" strike="noStrike">
                          <a:solidFill>
                            <a:schemeClr val="dk1"/>
                          </a:solidFill>
                          <a:effectLst/>
                          <a:uFillTx/>
                          <a:latin typeface="Marianne Medium"/>
                        </a:rPr>
                        <a:t>11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du traitement chimique de surface et du revêtement des métaux et autres matériaux, et de l'hydrométallurgie des métaux non ferreux</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rgbClr val="EBEEED"/>
                    </a:solidFill>
                  </a:tcPr>
                </a:tc>
              </a:tr>
              <a:tr h="338040">
                <a:tc>
                  <a:txBody>
                    <a:bodyPr anchor="ctr">
                      <a:noAutofit/>
                    </a:bodyPr>
                    <a:p>
                      <a:pPr algn="ctr" defTabSz="756000">
                        <a:lnSpc>
                          <a:spcPct val="100000"/>
                        </a:lnSpc>
                      </a:pPr>
                      <a:r>
                        <a:rPr lang="fr-FR" sz="1100" b="0" u="none" strike="noStrike">
                          <a:solidFill>
                            <a:schemeClr val="dk1"/>
                          </a:solidFill>
                          <a:effectLst/>
                          <a:uFillTx/>
                          <a:latin typeface="Marianne Medium"/>
                        </a:rPr>
                        <a:t>12</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de la mise en forme et du traitement physique et mécanique de surface des métaux et matières plastiques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Huiles et combustibles liquides usagés (sauf huiles alimentaires et huiles figurant aux chapitres 05, 12 et 19)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470880">
                <a:tc>
                  <a:txBody>
                    <a:bodyPr anchor="ctr">
                      <a:noAutofit/>
                    </a:bodyPr>
                    <a:p>
                      <a:pPr algn="ctr" defTabSz="756000">
                        <a:lnSpc>
                          <a:spcPct val="100000"/>
                        </a:lnSpc>
                      </a:pPr>
                      <a:r>
                        <a:rPr lang="fr-FR" sz="1100" b="0" u="none" strike="noStrike">
                          <a:solidFill>
                            <a:schemeClr val="dk1"/>
                          </a:solidFill>
                          <a:effectLst/>
                          <a:uFillTx/>
                          <a:latin typeface="Marianne Medium"/>
                        </a:rPr>
                        <a:t>14</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de solvants organiques, d'agents réfrigérants et propulseurs (sauf chapitres 07 et 08)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338040">
                <a:tc>
                  <a:txBody>
                    <a:bodyPr anchor="ctr">
                      <a:noAutofit/>
                    </a:bodyPr>
                    <a:p>
                      <a:pPr algn="ctr" defTabSz="756000">
                        <a:lnSpc>
                          <a:spcPct val="100000"/>
                        </a:lnSpc>
                      </a:pPr>
                      <a:r>
                        <a:rPr lang="fr-FR" sz="1100" b="0" u="none" strike="noStrike">
                          <a:solidFill>
                            <a:schemeClr val="dk1"/>
                          </a:solidFill>
                          <a:effectLst/>
                          <a:uFillTx/>
                          <a:latin typeface="Marianne Medium"/>
                        </a:rPr>
                        <a:t>15</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Emballages et déchets d'emballages ; absorbants, chiffons d'essuyage, matériaux filtrants et vêtements de protection non spécifiés ailleurs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16</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non décrits ailleurs sur la liste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17</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de construction et de démolition (y compris déblais provenant de sites contaminés)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18</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des soins médicaux ou vétérinaires et/ou de la recherche associée (sauf déchets de cuisine et de restauration ne provenant pas directement des soins médicaux)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19</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tabLst>
                          <a:tab pos="0" algn="l"/>
                        </a:tabLst>
                      </a:pPr>
                      <a:r>
                        <a:rPr lang="en-FR" sz="1100" b="0" u="none" strike="noStrike">
                          <a:solidFill>
                            <a:schemeClr val="dk1"/>
                          </a:solidFill>
                          <a:effectLst/>
                          <a:uFillTx/>
                          <a:latin typeface="Marianne Light"/>
                        </a:rPr>
                        <a:t>Déchets provenant des installations de gestion des déchets, des stations d'épuration des eaux usées hors site et de la préparation d'eau destinée à la consommation humaine et d'eau à usage industriel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20</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defTabSz="756000">
                        <a:lnSpc>
                          <a:spcPct val="100000"/>
                        </a:lnSpc>
                      </a:pPr>
                      <a:r>
                        <a:rPr lang="en-FR" sz="1100" b="0" u="none" strike="noStrike">
                          <a:solidFill>
                            <a:schemeClr val="dk1"/>
                          </a:solidFill>
                          <a:effectLst/>
                          <a:uFillTx/>
                          <a:latin typeface="Marianne Light"/>
                        </a:rPr>
                        <a:t>Déchets municipaux (déchets ménagers et déchets assimilés provenant des commerces, des industries et des administrations), y compris les fractions collectées séparément </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0" name="Picture 4" descr="Green leaves on the trees in spring"/>
          <p:cNvPicPr/>
          <p:nvPr/>
        </p:nvPicPr>
        <p:blipFill>
          <a:blip r:embed="rId1"/>
          <a:stretch/>
        </p:blipFill>
        <p:spPr>
          <a:xfrm>
            <a:off x="0" y="0"/>
            <a:ext cx="7554600" cy="10686600"/>
          </a:xfrm>
          <a:prstGeom prst="rect">
            <a:avLst/>
          </a:prstGeom>
          <a:noFill/>
          <a:ln w="0">
            <a:noFill/>
          </a:ln>
        </p:spPr>
      </p:pic>
      <p:sp>
        <p:nvSpPr>
          <p:cNvPr id="49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492"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493" name="Straight Connector 17"/>
          <p:cNvCxnSpPr/>
          <p:nvPr/>
        </p:nvCxnSpPr>
        <p:spPr>
          <a:xfrm>
            <a:off x="893160" y="2525400"/>
            <a:ext cx="5040" cy="710640"/>
          </a:xfrm>
          <a:prstGeom prst="straightConnector1">
            <a:avLst/>
          </a:prstGeom>
          <a:ln w="3175">
            <a:solidFill>
              <a:srgbClr val="A6A6A6"/>
            </a:solidFill>
            <a:round/>
          </a:ln>
        </p:spPr>
      </p:cxnSp>
      <p:pic>
        <p:nvPicPr>
          <p:cNvPr id="49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495"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496"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497"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498"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499"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Gestion des déchets</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00" name="Table 9"/>
          <p:cNvGraphicFramePr/>
          <p:nvPr/>
        </p:nvGraphicFramePr>
        <p:xfrm>
          <a:off x="649080" y="4037400"/>
          <a:ext cx="6341400" cy="2934720"/>
        </p:xfrm>
        <a:graphic>
          <a:graphicData uri="http://schemas.openxmlformats.org/drawingml/2006/table">
            <a:tbl>
              <a:tblPr/>
              <a:tblGrid>
                <a:gridCol w="527760"/>
                <a:gridCol w="1002240"/>
                <a:gridCol w="807480"/>
                <a:gridCol w="1417320"/>
                <a:gridCol w="1478160"/>
                <a:gridCol w="1108800"/>
              </a:tblGrid>
              <a:tr h="3024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Type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Nom</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Dangereux</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Total des déchets produits (en tonnes)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Dont déchets orientés vers le recyclage ou la réutilisation (en tonnes)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Dont déchets éliminés (en tonnes)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33804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01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02</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16</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470880">
                <a:tc>
                  <a:txBody>
                    <a:bodyPr anchor="ctr">
                      <a:noAutofit/>
                    </a:bodyPr>
                    <a:p>
                      <a:pPr algn="ctr" defTabSz="756000">
                        <a:lnSpc>
                          <a:spcPct val="100000"/>
                        </a:lnSpc>
                      </a:pPr>
                      <a:r>
                        <a:rPr lang="fr-FR" sz="1100" b="0" u="none" strike="noStrike">
                          <a:solidFill>
                            <a:schemeClr val="dk1"/>
                          </a:solidFill>
                          <a:effectLst/>
                          <a:uFillTx/>
                          <a:latin typeface="Marianne Medium"/>
                        </a:rPr>
                        <a:t>18</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algn="ctr" defTabSz="756000">
                        <a:lnSpc>
                          <a:spcPct val="100000"/>
                        </a:lnSpc>
                      </a:pPr>
                      <a:r>
                        <a:rPr lang="fr-FR" sz="1100" b="0" u="none" strike="noStrike">
                          <a:solidFill>
                            <a:schemeClr val="dk1"/>
                          </a:solidFill>
                          <a:effectLst/>
                          <a:uFillTx/>
                          <a:latin typeface="Marianne Medium"/>
                        </a:rPr>
                        <a:t>20</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0">
                <a:tc>
                  <a:txBody>
                    <a:bodyPr anchor="ctr">
                      <a:noAutofit/>
                    </a:bodyPr>
                    <a:p>
                      <a:pPr algn="ctr" defTabSz="756000">
                        <a:lnSpc>
                          <a:spcPct val="100000"/>
                        </a:lnSpc>
                      </a:pPr>
                      <a:r>
                        <a:rPr lang="fr-FR" sz="1100" b="0" u="none" strike="noStrike">
                          <a:solidFill>
                            <a:schemeClr val="dk1"/>
                          </a:solidFill>
                          <a:effectLst/>
                          <a:uFillTx/>
                          <a:latin typeface="Marianne Medium"/>
                        </a:rPr>
                        <a:t>21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1" name="Picture 4" descr="Green leaves on the trees in spring"/>
          <p:cNvPicPr/>
          <p:nvPr/>
        </p:nvPicPr>
        <p:blipFill>
          <a:blip r:embed="rId1"/>
          <a:stretch/>
        </p:blipFill>
        <p:spPr>
          <a:xfrm>
            <a:off x="0" y="0"/>
            <a:ext cx="7554600" cy="10686600"/>
          </a:xfrm>
          <a:prstGeom prst="rect">
            <a:avLst/>
          </a:prstGeom>
          <a:noFill/>
          <a:ln w="0">
            <a:noFill/>
          </a:ln>
        </p:spPr>
      </p:pic>
      <p:sp>
        <p:nvSpPr>
          <p:cNvPr id="50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03"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504" name="Straight Connector 17"/>
          <p:cNvCxnSpPr/>
          <p:nvPr/>
        </p:nvCxnSpPr>
        <p:spPr>
          <a:xfrm>
            <a:off x="893160" y="2525400"/>
            <a:ext cx="5040" cy="710640"/>
          </a:xfrm>
          <a:prstGeom prst="straightConnector1">
            <a:avLst/>
          </a:prstGeom>
          <a:ln w="3175">
            <a:solidFill>
              <a:srgbClr val="A6A6A6"/>
            </a:solidFill>
            <a:round/>
          </a:ln>
        </p:spPr>
      </p:cxnSp>
      <p:pic>
        <p:nvPicPr>
          <p:cNvPr id="505"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06"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07"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08"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09"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10"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Gestion des déchets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 ne produit que des déchets ménagers</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11" name="Picture 4" descr="Green leaves on the trees in spring"/>
          <p:cNvPicPr/>
          <p:nvPr/>
        </p:nvPicPr>
        <p:blipFill>
          <a:blip r:embed="rId1"/>
          <a:stretch/>
        </p:blipFill>
        <p:spPr>
          <a:xfrm>
            <a:off x="0" y="0"/>
            <a:ext cx="7554600" cy="10686600"/>
          </a:xfrm>
          <a:prstGeom prst="rect">
            <a:avLst/>
          </a:prstGeom>
          <a:noFill/>
          <a:ln w="0">
            <a:noFill/>
          </a:ln>
        </p:spPr>
      </p:pic>
      <p:sp>
        <p:nvSpPr>
          <p:cNvPr id="51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13"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514" name="Straight Connector 17"/>
          <p:cNvCxnSpPr/>
          <p:nvPr/>
        </p:nvCxnSpPr>
        <p:spPr>
          <a:xfrm>
            <a:off x="893160" y="2525400"/>
            <a:ext cx="5040" cy="710640"/>
          </a:xfrm>
          <a:prstGeom prst="straightConnector1">
            <a:avLst/>
          </a:prstGeom>
          <a:ln w="3175">
            <a:solidFill>
              <a:srgbClr val="A6A6A6"/>
            </a:solidFill>
            <a:round/>
          </a:ln>
        </p:spPr>
      </p:cxnSp>
      <p:pic>
        <p:nvPicPr>
          <p:cNvPr id="515"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16"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17"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18"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19"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20"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Flux massique annuel des matières pertinentes utilisées</a:t>
            </a: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21" name="Table 10"/>
          <p:cNvGraphicFramePr/>
          <p:nvPr/>
        </p:nvGraphicFramePr>
        <p:xfrm>
          <a:off x="649080" y="4037400"/>
          <a:ext cx="6299280" cy="2503800"/>
        </p:xfrm>
        <a:graphic>
          <a:graphicData uri="http://schemas.openxmlformats.org/drawingml/2006/table">
            <a:tbl>
              <a:tblPr/>
              <a:tblGrid>
                <a:gridCol w="2099880"/>
                <a:gridCol w="2099880"/>
                <a:gridCol w="2099880"/>
              </a:tblGrid>
              <a:tr h="52740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Nom de la matière essentielle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Masse/Volume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Unité de mesure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rgbClr val="000000"/>
                          </a:solidFill>
                          <a:effectLst/>
                          <a:uFillTx/>
                          <a:latin typeface="Marianne Medium"/>
                        </a:rPr>
                        <a:t>tonnes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rgbClr val="000000"/>
                          </a:solidFill>
                          <a:effectLst/>
                          <a:uFillTx/>
                          <a:latin typeface="Marianne Medium"/>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m³</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rgbClr val="000000"/>
                          </a:solidFill>
                          <a:effectLst/>
                          <a:uFillTx/>
                          <a:latin typeface="Marianne Medium"/>
                        </a:rPr>
                        <a:t>tonnes</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rgbClr val="000000"/>
                          </a:solidFill>
                          <a:effectLst/>
                          <a:uFillTx/>
                          <a:latin typeface="Marianne Medium"/>
                        </a:rPr>
                        <a:t>kg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29400">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m³</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22" name="Picture 4" descr="Green leaves on the trees in spring"/>
          <p:cNvPicPr/>
          <p:nvPr/>
        </p:nvPicPr>
        <p:blipFill>
          <a:blip r:embed="rId1"/>
          <a:stretch/>
        </p:blipFill>
        <p:spPr>
          <a:xfrm>
            <a:off x="0" y="0"/>
            <a:ext cx="7554600" cy="10686600"/>
          </a:xfrm>
          <a:prstGeom prst="rect">
            <a:avLst/>
          </a:prstGeom>
          <a:noFill/>
          <a:ln w="0">
            <a:noFill/>
          </a:ln>
        </p:spPr>
      </p:pic>
      <p:sp>
        <p:nvSpPr>
          <p:cNvPr id="52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24"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B7</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Utilisation des ressources, économie circulaire et gestion des déchets</a:t>
            </a:r>
            <a:endParaRPr lang="fr-FR" sz="1400" b="0" u="none" strike="noStrike">
              <a:solidFill>
                <a:srgbClr val="000000"/>
              </a:solidFill>
              <a:effectLst/>
              <a:uFillTx/>
              <a:latin typeface="Arial"/>
            </a:endParaRPr>
          </a:p>
        </p:txBody>
      </p:sp>
      <p:cxnSp>
        <p:nvCxnSpPr>
          <p:cNvPr id="525" name="Straight Connector 17"/>
          <p:cNvCxnSpPr/>
          <p:nvPr/>
        </p:nvCxnSpPr>
        <p:spPr>
          <a:xfrm>
            <a:off x="893160" y="2525400"/>
            <a:ext cx="5040" cy="710640"/>
          </a:xfrm>
          <a:prstGeom prst="straightConnector1">
            <a:avLst/>
          </a:prstGeom>
          <a:ln w="3175">
            <a:solidFill>
              <a:srgbClr val="A6A6A6"/>
            </a:solidFill>
            <a:round/>
          </a:ln>
        </p:spPr>
      </p:cxnSp>
      <p:pic>
        <p:nvPicPr>
          <p:cNvPr id="52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2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28"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29"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30"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31"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Flux massique annuel des matières pertinentes utilisées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 n'exerce pas d'activité dans un secteur utilisant des flux de matières importants (fabrication, construction, emballage ou autres).</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32" name="Picture 4" descr="Green leaves on the trees in spring"/>
          <p:cNvPicPr/>
          <p:nvPr/>
        </p:nvPicPr>
        <p:blipFill>
          <a:blip r:embed="rId1"/>
          <a:stretch/>
        </p:blipFill>
        <p:spPr>
          <a:xfrm>
            <a:off x="0" y="0"/>
            <a:ext cx="7554600" cy="10686600"/>
          </a:xfrm>
          <a:prstGeom prst="rect">
            <a:avLst/>
          </a:prstGeom>
          <a:noFill/>
          <a:ln w="0">
            <a:noFill/>
          </a:ln>
        </p:spPr>
      </p:pic>
      <p:sp>
        <p:nvSpPr>
          <p:cNvPr id="53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34"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35" name="Straight Connector 17"/>
          <p:cNvCxnSpPr/>
          <p:nvPr/>
        </p:nvCxnSpPr>
        <p:spPr>
          <a:xfrm>
            <a:off x="893160" y="2525400"/>
            <a:ext cx="5040" cy="710640"/>
          </a:xfrm>
          <a:prstGeom prst="straightConnector1">
            <a:avLst/>
          </a:prstGeom>
          <a:ln w="3175">
            <a:solidFill>
              <a:srgbClr val="A6A6A6"/>
            </a:solidFill>
            <a:round/>
          </a:ln>
        </p:spPr>
      </p:cxnSp>
      <p:pic>
        <p:nvPicPr>
          <p:cNvPr id="53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3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38"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39"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40"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41" name="Rounded Rectangle 8"/>
          <p:cNvSpPr/>
          <p:nvPr/>
        </p:nvSpPr>
        <p:spPr>
          <a:xfrm>
            <a:off x="410400" y="4354920"/>
            <a:ext cx="6733800" cy="588564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des scopes 1 et 2</a:t>
            </a: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42" name="Table 9"/>
          <p:cNvGraphicFramePr/>
          <p:nvPr/>
        </p:nvGraphicFramePr>
        <p:xfrm>
          <a:off x="649080" y="4958640"/>
          <a:ext cx="6260400" cy="4730760"/>
        </p:xfrm>
        <a:graphic>
          <a:graphicData uri="http://schemas.openxmlformats.org/drawingml/2006/table">
            <a:tbl>
              <a:tblPr/>
              <a:tblGrid>
                <a:gridCol w="954720"/>
                <a:gridCol w="1218960"/>
                <a:gridCol w="1218960"/>
                <a:gridCol w="1022040"/>
                <a:gridCol w="1846080"/>
              </a:tblGrid>
              <a:tr h="69012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noFill/>
                      <a:prstDash val="solid"/>
                    </a:lnL>
                    <a:lnR w="12240">
                      <a:noFill/>
                      <a:prstDash val="solid"/>
                    </a:lnR>
                    <a:lnT w="12240">
                      <a:noFill/>
                      <a:prstDash val="solid"/>
                    </a:lnT>
                    <a:lnB w="12240">
                      <a:noFill/>
                      <a:prstDash val="solid"/>
                    </a:lnB>
                    <a:no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de référence</a:t>
                      </a:r>
                      <a:r>
                        <a:rPr lang="fr-FR" sz="1100" b="0" u="none" strike="noStrike">
                          <a:solidFill>
                            <a:srgbClr val="145C30"/>
                          </a:solidFill>
                          <a:effectLst/>
                          <a:uFillTx/>
                          <a:latin typeface="Marianne Light"/>
                        </a:rPr>
                        <a:t> </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(en teqCO₂) </a:t>
                      </a:r>
                      <a:endParaRPr lang="fr-FR" sz="1100" b="0" u="none" strike="noStrike">
                        <a:solidFill>
                          <a:srgbClr val="000000"/>
                        </a:solidFill>
                        <a:effectLst/>
                        <a:uFillTx/>
                        <a:latin typeface="Arial"/>
                      </a:endParaRPr>
                    </a:p>
                  </a:txBody>
                  <a:tcPr anchor="ctr" marL="108000" marR="10800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cible</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(en teqCO₂)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Réduction en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Principales actions prévues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2020320">
                <a:tc>
                  <a:txBody>
                    <a:bodyPr anchor="ctr">
                      <a:noAutofit/>
                    </a:bodyPr>
                    <a:p>
                      <a:pPr algn="ctr" defTabSz="756000">
                        <a:lnSpc>
                          <a:spcPct val="100000"/>
                        </a:lnSpc>
                      </a:pPr>
                      <a:r>
                        <a:rPr lang="fr-FR" sz="1100" b="0" u="none" strike="noStrike">
                          <a:solidFill>
                            <a:srgbClr val="145C30"/>
                          </a:solidFill>
                          <a:effectLst/>
                          <a:uFillTx/>
                          <a:latin typeface="Marianne Light"/>
                        </a:rPr>
                        <a:t>Scope 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no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2020320">
                <a:tc>
                  <a:txBody>
                    <a:bodyPr anchor="ctr">
                      <a:noAutofit/>
                    </a:bodyPr>
                    <a:p>
                      <a:pPr algn="ctr" defTabSz="756000">
                        <a:lnSpc>
                          <a:spcPct val="100000"/>
                        </a:lnSpc>
                      </a:pPr>
                      <a:r>
                        <a:rPr lang="fr-FR" sz="1100" b="0" u="none" strike="noStrike">
                          <a:solidFill>
                            <a:srgbClr val="145C30"/>
                          </a:solidFill>
                          <a:effectLst/>
                          <a:uFillTx/>
                          <a:latin typeface="Marianne Light"/>
                        </a:rPr>
                        <a:t>Scope 2 basé sur la localisation</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noFill/>
                      <a:prstDash val="solid"/>
                    </a:lnB>
                    <a:solidFill>
                      <a:schemeClr val="lt1">
                        <a:lumMod val="95000"/>
                      </a:schemeClr>
                    </a:solidFill>
                  </a:tcPr>
                </a:tc>
              </a:tr>
            </a:tbl>
          </a:graphicData>
        </a:graphic>
      </p:graphicFrame>
      <p:sp>
        <p:nvSpPr>
          <p:cNvPr id="543" name="Rounded Rectangle 10"/>
          <p:cNvSpPr/>
          <p:nvPr/>
        </p:nvSpPr>
        <p:spPr>
          <a:xfrm>
            <a:off x="410400" y="3425400"/>
            <a:ext cx="3236040" cy="730080"/>
          </a:xfrm>
          <a:prstGeom prst="roundRect">
            <a:avLst>
              <a:gd name="adj" fmla="val 1224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Année de référence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a:rPr>
              <a:t>-</a:t>
            </a:r>
            <a:endParaRPr lang="fr-FR" sz="1200" b="0" u="none" strike="noStrike">
              <a:solidFill>
                <a:srgbClr val="000000"/>
              </a:solidFill>
              <a:effectLst/>
              <a:uFillTx/>
              <a:latin typeface="Arial"/>
            </a:endParaRPr>
          </a:p>
        </p:txBody>
      </p:sp>
      <p:sp>
        <p:nvSpPr>
          <p:cNvPr id="544" name="Rounded Rectangle 11"/>
          <p:cNvSpPr/>
          <p:nvPr/>
        </p:nvSpPr>
        <p:spPr>
          <a:xfrm>
            <a:off x="3780000" y="3425400"/>
            <a:ext cx="3364560" cy="730080"/>
          </a:xfrm>
          <a:prstGeom prst="roundRect">
            <a:avLst>
              <a:gd name="adj" fmla="val 1224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Année cible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a:rPr>
              <a:t>-</a:t>
            </a:r>
            <a:endParaRPr lang="fr-FR" sz="1200" b="0" u="none" strike="noStrike">
              <a:solidFill>
                <a:srgbClr val="000000"/>
              </a:solidFill>
              <a:effectLst/>
              <a:uFillTx/>
              <a:latin typeface="Arial"/>
            </a:endParaRPr>
          </a:p>
        </p:txBody>
      </p:sp>
      <p:graphicFrame>
        <p:nvGraphicFramePr>
          <p:cNvPr id="545" name="Table 3"/>
          <p:cNvGraphicFramePr/>
          <p:nvPr/>
        </p:nvGraphicFramePr>
        <p:xfrm>
          <a:off x="649080" y="9689040"/>
          <a:ext cx="6260400" cy="390240"/>
        </p:xfrm>
        <a:graphic>
          <a:graphicData uri="http://schemas.openxmlformats.org/drawingml/2006/table">
            <a:tbl>
              <a:tblPr/>
              <a:tblGrid>
                <a:gridCol w="954720"/>
                <a:gridCol w="1218960"/>
                <a:gridCol w="1218960"/>
                <a:gridCol w="1022040"/>
                <a:gridCol w="1846080"/>
              </a:tblGrid>
              <a:tr h="390240">
                <a:tc>
                  <a:txBody>
                    <a:bodyPr anchor="ctr">
                      <a:noAutofit/>
                    </a:bodyPr>
                    <a:p>
                      <a:pPr algn="ctr" defTabSz="756000">
                        <a:lnSpc>
                          <a:spcPct val="100000"/>
                        </a:lnSpc>
                      </a:pPr>
                      <a:r>
                        <a:rPr lang="fr-FR" sz="1100" b="0" u="none" strike="noStrike">
                          <a:solidFill>
                            <a:srgbClr val="145C30"/>
                          </a:solidFill>
                          <a:effectLst/>
                          <a:uFillTx/>
                          <a:latin typeface="Marianne Light"/>
                        </a:rPr>
                        <a:t>Total</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pPr>
                      <a:r>
                        <a:rPr lang="fr-FR" sz="1100" b="1"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lIns="6120" rIns="6120" anchor="ctr">
                      <a:noAutofit/>
                    </a:bodyPr>
                    <a:p>
                      <a:pPr algn="ctr" defTabSz="756000">
                        <a:lnSpc>
                          <a:spcPct val="100000"/>
                        </a:lnSpc>
                        <a:tabLst>
                          <a:tab pos="0" algn="l"/>
                        </a:tabLst>
                      </a:pPr>
                      <a:r>
                        <a:rPr lang="fr-FR" sz="1000" b="1" u="none" strike="noStrike">
                          <a:solidFill>
                            <a:schemeClr val="dk1"/>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lIns="6120" rIns="6120" anchor="ctr">
                      <a:noAutofit/>
                    </a:bodyPr>
                    <a:p>
                      <a:pPr algn="ctr" defTabSz="756000">
                        <a:lnSpc>
                          <a:spcPct val="100000"/>
                        </a:lnSpc>
                        <a:tabLst>
                          <a:tab pos="0" algn="l"/>
                        </a:tabLst>
                      </a:pPr>
                      <a:r>
                        <a:rPr lang="fr-FR" sz="1000" b="1" u="none" strike="noStrike">
                          <a:solidFill>
                            <a:schemeClr val="dk1"/>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28080">
                      <a:solidFill>
                        <a:srgbClr val="FFFFFF"/>
                      </a:solidFill>
                      <a:prstDash val="solid"/>
                    </a:lnT>
                    <a:lnB w="28080">
                      <a:solidFill>
                        <a:srgbClr val="FFFFFF"/>
                      </a:solidFill>
                      <a:prstDash val="solid"/>
                    </a:lnB>
                    <a:solidFill>
                      <a:srgbClr val="EBEEED"/>
                    </a:solidFill>
                  </a:tcPr>
                </a:tc>
                <a:tc>
                  <a:txBody>
                    <a:bodyPr lIns="6120" rIns="6120" anchor="ctr">
                      <a:noAutofit/>
                    </a:bodyPr>
                    <a:p>
                      <a:pPr/>
                      <a:endParaRPr lang="fr-FR" sz="1000" b="1" u="none" strike="noStrike">
                        <a:solidFill>
                          <a:schemeClr val="dk1"/>
                        </a:solidFill>
                        <a:effectLst/>
                        <a:uFillTx/>
                        <a:latin typeface="Marianne"/>
                      </a:endParaRPr>
                    </a:p>
                  </a:txBody>
                  <a:tcPr anchor="ctr" marL="6120" marR="6120" marT="45720" marB="45720">
                    <a:lnL w="12240">
                      <a:noFill/>
                      <a:prstDash val="solid"/>
                    </a:lnL>
                    <a:lnR w="12240">
                      <a:noFill/>
                      <a:prstDash val="solid"/>
                    </a:lnR>
                    <a:lnT w="28080">
                      <a:noFill/>
                      <a:prstDash val="solid"/>
                    </a:lnT>
                    <a:lnB w="28080">
                      <a:noFill/>
                      <a:prstDash val="solid"/>
                    </a:lnB>
                    <a:no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46" name="Picture 4" descr="Green leaves on the trees in spring"/>
          <p:cNvPicPr/>
          <p:nvPr/>
        </p:nvPicPr>
        <p:blipFill>
          <a:blip r:embed="rId1"/>
          <a:stretch/>
        </p:blipFill>
        <p:spPr>
          <a:xfrm>
            <a:off x="0" y="0"/>
            <a:ext cx="7554600" cy="10686600"/>
          </a:xfrm>
          <a:prstGeom prst="rect">
            <a:avLst/>
          </a:prstGeom>
          <a:noFill/>
          <a:ln w="0">
            <a:noFill/>
          </a:ln>
        </p:spPr>
      </p:pic>
      <p:sp>
        <p:nvSpPr>
          <p:cNvPr id="54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48"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49" name="Straight Connector 17"/>
          <p:cNvCxnSpPr/>
          <p:nvPr/>
        </p:nvCxnSpPr>
        <p:spPr>
          <a:xfrm>
            <a:off x="893160" y="2525400"/>
            <a:ext cx="5040" cy="710640"/>
          </a:xfrm>
          <a:prstGeom prst="straightConnector1">
            <a:avLst/>
          </a:prstGeom>
          <a:ln w="3175">
            <a:solidFill>
              <a:srgbClr val="A6A6A6"/>
            </a:solidFill>
            <a:round/>
          </a:ln>
        </p:spPr>
      </p:cxnSp>
      <p:pic>
        <p:nvPicPr>
          <p:cNvPr id="550"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51"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52"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53"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54"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55"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des scopes 1 et 2</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a:t>
            </a:r>
            <a:r>
              <a:rPr lang="en-FR" sz="1200" b="1" u="none" strike="noStrike">
                <a:solidFill>
                  <a:srgbClr val="000000"/>
                </a:solidFill>
                <a:effectLst/>
                <a:uFillTx/>
                <a:latin typeface="Marianne Medium"/>
              </a:rPr>
              <a:t> n'a pas fixé des cibles de réduction des émissions de GES</a:t>
            </a: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56" name="Picture 4" descr="Green leaves on the trees in spring"/>
          <p:cNvPicPr/>
          <p:nvPr/>
        </p:nvPicPr>
        <p:blipFill>
          <a:blip r:embed="rId1"/>
          <a:stretch/>
        </p:blipFill>
        <p:spPr>
          <a:xfrm>
            <a:off x="0" y="0"/>
            <a:ext cx="7554600" cy="10686600"/>
          </a:xfrm>
          <a:prstGeom prst="rect">
            <a:avLst/>
          </a:prstGeom>
          <a:noFill/>
          <a:ln w="0">
            <a:noFill/>
          </a:ln>
        </p:spPr>
      </p:pic>
      <p:sp>
        <p:nvSpPr>
          <p:cNvPr id="55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58"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59" name="Straight Connector 17"/>
          <p:cNvCxnSpPr/>
          <p:nvPr/>
        </p:nvCxnSpPr>
        <p:spPr>
          <a:xfrm>
            <a:off x="893160" y="2525400"/>
            <a:ext cx="5040" cy="710640"/>
          </a:xfrm>
          <a:prstGeom prst="straightConnector1">
            <a:avLst/>
          </a:prstGeom>
          <a:ln w="3175">
            <a:solidFill>
              <a:srgbClr val="A6A6A6"/>
            </a:solidFill>
            <a:round/>
          </a:ln>
        </p:spPr>
      </p:cxnSp>
      <p:pic>
        <p:nvPicPr>
          <p:cNvPr id="560"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61"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62"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63"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64"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65" name="Rounded Rectangle 8"/>
          <p:cNvSpPr/>
          <p:nvPr/>
        </p:nvSpPr>
        <p:spPr>
          <a:xfrm>
            <a:off x="410400" y="4294080"/>
            <a:ext cx="6733800" cy="597096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du scopes 3</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66" name="Table 9"/>
          <p:cNvGraphicFramePr/>
          <p:nvPr/>
        </p:nvGraphicFramePr>
        <p:xfrm>
          <a:off x="649080" y="4836600"/>
          <a:ext cx="6260400" cy="5153400"/>
        </p:xfrm>
        <a:graphic>
          <a:graphicData uri="http://schemas.openxmlformats.org/drawingml/2006/table">
            <a:tbl>
              <a:tblPr/>
              <a:tblGrid>
                <a:gridCol w="1963440"/>
                <a:gridCol w="907560"/>
                <a:gridCol w="944640"/>
                <a:gridCol w="1112400"/>
                <a:gridCol w="1332720"/>
              </a:tblGrid>
              <a:tr h="49500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noFill/>
                      <a:prstDash val="solid"/>
                    </a:lnL>
                    <a:lnR w="12240">
                      <a:noFill/>
                      <a:prstDash val="solid"/>
                    </a:lnR>
                    <a:lnT w="12240">
                      <a:noFill/>
                      <a:prstDash val="solid"/>
                    </a:lnT>
                    <a:lnB w="12240">
                      <a:noFill/>
                      <a:prstDash val="solid"/>
                    </a:lnB>
                    <a:no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de référence</a:t>
                      </a:r>
                      <a:r>
                        <a:rPr lang="fr-FR" sz="1100" b="0" u="none" strike="noStrike">
                          <a:solidFill>
                            <a:srgbClr val="145C30"/>
                          </a:solidFill>
                          <a:effectLst/>
                          <a:uFillTx/>
                          <a:latin typeface="Marianne Light"/>
                        </a:rPr>
                        <a:t> </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cible</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Réduction en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Principales actions prévues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536760">
                <a:tc>
                  <a:txBody>
                    <a:bodyPr anchor="ctr">
                      <a:noAutofit/>
                    </a:bodyPr>
                    <a:p>
                      <a:pPr defTabSz="756000">
                        <a:lnSpc>
                          <a:spcPct val="100000"/>
                        </a:lnSpc>
                      </a:pPr>
                      <a:r>
                        <a:rPr lang="en-FR" sz="1050" b="0" u="none" strike="noStrike">
                          <a:solidFill>
                            <a:schemeClr val="dk1"/>
                          </a:solidFill>
                          <a:effectLst/>
                          <a:uFillTx/>
                          <a:latin typeface="Marianne Medium"/>
                        </a:rPr>
                        <a:t>1. Biens et services achetés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no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r>
              <a:tr h="367920">
                <a:tc>
                  <a:txBody>
                    <a:bodyPr anchor="ctr">
                      <a:noAutofit/>
                    </a:bodyPr>
                    <a:p>
                      <a:pPr defTabSz="756000">
                        <a:lnSpc>
                          <a:spcPct val="100000"/>
                        </a:lnSpc>
                      </a:pPr>
                      <a:r>
                        <a:rPr lang="en-FR" sz="1050" b="0" u="none" strike="noStrike">
                          <a:solidFill>
                            <a:schemeClr val="dk1"/>
                          </a:solidFill>
                          <a:effectLst/>
                          <a:uFillTx/>
                          <a:latin typeface="Marianne Medium"/>
                        </a:rPr>
                        <a:t>2. Biens d'investissement</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r>
              <a:tr h="958320">
                <a:tc>
                  <a:txBody>
                    <a:bodyPr anchor="ctr">
                      <a:noAutofit/>
                    </a:bodyPr>
                    <a:p>
                      <a:pPr defTabSz="756000">
                        <a:lnSpc>
                          <a:spcPct val="100000"/>
                        </a:lnSpc>
                      </a:pPr>
                      <a:r>
                        <a:rPr lang="en-FR" sz="1050" b="0" u="none" strike="noStrike">
                          <a:solidFill>
                            <a:schemeClr val="dk1"/>
                          </a:solidFill>
                          <a:effectLst/>
                          <a:uFillTx/>
                          <a:latin typeface="Marianne Medium"/>
                        </a:rPr>
                        <a:t>3. Activités relevant des secteurs des combustibles et de l'énergie</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597600">
                <a:tc>
                  <a:txBody>
                    <a:bodyPr anchor="ctr">
                      <a:noAutofit/>
                    </a:bodyPr>
                    <a:p>
                      <a:pPr defTabSz="756000">
                        <a:lnSpc>
                          <a:spcPct val="100000"/>
                        </a:lnSpc>
                      </a:pPr>
                      <a:r>
                        <a:rPr lang="en-FR" sz="1050" b="0" u="none" strike="noStrike">
                          <a:solidFill>
                            <a:schemeClr val="dk1"/>
                          </a:solidFill>
                          <a:effectLst/>
                          <a:uFillTx/>
                          <a:latin typeface="Marianne Medium"/>
                        </a:rPr>
                        <a:t>4. Transport et distribution en amont</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597600">
                <a:tc>
                  <a:txBody>
                    <a:bodyPr anchor="ctr">
                      <a:noAutofit/>
                    </a:bodyPr>
                    <a:p>
                      <a:pPr defTabSz="756000">
                        <a:lnSpc>
                          <a:spcPct val="100000"/>
                        </a:lnSpc>
                      </a:pPr>
                      <a:r>
                        <a:rPr lang="en-FR" sz="1050" b="0" u="none" strike="noStrike">
                          <a:solidFill>
                            <a:schemeClr val="dk1"/>
                          </a:solidFill>
                          <a:effectLst/>
                          <a:uFillTx/>
                          <a:latin typeface="Marianne Medium"/>
                        </a:rPr>
                        <a:t>5. Déchets produits lors de l'exploitation</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376200">
                <a:tc>
                  <a:txBody>
                    <a:bodyPr anchor="ctr">
                      <a:noAutofit/>
                    </a:bodyPr>
                    <a:p>
                      <a:pPr defTabSz="756000">
                        <a:lnSpc>
                          <a:spcPct val="100000"/>
                        </a:lnSpc>
                      </a:pPr>
                      <a:r>
                        <a:rPr lang="en-FR" sz="1050" b="0" u="none" strike="noStrike">
                          <a:solidFill>
                            <a:schemeClr val="dk1"/>
                          </a:solidFill>
                          <a:effectLst/>
                          <a:uFillTx/>
                          <a:latin typeface="Marianne Medium"/>
                        </a:rPr>
                        <a:t>6. Voyages d'affaires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747720">
                <a:tc>
                  <a:txBody>
                    <a:bodyPr anchor="ctr">
                      <a:noAutofit/>
                    </a:bodyPr>
                    <a:p>
                      <a:pPr defTabSz="756000">
                        <a:lnSpc>
                          <a:spcPct val="100000"/>
                        </a:lnSpc>
                      </a:pPr>
                      <a:r>
                        <a:rPr lang="en-FR" sz="1050" b="0" u="none" strike="noStrike">
                          <a:solidFill>
                            <a:schemeClr val="dk1"/>
                          </a:solidFill>
                          <a:effectLst/>
                          <a:uFillTx/>
                          <a:latin typeface="Marianne Medium"/>
                        </a:rPr>
                        <a:t>7. Déplacements domicile-travail des salariés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376200">
                <a:tc>
                  <a:txBody>
                    <a:bodyPr anchor="ctr">
                      <a:noAutofit/>
                    </a:bodyPr>
                    <a:p>
                      <a:pPr defTabSz="756000">
                        <a:lnSpc>
                          <a:spcPct val="100000"/>
                        </a:lnSpc>
                      </a:pPr>
                      <a:r>
                        <a:rPr lang="en-FR" sz="1050" b="0" u="none" strike="noStrike">
                          <a:solidFill>
                            <a:schemeClr val="dk1"/>
                          </a:solidFill>
                          <a:effectLst/>
                          <a:uFillTx/>
                          <a:latin typeface="Marianne Medium"/>
                        </a:rPr>
                        <a:t>8. Actifs loués en amont</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28080">
                      <a:no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67" name="Picture 4" descr="Green leaves on the trees in spring"/>
          <p:cNvPicPr/>
          <p:nvPr/>
        </p:nvPicPr>
        <p:blipFill>
          <a:blip r:embed="rId1"/>
          <a:stretch/>
        </p:blipFill>
        <p:spPr>
          <a:xfrm>
            <a:off x="0" y="0"/>
            <a:ext cx="7554600" cy="10686600"/>
          </a:xfrm>
          <a:prstGeom prst="rect">
            <a:avLst/>
          </a:prstGeom>
          <a:noFill/>
          <a:ln w="0">
            <a:noFill/>
          </a:ln>
        </p:spPr>
      </p:pic>
      <p:sp>
        <p:nvSpPr>
          <p:cNvPr id="568"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69"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70" name="Straight Connector 17"/>
          <p:cNvCxnSpPr/>
          <p:nvPr/>
        </p:nvCxnSpPr>
        <p:spPr>
          <a:xfrm>
            <a:off x="893160" y="2525400"/>
            <a:ext cx="5040" cy="710640"/>
          </a:xfrm>
          <a:prstGeom prst="straightConnector1">
            <a:avLst/>
          </a:prstGeom>
          <a:ln w="3175">
            <a:solidFill>
              <a:srgbClr val="A6A6A6"/>
            </a:solidFill>
            <a:round/>
          </a:ln>
        </p:spPr>
      </p:cxnSp>
      <p:pic>
        <p:nvPicPr>
          <p:cNvPr id="571"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72"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73"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74"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75"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76" name="Rounded Rectangle 8"/>
          <p:cNvSpPr/>
          <p:nvPr/>
        </p:nvSpPr>
        <p:spPr>
          <a:xfrm>
            <a:off x="410400" y="3420000"/>
            <a:ext cx="6733800" cy="46789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du scopes 3</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77" name="Table 9"/>
          <p:cNvGraphicFramePr/>
          <p:nvPr/>
        </p:nvGraphicFramePr>
        <p:xfrm>
          <a:off x="796680" y="3991680"/>
          <a:ext cx="6284160" cy="3929760"/>
        </p:xfrm>
        <a:graphic>
          <a:graphicData uri="http://schemas.openxmlformats.org/drawingml/2006/table">
            <a:tbl>
              <a:tblPr/>
              <a:tblGrid>
                <a:gridCol w="1970640"/>
                <a:gridCol w="991800"/>
                <a:gridCol w="868680"/>
                <a:gridCol w="1115640"/>
                <a:gridCol w="1337760"/>
              </a:tblGrid>
              <a:tr h="79128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noFill/>
                      <a:prstDash val="solid"/>
                    </a:lnL>
                    <a:lnR w="12240">
                      <a:noFill/>
                      <a:prstDash val="solid"/>
                    </a:lnR>
                    <a:lnT w="12240">
                      <a:noFill/>
                      <a:prstDash val="solid"/>
                    </a:lnT>
                    <a:lnB w="12240">
                      <a:noFill/>
                      <a:prstDash val="solid"/>
                    </a:lnB>
                    <a:no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de référence</a:t>
                      </a:r>
                      <a:r>
                        <a:rPr lang="fr-FR" sz="1100" b="0" u="none" strike="noStrike">
                          <a:solidFill>
                            <a:srgbClr val="145C30"/>
                          </a:solidFill>
                          <a:effectLst/>
                          <a:uFillTx/>
                          <a:latin typeface="Marianne Light"/>
                        </a:rPr>
                        <a:t> </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cible</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Réduction en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Principales actions prévues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371880">
                <a:tc>
                  <a:txBody>
                    <a:bodyPr anchor="ctr">
                      <a:noAutofit/>
                    </a:bodyPr>
                    <a:p>
                      <a:pPr defTabSz="756000">
                        <a:lnSpc>
                          <a:spcPct val="100000"/>
                        </a:lnSpc>
                      </a:pPr>
                      <a:r>
                        <a:rPr lang="en-FR" sz="1050" b="0" u="none" strike="noStrike">
                          <a:solidFill>
                            <a:schemeClr val="dk1"/>
                          </a:solidFill>
                          <a:effectLst/>
                          <a:uFillTx/>
                          <a:latin typeface="Marianne Medium"/>
                        </a:rPr>
                        <a:t>9. Acheminement en aval</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no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590400">
                <a:tc>
                  <a:txBody>
                    <a:bodyPr anchor="ctr">
                      <a:noAutofit/>
                    </a:bodyPr>
                    <a:p>
                      <a:pPr defTabSz="756000">
                        <a:lnSpc>
                          <a:spcPct val="100000"/>
                        </a:lnSpc>
                      </a:pPr>
                      <a:r>
                        <a:rPr lang="en-FR" sz="1050" b="0" u="none" strike="noStrike">
                          <a:solidFill>
                            <a:schemeClr val="dk1"/>
                          </a:solidFill>
                          <a:effectLst/>
                          <a:uFillTx/>
                          <a:latin typeface="Marianne Medium"/>
                        </a:rPr>
                        <a:t>10. Transformation des produits vendus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590400">
                <a:tc>
                  <a:txBody>
                    <a:bodyPr anchor="ctr">
                      <a:noAutofit/>
                    </a:bodyPr>
                    <a:p>
                      <a:pPr defTabSz="756000">
                        <a:lnSpc>
                          <a:spcPct val="100000"/>
                        </a:lnSpc>
                      </a:pPr>
                      <a:r>
                        <a:rPr lang="en-FR" sz="1050" b="0" u="none" strike="noStrike">
                          <a:solidFill>
                            <a:schemeClr val="dk1"/>
                          </a:solidFill>
                          <a:effectLst/>
                          <a:uFillTx/>
                          <a:latin typeface="Marianne Medium"/>
                        </a:rPr>
                        <a:t>11. Utilisation des produits vendus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590400">
                <a:tc>
                  <a:txBody>
                    <a:bodyPr anchor="ctr">
                      <a:noAutofit/>
                    </a:bodyPr>
                    <a:p>
                      <a:pPr defTabSz="756000">
                        <a:lnSpc>
                          <a:spcPct val="100000"/>
                        </a:lnSpc>
                      </a:pPr>
                      <a:r>
                        <a:rPr lang="en-FR" sz="1050" b="0" u="none" strike="noStrike">
                          <a:solidFill>
                            <a:schemeClr val="dk1"/>
                          </a:solidFill>
                          <a:effectLst/>
                          <a:uFillTx/>
                          <a:latin typeface="Marianne Medium"/>
                        </a:rPr>
                        <a:t>12. Traitement en fin de vie des produits vendus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371880">
                <a:tc>
                  <a:txBody>
                    <a:bodyPr anchor="ctr">
                      <a:noAutofit/>
                    </a:bodyPr>
                    <a:p>
                      <a:pPr defTabSz="756000">
                        <a:lnSpc>
                          <a:spcPct val="100000"/>
                        </a:lnSpc>
                      </a:pPr>
                      <a:r>
                        <a:rPr lang="en-FR" sz="1050" b="0" u="none" strike="noStrike">
                          <a:solidFill>
                            <a:schemeClr val="dk1"/>
                          </a:solidFill>
                          <a:effectLst/>
                          <a:uFillTx/>
                          <a:latin typeface="Marianne Medium"/>
                        </a:rPr>
                        <a:t>13. Actifs loués en aval</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371880">
                <a:tc>
                  <a:txBody>
                    <a:bodyPr anchor="ctr">
                      <a:noAutofit/>
                    </a:bodyPr>
                    <a:p>
                      <a:pPr defTabSz="756000">
                        <a:lnSpc>
                          <a:spcPct val="100000"/>
                        </a:lnSpc>
                      </a:pPr>
                      <a:r>
                        <a:rPr lang="en-FR" sz="1050" b="0" u="none" strike="noStrike">
                          <a:solidFill>
                            <a:schemeClr val="dk1"/>
                          </a:solidFill>
                          <a:effectLst/>
                          <a:uFillTx/>
                          <a:latin typeface="Marianne Medium"/>
                        </a:rPr>
                        <a:t>14. Franchises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12240">
                      <a:solidFill>
                        <a:srgbClr val="FFFFFF"/>
                      </a:solidFill>
                      <a:prstDash val="solid"/>
                    </a:lnB>
                    <a:solidFill>
                      <a:schemeClr val="lt1">
                        <a:lumMod val="95000"/>
                      </a:schemeClr>
                    </a:solidFill>
                  </a:tcPr>
                </a:tc>
              </a:tr>
              <a:tr h="251640">
                <a:tc>
                  <a:txBody>
                    <a:bodyPr anchor="ctr">
                      <a:noAutofit/>
                    </a:bodyPr>
                    <a:p>
                      <a:pPr defTabSz="756000">
                        <a:lnSpc>
                          <a:spcPct val="100000"/>
                        </a:lnSpc>
                      </a:pPr>
                      <a:r>
                        <a:rPr lang="en-FR" sz="1050" b="0" u="none" strike="noStrike">
                          <a:solidFill>
                            <a:schemeClr val="dk1"/>
                          </a:solidFill>
                          <a:effectLst/>
                          <a:uFillTx/>
                          <a:latin typeface="Marianne Medium"/>
                        </a:rPr>
                        <a:t>15. Investissements</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800" b="0" u="none" strike="noStrike">
                          <a:solidFill>
                            <a:srgbClr val="000000"/>
                          </a:solidFill>
                          <a:effectLst/>
                          <a:uFillTx/>
                          <a:latin typeface="Marianne"/>
                        </a:rPr>
                        <a:t>-</a:t>
                      </a:r>
                      <a:endParaRPr lang="fr-FR" sz="800" b="0" u="none" strike="noStrike">
                        <a:solidFill>
                          <a:srgbClr val="000000"/>
                        </a:solidFill>
                        <a:effectLst/>
                        <a:uFillTx/>
                        <a:latin typeface="Arial"/>
                      </a:endParaRPr>
                    </a:p>
                  </a:txBody>
                  <a:tcPr anchor="ctr" marL="6120" marR="6120" marT="45720" marB="45720">
                    <a:lnL w="12240">
                      <a:solidFill>
                        <a:srgbClr val="FFFFFF"/>
                      </a:solidFill>
                      <a:prstDash val="solid"/>
                    </a:lnL>
                    <a:lnR w="12240">
                      <a:noFill/>
                      <a:prstDash val="solid"/>
                    </a:lnR>
                    <a:lnT w="12240">
                      <a:solidFill>
                        <a:srgbClr val="FFFFFF"/>
                      </a:solidFill>
                      <a:prstDash val="solid"/>
                    </a:lnT>
                    <a:lnB w="28080">
                      <a:noFill/>
                      <a:prstDash val="solid"/>
                    </a:lnB>
                    <a:solidFill>
                      <a:schemeClr val="lt1">
                        <a:lumMod val="95000"/>
                      </a:schemeClr>
                    </a:solidFill>
                  </a:tcPr>
                </a:tc>
              </a:tr>
            </a:tbl>
          </a:graphicData>
        </a:graphic>
      </p:graphicFrame>
      <p:sp>
        <p:nvSpPr>
          <p:cNvPr id="578" name="Rounded Rectangle 7"/>
          <p:cNvSpPr/>
          <p:nvPr/>
        </p:nvSpPr>
        <p:spPr>
          <a:xfrm>
            <a:off x="410400" y="8280000"/>
            <a:ext cx="6733800" cy="21589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spcBef>
                <a:spcPts val="1191"/>
              </a:spcBef>
              <a:spcAft>
                <a:spcPts val="992"/>
              </a:spcAft>
            </a:pPr>
            <a:r>
              <a:rPr lang="fr-FR" sz="1200" b="0" u="none" strike="noStrike">
                <a:solidFill>
                  <a:srgbClr val="145C30"/>
                </a:solidFill>
                <a:effectLst/>
                <a:uFillTx/>
                <a:latin typeface="Marianne Light"/>
              </a:rPr>
              <a:t>Cumul des cibles de réduction des émissions de GES</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graphicFrame>
        <p:nvGraphicFramePr>
          <p:cNvPr id="579" name="Table 6"/>
          <p:cNvGraphicFramePr/>
          <p:nvPr/>
        </p:nvGraphicFramePr>
        <p:xfrm>
          <a:off x="796680" y="8820000"/>
          <a:ext cx="4946400" cy="1439640"/>
        </p:xfrm>
        <a:graphic>
          <a:graphicData uri="http://schemas.openxmlformats.org/drawingml/2006/table">
            <a:tbl>
              <a:tblPr/>
              <a:tblGrid>
                <a:gridCol w="1970640"/>
                <a:gridCol w="991800"/>
                <a:gridCol w="868680"/>
                <a:gridCol w="1115640"/>
              </a:tblGrid>
              <a:tr h="681120">
                <a:tc>
                  <a:txBody>
                    <a:bodyPr lIns="108000" rIns="108000" anchor="ctr">
                      <a:noAutofit/>
                    </a:bodyPr>
                    <a:p>
                      <a:pPr/>
                      <a:endParaRPr lang="fr-FR" sz="1100" b="0" u="none" strike="noStrike">
                        <a:solidFill>
                          <a:srgbClr val="145C30"/>
                        </a:solidFill>
                        <a:effectLst/>
                        <a:uFillTx/>
                        <a:latin typeface="Marianne Light"/>
                      </a:endParaRPr>
                    </a:p>
                  </a:txBody>
                  <a:tcPr anchor="ctr" marL="108000" marR="108000" marT="45720" marB="45720">
                    <a:lnL w="12240">
                      <a:noFill/>
                      <a:prstDash val="solid"/>
                    </a:lnL>
                    <a:lnR w="12240">
                      <a:noFill/>
                      <a:prstDash val="solid"/>
                    </a:lnR>
                    <a:lnT w="12240">
                      <a:noFill/>
                      <a:prstDash val="solid"/>
                    </a:lnT>
                    <a:lnB w="12240">
                      <a:noFill/>
                      <a:prstDash val="solid"/>
                    </a:lnB>
                    <a:no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de référence</a:t>
                      </a:r>
                      <a:r>
                        <a:rPr lang="fr-FR" sz="1100" b="0" u="none" strike="noStrike">
                          <a:solidFill>
                            <a:srgbClr val="145C30"/>
                          </a:solidFill>
                          <a:effectLst/>
                          <a:uFillTx/>
                          <a:latin typeface="Marianne Light"/>
                        </a:rPr>
                        <a:t> </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no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1" u="none" strike="noStrike">
                          <a:solidFill>
                            <a:srgbClr val="145C30"/>
                          </a:solidFill>
                          <a:effectLst/>
                          <a:uFillTx/>
                          <a:latin typeface="Marianne Light"/>
                        </a:rPr>
                        <a:t>Année cible</a:t>
                      </a:r>
                      <a:endParaRPr lang="fr-FR" sz="1100" b="0" u="none" strike="noStrike">
                        <a:solidFill>
                          <a:srgbClr val="000000"/>
                        </a:solidFill>
                        <a:effectLst/>
                        <a:uFillTx/>
                        <a:latin typeface="Arial"/>
                      </a:endParaRPr>
                    </a:p>
                    <a:p>
                      <a:pPr algn="ctr" defTabSz="756000">
                        <a:lnSpc>
                          <a:spcPct val="100000"/>
                        </a:lnSpc>
                        <a:tabLst>
                          <a:tab pos="0" algn="l"/>
                        </a:tabLst>
                      </a:pPr>
                      <a:r>
                        <a:rPr lang="fr-FR" sz="1100" b="0" u="none" strike="noStrike">
                          <a:solidFill>
                            <a:srgbClr val="145C30"/>
                          </a:solidFill>
                          <a:effectLst/>
                          <a:uFillTx/>
                          <a:latin typeface="Marianne Light"/>
                        </a:rPr>
                        <a:t>(teqCO₂)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Réduction en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288000">
                <a:tc>
                  <a:txBody>
                    <a:bodyPr anchor="ctr">
                      <a:noAutofit/>
                    </a:bodyPr>
                    <a:p>
                      <a:pPr defTabSz="756000">
                        <a:lnSpc>
                          <a:spcPct val="100000"/>
                        </a:lnSpc>
                      </a:pPr>
                      <a:r>
                        <a:rPr lang="en-FR" sz="1050" b="0" u="none" strike="noStrike">
                          <a:solidFill>
                            <a:schemeClr val="dk1"/>
                          </a:solidFill>
                          <a:effectLst/>
                          <a:uFillTx/>
                          <a:latin typeface="Marianne Medium"/>
                        </a:rPr>
                        <a:t>Total du scope 3</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no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r>
              <a:tr h="470520">
                <a:tc>
                  <a:txBody>
                    <a:bodyPr anchor="ctr">
                      <a:noAutofit/>
                    </a:bodyPr>
                    <a:p>
                      <a:pPr defTabSz="756000">
                        <a:lnSpc>
                          <a:spcPct val="100000"/>
                        </a:lnSpc>
                      </a:pPr>
                      <a:r>
                        <a:rPr lang="en-FR" sz="1050" b="0" u="none" strike="noStrike">
                          <a:solidFill>
                            <a:schemeClr val="dk1"/>
                          </a:solidFill>
                          <a:effectLst/>
                          <a:uFillTx/>
                          <a:latin typeface="Marianne Medium"/>
                        </a:rPr>
                        <a:t>Total des scopes 1, 2 (basé sur la localisation) et 3</a:t>
                      </a:r>
                      <a:endParaRPr lang="fr-FR" sz="105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rgbClr val="EBEEED"/>
                    </a:solidFill>
                  </a:tcPr>
                </a:tc>
                <a:tc>
                  <a:txBody>
                    <a:bodyPr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a:rPr>
                        <a:t>- %</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80" name="Picture 4" descr="Green leaves on the trees in spring"/>
          <p:cNvPicPr/>
          <p:nvPr/>
        </p:nvPicPr>
        <p:blipFill>
          <a:blip r:embed="rId1"/>
          <a:stretch/>
        </p:blipFill>
        <p:spPr>
          <a:xfrm>
            <a:off x="0" y="0"/>
            <a:ext cx="7554600" cy="10686600"/>
          </a:xfrm>
          <a:prstGeom prst="rect">
            <a:avLst/>
          </a:prstGeom>
          <a:noFill/>
          <a:ln w="0">
            <a:noFill/>
          </a:ln>
        </p:spPr>
      </p:pic>
      <p:sp>
        <p:nvSpPr>
          <p:cNvPr id="58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82"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83" name="Straight Connector 17"/>
          <p:cNvCxnSpPr/>
          <p:nvPr/>
        </p:nvCxnSpPr>
        <p:spPr>
          <a:xfrm>
            <a:off x="893160" y="2525400"/>
            <a:ext cx="5040" cy="710640"/>
          </a:xfrm>
          <a:prstGeom prst="straightConnector1">
            <a:avLst/>
          </a:prstGeom>
          <a:ln w="3175">
            <a:solidFill>
              <a:srgbClr val="A6A6A6"/>
            </a:solidFill>
            <a:round/>
          </a:ln>
        </p:spPr>
      </p:cxnSp>
      <p:pic>
        <p:nvPicPr>
          <p:cNvPr id="58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85"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86"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87"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88"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89"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du scope 3</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 n'a pas fixé des cibles de réduction des émissions de GES pour le scope 3. </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90" name="Picture 8" descr="Green leaves on the trees in spring"/>
          <p:cNvPicPr/>
          <p:nvPr/>
        </p:nvPicPr>
        <p:blipFill>
          <a:blip r:embed="rId1"/>
          <a:stretch/>
        </p:blipFill>
        <p:spPr>
          <a:xfrm>
            <a:off x="0" y="0"/>
            <a:ext cx="7554600" cy="10686600"/>
          </a:xfrm>
          <a:prstGeom prst="rect">
            <a:avLst/>
          </a:prstGeom>
          <a:noFill/>
          <a:ln w="0">
            <a:noFill/>
          </a:ln>
        </p:spPr>
      </p:pic>
      <p:sp>
        <p:nvSpPr>
          <p:cNvPr id="591" name="Rectangle 7"/>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592" name="Rounded Rectangle 20"/>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593" name="Straight Connector 6"/>
          <p:cNvCxnSpPr/>
          <p:nvPr/>
        </p:nvCxnSpPr>
        <p:spPr>
          <a:xfrm>
            <a:off x="893160" y="2525400"/>
            <a:ext cx="5040" cy="710640"/>
          </a:xfrm>
          <a:prstGeom prst="straightConnector1">
            <a:avLst/>
          </a:prstGeom>
          <a:ln w="3175">
            <a:solidFill>
              <a:srgbClr val="A6A6A6"/>
            </a:solidFill>
            <a:round/>
          </a:ln>
        </p:spPr>
      </p:cxnSp>
      <p:pic>
        <p:nvPicPr>
          <p:cNvPr id="594" name="Graphic 6"/>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595" name="TextBox 3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596" name="TextBox 33"/>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597" name="TextBox 34"/>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598" name="TextBox 35"/>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599" name="Rounded Rectangle 21"/>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Cibles de réduction des émissions de GES du scope 3</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Cet indicateur n'est pas applicable car l'entreprise n'a pas fixé de cibles de réduction des émissions de GES dans l'indicateur « Cibles de réduction des émissions de GES des scopes 1 et 2 » de C3.</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00" name="Picture 4" descr="Green leaves on the trees in spring"/>
          <p:cNvPicPr/>
          <p:nvPr/>
        </p:nvPicPr>
        <p:blipFill>
          <a:blip r:embed="rId1"/>
          <a:stretch/>
        </p:blipFill>
        <p:spPr>
          <a:xfrm>
            <a:off x="0" y="0"/>
            <a:ext cx="7554600" cy="10686600"/>
          </a:xfrm>
          <a:prstGeom prst="rect">
            <a:avLst/>
          </a:prstGeom>
          <a:noFill/>
          <a:ln w="0">
            <a:noFill/>
          </a:ln>
        </p:spPr>
      </p:pic>
      <p:sp>
        <p:nvSpPr>
          <p:cNvPr id="60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02"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603" name="Straight Connector 17"/>
          <p:cNvCxnSpPr/>
          <p:nvPr/>
        </p:nvCxnSpPr>
        <p:spPr>
          <a:xfrm>
            <a:off x="893160" y="2525400"/>
            <a:ext cx="5040" cy="710640"/>
          </a:xfrm>
          <a:prstGeom prst="straightConnector1">
            <a:avLst/>
          </a:prstGeom>
          <a:ln w="3175">
            <a:solidFill>
              <a:srgbClr val="A6A6A6"/>
            </a:solidFill>
            <a:round/>
          </a:ln>
        </p:spPr>
      </p:cxnSp>
      <p:pic>
        <p:nvPicPr>
          <p:cNvPr id="60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05"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06"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07"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08"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09"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Description du plan de transition climatique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L’entreprise ne dispose pas d'un plan de transition climatique.</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10" name="Picture 4" descr="Green leaves on the trees in spring"/>
          <p:cNvPicPr/>
          <p:nvPr/>
        </p:nvPicPr>
        <p:blipFill>
          <a:blip r:embed="rId1"/>
          <a:stretch/>
        </p:blipFill>
        <p:spPr>
          <a:xfrm>
            <a:off x="0" y="0"/>
            <a:ext cx="7554600" cy="10686600"/>
          </a:xfrm>
          <a:prstGeom prst="rect">
            <a:avLst/>
          </a:prstGeom>
          <a:noFill/>
          <a:ln w="0">
            <a:noFill/>
          </a:ln>
        </p:spPr>
      </p:pic>
      <p:sp>
        <p:nvSpPr>
          <p:cNvPr id="61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12"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613" name="Straight Connector 17"/>
          <p:cNvCxnSpPr/>
          <p:nvPr/>
        </p:nvCxnSpPr>
        <p:spPr>
          <a:xfrm>
            <a:off x="893160" y="2525400"/>
            <a:ext cx="5040" cy="710640"/>
          </a:xfrm>
          <a:prstGeom prst="straightConnector1">
            <a:avLst/>
          </a:prstGeom>
          <a:ln w="3175">
            <a:solidFill>
              <a:srgbClr val="A6A6A6"/>
            </a:solidFill>
            <a:round/>
          </a:ln>
        </p:spPr>
      </p:cxnSp>
      <p:pic>
        <p:nvPicPr>
          <p:cNvPr id="61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15"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16"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17"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18"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19" name="Rounded Rectangle 8"/>
          <p:cNvSpPr/>
          <p:nvPr/>
        </p:nvSpPr>
        <p:spPr>
          <a:xfrm>
            <a:off x="410400" y="3488040"/>
            <a:ext cx="6733800" cy="675252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Description du plan de transition climatique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20" name="Picture 4" descr="Green leaves on the trees in spring"/>
          <p:cNvPicPr/>
          <p:nvPr/>
        </p:nvPicPr>
        <p:blipFill>
          <a:blip r:embed="rId1"/>
          <a:stretch/>
        </p:blipFill>
        <p:spPr>
          <a:xfrm>
            <a:off x="0" y="0"/>
            <a:ext cx="7554600" cy="10686600"/>
          </a:xfrm>
          <a:prstGeom prst="rect">
            <a:avLst/>
          </a:prstGeom>
          <a:noFill/>
          <a:ln w="0">
            <a:noFill/>
          </a:ln>
        </p:spPr>
      </p:pic>
      <p:sp>
        <p:nvSpPr>
          <p:cNvPr id="62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22" name="Rounded Rectangle 3"/>
          <p:cNvSpPr/>
          <p:nvPr/>
        </p:nvSpPr>
        <p:spPr>
          <a:xfrm rot="16200000">
            <a:off x="3809520" y="-189720"/>
            <a:ext cx="70056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145C30"/>
                </a:solidFill>
                <a:effectLst/>
                <a:uFillTx/>
                <a:latin typeface="Marianne"/>
              </a:rPr>
              <a:t>C3</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Cibles de réduction des émissions de GES et transition climatique</a:t>
            </a:r>
            <a:endParaRPr lang="fr-FR" sz="1400" b="0" u="none" strike="noStrike">
              <a:solidFill>
                <a:srgbClr val="000000"/>
              </a:solidFill>
              <a:effectLst/>
              <a:uFillTx/>
              <a:latin typeface="Arial"/>
            </a:endParaRPr>
          </a:p>
        </p:txBody>
      </p:sp>
      <p:cxnSp>
        <p:nvCxnSpPr>
          <p:cNvPr id="623" name="Straight Connector 17"/>
          <p:cNvCxnSpPr/>
          <p:nvPr/>
        </p:nvCxnSpPr>
        <p:spPr>
          <a:xfrm>
            <a:off x="893160" y="2525400"/>
            <a:ext cx="5040" cy="710640"/>
          </a:xfrm>
          <a:prstGeom prst="straightConnector1">
            <a:avLst/>
          </a:prstGeom>
          <a:ln w="3175">
            <a:solidFill>
              <a:srgbClr val="A6A6A6"/>
            </a:solidFill>
            <a:round/>
          </a:ln>
        </p:spPr>
      </p:cxnSp>
      <p:pic>
        <p:nvPicPr>
          <p:cNvPr id="624"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25"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26"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27"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28"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29" name="Rounded Rectangle 10"/>
          <p:cNvSpPr/>
          <p:nvPr/>
        </p:nvSpPr>
        <p:spPr>
          <a:xfrm>
            <a:off x="410400" y="3488040"/>
            <a:ext cx="6733800" cy="563796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Contribution du plan de transition climatique à la réduction des émissions de GES </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630" name="Rounded Rectangle 11"/>
          <p:cNvSpPr/>
          <p:nvPr/>
        </p:nvSpPr>
        <p:spPr>
          <a:xfrm>
            <a:off x="410400" y="9315720"/>
            <a:ext cx="6733800" cy="770400"/>
          </a:xfrm>
          <a:prstGeom prst="roundRect">
            <a:avLst>
              <a:gd name="adj" fmla="val 996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en-FR" sz="1200" b="0" u="none" strike="noStrike">
                <a:solidFill>
                  <a:srgbClr val="145C30"/>
                </a:solidFill>
                <a:effectLst/>
                <a:uFillTx/>
                <a:latin typeface="Marianne Light"/>
              </a:rPr>
              <a:t>Année prévue d'adoption d'un plan de transition climatique </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31" name="Picture 4" descr="Green leaves on the trees in spring"/>
          <p:cNvPicPr/>
          <p:nvPr/>
        </p:nvPicPr>
        <p:blipFill>
          <a:blip r:embed="rId1"/>
          <a:stretch/>
        </p:blipFill>
        <p:spPr>
          <a:xfrm>
            <a:off x="0" y="0"/>
            <a:ext cx="7554600" cy="10686600"/>
          </a:xfrm>
          <a:prstGeom prst="rect">
            <a:avLst/>
          </a:prstGeom>
          <a:noFill/>
          <a:ln w="0">
            <a:noFill/>
          </a:ln>
        </p:spPr>
      </p:pic>
      <p:sp>
        <p:nvSpPr>
          <p:cNvPr id="63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33"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C4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Risques climatiques</a:t>
            </a:r>
            <a:endParaRPr lang="fr-FR" sz="1400" b="0" u="none" strike="noStrike">
              <a:solidFill>
                <a:srgbClr val="000000"/>
              </a:solidFill>
              <a:effectLst/>
              <a:uFillTx/>
              <a:latin typeface="Arial"/>
            </a:endParaRPr>
          </a:p>
        </p:txBody>
      </p:sp>
      <p:cxnSp>
        <p:nvCxnSpPr>
          <p:cNvPr id="634" name="Straight Connector 17"/>
          <p:cNvCxnSpPr/>
          <p:nvPr/>
        </p:nvCxnSpPr>
        <p:spPr>
          <a:xfrm>
            <a:off x="893160" y="2525400"/>
            <a:ext cx="5040" cy="426600"/>
          </a:xfrm>
          <a:prstGeom prst="straightConnector1">
            <a:avLst/>
          </a:prstGeom>
          <a:ln w="3175">
            <a:solidFill>
              <a:srgbClr val="A6A6A6"/>
            </a:solidFill>
            <a:round/>
          </a:ln>
        </p:spPr>
      </p:cxnSp>
      <p:pic>
        <p:nvPicPr>
          <p:cNvPr id="635"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36"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37"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38"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39"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40" name="Rounded Rectangle 8"/>
          <p:cNvSpPr/>
          <p:nvPr/>
        </p:nvSpPr>
        <p:spPr>
          <a:xfrm>
            <a:off x="410400" y="3224160"/>
            <a:ext cx="6733800" cy="70164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en-FR" sz="1200" b="0" u="none" strike="noStrike">
                <a:solidFill>
                  <a:srgbClr val="145C30"/>
                </a:solidFill>
                <a:effectLst/>
                <a:uFillTx/>
                <a:latin typeface="Marianne Light"/>
              </a:rPr>
              <a:t>Aléas et risques climatiques recensés</a:t>
            </a: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p:txBody>
      </p:sp>
      <p:graphicFrame>
        <p:nvGraphicFramePr>
          <p:cNvPr id="641" name="Table 11"/>
          <p:cNvGraphicFramePr/>
          <p:nvPr/>
        </p:nvGraphicFramePr>
        <p:xfrm>
          <a:off x="608400" y="3888720"/>
          <a:ext cx="6341040" cy="6089760"/>
        </p:xfrm>
        <a:graphic>
          <a:graphicData uri="http://schemas.openxmlformats.org/drawingml/2006/table">
            <a:tbl>
              <a:tblPr/>
              <a:tblGrid>
                <a:gridCol w="774720"/>
                <a:gridCol w="1761840"/>
                <a:gridCol w="1086480"/>
                <a:gridCol w="927360"/>
                <a:gridCol w="1791000"/>
              </a:tblGrid>
              <a:tr h="57096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Risque 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Description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Méthode d'évaluation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Horizon temporel</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Actions d’adaptation entreprises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110376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Court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defTabSz="756000">
                        <a:lnSpc>
                          <a:spcPct val="100000"/>
                        </a:lnSpc>
                      </a:pPr>
                      <a:r>
                        <a:rPr lang="fr-FR"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110376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2</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Moyen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103760">
                <a:tc>
                  <a:txBody>
                    <a:bodyPr anchor="ctr">
                      <a:noAutofit/>
                    </a:bodyPr>
                    <a:p>
                      <a:pPr algn="ctr" defTabSz="756000">
                        <a:lnSpc>
                          <a:spcPct val="100000"/>
                        </a:lnSpc>
                      </a:pPr>
                      <a:r>
                        <a:rPr lang="fr-FR" sz="1100" b="0" u="none" strike="noStrike">
                          <a:solidFill>
                            <a:schemeClr val="dk1"/>
                          </a:solidFill>
                          <a:effectLst/>
                          <a:uFillTx/>
                          <a:latin typeface="Marianne Medium"/>
                        </a:rPr>
                        <a:t>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Long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103760">
                <a:tc>
                  <a:txBody>
                    <a:bodyPr anchor="ctr">
                      <a:noAutofit/>
                    </a:bodyPr>
                    <a:p>
                      <a:pPr algn="ctr" defTabSz="756000">
                        <a:lnSpc>
                          <a:spcPct val="100000"/>
                        </a:lnSpc>
                      </a:pPr>
                      <a:r>
                        <a:rPr lang="fr-FR" sz="1100" b="0" u="none" strike="noStrike">
                          <a:solidFill>
                            <a:schemeClr val="dk1"/>
                          </a:solidFill>
                          <a:effectLst/>
                          <a:uFillTx/>
                          <a:latin typeface="Marianne Medium"/>
                        </a:rPr>
                        <a:t>4</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103760">
                <a:tc>
                  <a:txBody>
                    <a:bodyPr anchor="ctr">
                      <a:noAutofit/>
                    </a:bodyPr>
                    <a:p>
                      <a:pPr algn="ctr" defTabSz="756000">
                        <a:lnSpc>
                          <a:spcPct val="100000"/>
                        </a:lnSpc>
                      </a:pPr>
                      <a:r>
                        <a:rPr lang="fr-FR" sz="1100" b="0" u="none" strike="noStrike">
                          <a:solidFill>
                            <a:schemeClr val="dk1"/>
                          </a:solidFill>
                          <a:effectLst/>
                          <a:uFillTx/>
                          <a:latin typeface="Marianne Medium"/>
                        </a:rPr>
                        <a:t>5</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42" name="Picture 4" descr="Green leaves on the trees in spring"/>
          <p:cNvPicPr/>
          <p:nvPr/>
        </p:nvPicPr>
        <p:blipFill>
          <a:blip r:embed="rId1"/>
          <a:stretch/>
        </p:blipFill>
        <p:spPr>
          <a:xfrm>
            <a:off x="0" y="0"/>
            <a:ext cx="7554600" cy="10686600"/>
          </a:xfrm>
          <a:prstGeom prst="rect">
            <a:avLst/>
          </a:prstGeom>
          <a:noFill/>
          <a:ln w="0">
            <a:noFill/>
          </a:ln>
        </p:spPr>
      </p:pic>
      <p:sp>
        <p:nvSpPr>
          <p:cNvPr id="64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44"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C4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Risques climatiques</a:t>
            </a:r>
            <a:endParaRPr lang="fr-FR" sz="1400" b="0" u="none" strike="noStrike">
              <a:solidFill>
                <a:srgbClr val="000000"/>
              </a:solidFill>
              <a:effectLst/>
              <a:uFillTx/>
              <a:latin typeface="Arial"/>
            </a:endParaRPr>
          </a:p>
        </p:txBody>
      </p:sp>
      <p:cxnSp>
        <p:nvCxnSpPr>
          <p:cNvPr id="645" name="Straight Connector 17"/>
          <p:cNvCxnSpPr/>
          <p:nvPr/>
        </p:nvCxnSpPr>
        <p:spPr>
          <a:xfrm>
            <a:off x="893160" y="2525400"/>
            <a:ext cx="5040" cy="426600"/>
          </a:xfrm>
          <a:prstGeom prst="straightConnector1">
            <a:avLst/>
          </a:prstGeom>
          <a:ln w="3175">
            <a:solidFill>
              <a:srgbClr val="A6A6A6"/>
            </a:solidFill>
            <a:round/>
          </a:ln>
        </p:spPr>
      </p:cxnSp>
      <p:pic>
        <p:nvPicPr>
          <p:cNvPr id="64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4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48"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49"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50"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51" name="Rounded Rectangle 8"/>
          <p:cNvSpPr/>
          <p:nvPr/>
        </p:nvSpPr>
        <p:spPr>
          <a:xfrm>
            <a:off x="410400" y="3224160"/>
            <a:ext cx="6733800" cy="70164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en-FR" sz="1200" b="0" u="none" strike="noStrike">
                <a:solidFill>
                  <a:srgbClr val="145C30"/>
                </a:solidFill>
                <a:effectLst/>
                <a:uFillTx/>
                <a:latin typeface="Marianne Light"/>
              </a:rPr>
              <a:t>Aléas et risques climatiques recensés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L</a:t>
            </a:r>
            <a:r>
              <a:rPr lang="en-FR" sz="1200" b="1" u="none" strike="noStrike">
                <a:solidFill>
                  <a:srgbClr val="000000"/>
                </a:solidFill>
                <a:effectLst/>
                <a:uFillTx/>
                <a:latin typeface="Marianne Medium"/>
              </a:rPr>
              <a:t>'entreprise n'a pas recensé d'aléas ou d'événements liés au changement climatique entraînant des risques.</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52" name="Picture 4" descr="Green leaves on the trees in spring"/>
          <p:cNvPicPr/>
          <p:nvPr/>
        </p:nvPicPr>
        <p:blipFill>
          <a:blip r:embed="rId1"/>
          <a:stretch/>
        </p:blipFill>
        <p:spPr>
          <a:xfrm>
            <a:off x="0" y="0"/>
            <a:ext cx="7554600" cy="10686600"/>
          </a:xfrm>
          <a:prstGeom prst="rect">
            <a:avLst/>
          </a:prstGeom>
          <a:noFill/>
          <a:ln w="0">
            <a:noFill/>
          </a:ln>
        </p:spPr>
      </p:pic>
      <p:sp>
        <p:nvSpPr>
          <p:cNvPr id="65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54"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C4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Risques climatiques</a:t>
            </a:r>
            <a:endParaRPr lang="fr-FR" sz="1400" b="0" u="none" strike="noStrike">
              <a:solidFill>
                <a:srgbClr val="000000"/>
              </a:solidFill>
              <a:effectLst/>
              <a:uFillTx/>
              <a:latin typeface="Arial"/>
            </a:endParaRPr>
          </a:p>
        </p:txBody>
      </p:sp>
      <p:cxnSp>
        <p:nvCxnSpPr>
          <p:cNvPr id="655" name="Straight Connector 17"/>
          <p:cNvCxnSpPr/>
          <p:nvPr/>
        </p:nvCxnSpPr>
        <p:spPr>
          <a:xfrm>
            <a:off x="893160" y="2525400"/>
            <a:ext cx="5040" cy="426600"/>
          </a:xfrm>
          <a:prstGeom prst="straightConnector1">
            <a:avLst/>
          </a:prstGeom>
          <a:ln w="3175">
            <a:solidFill>
              <a:srgbClr val="A6A6A6"/>
            </a:solidFill>
            <a:round/>
          </a:ln>
        </p:spPr>
      </p:cxnSp>
      <p:pic>
        <p:nvPicPr>
          <p:cNvPr id="656"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57"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58"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59"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60"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61" name="Rounded Rectangle 8"/>
          <p:cNvSpPr/>
          <p:nvPr/>
        </p:nvSpPr>
        <p:spPr>
          <a:xfrm>
            <a:off x="410400" y="3224160"/>
            <a:ext cx="6733800" cy="70164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Impacts financiers potentiels des risques climatiques</a:t>
            </a:r>
            <a:endParaRPr lang="fr-FR" sz="1200" b="0" u="none" strike="noStrike">
              <a:solidFill>
                <a:srgbClr val="000000"/>
              </a:solidFill>
              <a:effectLst/>
              <a:uFillTx/>
              <a:latin typeface="Arial"/>
            </a:endParaRPr>
          </a:p>
        </p:txBody>
      </p:sp>
      <p:graphicFrame>
        <p:nvGraphicFramePr>
          <p:cNvPr id="662" name="Table 9"/>
          <p:cNvGraphicFramePr/>
          <p:nvPr/>
        </p:nvGraphicFramePr>
        <p:xfrm>
          <a:off x="608400" y="3801240"/>
          <a:ext cx="6314040" cy="6302520"/>
        </p:xfrm>
        <a:graphic>
          <a:graphicData uri="http://schemas.openxmlformats.org/drawingml/2006/table">
            <a:tbl>
              <a:tblPr/>
              <a:tblGrid>
                <a:gridCol w="771480"/>
                <a:gridCol w="1323720"/>
                <a:gridCol w="2390400"/>
                <a:gridCol w="914400"/>
                <a:gridCol w="914400"/>
              </a:tblGrid>
              <a:tr h="898920">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Risque n°</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Ce risque a-t-il des impacts financiers potentiels ?</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Description des impacts financiers potentiels</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tabLst>
                          <a:tab pos="0" algn="l"/>
                        </a:tabLst>
                      </a:pPr>
                      <a:r>
                        <a:rPr lang="fr-FR" sz="1100" b="0" u="none" strike="noStrike">
                          <a:solidFill>
                            <a:srgbClr val="145C30"/>
                          </a:solidFill>
                          <a:effectLst/>
                          <a:uFillTx/>
                          <a:latin typeface="Marianne Light"/>
                        </a:rPr>
                        <a:t>Niveau de risque</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c>
                  <a:txBody>
                    <a:bodyPr lIns="108000" rIns="108000" anchor="ctr">
                      <a:noAutofit/>
                    </a:bodyPr>
                    <a:p>
                      <a:pPr algn="ctr" defTabSz="756000">
                        <a:lnSpc>
                          <a:spcPct val="100000"/>
                        </a:lnSpc>
                      </a:pPr>
                      <a:r>
                        <a:rPr lang="fr-FR" sz="1100" b="0" u="none" strike="noStrike">
                          <a:solidFill>
                            <a:srgbClr val="145C30"/>
                          </a:solidFill>
                          <a:effectLst/>
                          <a:uFillTx/>
                          <a:latin typeface="Marianne Light"/>
                        </a:rPr>
                        <a:t>Horizon temporel</a:t>
                      </a:r>
                      <a:endParaRPr lang="fr-FR" sz="1100" b="0" u="none" strike="noStrike">
                        <a:solidFill>
                          <a:srgbClr val="000000"/>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BEDED"/>
                    </a:solidFill>
                  </a:tcPr>
                </a:tc>
              </a:tr>
              <a:tr h="108072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1</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chemeClr val="dk1"/>
                          </a:solidFill>
                          <a:effectLst/>
                          <a:uFillTx/>
                          <a:latin typeface="Marianne Medium"/>
                        </a:rPr>
                        <a:t>Élevé</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pPr>
                      <a:r>
                        <a:rPr lang="fr-FR" sz="1100" b="0" u="none" strike="noStrike">
                          <a:solidFill>
                            <a:schemeClr val="dk1"/>
                          </a:solidFill>
                          <a:effectLst/>
                          <a:uFillTx/>
                          <a:latin typeface="Marianne Medium"/>
                        </a:rPr>
                        <a:t>Court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12240">
                      <a:solidFill>
                        <a:srgbClr val="FFFFFF"/>
                      </a:solidFill>
                      <a:prstDash val="solid"/>
                    </a:lnT>
                    <a:lnB w="28080">
                      <a:solidFill>
                        <a:srgbClr val="FFFFFF"/>
                      </a:solidFill>
                      <a:prstDash val="solid"/>
                    </a:lnB>
                    <a:solidFill>
                      <a:schemeClr val="lt1">
                        <a:lumMod val="95000"/>
                      </a:schemeClr>
                    </a:solidFill>
                  </a:tcPr>
                </a:tc>
              </a:tr>
              <a:tr h="1080720">
                <a:tc>
                  <a:txBody>
                    <a:bodyPr anchor="ctr">
                      <a:noAutofit/>
                    </a:bodyPr>
                    <a:p>
                      <a:pPr algn="ctr" defTabSz="756000">
                        <a:lnSpc>
                          <a:spcPct val="100000"/>
                        </a:lnSpc>
                        <a:tabLst>
                          <a:tab pos="0" algn="l"/>
                        </a:tabLst>
                      </a:pPr>
                      <a:r>
                        <a:rPr lang="fr-FR" sz="1100" b="0" u="none" strike="noStrike">
                          <a:solidFill>
                            <a:schemeClr val="dk1"/>
                          </a:solidFill>
                          <a:effectLst/>
                          <a:uFillTx/>
                          <a:latin typeface="Marianne Medium"/>
                        </a:rPr>
                        <a:t>2</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Medium"/>
                        </a:rPr>
                        <a:t>Élevé</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Moyen</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080720">
                <a:tc>
                  <a:txBody>
                    <a:bodyPr anchor="ctr">
                      <a:noAutofit/>
                    </a:bodyPr>
                    <a:p>
                      <a:pPr algn="ctr" defTabSz="756000">
                        <a:lnSpc>
                          <a:spcPct val="100000"/>
                        </a:lnSpc>
                      </a:pPr>
                      <a:r>
                        <a:rPr lang="fr-FR" sz="1100" b="0" u="none" strike="noStrike">
                          <a:solidFill>
                            <a:schemeClr val="dk1"/>
                          </a:solidFill>
                          <a:effectLst/>
                          <a:uFillTx/>
                          <a:latin typeface="Marianne Medium"/>
                        </a:rPr>
                        <a:t>3</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145C30"/>
                          </a:solidFill>
                          <a:effectLst/>
                          <a:uFillTx/>
                          <a:latin typeface="Marianne"/>
                        </a:rPr>
                        <a:t>OUI</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Medium"/>
                        </a:rPr>
                        <a:t>Élevé</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Long</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080720">
                <a:tc>
                  <a:txBody>
                    <a:bodyPr anchor="ctr">
                      <a:noAutofit/>
                    </a:bodyPr>
                    <a:p>
                      <a:pPr algn="ctr" defTabSz="756000">
                        <a:lnSpc>
                          <a:spcPct val="100000"/>
                        </a:lnSpc>
                      </a:pPr>
                      <a:r>
                        <a:rPr lang="fr-FR" sz="1100" b="0" u="none" strike="noStrike">
                          <a:solidFill>
                            <a:schemeClr val="dk1"/>
                          </a:solidFill>
                          <a:effectLst/>
                          <a:uFillTx/>
                          <a:latin typeface="Marianne Medium"/>
                        </a:rPr>
                        <a:t>4</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Medium"/>
                        </a:rPr>
                        <a:t>Élevé</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1080720">
                <a:tc>
                  <a:txBody>
                    <a:bodyPr anchor="ctr">
                      <a:noAutofit/>
                    </a:bodyPr>
                    <a:p>
                      <a:pPr algn="ctr" defTabSz="756000">
                        <a:lnSpc>
                          <a:spcPct val="100000"/>
                        </a:lnSpc>
                      </a:pPr>
                      <a:r>
                        <a:rPr lang="fr-FR" sz="1100" b="0" u="none" strike="noStrike">
                          <a:solidFill>
                            <a:schemeClr val="dk1"/>
                          </a:solidFill>
                          <a:effectLst/>
                          <a:uFillTx/>
                          <a:latin typeface="Marianne Medium"/>
                        </a:rPr>
                        <a:t>5</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C00000"/>
                          </a:solidFill>
                          <a:effectLst/>
                          <a:uFillTx/>
                          <a:latin typeface="Marianne"/>
                        </a:rPr>
                        <a:t>NON</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lIns="6120" rIns="6120" anchor="ctr">
                      <a:noAutofit/>
                    </a:bodyPr>
                    <a:p>
                      <a:pPr algn="ctr" defTabSz="756000">
                        <a:lnSpc>
                          <a:spcPct val="100000"/>
                        </a:lnSpc>
                        <a:tabLst>
                          <a:tab pos="0" algn="l"/>
                        </a:tabLst>
                      </a:pPr>
                      <a:r>
                        <a:rPr lang="fr-FR" sz="1000" b="0" u="none" strike="noStrike">
                          <a:solidFill>
                            <a:srgbClr val="000000"/>
                          </a:solidFill>
                          <a:effectLst/>
                          <a:uFillTx/>
                          <a:latin typeface="Marianne Medium"/>
                        </a:rPr>
                        <a:t>Élevé</a:t>
                      </a:r>
                      <a:endParaRPr lang="fr-FR" sz="1000" b="0" u="none" strike="noStrike">
                        <a:solidFill>
                          <a:srgbClr val="000000"/>
                        </a:solidFill>
                        <a:effectLst/>
                        <a:uFillTx/>
                        <a:latin typeface="Arial"/>
                      </a:endParaRPr>
                    </a:p>
                  </a:txBody>
                  <a:tcPr anchor="ctr" marL="6120" marR="612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fr-FR"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63" name="Picture 4" descr="Green leaves on the trees in spring"/>
          <p:cNvPicPr/>
          <p:nvPr/>
        </p:nvPicPr>
        <p:blipFill>
          <a:blip r:embed="rId1"/>
          <a:stretch/>
        </p:blipFill>
        <p:spPr>
          <a:xfrm>
            <a:off x="0" y="0"/>
            <a:ext cx="7554600" cy="10686600"/>
          </a:xfrm>
          <a:prstGeom prst="rect">
            <a:avLst/>
          </a:prstGeom>
          <a:noFill/>
          <a:ln w="0">
            <a:noFill/>
          </a:ln>
        </p:spPr>
      </p:pic>
      <p:sp>
        <p:nvSpPr>
          <p:cNvPr id="66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65"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C4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Risques climatiques</a:t>
            </a:r>
            <a:endParaRPr lang="fr-FR" sz="1400" b="0" u="none" strike="noStrike">
              <a:solidFill>
                <a:srgbClr val="000000"/>
              </a:solidFill>
              <a:effectLst/>
              <a:uFillTx/>
              <a:latin typeface="Arial"/>
            </a:endParaRPr>
          </a:p>
        </p:txBody>
      </p:sp>
      <p:cxnSp>
        <p:nvCxnSpPr>
          <p:cNvPr id="666" name="Straight Connector 17"/>
          <p:cNvCxnSpPr/>
          <p:nvPr/>
        </p:nvCxnSpPr>
        <p:spPr>
          <a:xfrm>
            <a:off x="893160" y="2525400"/>
            <a:ext cx="5040" cy="426600"/>
          </a:xfrm>
          <a:prstGeom prst="straightConnector1">
            <a:avLst/>
          </a:prstGeom>
          <a:ln w="3175">
            <a:solidFill>
              <a:srgbClr val="A6A6A6"/>
            </a:solidFill>
            <a:round/>
          </a:ln>
        </p:spPr>
      </p:cxnSp>
      <p:pic>
        <p:nvPicPr>
          <p:cNvPr id="667"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68"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69"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70"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71"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72" name="Rounded Rectangle 8"/>
          <p:cNvSpPr/>
          <p:nvPr/>
        </p:nvSpPr>
        <p:spPr>
          <a:xfrm>
            <a:off x="410400" y="3224160"/>
            <a:ext cx="6733800" cy="70164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Impacts financiers potentiels des risques climatiques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Cet indicateur n'est pas applicable car l'entreprise n'a pas renseigné de risque climatique dans l'indicateur « Aléas et risques climatiques recensés » de C4.</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3" name="Picture 4" descr="Green leaves on the trees in spring"/>
          <p:cNvPicPr/>
          <p:nvPr/>
        </p:nvPicPr>
        <p:blipFill>
          <a:blip r:embed="rId1"/>
          <a:stretch/>
        </p:blipFill>
        <p:spPr>
          <a:xfrm>
            <a:off x="0" y="0"/>
            <a:ext cx="7554600" cy="10686600"/>
          </a:xfrm>
          <a:prstGeom prst="rect">
            <a:avLst/>
          </a:prstGeom>
          <a:noFill/>
          <a:ln w="0">
            <a:noFill/>
          </a:ln>
        </p:spPr>
      </p:pic>
      <p:sp>
        <p:nvSpPr>
          <p:cNvPr id="67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75" name="Rounded Rectangle 3"/>
          <p:cNvSpPr/>
          <p:nvPr/>
        </p:nvSpPr>
        <p:spPr>
          <a:xfrm rot="16200000">
            <a:off x="3985560" y="-321840"/>
            <a:ext cx="394200" cy="6150960"/>
          </a:xfrm>
          <a:prstGeom prst="roundRect">
            <a:avLst>
              <a:gd name="adj" fmla="val 16667"/>
            </a:avLst>
          </a:prstGeom>
          <a:solidFill>
            <a:srgbClr val="3AEB7E">
              <a:alpha val="10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145C30"/>
                </a:solidFill>
                <a:effectLst/>
                <a:uFillTx/>
                <a:latin typeface="Marianne"/>
              </a:rPr>
              <a:t>C4</a:t>
            </a:r>
            <a:r>
              <a:rPr lang="fr-FR" sz="1400" b="0" u="none" strike="noStrike">
                <a:solidFill>
                  <a:srgbClr val="145C30"/>
                </a:solidFill>
                <a:effectLst/>
                <a:uFillTx/>
                <a:latin typeface="Marianne Medium"/>
              </a:rPr>
              <a:t> </a:t>
            </a:r>
            <a:r>
              <a:rPr lang="fr-FR" sz="1400" b="0" u="none" strike="noStrike">
                <a:solidFill>
                  <a:srgbClr val="145C30"/>
                </a:solidFill>
                <a:effectLst/>
                <a:uFillTx/>
                <a:latin typeface="Marianne"/>
              </a:rPr>
              <a:t>Risques climatiques</a:t>
            </a:r>
            <a:endParaRPr lang="fr-FR" sz="1400" b="0" u="none" strike="noStrike">
              <a:solidFill>
                <a:srgbClr val="000000"/>
              </a:solidFill>
              <a:effectLst/>
              <a:uFillTx/>
              <a:latin typeface="Arial"/>
            </a:endParaRPr>
          </a:p>
        </p:txBody>
      </p:sp>
      <p:cxnSp>
        <p:nvCxnSpPr>
          <p:cNvPr id="676" name="Straight Connector 17"/>
          <p:cNvCxnSpPr/>
          <p:nvPr/>
        </p:nvCxnSpPr>
        <p:spPr>
          <a:xfrm>
            <a:off x="893160" y="2525400"/>
            <a:ext cx="5040" cy="426600"/>
          </a:xfrm>
          <a:prstGeom prst="straightConnector1">
            <a:avLst/>
          </a:prstGeom>
          <a:ln w="3175">
            <a:solidFill>
              <a:srgbClr val="A6A6A6"/>
            </a:solidFill>
            <a:round/>
          </a:ln>
        </p:spPr>
      </p:cxnSp>
      <p:pic>
        <p:nvPicPr>
          <p:cNvPr id="677" name="Graphic 1"/>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678" name="TextBox 2"/>
          <p:cNvSpPr/>
          <p:nvPr/>
        </p:nvSpPr>
        <p:spPr>
          <a:xfrm>
            <a:off x="366480" y="187200"/>
            <a:ext cx="17816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679" name="TextBox 5"/>
          <p:cNvSpPr/>
          <p:nvPr/>
        </p:nvSpPr>
        <p:spPr>
          <a:xfrm>
            <a:off x="3666600" y="187200"/>
            <a:ext cx="61740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680" name="TextBox 6"/>
          <p:cNvSpPr/>
          <p:nvPr/>
        </p:nvSpPr>
        <p:spPr>
          <a:xfrm>
            <a:off x="2258640" y="187200"/>
            <a:ext cx="1318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Environnement</a:t>
            </a:r>
            <a:endParaRPr lang="fr-FR" sz="1100" b="0" u="none" strike="noStrike">
              <a:solidFill>
                <a:srgbClr val="000000"/>
              </a:solidFill>
              <a:effectLst/>
              <a:uFillTx/>
              <a:latin typeface="Arial"/>
            </a:endParaRPr>
          </a:p>
        </p:txBody>
      </p:sp>
      <p:sp>
        <p:nvSpPr>
          <p:cNvPr id="681" name="TextBox 7"/>
          <p:cNvSpPr/>
          <p:nvPr/>
        </p:nvSpPr>
        <p:spPr>
          <a:xfrm>
            <a:off x="4407840" y="187200"/>
            <a:ext cx="1117440" cy="304920"/>
          </a:xfrm>
          <a:prstGeom prst="roundRect">
            <a:avLst>
              <a:gd name="adj" fmla="val 16667"/>
            </a:avLst>
          </a:prstGeom>
          <a:solidFill>
            <a:schemeClr val="dk1">
              <a:alpha val="62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36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682" name="Rounded Rectangle 8"/>
          <p:cNvSpPr/>
          <p:nvPr/>
        </p:nvSpPr>
        <p:spPr>
          <a:xfrm>
            <a:off x="410400" y="3224160"/>
            <a:ext cx="6733800" cy="7016400"/>
          </a:xfrm>
          <a:prstGeom prst="roundRect">
            <a:avLst>
              <a:gd name="adj" fmla="val 210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145C30"/>
                </a:solidFill>
                <a:effectLst/>
                <a:uFillTx/>
                <a:latin typeface="Marianne Light"/>
              </a:rPr>
              <a:t>Impacts financiers potentiels des risques climatiques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Non pertinent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83" name="Picture 2"/>
          <p:cNvPicPr/>
          <p:nvPr/>
        </p:nvPicPr>
        <p:blipFill>
          <a:blip r:embed="rId1"/>
          <a:stretch/>
        </p:blipFill>
        <p:spPr>
          <a:xfrm>
            <a:off x="0" y="0"/>
            <a:ext cx="7545960" cy="10686600"/>
          </a:xfrm>
          <a:prstGeom prst="rect">
            <a:avLst/>
          </a:prstGeom>
          <a:noFill/>
          <a:ln w="0">
            <a:noFill/>
          </a:ln>
        </p:spPr>
      </p:pic>
      <p:grpSp>
        <p:nvGrpSpPr>
          <p:cNvPr id="684" name="Group 14"/>
          <p:cNvGrpSpPr/>
          <p:nvPr/>
        </p:nvGrpSpPr>
        <p:grpSpPr>
          <a:xfrm>
            <a:off x="0" y="2904120"/>
            <a:ext cx="7554600" cy="4878720"/>
            <a:chOff x="0" y="2904120"/>
            <a:chExt cx="7554600" cy="4878720"/>
          </a:xfrm>
        </p:grpSpPr>
        <p:sp>
          <p:nvSpPr>
            <p:cNvPr id="685" name="Rectangle 9"/>
            <p:cNvSpPr/>
            <p:nvPr/>
          </p:nvSpPr>
          <p:spPr>
            <a:xfrm>
              <a:off x="0" y="2904120"/>
              <a:ext cx="7554600" cy="4878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86" name="TextBox 1"/>
            <p:cNvSpPr/>
            <p:nvPr/>
          </p:nvSpPr>
          <p:spPr>
            <a:xfrm>
              <a:off x="636840" y="6191280"/>
              <a:ext cx="6280920" cy="821160"/>
            </a:xfrm>
            <a:prstGeom prst="rect">
              <a:avLst/>
            </a:prstGeom>
            <a:noFill/>
            <a:ln w="0">
              <a:noFill/>
            </a:ln>
          </p:spPr>
          <p:style>
            <a:lnRef idx="0"/>
            <a:fillRef idx="0"/>
            <a:effectRef idx="0"/>
            <a:fontRef idx="minor"/>
          </p:style>
          <p:txBody>
            <a:bodyPr lIns="90000" tIns="45000" rIns="90000" bIns="45000" anchor="t">
              <a:spAutoFit/>
            </a:bodyPr>
            <a:p>
              <a:pPr marL="11160" algn="just" defTabSz="457200">
                <a:lnSpc>
                  <a:spcPct val="120000"/>
                </a:lnSpc>
                <a:spcAft>
                  <a:spcPts val="601"/>
                </a:spcAft>
              </a:pPr>
              <a:r>
                <a:rPr lang="fr-FR" sz="1000" b="0" u="none" strike="noStrike">
                  <a:solidFill>
                    <a:schemeClr val="dk1"/>
                  </a:solidFill>
                  <a:effectLst/>
                  <a:uFillTx/>
                  <a:latin typeface="Marianne Light"/>
                  <a:ea typeface="Arial"/>
                </a:rPr>
                <a:t>Les métriques sociales permettent d’appréhender de manière structurée la façon dont notre entreprise gère et développe son capital humain. En apportant des éléments factuels et comparables, ces indicateurs contribuent à évaluer nos pratiques, à identifier les axes de progrès et à démontrer notre engagement en faveur de conditions de travail responsables et d’un impact social positif.</a:t>
              </a:r>
              <a:endParaRPr lang="fr-FR" sz="1000" b="0" u="none" strike="noStrike">
                <a:solidFill>
                  <a:srgbClr val="000000"/>
                </a:solidFill>
                <a:effectLst/>
                <a:uFillTx/>
                <a:latin typeface="Arial"/>
              </a:endParaRPr>
            </a:p>
          </p:txBody>
        </p:sp>
        <p:cxnSp>
          <p:nvCxnSpPr>
            <p:cNvPr id="687" name="Straight Connector 3"/>
            <p:cNvCxnSpPr/>
            <p:nvPr/>
          </p:nvCxnSpPr>
          <p:spPr>
            <a:xfrm>
              <a:off x="1298160" y="3479760"/>
              <a:ext cx="5040" cy="426600"/>
            </a:xfrm>
            <a:prstGeom prst="straightConnector1">
              <a:avLst/>
            </a:prstGeom>
            <a:ln w="3175">
              <a:solidFill>
                <a:srgbClr val="A6A6A6"/>
              </a:solidFill>
              <a:round/>
            </a:ln>
          </p:spPr>
        </p:cxnSp>
        <p:sp>
          <p:nvSpPr>
            <p:cNvPr id="688" name="TextBox 4"/>
            <p:cNvSpPr/>
            <p:nvPr/>
          </p:nvSpPr>
          <p:spPr>
            <a:xfrm>
              <a:off x="1342440" y="344412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Social</a:t>
              </a:r>
              <a:endParaRPr lang="fr-FR" sz="2400" b="0" u="none" strike="noStrike">
                <a:solidFill>
                  <a:srgbClr val="000000"/>
                </a:solidFill>
                <a:effectLst/>
                <a:uFillTx/>
                <a:latin typeface="Arial"/>
              </a:endParaRPr>
            </a:p>
          </p:txBody>
        </p:sp>
        <p:sp>
          <p:nvSpPr>
            <p:cNvPr id="689" name="Round Same-side Corner of Rectangle 5"/>
            <p:cNvSpPr/>
            <p:nvPr/>
          </p:nvSpPr>
          <p:spPr>
            <a:xfrm rot="16200000">
              <a:off x="3988080" y="86652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B8</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caractéristiques générales</a:t>
              </a:r>
              <a:endParaRPr lang="fr-FR" sz="850" b="0" u="none" strike="noStrike">
                <a:solidFill>
                  <a:srgbClr val="FFFFFF"/>
                </a:solidFill>
                <a:effectLst/>
                <a:uFillTx/>
                <a:latin typeface="Arial"/>
              </a:endParaRPr>
            </a:p>
          </p:txBody>
        </p:sp>
        <p:sp>
          <p:nvSpPr>
            <p:cNvPr id="690" name="Round Same-side Corner of Rectangle 6"/>
            <p:cNvSpPr/>
            <p:nvPr/>
          </p:nvSpPr>
          <p:spPr>
            <a:xfrm rot="16200000">
              <a:off x="3988080" y="115884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B9</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santé et sécurité</a:t>
              </a:r>
              <a:endParaRPr lang="fr-FR" sz="850" b="0" u="none" strike="noStrike">
                <a:solidFill>
                  <a:srgbClr val="FFFFFF"/>
                </a:solidFill>
                <a:effectLst/>
                <a:uFillTx/>
                <a:latin typeface="Arial"/>
              </a:endParaRPr>
            </a:p>
          </p:txBody>
        </p:sp>
        <p:sp>
          <p:nvSpPr>
            <p:cNvPr id="691" name="Round Same-side Corner of Rectangle 7"/>
            <p:cNvSpPr/>
            <p:nvPr/>
          </p:nvSpPr>
          <p:spPr>
            <a:xfrm rot="16200000">
              <a:off x="3988080" y="145080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B10</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Effectifs : rémunération, négociation collective et formation</a:t>
              </a:r>
              <a:endParaRPr lang="fr-FR" sz="850" b="0" u="none" strike="noStrike">
                <a:solidFill>
                  <a:srgbClr val="FFFFFF"/>
                </a:solidFill>
                <a:effectLst/>
                <a:uFillTx/>
                <a:latin typeface="Arial"/>
              </a:endParaRPr>
            </a:p>
          </p:txBody>
        </p:sp>
        <p:sp>
          <p:nvSpPr>
            <p:cNvPr id="692" name="Round Same-side Corner of Rectangle 10"/>
            <p:cNvSpPr/>
            <p:nvPr/>
          </p:nvSpPr>
          <p:spPr>
            <a:xfrm rot="16200000">
              <a:off x="3988080" y="174312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C5</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Caractéristiques supplémentaires (générales) des effectifs</a:t>
              </a:r>
              <a:endParaRPr lang="fr-FR" sz="850" b="0" u="none" strike="noStrike">
                <a:solidFill>
                  <a:srgbClr val="FFFFFF"/>
                </a:solidFill>
                <a:effectLst/>
                <a:uFillTx/>
                <a:latin typeface="Arial"/>
              </a:endParaRPr>
            </a:p>
          </p:txBody>
        </p:sp>
        <p:sp>
          <p:nvSpPr>
            <p:cNvPr id="693" name="Round Same-side Corner of Rectangle 11"/>
            <p:cNvSpPr/>
            <p:nvPr/>
          </p:nvSpPr>
          <p:spPr>
            <a:xfrm rot="16200000">
              <a:off x="3988080" y="203544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C6</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Informations complémentaires sur les effectifs de l'entreprise – Politiques et procédures en matière de droits de l’homme</a:t>
              </a:r>
              <a:endParaRPr lang="fr-FR" sz="850" b="0" u="none" strike="noStrike">
                <a:solidFill>
                  <a:srgbClr val="FFFFFF"/>
                </a:solidFill>
                <a:effectLst/>
                <a:uFillTx/>
                <a:latin typeface="Arial"/>
              </a:endParaRPr>
            </a:p>
          </p:txBody>
        </p:sp>
        <p:sp>
          <p:nvSpPr>
            <p:cNvPr id="694" name="Round Same-side Corner of Rectangle 12"/>
            <p:cNvSpPr/>
            <p:nvPr/>
          </p:nvSpPr>
          <p:spPr>
            <a:xfrm rot="16200000">
              <a:off x="3988080" y="2327760"/>
              <a:ext cx="235800" cy="6879600"/>
            </a:xfrm>
            <a:prstGeom prst="round2SameRect">
              <a:avLst>
                <a:gd name="adj1" fmla="val 26772"/>
                <a:gd name="adj2" fmla="val 0"/>
              </a:avLst>
            </a:prstGeom>
            <a:solidFill>
              <a:srgbClr val="FF5555">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8D2F2F"/>
                  </a:solidFill>
                  <a:effectLst/>
                  <a:uFillTx/>
                  <a:latin typeface="Marianne"/>
                </a:rPr>
                <a:t>C7</a:t>
              </a:r>
              <a:r>
                <a:rPr lang="fr-FR" sz="850" b="0" u="none" strike="noStrike">
                  <a:solidFill>
                    <a:srgbClr val="8D2F2F"/>
                  </a:solidFill>
                  <a:effectLst/>
                  <a:uFillTx/>
                  <a:latin typeface="Marianne Medium"/>
                </a:rPr>
                <a:t> </a:t>
              </a:r>
              <a:r>
                <a:rPr lang="fr-FR" sz="850" b="0" u="none" strike="noStrike">
                  <a:solidFill>
                    <a:srgbClr val="8D2F2F"/>
                  </a:solidFill>
                  <a:effectLst/>
                  <a:uFillTx/>
                  <a:latin typeface="Marianne"/>
                </a:rPr>
                <a:t>Incidents graves en matière de droits de l’homme</a:t>
              </a:r>
              <a:endParaRPr lang="fr-FR" sz="850" b="0" u="none" strike="noStrike">
                <a:solidFill>
                  <a:srgbClr val="FFFFFF"/>
                </a:solidFill>
                <a:effectLst/>
                <a:uFillTx/>
                <a:latin typeface="Arial"/>
              </a:endParaRPr>
            </a:p>
          </p:txBody>
        </p:sp>
        <p:pic>
          <p:nvPicPr>
            <p:cNvPr id="695" name="Graphic 13"/>
            <p:cNvPicPr/>
            <p:nvPr/>
          </p:nvPicPr>
          <p:blipFill>
            <a:blip r:embed="rId2">
              <a:extLst>
                <a:ext uri="{96DAC541-7B7A-43D3-8B79-37D633B846F1}">
                  <asvg:svgBlip xmlns:asvg="http://schemas.microsoft.com/office/drawing/2016/SVG/main" r:embed="rId3"/>
                </a:ext>
              </a:extLst>
            </a:blip>
            <a:stretch/>
          </p:blipFill>
          <p:spPr>
            <a:xfrm>
              <a:off x="735120" y="3497040"/>
              <a:ext cx="390960" cy="390960"/>
            </a:xfrm>
            <a:prstGeom prst="rect">
              <a:avLst/>
            </a:prstGeom>
            <a:noFill/>
            <a:ln w="0">
              <a:noFill/>
            </a:ln>
          </p:spPr>
        </p:pic>
      </p:gr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96" name="Picture 2"/>
          <p:cNvPicPr/>
          <p:nvPr/>
        </p:nvPicPr>
        <p:blipFill>
          <a:blip r:embed="rId1"/>
          <a:stretch/>
        </p:blipFill>
        <p:spPr>
          <a:xfrm>
            <a:off x="0" y="0"/>
            <a:ext cx="7545960" cy="10686600"/>
          </a:xfrm>
          <a:prstGeom prst="rect">
            <a:avLst/>
          </a:prstGeom>
          <a:noFill/>
          <a:ln w="0">
            <a:noFill/>
          </a:ln>
        </p:spPr>
      </p:pic>
      <p:sp>
        <p:nvSpPr>
          <p:cNvPr id="69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698"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B8</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Effectifs : caractéristiques générales</a:t>
            </a:r>
            <a:endParaRPr lang="fr-FR" sz="1400" b="0" u="none" strike="noStrike">
              <a:solidFill>
                <a:srgbClr val="FFFFFF"/>
              </a:solidFill>
              <a:effectLst/>
              <a:uFillTx/>
              <a:latin typeface="Arial"/>
            </a:endParaRPr>
          </a:p>
        </p:txBody>
      </p:sp>
      <p:cxnSp>
        <p:nvCxnSpPr>
          <p:cNvPr id="699" name="Straight Connector 17"/>
          <p:cNvCxnSpPr/>
          <p:nvPr/>
        </p:nvCxnSpPr>
        <p:spPr>
          <a:xfrm>
            <a:off x="893160" y="2525400"/>
            <a:ext cx="5040" cy="426600"/>
          </a:xfrm>
          <a:prstGeom prst="straightConnector1">
            <a:avLst/>
          </a:prstGeom>
          <a:ln w="3175">
            <a:solidFill>
              <a:srgbClr val="A6A6A6"/>
            </a:solidFill>
            <a:round/>
          </a:ln>
        </p:spPr>
      </p:cxnSp>
      <p:pic>
        <p:nvPicPr>
          <p:cNvPr id="700"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01"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02"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03"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04"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05" name="Rounded Rectangle 2"/>
          <p:cNvSpPr/>
          <p:nvPr/>
        </p:nvSpPr>
        <p:spPr>
          <a:xfrm>
            <a:off x="410400" y="3282480"/>
            <a:ext cx="6733800" cy="1743120"/>
          </a:xfrm>
          <a:prstGeom prst="roundRect">
            <a:avLst>
              <a:gd name="adj" fmla="val 45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Effectifs par type de contrat</a:t>
            </a:r>
            <a:endParaRPr lang="fr-FR" sz="1200" b="0" u="none" strike="noStrike">
              <a:solidFill>
                <a:srgbClr val="000000"/>
              </a:solidFill>
              <a:effectLst/>
              <a:uFillTx/>
              <a:latin typeface="Arial"/>
            </a:endParaRPr>
          </a:p>
        </p:txBody>
      </p:sp>
      <p:graphicFrame>
        <p:nvGraphicFramePr>
          <p:cNvPr id="706" name="Table 9"/>
          <p:cNvGraphicFramePr/>
          <p:nvPr/>
        </p:nvGraphicFramePr>
        <p:xfrm>
          <a:off x="649080" y="3825720"/>
          <a:ext cx="6297840" cy="978480"/>
        </p:xfrm>
        <a:graphic>
          <a:graphicData uri="http://schemas.openxmlformats.org/drawingml/2006/table">
            <a:tbl>
              <a:tblPr/>
              <a:tblGrid>
                <a:gridCol w="3918600"/>
                <a:gridCol w="2379600"/>
              </a:tblGrid>
              <a:tr h="302400">
                <a:tc>
                  <a:txBody>
                    <a:bodyPr lIns="108000" rIns="108000" anchor="ctr">
                      <a:noAutofit/>
                    </a:bodyPr>
                    <a:p>
                      <a:pPr algn="ctr" defTabSz="756000">
                        <a:lnSpc>
                          <a:spcPct val="100000"/>
                        </a:lnSpc>
                      </a:pPr>
                      <a:r>
                        <a:rPr lang="en-US" sz="1100" b="0" u="none" strike="noStrike">
                          <a:solidFill>
                            <a:srgbClr val="8D2F2F"/>
                          </a:solidFill>
                          <a:effectLst/>
                          <a:uFillTx/>
                          <a:latin typeface="Marianne Light"/>
                        </a:rPr>
                        <a:t>Type de contrat</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28080">
                      <a:noFill/>
                      <a:prstDash val="solid"/>
                    </a:lnT>
                    <a:lnB w="28080">
                      <a:solidFill>
                        <a:srgbClr val="FFFFFF"/>
                      </a:solidFill>
                      <a:prstDash val="solid"/>
                    </a:lnB>
                    <a:solidFill>
                      <a:srgbClr val="8D2F2F">
                        <a:alpha val="10000"/>
                      </a:srgbClr>
                    </a:solidFill>
                  </a:tcPr>
                </a:tc>
                <a:tc>
                  <a:txBody>
                    <a:bodyPr lIns="108000" rIns="108000" anchor="ctr">
                      <a:noAutofit/>
                    </a:bodyPr>
                    <a:p>
                      <a:pPr algn="ctr" defTabSz="756000">
                        <a:lnSpc>
                          <a:spcPct val="100000"/>
                        </a:lnSpc>
                        <a:tabLst>
                          <a:tab pos="0" algn="l"/>
                        </a:tabLst>
                      </a:pPr>
                      <a:r>
                        <a:rPr lang="en-US" sz="1100" b="0" u="none" strike="noStrike">
                          <a:solidFill>
                            <a:srgbClr val="8D2F2F"/>
                          </a:solidFill>
                          <a:effectLst/>
                          <a:uFillTx/>
                          <a:latin typeface="Marianne Light"/>
                        </a:rPr>
                        <a:t>Nombre de salariés</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8D2F2F">
                        <a:alpha val="10000"/>
                      </a:srgb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Contrat permanent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Contrat temporaire</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707" name="Rounded Rectangle 10"/>
          <p:cNvSpPr/>
          <p:nvPr/>
        </p:nvSpPr>
        <p:spPr>
          <a:xfrm>
            <a:off x="410400" y="5191560"/>
            <a:ext cx="6733800" cy="2430000"/>
          </a:xfrm>
          <a:prstGeom prst="roundRect">
            <a:avLst>
              <a:gd name="adj" fmla="val 45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Effectifs par genre</a:t>
            </a:r>
            <a:endParaRPr lang="fr-FR" sz="1200" b="0" u="none" strike="noStrike">
              <a:solidFill>
                <a:srgbClr val="000000"/>
              </a:solidFill>
              <a:effectLst/>
              <a:uFillTx/>
              <a:latin typeface="Arial"/>
            </a:endParaRPr>
          </a:p>
        </p:txBody>
      </p:sp>
      <p:graphicFrame>
        <p:nvGraphicFramePr>
          <p:cNvPr id="708" name="Table 11"/>
          <p:cNvGraphicFramePr/>
          <p:nvPr/>
        </p:nvGraphicFramePr>
        <p:xfrm>
          <a:off x="638640" y="5734440"/>
          <a:ext cx="6297840" cy="1654560"/>
        </p:xfrm>
        <a:graphic>
          <a:graphicData uri="http://schemas.openxmlformats.org/drawingml/2006/table">
            <a:tbl>
              <a:tblPr/>
              <a:tblGrid>
                <a:gridCol w="3918600"/>
                <a:gridCol w="2379600"/>
              </a:tblGrid>
              <a:tr h="302400">
                <a:tc>
                  <a:txBody>
                    <a:bodyPr lIns="108000" rIns="108000" anchor="ctr">
                      <a:noAutofit/>
                    </a:bodyPr>
                    <a:p>
                      <a:pPr algn="ctr" defTabSz="756000">
                        <a:lnSpc>
                          <a:spcPct val="100000"/>
                        </a:lnSpc>
                      </a:pPr>
                      <a:r>
                        <a:rPr lang="en-US" sz="1100" b="0" u="none" strike="noStrike">
                          <a:solidFill>
                            <a:srgbClr val="8D2F2F"/>
                          </a:solidFill>
                          <a:effectLst/>
                          <a:uFillTx/>
                          <a:latin typeface="Marianne Light"/>
                        </a:rPr>
                        <a:t>Genre</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28080">
                      <a:noFill/>
                      <a:prstDash val="solid"/>
                    </a:lnT>
                    <a:lnB w="28080">
                      <a:solidFill>
                        <a:srgbClr val="FFFFFF"/>
                      </a:solidFill>
                      <a:prstDash val="solid"/>
                    </a:lnB>
                    <a:solidFill>
                      <a:srgbClr val="8D2F2F">
                        <a:alpha val="10000"/>
                      </a:srgbClr>
                    </a:solidFill>
                  </a:tcPr>
                </a:tc>
                <a:tc>
                  <a:txBody>
                    <a:bodyPr lIns="108000" rIns="108000" anchor="ctr">
                      <a:noAutofit/>
                    </a:bodyPr>
                    <a:p>
                      <a:pPr algn="ctr" defTabSz="756000">
                        <a:lnSpc>
                          <a:spcPct val="100000"/>
                        </a:lnSpc>
                        <a:tabLst>
                          <a:tab pos="0" algn="l"/>
                        </a:tabLst>
                      </a:pPr>
                      <a:r>
                        <a:rPr lang="en-US" sz="1100" b="0" u="none" strike="noStrike">
                          <a:solidFill>
                            <a:srgbClr val="8D2F2F"/>
                          </a:solidFill>
                          <a:effectLst/>
                          <a:uFillTx/>
                          <a:latin typeface="Marianne Light"/>
                        </a:rPr>
                        <a:t>Nombre de salariés</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8D2F2F">
                        <a:alpha val="10000"/>
                      </a:srgb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Hommes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Femmes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Autres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Non communiqué</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709" name="Rounded Rectangle 12"/>
          <p:cNvSpPr/>
          <p:nvPr/>
        </p:nvSpPr>
        <p:spPr>
          <a:xfrm>
            <a:off x="410400" y="7787160"/>
            <a:ext cx="6733800" cy="797760"/>
          </a:xfrm>
          <a:prstGeom prst="roundRect">
            <a:avLst>
              <a:gd name="adj" fmla="val 869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Taux de rotation du personnel</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0" name="Picture 2"/>
          <p:cNvPicPr/>
          <p:nvPr/>
        </p:nvPicPr>
        <p:blipFill>
          <a:blip r:embed="rId1"/>
          <a:stretch/>
        </p:blipFill>
        <p:spPr>
          <a:xfrm>
            <a:off x="0" y="0"/>
            <a:ext cx="7545960" cy="10686600"/>
          </a:xfrm>
          <a:prstGeom prst="rect">
            <a:avLst/>
          </a:prstGeom>
          <a:noFill/>
          <a:ln w="0">
            <a:noFill/>
          </a:ln>
        </p:spPr>
      </p:pic>
      <p:sp>
        <p:nvSpPr>
          <p:cNvPr id="71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12"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B8</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Effectifs : caractéristiques générales</a:t>
            </a:r>
            <a:endParaRPr lang="fr-FR" sz="1400" b="0" u="none" strike="noStrike">
              <a:solidFill>
                <a:srgbClr val="FFFFFF"/>
              </a:solidFill>
              <a:effectLst/>
              <a:uFillTx/>
              <a:latin typeface="Arial"/>
            </a:endParaRPr>
          </a:p>
        </p:txBody>
      </p:sp>
      <p:cxnSp>
        <p:nvCxnSpPr>
          <p:cNvPr id="713" name="Straight Connector 17"/>
          <p:cNvCxnSpPr/>
          <p:nvPr/>
        </p:nvCxnSpPr>
        <p:spPr>
          <a:xfrm>
            <a:off x="893160" y="2525400"/>
            <a:ext cx="5040" cy="426600"/>
          </a:xfrm>
          <a:prstGeom prst="straightConnector1">
            <a:avLst/>
          </a:prstGeom>
          <a:ln w="3175">
            <a:solidFill>
              <a:srgbClr val="A6A6A6"/>
            </a:solidFill>
            <a:round/>
          </a:ln>
        </p:spPr>
      </p:cxnSp>
      <p:pic>
        <p:nvPicPr>
          <p:cNvPr id="714"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15"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16"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17"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18"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19" name="Rounded Rectangle 2"/>
          <p:cNvSpPr/>
          <p:nvPr/>
        </p:nvSpPr>
        <p:spPr>
          <a:xfrm>
            <a:off x="410400" y="3282480"/>
            <a:ext cx="6733800" cy="6958080"/>
          </a:xfrm>
          <a:prstGeom prst="roundRect">
            <a:avLst>
              <a:gd name="adj" fmla="val 219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Effectifs par pays</a:t>
            </a:r>
            <a:endParaRPr lang="fr-FR" sz="1200" b="0" u="none" strike="noStrike">
              <a:solidFill>
                <a:srgbClr val="000000"/>
              </a:solidFill>
              <a:effectLst/>
              <a:uFillTx/>
              <a:latin typeface="Arial"/>
            </a:endParaRPr>
          </a:p>
        </p:txBody>
      </p:sp>
      <p:graphicFrame>
        <p:nvGraphicFramePr>
          <p:cNvPr id="720" name="Table 9"/>
          <p:cNvGraphicFramePr/>
          <p:nvPr/>
        </p:nvGraphicFramePr>
        <p:xfrm>
          <a:off x="649080" y="3825720"/>
          <a:ext cx="6297840" cy="6049080"/>
        </p:xfrm>
        <a:graphic>
          <a:graphicData uri="http://schemas.openxmlformats.org/drawingml/2006/table">
            <a:tbl>
              <a:tblPr/>
              <a:tblGrid>
                <a:gridCol w="3918600"/>
                <a:gridCol w="2379600"/>
              </a:tblGrid>
              <a:tr h="302400">
                <a:tc>
                  <a:txBody>
                    <a:bodyPr lIns="108000" rIns="108000" anchor="ctr">
                      <a:noAutofit/>
                    </a:bodyPr>
                    <a:p>
                      <a:pPr algn="ctr" defTabSz="756000">
                        <a:lnSpc>
                          <a:spcPct val="100000"/>
                        </a:lnSpc>
                      </a:pPr>
                      <a:r>
                        <a:rPr lang="en-US" sz="1100" b="0" u="none" strike="noStrike">
                          <a:solidFill>
                            <a:srgbClr val="8D2F2F"/>
                          </a:solidFill>
                          <a:effectLst/>
                          <a:uFillTx/>
                          <a:latin typeface="Marianne Light"/>
                        </a:rPr>
                        <a:t>Pays</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28080">
                      <a:noFill/>
                      <a:prstDash val="solid"/>
                    </a:lnT>
                    <a:lnB w="28080">
                      <a:solidFill>
                        <a:srgbClr val="FFFFFF"/>
                      </a:solidFill>
                      <a:prstDash val="solid"/>
                    </a:lnB>
                    <a:solidFill>
                      <a:srgbClr val="8D2F2F">
                        <a:alpha val="10000"/>
                      </a:srgbClr>
                    </a:solidFill>
                  </a:tcPr>
                </a:tc>
                <a:tc>
                  <a:txBody>
                    <a:bodyPr lIns="108000" rIns="108000" anchor="ctr">
                      <a:noAutofit/>
                    </a:bodyPr>
                    <a:p>
                      <a:pPr algn="ctr" defTabSz="756000">
                        <a:lnSpc>
                          <a:spcPct val="100000"/>
                        </a:lnSpc>
                        <a:tabLst>
                          <a:tab pos="0" algn="l"/>
                        </a:tabLst>
                      </a:pPr>
                      <a:r>
                        <a:rPr lang="en-US" sz="1100" b="0" u="none" strike="noStrike">
                          <a:solidFill>
                            <a:srgbClr val="8D2F2F"/>
                          </a:solidFill>
                          <a:effectLst/>
                          <a:uFillTx/>
                          <a:latin typeface="Marianne Light"/>
                        </a:rPr>
                        <a:t>Nombre de salariés</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8D2F2F">
                        <a:alpha val="10000"/>
                      </a:srgb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21" name="Picture 2"/>
          <p:cNvPicPr/>
          <p:nvPr/>
        </p:nvPicPr>
        <p:blipFill>
          <a:blip r:embed="rId1"/>
          <a:stretch/>
        </p:blipFill>
        <p:spPr>
          <a:xfrm>
            <a:off x="0" y="0"/>
            <a:ext cx="7545960" cy="10686600"/>
          </a:xfrm>
          <a:prstGeom prst="rect">
            <a:avLst/>
          </a:prstGeom>
          <a:noFill/>
          <a:ln w="0">
            <a:noFill/>
          </a:ln>
        </p:spPr>
      </p:pic>
      <p:sp>
        <p:nvSpPr>
          <p:cNvPr id="722"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23"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B9</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Effectifs : santé et sécurité</a:t>
            </a:r>
            <a:endParaRPr lang="fr-FR" sz="1400" b="0" u="none" strike="noStrike">
              <a:solidFill>
                <a:srgbClr val="FFFFFF"/>
              </a:solidFill>
              <a:effectLst/>
              <a:uFillTx/>
              <a:latin typeface="Arial"/>
            </a:endParaRPr>
          </a:p>
        </p:txBody>
      </p:sp>
      <p:cxnSp>
        <p:nvCxnSpPr>
          <p:cNvPr id="724" name="Straight Connector 17"/>
          <p:cNvCxnSpPr/>
          <p:nvPr/>
        </p:nvCxnSpPr>
        <p:spPr>
          <a:xfrm>
            <a:off x="893160" y="2525400"/>
            <a:ext cx="5040" cy="426600"/>
          </a:xfrm>
          <a:prstGeom prst="straightConnector1">
            <a:avLst/>
          </a:prstGeom>
          <a:ln w="3175">
            <a:solidFill>
              <a:srgbClr val="A6A6A6"/>
            </a:solidFill>
            <a:round/>
          </a:ln>
        </p:spPr>
      </p:cxnSp>
      <p:pic>
        <p:nvPicPr>
          <p:cNvPr id="725"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26"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27"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28"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29"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30" name="Rounded Rectangle 2"/>
          <p:cNvSpPr/>
          <p:nvPr/>
        </p:nvSpPr>
        <p:spPr>
          <a:xfrm>
            <a:off x="410400" y="3282480"/>
            <a:ext cx="6733800" cy="1063080"/>
          </a:xfrm>
          <a:prstGeom prst="roundRect">
            <a:avLst>
              <a:gd name="adj" fmla="val 45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Nombre d’accidents du travail</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31" name="Rounded Rectangle 11"/>
          <p:cNvSpPr/>
          <p:nvPr/>
        </p:nvSpPr>
        <p:spPr>
          <a:xfrm>
            <a:off x="410400" y="5695920"/>
            <a:ext cx="6733800" cy="1063080"/>
          </a:xfrm>
          <a:prstGeom prst="roundRect">
            <a:avLst>
              <a:gd name="adj" fmla="val 45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Nombre de décès dus à des accidents du travail</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32" name="Rounded Rectangle 9"/>
          <p:cNvSpPr/>
          <p:nvPr/>
        </p:nvSpPr>
        <p:spPr>
          <a:xfrm>
            <a:off x="410400" y="4489200"/>
            <a:ext cx="6733800" cy="1063080"/>
          </a:xfrm>
          <a:prstGeom prst="roundRect">
            <a:avLst>
              <a:gd name="adj" fmla="val 45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Taux d’accidents du travail comptabilisables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3" name="Picture 2"/>
          <p:cNvPicPr/>
          <p:nvPr/>
        </p:nvPicPr>
        <p:blipFill>
          <a:blip r:embed="rId1"/>
          <a:stretch/>
        </p:blipFill>
        <p:spPr>
          <a:xfrm>
            <a:off x="0" y="0"/>
            <a:ext cx="7545960" cy="10686600"/>
          </a:xfrm>
          <a:prstGeom prst="rect">
            <a:avLst/>
          </a:prstGeom>
          <a:noFill/>
          <a:ln w="0">
            <a:noFill/>
          </a:ln>
        </p:spPr>
      </p:pic>
      <p:sp>
        <p:nvSpPr>
          <p:cNvPr id="73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35"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B10</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Effectifs : rémunération, négociation collective et formation</a:t>
            </a:r>
            <a:endParaRPr lang="fr-FR" sz="1400" b="0" u="none" strike="noStrike">
              <a:solidFill>
                <a:srgbClr val="FFFFFF"/>
              </a:solidFill>
              <a:effectLst/>
              <a:uFillTx/>
              <a:latin typeface="Arial"/>
            </a:endParaRPr>
          </a:p>
        </p:txBody>
      </p:sp>
      <p:cxnSp>
        <p:nvCxnSpPr>
          <p:cNvPr id="736" name="Straight Connector 17"/>
          <p:cNvCxnSpPr/>
          <p:nvPr/>
        </p:nvCxnSpPr>
        <p:spPr>
          <a:xfrm>
            <a:off x="893160" y="2525400"/>
            <a:ext cx="5040" cy="426600"/>
          </a:xfrm>
          <a:prstGeom prst="straightConnector1">
            <a:avLst/>
          </a:prstGeom>
          <a:ln w="3175">
            <a:solidFill>
              <a:srgbClr val="A6A6A6"/>
            </a:solidFill>
            <a:round/>
          </a:ln>
        </p:spPr>
      </p:cxnSp>
      <p:pic>
        <p:nvPicPr>
          <p:cNvPr id="737"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38" name="Rounded Rectangle 1"/>
          <p:cNvSpPr/>
          <p:nvPr/>
        </p:nvSpPr>
        <p:spPr>
          <a:xfrm>
            <a:off x="410400" y="3342600"/>
            <a:ext cx="6733800" cy="993240"/>
          </a:xfrm>
          <a:prstGeom prst="roundRect">
            <a:avLst>
              <a:gd name="adj" fmla="val 1052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Respect du salaire minimum applicable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Tous les employés perçoivent une rémunération au moins équivalente au salaire minimum.</a:t>
            </a:r>
            <a:br>
              <a:rPr sz="1200"/>
            </a:b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a:p>
            <a:pPr defTabSz="457200">
              <a:lnSpc>
                <a:spcPct val="100000"/>
              </a:lnSpc>
            </a:pPr>
            <a:endParaRPr lang="fr-FR" sz="1200" b="0" u="none" strike="noStrike">
              <a:solidFill>
                <a:srgbClr val="000000"/>
              </a:solidFill>
              <a:effectLst/>
              <a:uFillTx/>
              <a:latin typeface="Arial"/>
            </a:endParaRPr>
          </a:p>
        </p:txBody>
      </p:sp>
      <p:sp>
        <p:nvSpPr>
          <p:cNvPr id="739" name="TextBox 10"/>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40" name="TextBox 11"/>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41" name="TextBox 12"/>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42" name="TextBox 13"/>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43" name="Rounded Rectangle 2"/>
          <p:cNvSpPr/>
          <p:nvPr/>
        </p:nvSpPr>
        <p:spPr>
          <a:xfrm>
            <a:off x="3873240" y="4489200"/>
            <a:ext cx="3270960" cy="1243440"/>
          </a:xfrm>
          <a:prstGeom prst="roundRect">
            <a:avLst>
              <a:gd name="adj" fmla="val 288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Rémunération horaire brute moyenne des salariés femmes en euros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44" name="Rounded Rectangle 4"/>
          <p:cNvSpPr/>
          <p:nvPr/>
        </p:nvSpPr>
        <p:spPr>
          <a:xfrm>
            <a:off x="410400" y="4489200"/>
            <a:ext cx="3270960" cy="1243440"/>
          </a:xfrm>
          <a:prstGeom prst="roundRect">
            <a:avLst>
              <a:gd name="adj" fmla="val 617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Rémunération horaire brute moyenne des salariés hommes en euros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45" name="Rounded Rectangle 8"/>
          <p:cNvSpPr/>
          <p:nvPr/>
        </p:nvSpPr>
        <p:spPr>
          <a:xfrm>
            <a:off x="410400" y="5898600"/>
            <a:ext cx="6733800" cy="1164960"/>
          </a:xfrm>
          <a:prstGeom prst="roundRect">
            <a:avLst>
              <a:gd name="adj" fmla="val 786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Écart en pourcentage entre la rémunération des salariés hommes et des salariés femmes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 %</a:t>
            </a:r>
            <a:endParaRPr lang="fr-FR" sz="1200" b="0" u="none" strike="noStrike">
              <a:solidFill>
                <a:srgbClr val="000000"/>
              </a:solidFill>
              <a:effectLst/>
              <a:uFillTx/>
              <a:latin typeface="Arial"/>
            </a:endParaRPr>
          </a:p>
        </p:txBody>
      </p:sp>
      <p:sp>
        <p:nvSpPr>
          <p:cNvPr id="746" name="Rounded Rectangle 23"/>
          <p:cNvSpPr/>
          <p:nvPr/>
        </p:nvSpPr>
        <p:spPr>
          <a:xfrm>
            <a:off x="410400" y="7216560"/>
            <a:ext cx="6733800" cy="908280"/>
          </a:xfrm>
          <a:prstGeom prst="roundRect">
            <a:avLst>
              <a:gd name="adj" fmla="val 286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Nombre de salariés couvert par des conventions collectives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 </a:t>
            </a:r>
            <a:endParaRPr lang="fr-FR" sz="1200" b="0" u="none" strike="noStrike">
              <a:solidFill>
                <a:srgbClr val="000000"/>
              </a:solidFill>
              <a:effectLst/>
              <a:uFillTx/>
              <a:latin typeface="Arial"/>
            </a:endParaRPr>
          </a:p>
        </p:txBody>
      </p:sp>
      <p:sp>
        <p:nvSpPr>
          <p:cNvPr id="747" name="Rounded Rectangle 24"/>
          <p:cNvSpPr/>
          <p:nvPr/>
        </p:nvSpPr>
        <p:spPr>
          <a:xfrm>
            <a:off x="410400" y="8277480"/>
            <a:ext cx="6733800" cy="908280"/>
          </a:xfrm>
          <a:prstGeom prst="roundRect">
            <a:avLst>
              <a:gd name="adj" fmla="val 953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Part de salariés couverts par des conventions collectives</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 %</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48" name="Picture 2"/>
          <p:cNvPicPr/>
          <p:nvPr/>
        </p:nvPicPr>
        <p:blipFill>
          <a:blip r:embed="rId1"/>
          <a:stretch/>
        </p:blipFill>
        <p:spPr>
          <a:xfrm>
            <a:off x="0" y="0"/>
            <a:ext cx="7545960" cy="10686600"/>
          </a:xfrm>
          <a:prstGeom prst="rect">
            <a:avLst/>
          </a:prstGeom>
          <a:noFill/>
          <a:ln w="0">
            <a:noFill/>
          </a:ln>
        </p:spPr>
      </p:pic>
      <p:sp>
        <p:nvSpPr>
          <p:cNvPr id="749"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50"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B10</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Effectifs : rémunération, négociation collective et formation</a:t>
            </a:r>
            <a:endParaRPr lang="fr-FR" sz="1400" b="0" u="none" strike="noStrike">
              <a:solidFill>
                <a:srgbClr val="FFFFFF"/>
              </a:solidFill>
              <a:effectLst/>
              <a:uFillTx/>
              <a:latin typeface="Arial"/>
            </a:endParaRPr>
          </a:p>
        </p:txBody>
      </p:sp>
      <p:cxnSp>
        <p:nvCxnSpPr>
          <p:cNvPr id="751" name="Straight Connector 17"/>
          <p:cNvCxnSpPr/>
          <p:nvPr/>
        </p:nvCxnSpPr>
        <p:spPr>
          <a:xfrm>
            <a:off x="893160" y="2525400"/>
            <a:ext cx="5040" cy="426600"/>
          </a:xfrm>
          <a:prstGeom prst="straightConnector1">
            <a:avLst/>
          </a:prstGeom>
          <a:ln w="3175">
            <a:solidFill>
              <a:srgbClr val="A6A6A6"/>
            </a:solidFill>
            <a:round/>
          </a:ln>
        </p:spPr>
      </p:cxnSp>
      <p:pic>
        <p:nvPicPr>
          <p:cNvPr id="752"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53" name="TextBox 10"/>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54" name="TextBox 11"/>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55" name="TextBox 12"/>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56" name="TextBox 13"/>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57" name="Rounded Rectangle 15"/>
          <p:cNvSpPr/>
          <p:nvPr/>
        </p:nvSpPr>
        <p:spPr>
          <a:xfrm>
            <a:off x="410400" y="3224160"/>
            <a:ext cx="6733800" cy="2919240"/>
          </a:xfrm>
          <a:prstGeom prst="roundRect">
            <a:avLst>
              <a:gd name="adj" fmla="val 3989"/>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Nombre moyen d'heures de formation par genre</a:t>
            </a: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a:p>
            <a:pPr defTabSz="457200">
              <a:lnSpc>
                <a:spcPct val="100000"/>
              </a:lnSpc>
            </a:pPr>
            <a:br>
              <a:rPr sz="1200"/>
            </a:br>
            <a:endParaRPr lang="fr-FR" sz="1200" b="0" u="none" strike="noStrike">
              <a:solidFill>
                <a:srgbClr val="000000"/>
              </a:solidFill>
              <a:effectLst/>
              <a:uFillTx/>
              <a:latin typeface="Arial"/>
            </a:endParaRPr>
          </a:p>
        </p:txBody>
      </p:sp>
      <p:graphicFrame>
        <p:nvGraphicFramePr>
          <p:cNvPr id="758" name="Table 2"/>
          <p:cNvGraphicFramePr/>
          <p:nvPr/>
        </p:nvGraphicFramePr>
        <p:xfrm>
          <a:off x="649080" y="3825720"/>
          <a:ext cx="6297480" cy="2035440"/>
        </p:xfrm>
        <a:graphic>
          <a:graphicData uri="http://schemas.openxmlformats.org/drawingml/2006/table">
            <a:tbl>
              <a:tblPr/>
              <a:tblGrid>
                <a:gridCol w="1621080"/>
                <a:gridCol w="2648520"/>
                <a:gridCol w="2028240"/>
              </a:tblGrid>
              <a:tr h="683280">
                <a:tc>
                  <a:txBody>
                    <a:bodyPr lIns="108000" rIns="108000" anchor="ctr">
                      <a:noAutofit/>
                    </a:bodyPr>
                    <a:p>
                      <a:pPr algn="ctr" defTabSz="756000">
                        <a:lnSpc>
                          <a:spcPct val="100000"/>
                        </a:lnSpc>
                      </a:pPr>
                      <a:r>
                        <a:rPr lang="en-US" sz="1100" b="0" u="none" strike="noStrike">
                          <a:solidFill>
                            <a:srgbClr val="8D2F2F"/>
                          </a:solidFill>
                          <a:effectLst/>
                          <a:uFillTx/>
                          <a:latin typeface="Marianne Light"/>
                        </a:rPr>
                        <a:t>Genre</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28080">
                      <a:noFill/>
                      <a:prstDash val="solid"/>
                    </a:lnT>
                    <a:lnB w="28080">
                      <a:solidFill>
                        <a:srgbClr val="FFFFFF"/>
                      </a:solidFill>
                      <a:prstDash val="solid"/>
                    </a:lnB>
                    <a:solidFill>
                      <a:srgbClr val="8D2F2F">
                        <a:alpha val="10000"/>
                      </a:srgbClr>
                    </a:solidFill>
                  </a:tcPr>
                </a:tc>
                <a:tc>
                  <a:txBody>
                    <a:bodyPr lIns="108000" rIns="108000" anchor="ctr">
                      <a:noAutofit/>
                    </a:bodyPr>
                    <a:p>
                      <a:pPr algn="ctr" defTabSz="756000">
                        <a:lnSpc>
                          <a:spcPct val="100000"/>
                        </a:lnSpc>
                        <a:tabLst>
                          <a:tab pos="0" algn="l"/>
                        </a:tabLst>
                      </a:pPr>
                      <a:r>
                        <a:rPr lang="en-US" sz="1100" b="0" u="none" strike="noStrike">
                          <a:solidFill>
                            <a:srgbClr val="8D2F2F"/>
                          </a:solidFill>
                          <a:effectLst/>
                          <a:uFillTx/>
                          <a:latin typeface="Marianne Light"/>
                        </a:rPr>
                        <a:t>Total des heures de formation suivies par les salariés de ce genre</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12240">
                      <a:solidFill>
                        <a:srgbClr val="FFFFFF"/>
                      </a:solidFill>
                      <a:prstDash val="solid"/>
                    </a:lnR>
                    <a:lnT w="28080">
                      <a:noFill/>
                      <a:prstDash val="solid"/>
                    </a:lnT>
                    <a:lnB w="28080">
                      <a:solidFill>
                        <a:srgbClr val="FFFFFF"/>
                      </a:solidFill>
                      <a:prstDash val="solid"/>
                    </a:lnB>
                    <a:solidFill>
                      <a:srgbClr val="8D2F2F">
                        <a:alpha val="10000"/>
                      </a:srgbClr>
                    </a:solidFill>
                  </a:tcPr>
                </a:tc>
                <a:tc>
                  <a:txBody>
                    <a:bodyPr lIns="108000" rIns="108000" anchor="ctr">
                      <a:noAutofit/>
                    </a:bodyPr>
                    <a:p>
                      <a:pPr algn="ctr" defTabSz="756000">
                        <a:lnSpc>
                          <a:spcPct val="100000"/>
                        </a:lnSpc>
                        <a:tabLst>
                          <a:tab pos="0" algn="l"/>
                        </a:tabLst>
                      </a:pPr>
                      <a:r>
                        <a:rPr lang="en-US" sz="1100" b="0" u="none" strike="noStrike">
                          <a:solidFill>
                            <a:srgbClr val="8D2F2F"/>
                          </a:solidFill>
                          <a:effectLst/>
                          <a:uFillTx/>
                          <a:latin typeface="Marianne Light"/>
                        </a:rPr>
                        <a:t>Nombre moyen d'heures de formation</a:t>
                      </a:r>
                      <a:endParaRPr lang="fr-FR" sz="1100" b="0" u="none" strike="noStrike">
                        <a:solidFill>
                          <a:srgbClr val="FFFFFF"/>
                        </a:solidFill>
                        <a:effectLst/>
                        <a:uFillTx/>
                        <a:latin typeface="Arial"/>
                      </a:endParaRPr>
                    </a:p>
                  </a:txBody>
                  <a:tcPr anchor="ctr" marL="108000" marR="108000" marT="45720" marB="45720">
                    <a:lnL w="12240">
                      <a:solidFill>
                        <a:srgbClr val="FFFFFF"/>
                      </a:solidFill>
                      <a:prstDash val="solid"/>
                    </a:lnL>
                    <a:lnR w="2880">
                      <a:solidFill>
                        <a:srgbClr val="BFBFBF"/>
                      </a:solidFill>
                      <a:prstDash val="solid"/>
                    </a:lnR>
                    <a:lnT w="28080">
                      <a:noFill/>
                      <a:prstDash val="solid"/>
                    </a:lnT>
                    <a:lnB w="28080">
                      <a:solidFill>
                        <a:srgbClr val="FFFFFF"/>
                      </a:solidFill>
                      <a:prstDash val="solid"/>
                    </a:lnB>
                    <a:solidFill>
                      <a:srgbClr val="8D2F2F">
                        <a:alpha val="10000"/>
                      </a:srgb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Hommes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Femmes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Autres</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r h="338040">
                <a:tc>
                  <a:txBody>
                    <a:bodyPr anchor="ctr">
                      <a:noAutofit/>
                    </a:bodyPr>
                    <a:p>
                      <a:pPr defTabSz="756000">
                        <a:lnSpc>
                          <a:spcPct val="100000"/>
                        </a:lnSpc>
                      </a:pPr>
                      <a:r>
                        <a:rPr lang="en-US" sz="1100" b="0" u="none" strike="noStrike">
                          <a:solidFill>
                            <a:schemeClr val="dk1"/>
                          </a:solidFill>
                          <a:effectLst/>
                          <a:uFillTx/>
                          <a:latin typeface="Marianne Medium"/>
                        </a:rPr>
                        <a:t>Non communiqué</a:t>
                      </a:r>
                      <a:endParaRPr lang="fr-FR" sz="1100" b="0" u="none" strike="noStrike">
                        <a:solidFill>
                          <a:srgbClr val="000000"/>
                        </a:solidFill>
                        <a:effectLst/>
                        <a:uFillTx/>
                        <a:latin typeface="Arial"/>
                      </a:endParaRPr>
                    </a:p>
                  </a:txBody>
                  <a:tcPr anchor="ctr" marL="91440" marR="91440" marT="45720" marB="45720">
                    <a:lnL w="2880">
                      <a:solidFill>
                        <a:srgbClr val="D9D9D9"/>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ctr">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ctr"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c>
                  <a:txBody>
                    <a:bodyPr anchor="t">
                      <a:noAutofit/>
                    </a:bodyPr>
                    <a:p>
                      <a:pPr algn="ctr" defTabSz="756000">
                        <a:lnSpc>
                          <a:spcPct val="100000"/>
                        </a:lnSpc>
                        <a:tabLst>
                          <a:tab pos="0" algn="l"/>
                        </a:tabLst>
                      </a:pPr>
                      <a:r>
                        <a:rPr lang="en-US" sz="1100" b="0" u="none" strike="noStrike">
                          <a:solidFill>
                            <a:srgbClr val="000000"/>
                          </a:solidFill>
                          <a:effectLst/>
                          <a:uFillTx/>
                          <a:latin typeface="Marianne Medium"/>
                        </a:rPr>
                        <a:t>-</a:t>
                      </a:r>
                      <a:endParaRPr lang="fr-FR" sz="1100" b="0" u="none" strike="noStrike">
                        <a:solidFill>
                          <a:srgbClr val="000000"/>
                        </a:solidFill>
                        <a:effectLst/>
                        <a:uFillTx/>
                        <a:latin typeface="Arial"/>
                      </a:endParaRPr>
                    </a:p>
                  </a:txBody>
                  <a:tcPr anchor="t" marL="91440" marR="91440" marT="45720" marB="45720">
                    <a:lnL w="12240">
                      <a:solidFill>
                        <a:srgbClr val="FFFFFF"/>
                      </a:solidFill>
                      <a:prstDash val="solid"/>
                    </a:lnL>
                    <a:lnR w="12240">
                      <a:solidFill>
                        <a:srgbClr val="FFFFFF"/>
                      </a:solidFill>
                      <a:prstDash val="solid"/>
                    </a:lnR>
                    <a:lnT w="28080">
                      <a:solidFill>
                        <a:srgbClr val="FFFFFF"/>
                      </a:solidFill>
                      <a:prstDash val="solid"/>
                    </a:lnT>
                    <a:lnB w="28080">
                      <a:solidFill>
                        <a:srgbClr val="FFFFFF"/>
                      </a:solidFill>
                      <a:prstDash val="solid"/>
                    </a:lnB>
                    <a:solidFill>
                      <a:schemeClr val="lt1">
                        <a:lumMod val="95000"/>
                      </a:schemeClr>
                    </a:solidFill>
                  </a:tcPr>
                </a:tc>
              </a:tr>
            </a:tbl>
          </a:graphicData>
        </a:graphic>
      </p:graphicFrame>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59" name="Picture 2"/>
          <p:cNvPicPr/>
          <p:nvPr/>
        </p:nvPicPr>
        <p:blipFill>
          <a:blip r:embed="rId1"/>
          <a:stretch/>
        </p:blipFill>
        <p:spPr>
          <a:xfrm>
            <a:off x="0" y="0"/>
            <a:ext cx="7545960" cy="10686600"/>
          </a:xfrm>
          <a:prstGeom prst="rect">
            <a:avLst/>
          </a:prstGeom>
          <a:noFill/>
          <a:ln w="0">
            <a:noFill/>
          </a:ln>
        </p:spPr>
      </p:pic>
      <p:sp>
        <p:nvSpPr>
          <p:cNvPr id="760"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61"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C5</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Caractéristiques supplémentaires (générales) des effectifs</a:t>
            </a:r>
            <a:endParaRPr lang="fr-FR" sz="1400" b="0" u="none" strike="noStrike">
              <a:solidFill>
                <a:srgbClr val="FFFFFF"/>
              </a:solidFill>
              <a:effectLst/>
              <a:uFillTx/>
              <a:latin typeface="Arial"/>
            </a:endParaRPr>
          </a:p>
        </p:txBody>
      </p:sp>
      <p:cxnSp>
        <p:nvCxnSpPr>
          <p:cNvPr id="762" name="Straight Connector 17"/>
          <p:cNvCxnSpPr/>
          <p:nvPr/>
        </p:nvCxnSpPr>
        <p:spPr>
          <a:xfrm>
            <a:off x="893160" y="2525400"/>
            <a:ext cx="5040" cy="426600"/>
          </a:xfrm>
          <a:prstGeom prst="straightConnector1">
            <a:avLst/>
          </a:prstGeom>
          <a:ln w="3175">
            <a:solidFill>
              <a:srgbClr val="A6A6A6"/>
            </a:solidFill>
            <a:round/>
          </a:ln>
        </p:spPr>
      </p:cxnSp>
      <p:pic>
        <p:nvPicPr>
          <p:cNvPr id="763"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64"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65"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66"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67"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68" name="Rounded Rectangle 12"/>
          <p:cNvSpPr/>
          <p:nvPr/>
        </p:nvSpPr>
        <p:spPr>
          <a:xfrm>
            <a:off x="3878280" y="3292920"/>
            <a:ext cx="3270960" cy="920520"/>
          </a:xfrm>
          <a:prstGeom prst="roundRect">
            <a:avLst>
              <a:gd name="adj" fmla="val 288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Nombre de salariées femmes occupant des postes de direction</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69" name="Rounded Rectangle 13"/>
          <p:cNvSpPr/>
          <p:nvPr/>
        </p:nvSpPr>
        <p:spPr>
          <a:xfrm>
            <a:off x="415440" y="3292920"/>
            <a:ext cx="3270960" cy="920520"/>
          </a:xfrm>
          <a:prstGeom prst="roundRect">
            <a:avLst>
              <a:gd name="adj" fmla="val 617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Nombre de salariés hommes occupant des postes de direction</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770" name="Rounded Rectangle 14"/>
          <p:cNvSpPr/>
          <p:nvPr/>
        </p:nvSpPr>
        <p:spPr>
          <a:xfrm>
            <a:off x="415440" y="4366800"/>
            <a:ext cx="6733800" cy="908280"/>
          </a:xfrm>
          <a:prstGeom prst="roundRect">
            <a:avLst>
              <a:gd name="adj" fmla="val 786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en-FR" sz="1200" b="0" u="none" strike="noStrike">
                <a:solidFill>
                  <a:srgbClr val="8D2F2F"/>
                </a:solidFill>
                <a:effectLst/>
                <a:uFillTx/>
                <a:latin typeface="Marianne Light"/>
              </a:rPr>
              <a:t>Ratio femmes/hommes au niveau de l'encadrement</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 %</a:t>
            </a:r>
            <a:endParaRPr lang="fr-FR" sz="1200" b="0" u="none" strike="noStrike">
              <a:solidFill>
                <a:srgbClr val="000000"/>
              </a:solidFill>
              <a:effectLst/>
              <a:uFillTx/>
              <a:latin typeface="Arial"/>
            </a:endParaRPr>
          </a:p>
        </p:txBody>
      </p:sp>
      <p:sp>
        <p:nvSpPr>
          <p:cNvPr id="771" name="Rounded Rectangle 15"/>
          <p:cNvSpPr/>
          <p:nvPr/>
        </p:nvSpPr>
        <p:spPr>
          <a:xfrm>
            <a:off x="415440" y="5441040"/>
            <a:ext cx="6733800" cy="1173960"/>
          </a:xfrm>
          <a:prstGeom prst="roundRect">
            <a:avLst>
              <a:gd name="adj" fmla="val 2862"/>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Total des travailleurs indépendants sans personnel qui travaillent exclusivement pour l’entreprise</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 </a:t>
            </a:r>
            <a:endParaRPr lang="fr-FR" sz="1200" b="0" u="none" strike="noStrike">
              <a:solidFill>
                <a:srgbClr val="000000"/>
              </a:solidFill>
              <a:effectLst/>
              <a:uFillTx/>
              <a:latin typeface="Arial"/>
            </a:endParaRPr>
          </a:p>
        </p:txBody>
      </p:sp>
      <p:sp>
        <p:nvSpPr>
          <p:cNvPr id="772" name="Rounded Rectangle 18"/>
          <p:cNvSpPr/>
          <p:nvPr/>
        </p:nvSpPr>
        <p:spPr>
          <a:xfrm>
            <a:off x="415440" y="6782760"/>
            <a:ext cx="6733800" cy="1173960"/>
          </a:xfrm>
          <a:prstGeom prst="roundRect">
            <a:avLst>
              <a:gd name="adj" fmla="val 953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Total des travailleurs temporaires mis à disposition par des entreprises exerçant principalement des activités liées à l’emploi</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73" name="Picture 6"/>
          <p:cNvPicPr/>
          <p:nvPr/>
        </p:nvPicPr>
        <p:blipFill>
          <a:blip r:embed="rId1"/>
          <a:stretch/>
        </p:blipFill>
        <p:spPr>
          <a:xfrm>
            <a:off x="0" y="0"/>
            <a:ext cx="7545960" cy="10686600"/>
          </a:xfrm>
          <a:prstGeom prst="rect">
            <a:avLst/>
          </a:prstGeom>
          <a:noFill/>
          <a:ln w="0">
            <a:noFill/>
          </a:ln>
        </p:spPr>
      </p:pic>
      <p:sp>
        <p:nvSpPr>
          <p:cNvPr id="774" name="Rectangle 3"/>
          <p:cNvSpPr/>
          <p:nvPr/>
        </p:nvSpPr>
        <p:spPr>
          <a:xfrm>
            <a:off x="-864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75" name="Rounded Rectangle 19"/>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C5</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Caractéristiques supplémentaires (générales) des effectifs</a:t>
            </a:r>
            <a:endParaRPr lang="fr-FR" sz="1400" b="0" u="none" strike="noStrike">
              <a:solidFill>
                <a:srgbClr val="FFFFFF"/>
              </a:solidFill>
              <a:effectLst/>
              <a:uFillTx/>
              <a:latin typeface="Arial"/>
            </a:endParaRPr>
          </a:p>
        </p:txBody>
      </p:sp>
      <p:cxnSp>
        <p:nvCxnSpPr>
          <p:cNvPr id="776" name="Straight Connector 4"/>
          <p:cNvCxnSpPr/>
          <p:nvPr/>
        </p:nvCxnSpPr>
        <p:spPr>
          <a:xfrm>
            <a:off x="893160" y="2525400"/>
            <a:ext cx="5040" cy="426600"/>
          </a:xfrm>
          <a:prstGeom prst="straightConnector1">
            <a:avLst/>
          </a:prstGeom>
          <a:ln w="3175">
            <a:solidFill>
              <a:srgbClr val="A6A6A6"/>
            </a:solidFill>
            <a:round/>
          </a:ln>
        </p:spPr>
      </p:cxnSp>
      <p:pic>
        <p:nvPicPr>
          <p:cNvPr id="777" name="Graphic 3"/>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78" name="TextBox 20"/>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79" name="TextBox 21"/>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80" name="TextBox 23"/>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81" name="TextBox 25"/>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82" name="Rounded Rectangle 22"/>
          <p:cNvSpPr/>
          <p:nvPr/>
        </p:nvSpPr>
        <p:spPr>
          <a:xfrm>
            <a:off x="410760" y="3391920"/>
            <a:ext cx="6733800" cy="930600"/>
          </a:xfrm>
          <a:prstGeom prst="roundRect">
            <a:avLst>
              <a:gd name="adj" fmla="val 10829"/>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spcBef>
                <a:spcPts val="1191"/>
              </a:spcBef>
              <a:spcAft>
                <a:spcPts val="992"/>
              </a:spcAft>
            </a:pPr>
            <a:r>
              <a:rPr lang="fr-FR" sz="1200" b="0" u="none" strike="noStrike">
                <a:solidFill>
                  <a:srgbClr val="808080"/>
                </a:solidFill>
                <a:effectLst/>
                <a:uFillTx/>
                <a:latin typeface="Marianne Light"/>
              </a:rPr>
              <a:t>Ratio femmes/hommes au niveau de l'encadrement</a:t>
            </a:r>
            <a:endParaRPr lang="fr-FR" sz="1200" b="0" u="none" strike="noStrike">
              <a:solidFill>
                <a:srgbClr val="000000"/>
              </a:solidFill>
              <a:effectLst/>
              <a:uFillTx/>
              <a:latin typeface="Arial"/>
            </a:endParaRPr>
          </a:p>
          <a:p>
            <a:pPr defTabSz="457200">
              <a:lnSpc>
                <a:spcPct val="100000"/>
              </a:lnSpc>
              <a:spcBef>
                <a:spcPts val="1191"/>
              </a:spcBef>
              <a:spcAft>
                <a:spcPts val="992"/>
              </a:spcAft>
            </a:pPr>
            <a:r>
              <a:rPr lang="fr-CA" sz="1200" b="0" u="none" strike="noStrike">
                <a:solidFill>
                  <a:srgbClr val="D2B781"/>
                </a:solidFill>
                <a:effectLst/>
                <a:uFillTx/>
                <a:latin typeface="Marianne"/>
              </a:rPr>
              <a:t>Cet indicateur n’est pas applicable car l'entreprise a moins de 50 salariés.</a:t>
            </a:r>
            <a:endParaRPr lang="fr-FR" sz="1200" b="0" u="none" strike="noStrike">
              <a:solidFill>
                <a:srgbClr val="000000"/>
              </a:solidFill>
              <a:effectLst/>
              <a:uFillTx/>
              <a:latin typeface="Arial"/>
            </a:endParaRPr>
          </a:p>
        </p:txBody>
      </p:sp>
      <p:sp>
        <p:nvSpPr>
          <p:cNvPr id="783" name="Rounded Rectangle 25"/>
          <p:cNvSpPr/>
          <p:nvPr/>
        </p:nvSpPr>
        <p:spPr>
          <a:xfrm>
            <a:off x="360000" y="4680000"/>
            <a:ext cx="6733800" cy="930600"/>
          </a:xfrm>
          <a:prstGeom prst="roundRect">
            <a:avLst>
              <a:gd name="adj" fmla="val 10829"/>
            </a:avLst>
          </a:prstGeom>
          <a:solidFill>
            <a:srgbClr val="F7EDDC">
              <a:alpha val="46000"/>
            </a:srgbClr>
          </a:solidFill>
          <a:ln w="3175">
            <a:solidFill>
              <a:srgbClr val="D2B781"/>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spcBef>
                <a:spcPts val="1191"/>
              </a:spcBef>
              <a:spcAft>
                <a:spcPts val="992"/>
              </a:spcAft>
            </a:pPr>
            <a:r>
              <a:rPr lang="fr-FR" sz="1200" b="0" u="none" strike="noStrike">
                <a:solidFill>
                  <a:srgbClr val="808080"/>
                </a:solidFill>
                <a:effectLst/>
                <a:uFillTx/>
                <a:latin typeface="Marianne Light"/>
              </a:rPr>
              <a:t>Travailleurs indépendants et salariés temporaires</a:t>
            </a:r>
            <a:endParaRPr lang="fr-FR" sz="1200" b="0" u="none" strike="noStrike">
              <a:solidFill>
                <a:srgbClr val="000000"/>
              </a:solidFill>
              <a:effectLst/>
              <a:uFillTx/>
              <a:latin typeface="Arial"/>
            </a:endParaRPr>
          </a:p>
          <a:p>
            <a:pPr defTabSz="457200">
              <a:lnSpc>
                <a:spcPct val="100000"/>
              </a:lnSpc>
              <a:spcBef>
                <a:spcPts val="1191"/>
              </a:spcBef>
              <a:spcAft>
                <a:spcPts val="992"/>
              </a:spcAft>
            </a:pPr>
            <a:r>
              <a:rPr lang="fr-CA" sz="1200" b="0" u="none" strike="noStrike">
                <a:solidFill>
                  <a:srgbClr val="D2B781"/>
                </a:solidFill>
                <a:effectLst/>
                <a:uFillTx/>
                <a:latin typeface="Marianne"/>
              </a:rPr>
              <a:t>Cet indicateur n’est pas applicable car l'entreprise a moins de 50 salariés.</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84" name="Picture 2"/>
          <p:cNvPicPr/>
          <p:nvPr/>
        </p:nvPicPr>
        <p:blipFill>
          <a:blip r:embed="rId1"/>
          <a:stretch/>
        </p:blipFill>
        <p:spPr>
          <a:xfrm>
            <a:off x="0" y="0"/>
            <a:ext cx="7545960" cy="10686600"/>
          </a:xfrm>
          <a:prstGeom prst="rect">
            <a:avLst/>
          </a:prstGeom>
          <a:noFill/>
          <a:ln w="0">
            <a:noFill/>
          </a:ln>
        </p:spPr>
      </p:pic>
      <p:sp>
        <p:nvSpPr>
          <p:cNvPr id="785"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786" name="Rounded Rectangle 3"/>
          <p:cNvSpPr/>
          <p:nvPr/>
        </p:nvSpPr>
        <p:spPr>
          <a:xfrm rot="16200000">
            <a:off x="3809520" y="-189720"/>
            <a:ext cx="70056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8D2F2F"/>
                </a:solidFill>
                <a:effectLst/>
                <a:uFillTx/>
                <a:latin typeface="Marianne"/>
              </a:rPr>
              <a:t>C6</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Informations complémentaires sur les effectifs de l'entreprise – Politiques et procédures en matière de droits de l’homme</a:t>
            </a:r>
            <a:endParaRPr lang="fr-FR" sz="1400" b="0" u="none" strike="noStrike">
              <a:solidFill>
                <a:srgbClr val="FFFFFF"/>
              </a:solidFill>
              <a:effectLst/>
              <a:uFillTx/>
              <a:latin typeface="Arial"/>
            </a:endParaRPr>
          </a:p>
        </p:txBody>
      </p:sp>
      <p:cxnSp>
        <p:nvCxnSpPr>
          <p:cNvPr id="787" name="Straight Connector 17"/>
          <p:cNvCxnSpPr/>
          <p:nvPr/>
        </p:nvCxnSpPr>
        <p:spPr>
          <a:xfrm>
            <a:off x="893160" y="2525400"/>
            <a:ext cx="5040" cy="710640"/>
          </a:xfrm>
          <a:prstGeom prst="straightConnector1">
            <a:avLst/>
          </a:prstGeom>
          <a:ln w="3175">
            <a:solidFill>
              <a:srgbClr val="A6A6A6"/>
            </a:solidFill>
            <a:round/>
          </a:ln>
        </p:spPr>
      </p:cxnSp>
      <p:pic>
        <p:nvPicPr>
          <p:cNvPr id="788"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789"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790"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791"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792"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793" name="Rounded Rectangle 10"/>
          <p:cNvSpPr/>
          <p:nvPr/>
        </p:nvSpPr>
        <p:spPr>
          <a:xfrm>
            <a:off x="410400" y="459324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le travail forcé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794" name="Rounded Rectangle 11"/>
          <p:cNvSpPr/>
          <p:nvPr/>
        </p:nvSpPr>
        <p:spPr>
          <a:xfrm>
            <a:off x="410400" y="569808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traite des êtres humains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795" name="Rounded Rectangle 12"/>
          <p:cNvSpPr/>
          <p:nvPr/>
        </p:nvSpPr>
        <p:spPr>
          <a:xfrm>
            <a:off x="410400" y="680292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discrimination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796" name="Rounded Rectangle 13"/>
          <p:cNvSpPr/>
          <p:nvPr/>
        </p:nvSpPr>
        <p:spPr>
          <a:xfrm>
            <a:off x="410400" y="790812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prévention des accidents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797" name="Rounded Rectangle 9"/>
          <p:cNvSpPr/>
          <p:nvPr/>
        </p:nvSpPr>
        <p:spPr>
          <a:xfrm>
            <a:off x="410400" y="351252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le travail des enfants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98" name="Picture 2"/>
          <p:cNvPicPr/>
          <p:nvPr/>
        </p:nvPicPr>
        <p:blipFill>
          <a:blip r:embed="rId1"/>
          <a:stretch/>
        </p:blipFill>
        <p:spPr>
          <a:xfrm>
            <a:off x="0" y="0"/>
            <a:ext cx="7545960" cy="10686600"/>
          </a:xfrm>
          <a:prstGeom prst="rect">
            <a:avLst/>
          </a:prstGeom>
          <a:noFill/>
          <a:ln w="0">
            <a:noFill/>
          </a:ln>
        </p:spPr>
      </p:pic>
      <p:sp>
        <p:nvSpPr>
          <p:cNvPr id="799"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00" name="Rounded Rectangle 3"/>
          <p:cNvSpPr/>
          <p:nvPr/>
        </p:nvSpPr>
        <p:spPr>
          <a:xfrm rot="16200000">
            <a:off x="3809520" y="-189720"/>
            <a:ext cx="70056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8D2F2F"/>
                </a:solidFill>
                <a:effectLst/>
                <a:uFillTx/>
                <a:latin typeface="Marianne"/>
              </a:rPr>
              <a:t>C6</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Informations complémentaires sur les effectifs de l'entreprise – Politiques et procédures en matière de droits de l’homme</a:t>
            </a:r>
            <a:endParaRPr lang="fr-FR" sz="1400" b="0" u="none" strike="noStrike">
              <a:solidFill>
                <a:srgbClr val="FFFFFF"/>
              </a:solidFill>
              <a:effectLst/>
              <a:uFillTx/>
              <a:latin typeface="Arial"/>
            </a:endParaRPr>
          </a:p>
        </p:txBody>
      </p:sp>
      <p:cxnSp>
        <p:nvCxnSpPr>
          <p:cNvPr id="801" name="Straight Connector 17"/>
          <p:cNvCxnSpPr/>
          <p:nvPr/>
        </p:nvCxnSpPr>
        <p:spPr>
          <a:xfrm>
            <a:off x="893160" y="2525400"/>
            <a:ext cx="5040" cy="710640"/>
          </a:xfrm>
          <a:prstGeom prst="straightConnector1">
            <a:avLst/>
          </a:prstGeom>
          <a:ln w="3175">
            <a:solidFill>
              <a:srgbClr val="A6A6A6"/>
            </a:solidFill>
            <a:round/>
          </a:ln>
        </p:spPr>
      </p:cxnSp>
      <p:pic>
        <p:nvPicPr>
          <p:cNvPr id="802"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803"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04"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805"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06"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807" name="Rounded Rectangle 9"/>
          <p:cNvSpPr/>
          <p:nvPr/>
        </p:nvSpPr>
        <p:spPr>
          <a:xfrm>
            <a:off x="410400" y="348804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le travail des enfants ?</a:t>
            </a:r>
            <a:br>
              <a:rPr sz="1200"/>
            </a:br>
            <a:r>
              <a:rPr lang="en-FR" sz="1200" b="1" u="none" strike="noStrike">
                <a:solidFill>
                  <a:srgbClr val="000000"/>
                </a:solidFill>
                <a:effectLst/>
                <a:uFillTx/>
                <a:latin typeface="Marianne Medium"/>
              </a:rPr>
              <a:t>L'entreprise ne dispose pas d’un code de conduite ou d’une politique en matière de droits de l’homme pour son personnel.</a:t>
            </a:r>
            <a:endParaRPr lang="fr-FR" sz="1200" b="0" u="none" strike="noStrike">
              <a:solidFill>
                <a:srgbClr val="000000"/>
              </a:solidFill>
              <a:effectLst/>
              <a:uFillTx/>
              <a:latin typeface="Arial"/>
            </a:endParaRPr>
          </a:p>
          <a:p>
            <a:pPr defTabSz="756000">
              <a:lnSpc>
                <a:spcPct val="100000"/>
              </a:lnSpc>
            </a:pPr>
            <a:endParaRPr lang="fr-FR" sz="1200" b="0" u="none" strike="noStrike">
              <a:solidFill>
                <a:srgbClr val="000000"/>
              </a:solidFill>
              <a:effectLst/>
              <a:uFillTx/>
              <a:latin typeface="Arial"/>
            </a:endParaRPr>
          </a:p>
        </p:txBody>
      </p:sp>
      <p:sp>
        <p:nvSpPr>
          <p:cNvPr id="808" name="Rounded Rectangle 10"/>
          <p:cNvSpPr/>
          <p:nvPr/>
        </p:nvSpPr>
        <p:spPr>
          <a:xfrm>
            <a:off x="410400" y="459324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le travail forcé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L'entreprise ne dispose pas d’un code de conduite ou d’une politique en matière de droits de l’homme pour son personnel.</a:t>
            </a:r>
            <a:endParaRPr lang="fr-FR" sz="1200" b="0" u="none" strike="noStrike">
              <a:solidFill>
                <a:srgbClr val="000000"/>
              </a:solidFill>
              <a:effectLst/>
              <a:uFillTx/>
              <a:latin typeface="Arial"/>
            </a:endParaRPr>
          </a:p>
          <a:p>
            <a:pPr defTabSz="756000">
              <a:lnSpc>
                <a:spcPct val="100000"/>
              </a:lnSpc>
            </a:pPr>
            <a:endParaRPr lang="fr-FR" sz="1200" b="0" u="none" strike="noStrike">
              <a:solidFill>
                <a:srgbClr val="000000"/>
              </a:solidFill>
              <a:effectLst/>
              <a:uFillTx/>
              <a:latin typeface="Arial"/>
            </a:endParaRPr>
          </a:p>
        </p:txBody>
      </p:sp>
      <p:sp>
        <p:nvSpPr>
          <p:cNvPr id="809" name="Rounded Rectangle 11"/>
          <p:cNvSpPr/>
          <p:nvPr/>
        </p:nvSpPr>
        <p:spPr>
          <a:xfrm>
            <a:off x="410400" y="569808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traite des êtres humains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L'entreprise ne dispose pas d’un code de conduite ou d’une politique en matière de droits de l’homme pour son personnel.</a:t>
            </a:r>
            <a:endParaRPr lang="fr-FR" sz="1200" b="0" u="none" strike="noStrike">
              <a:solidFill>
                <a:srgbClr val="000000"/>
              </a:solidFill>
              <a:effectLst/>
              <a:uFillTx/>
              <a:latin typeface="Arial"/>
            </a:endParaRPr>
          </a:p>
          <a:p>
            <a:pPr defTabSz="756000">
              <a:lnSpc>
                <a:spcPct val="100000"/>
              </a:lnSpc>
            </a:pPr>
            <a:br>
              <a:rPr sz="1200"/>
            </a:br>
            <a:endParaRPr lang="fr-FR" sz="1200" b="0" u="none" strike="noStrike">
              <a:solidFill>
                <a:srgbClr val="000000"/>
              </a:solidFill>
              <a:effectLst/>
              <a:uFillTx/>
              <a:latin typeface="Arial"/>
            </a:endParaRPr>
          </a:p>
        </p:txBody>
      </p:sp>
      <p:sp>
        <p:nvSpPr>
          <p:cNvPr id="810" name="Rounded Rectangle 12"/>
          <p:cNvSpPr/>
          <p:nvPr/>
        </p:nvSpPr>
        <p:spPr>
          <a:xfrm>
            <a:off x="410400" y="680292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discrimination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L'entreprise ne dispose pas d’un code de conduite ou d’une politique en matière de droits de l’homme pour son personnel.</a:t>
            </a:r>
            <a:endParaRPr lang="fr-FR" sz="1200" b="0" u="none" strike="noStrike">
              <a:solidFill>
                <a:srgbClr val="000000"/>
              </a:solidFill>
              <a:effectLst/>
              <a:uFillTx/>
              <a:latin typeface="Arial"/>
            </a:endParaRPr>
          </a:p>
          <a:p>
            <a:pPr defTabSz="756000">
              <a:lnSpc>
                <a:spcPct val="100000"/>
              </a:lnSpc>
            </a:pPr>
            <a:endParaRPr lang="fr-FR" sz="1200" b="0" u="none" strike="noStrike">
              <a:solidFill>
                <a:srgbClr val="000000"/>
              </a:solidFill>
              <a:effectLst/>
              <a:uFillTx/>
              <a:latin typeface="Arial"/>
            </a:endParaRPr>
          </a:p>
        </p:txBody>
      </p:sp>
      <p:sp>
        <p:nvSpPr>
          <p:cNvPr id="811" name="Rounded Rectangle 13"/>
          <p:cNvSpPr/>
          <p:nvPr/>
        </p:nvSpPr>
        <p:spPr>
          <a:xfrm>
            <a:off x="410400" y="7908120"/>
            <a:ext cx="6733800" cy="96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La politique de l'entreprise couvre-t-elle la prévention des accidents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L'entreprise ne dispose pas d’un code de conduite ou d’une politique en matière de droits de l’homme pour son personnel.</a:t>
            </a:r>
            <a:endParaRPr lang="fr-FR" sz="1200" b="0" u="none" strike="noStrike">
              <a:solidFill>
                <a:srgbClr val="000000"/>
              </a:solidFill>
              <a:effectLst/>
              <a:uFillTx/>
              <a:latin typeface="Arial"/>
            </a:endParaRPr>
          </a:p>
          <a:p>
            <a:pPr defTabSz="756000">
              <a:lnSpc>
                <a:spcPct val="100000"/>
              </a:lnSpc>
            </a:pPr>
            <a:br>
              <a:rPr sz="1200"/>
            </a:b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12" name="Picture 2"/>
          <p:cNvPicPr/>
          <p:nvPr/>
        </p:nvPicPr>
        <p:blipFill>
          <a:blip r:embed="rId1"/>
          <a:stretch/>
        </p:blipFill>
        <p:spPr>
          <a:xfrm>
            <a:off x="0" y="0"/>
            <a:ext cx="7545960" cy="10686600"/>
          </a:xfrm>
          <a:prstGeom prst="rect">
            <a:avLst/>
          </a:prstGeom>
          <a:noFill/>
          <a:ln w="0">
            <a:noFill/>
          </a:ln>
        </p:spPr>
      </p:pic>
      <p:sp>
        <p:nvSpPr>
          <p:cNvPr id="813"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14" name="Rounded Rectangle 3"/>
          <p:cNvSpPr/>
          <p:nvPr/>
        </p:nvSpPr>
        <p:spPr>
          <a:xfrm rot="16200000">
            <a:off x="3809520" y="-189720"/>
            <a:ext cx="70056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8D2F2F"/>
                </a:solidFill>
                <a:effectLst/>
                <a:uFillTx/>
                <a:latin typeface="Marianne"/>
              </a:rPr>
              <a:t>C6</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Informations complémentaires sur les effectifs de l'entreprise – Politiques et procédures en matière de droits de l’homme</a:t>
            </a:r>
            <a:endParaRPr lang="fr-FR" sz="1400" b="0" u="none" strike="noStrike">
              <a:solidFill>
                <a:srgbClr val="FFFFFF"/>
              </a:solidFill>
              <a:effectLst/>
              <a:uFillTx/>
              <a:latin typeface="Arial"/>
            </a:endParaRPr>
          </a:p>
        </p:txBody>
      </p:sp>
      <p:cxnSp>
        <p:nvCxnSpPr>
          <p:cNvPr id="815" name="Straight Connector 17"/>
          <p:cNvCxnSpPr/>
          <p:nvPr/>
        </p:nvCxnSpPr>
        <p:spPr>
          <a:xfrm>
            <a:off x="893160" y="2525400"/>
            <a:ext cx="5040" cy="710640"/>
          </a:xfrm>
          <a:prstGeom prst="straightConnector1">
            <a:avLst/>
          </a:prstGeom>
          <a:ln w="3175">
            <a:solidFill>
              <a:srgbClr val="A6A6A6"/>
            </a:solidFill>
            <a:round/>
          </a:ln>
        </p:spPr>
      </p:cxnSp>
      <p:pic>
        <p:nvPicPr>
          <p:cNvPr id="816"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817"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18"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819"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20"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821" name="Rounded Rectangle 2"/>
          <p:cNvSpPr/>
          <p:nvPr/>
        </p:nvSpPr>
        <p:spPr>
          <a:xfrm>
            <a:off x="406080" y="6415200"/>
            <a:ext cx="6733800" cy="1137600"/>
          </a:xfrm>
          <a:prstGeom prst="roundRect">
            <a:avLst>
              <a:gd name="adj" fmla="val 15120"/>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L'entreprise dispose-t-elle d’un mécanisme permettant aux salariés de déposer des plaintes relatives aux droits de l’homme et aux conditions de travail ?</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822" name="Rounded Rectangle 10"/>
          <p:cNvSpPr/>
          <p:nvPr/>
        </p:nvSpPr>
        <p:spPr>
          <a:xfrm>
            <a:off x="406080" y="3605760"/>
            <a:ext cx="6733800" cy="2610000"/>
          </a:xfrm>
          <a:prstGeom prst="roundRect">
            <a:avLst>
              <a:gd name="adj" fmla="val 5784"/>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Autres thèmes couverts par la politique de l'entreprise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23" name="Picture 2"/>
          <p:cNvPicPr/>
          <p:nvPr/>
        </p:nvPicPr>
        <p:blipFill>
          <a:blip r:embed="rId1"/>
          <a:stretch/>
        </p:blipFill>
        <p:spPr>
          <a:xfrm>
            <a:off x="0" y="0"/>
            <a:ext cx="7545960" cy="10686600"/>
          </a:xfrm>
          <a:prstGeom prst="rect">
            <a:avLst/>
          </a:prstGeom>
          <a:noFill/>
          <a:ln w="0">
            <a:noFill/>
          </a:ln>
        </p:spPr>
      </p:pic>
      <p:sp>
        <p:nvSpPr>
          <p:cNvPr id="824"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25"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C7</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Incidents graves en matière de droits de l’homme</a:t>
            </a:r>
            <a:endParaRPr lang="fr-FR" sz="1400" b="0" u="none" strike="noStrike">
              <a:solidFill>
                <a:srgbClr val="FFFFFF"/>
              </a:solidFill>
              <a:effectLst/>
              <a:uFillTx/>
              <a:latin typeface="Arial"/>
            </a:endParaRPr>
          </a:p>
        </p:txBody>
      </p:sp>
      <p:cxnSp>
        <p:nvCxnSpPr>
          <p:cNvPr id="826" name="Straight Connector 17"/>
          <p:cNvCxnSpPr/>
          <p:nvPr/>
        </p:nvCxnSpPr>
        <p:spPr>
          <a:xfrm>
            <a:off x="893160" y="2525400"/>
            <a:ext cx="5040" cy="426600"/>
          </a:xfrm>
          <a:prstGeom prst="straightConnector1">
            <a:avLst/>
          </a:prstGeom>
          <a:ln w="3175">
            <a:solidFill>
              <a:srgbClr val="A6A6A6"/>
            </a:solidFill>
            <a:round/>
          </a:ln>
        </p:spPr>
      </p:cxnSp>
      <p:pic>
        <p:nvPicPr>
          <p:cNvPr id="827"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828"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29"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830"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31"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832" name="Rounded Rectangle 11"/>
          <p:cNvSpPr/>
          <p:nvPr/>
        </p:nvSpPr>
        <p:spPr>
          <a:xfrm>
            <a:off x="410400" y="4750200"/>
            <a:ext cx="6733800" cy="114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L’entreprise a-t-elle confirmé des incidents graves au sein de son personnel liés au travail forcé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833" name="Rounded Rectangle 12"/>
          <p:cNvSpPr/>
          <p:nvPr/>
        </p:nvSpPr>
        <p:spPr>
          <a:xfrm>
            <a:off x="410400" y="6012000"/>
            <a:ext cx="6733800" cy="114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L’entreprise a-t-elle confirmé des incidents graves au sein de son personnel liés à la traite des êtres humains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834" name="Rounded Rectangle 13"/>
          <p:cNvSpPr/>
          <p:nvPr/>
        </p:nvSpPr>
        <p:spPr>
          <a:xfrm>
            <a:off x="410400" y="7274160"/>
            <a:ext cx="6733800" cy="114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L’entreprise a-t-elle confirmé des incidents graves au sein de son personnel liés à la discrimination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835" name="Rounded Rectangle 14"/>
          <p:cNvSpPr/>
          <p:nvPr/>
        </p:nvSpPr>
        <p:spPr>
          <a:xfrm>
            <a:off x="410400" y="8535960"/>
            <a:ext cx="6733800" cy="114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Autres thèmes concernant des incidents graves confirmés relatifs aux droits de l’homme</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836" name="Rounded Rectangle 1"/>
          <p:cNvSpPr/>
          <p:nvPr/>
        </p:nvSpPr>
        <p:spPr>
          <a:xfrm>
            <a:off x="406080" y="3480480"/>
            <a:ext cx="6733800" cy="1146960"/>
          </a:xfrm>
          <a:prstGeom prst="roundRect">
            <a:avLst>
              <a:gd name="adj" fmla="val 7383"/>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L’entreprise a-t-elle confirmé des incidents graves au sein de son personnel liés au travail des enfants ?</a:t>
            </a:r>
            <a:endParaRPr lang="fr-FR" sz="1200" b="0" u="none" strike="noStrike">
              <a:solidFill>
                <a:srgbClr val="000000"/>
              </a:solidFill>
              <a:effectLst/>
              <a:uFillTx/>
              <a:latin typeface="Arial"/>
            </a:endParaRPr>
          </a:p>
          <a:p>
            <a:pPr defTabSz="756000">
              <a:lnSpc>
                <a:spcPct val="100000"/>
              </a:lnSpc>
            </a:pPr>
            <a:r>
              <a:rPr lang="en-FR" sz="1200" b="1" u="none" strike="noStrike">
                <a:solidFill>
                  <a:srgbClr val="000000"/>
                </a:solidFill>
                <a:effectLst/>
                <a:uFillTx/>
                <a:latin typeface="Marianne Medium"/>
              </a:rPr>
              <a:t>-</a:t>
            </a:r>
            <a:br>
              <a:rPr sz="1200"/>
            </a:b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37" name="Picture 2"/>
          <p:cNvPicPr/>
          <p:nvPr/>
        </p:nvPicPr>
        <p:blipFill>
          <a:blip r:embed="rId1"/>
          <a:stretch/>
        </p:blipFill>
        <p:spPr>
          <a:xfrm>
            <a:off x="0" y="0"/>
            <a:ext cx="7545960" cy="10686600"/>
          </a:xfrm>
          <a:prstGeom prst="rect">
            <a:avLst/>
          </a:prstGeom>
          <a:noFill/>
          <a:ln w="0">
            <a:noFill/>
          </a:ln>
        </p:spPr>
      </p:pic>
      <p:sp>
        <p:nvSpPr>
          <p:cNvPr id="838"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39" name="Rounded Rectangle 3"/>
          <p:cNvSpPr/>
          <p:nvPr/>
        </p:nvSpPr>
        <p:spPr>
          <a:xfrm rot="16200000">
            <a:off x="3985560" y="-321840"/>
            <a:ext cx="394200" cy="6150960"/>
          </a:xfrm>
          <a:prstGeom prst="roundRect">
            <a:avLst>
              <a:gd name="adj" fmla="val 16667"/>
            </a:avLst>
          </a:prstGeom>
          <a:solidFill>
            <a:srgbClr val="FF5555">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8D2F2F"/>
                </a:solidFill>
                <a:effectLst/>
                <a:uFillTx/>
                <a:latin typeface="Marianne"/>
              </a:rPr>
              <a:t>C7</a:t>
            </a:r>
            <a:r>
              <a:rPr lang="fr-FR" sz="1400" b="0" u="none" strike="noStrike">
                <a:solidFill>
                  <a:srgbClr val="8D2F2F"/>
                </a:solidFill>
                <a:effectLst/>
                <a:uFillTx/>
                <a:latin typeface="Marianne Medium"/>
              </a:rPr>
              <a:t> </a:t>
            </a:r>
            <a:r>
              <a:rPr lang="fr-FR" sz="1400" b="0" u="none" strike="noStrike">
                <a:solidFill>
                  <a:srgbClr val="8D2F2F"/>
                </a:solidFill>
                <a:effectLst/>
                <a:uFillTx/>
                <a:latin typeface="Marianne"/>
              </a:rPr>
              <a:t>Incidents graves en matière de droits de l’homme</a:t>
            </a:r>
            <a:endParaRPr lang="fr-FR" sz="1400" b="0" u="none" strike="noStrike">
              <a:solidFill>
                <a:srgbClr val="FFFFFF"/>
              </a:solidFill>
              <a:effectLst/>
              <a:uFillTx/>
              <a:latin typeface="Arial"/>
            </a:endParaRPr>
          </a:p>
        </p:txBody>
      </p:sp>
      <p:cxnSp>
        <p:nvCxnSpPr>
          <p:cNvPr id="840" name="Straight Connector 17"/>
          <p:cNvCxnSpPr/>
          <p:nvPr/>
        </p:nvCxnSpPr>
        <p:spPr>
          <a:xfrm>
            <a:off x="893160" y="2525400"/>
            <a:ext cx="5040" cy="426600"/>
          </a:xfrm>
          <a:prstGeom prst="straightConnector1">
            <a:avLst/>
          </a:prstGeom>
          <a:ln w="3175">
            <a:solidFill>
              <a:srgbClr val="A6A6A6"/>
            </a:solidFill>
            <a:round/>
          </a:ln>
        </p:spPr>
      </p:cxnSp>
      <p:pic>
        <p:nvPicPr>
          <p:cNvPr id="841" name="Graphic 5"/>
          <p:cNvPicPr/>
          <p:nvPr/>
        </p:nvPicPr>
        <p:blipFill>
          <a:blip r:embed="rId2">
            <a:extLst>
              <a:ext uri="{96DAC541-7B7A-43D3-8B79-37D633B846F1}">
                <asvg:svgBlip xmlns:asvg="http://schemas.microsoft.com/office/drawing/2016/SVG/main" r:embed="rId3"/>
              </a:ext>
            </a:extLst>
          </a:blip>
          <a:stretch/>
        </p:blipFill>
        <p:spPr>
          <a:xfrm>
            <a:off x="318960" y="2549880"/>
            <a:ext cx="390960" cy="390960"/>
          </a:xfrm>
          <a:prstGeom prst="rect">
            <a:avLst/>
          </a:prstGeom>
          <a:noFill/>
          <a:ln w="0">
            <a:noFill/>
          </a:ln>
        </p:spPr>
      </p:pic>
      <p:sp>
        <p:nvSpPr>
          <p:cNvPr id="842" name="TextBox 4"/>
          <p:cNvSpPr/>
          <p:nvPr/>
        </p:nvSpPr>
        <p:spPr>
          <a:xfrm>
            <a:off x="366480" y="187200"/>
            <a:ext cx="17816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43" name="TextBox 6"/>
          <p:cNvSpPr/>
          <p:nvPr/>
        </p:nvSpPr>
        <p:spPr>
          <a:xfrm>
            <a:off x="3654000" y="187200"/>
            <a:ext cx="64332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Social</a:t>
            </a:r>
            <a:endParaRPr lang="fr-FR" sz="1100" b="0" u="none" strike="noStrike">
              <a:solidFill>
                <a:srgbClr val="000000"/>
              </a:solidFill>
              <a:effectLst/>
              <a:uFillTx/>
              <a:latin typeface="Arial"/>
            </a:endParaRPr>
          </a:p>
        </p:txBody>
      </p:sp>
      <p:sp>
        <p:nvSpPr>
          <p:cNvPr id="844" name="TextBox 7"/>
          <p:cNvSpPr/>
          <p:nvPr/>
        </p:nvSpPr>
        <p:spPr>
          <a:xfrm>
            <a:off x="2293920" y="187200"/>
            <a:ext cx="124848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45" name="TextBox 8"/>
          <p:cNvSpPr/>
          <p:nvPr/>
        </p:nvSpPr>
        <p:spPr>
          <a:xfrm>
            <a:off x="4407840" y="187200"/>
            <a:ext cx="1117440" cy="304920"/>
          </a:xfrm>
          <a:prstGeom prst="roundRect">
            <a:avLst>
              <a:gd name="adj" fmla="val 16667"/>
            </a:avLst>
          </a:prstGeom>
          <a:solidFill>
            <a:schemeClr val="dk1">
              <a:alpha val="23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68000"/>
                  </a:schemeClr>
                </a:solidFill>
                <a:effectLst/>
                <a:uFillTx/>
                <a:latin typeface="Marianne Light"/>
                <a:ea typeface="Arial"/>
              </a:rPr>
              <a:t>Gouvernance</a:t>
            </a:r>
            <a:endParaRPr lang="fr-FR" sz="1100" b="0" u="none" strike="noStrike">
              <a:solidFill>
                <a:srgbClr val="FFFFFF"/>
              </a:solidFill>
              <a:effectLst/>
              <a:uFillTx/>
              <a:latin typeface="Arial"/>
            </a:endParaRPr>
          </a:p>
        </p:txBody>
      </p:sp>
      <p:sp>
        <p:nvSpPr>
          <p:cNvPr id="846" name="Rounded Rectangle 1"/>
          <p:cNvSpPr/>
          <p:nvPr/>
        </p:nvSpPr>
        <p:spPr>
          <a:xfrm>
            <a:off x="410400" y="6596280"/>
            <a:ext cx="6733800" cy="3086280"/>
          </a:xfrm>
          <a:prstGeom prst="roundRect">
            <a:avLst>
              <a:gd name="adj" fmla="val 2131"/>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fr-FR" sz="1200" b="0" u="none" strike="noStrike">
                <a:solidFill>
                  <a:srgbClr val="8D2F2F"/>
                </a:solidFill>
                <a:effectLst/>
                <a:uFillTx/>
                <a:latin typeface="Marianne Light"/>
              </a:rPr>
              <a:t>Incidents graves en matière de droits de l’homme dans la chaîne de valeur et auprès des parties prenantes externes</a:t>
            </a:r>
            <a:endParaRPr lang="fr-FR" sz="1200" b="0" u="none" strike="noStrike">
              <a:solidFill>
                <a:srgbClr val="000000"/>
              </a:solidFill>
              <a:effectLst/>
              <a:uFillTx/>
              <a:latin typeface="Arial"/>
            </a:endParaRPr>
          </a:p>
          <a:p>
            <a:pPr defTabSz="457200">
              <a:lnSpc>
                <a:spcPct val="100000"/>
              </a:lnSpc>
            </a:pPr>
            <a:r>
              <a:rPr lang="fr-FR" sz="1200" b="1" i="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847" name="Rounded Rectangle 9"/>
          <p:cNvSpPr/>
          <p:nvPr/>
        </p:nvSpPr>
        <p:spPr>
          <a:xfrm>
            <a:off x="410400" y="3308760"/>
            <a:ext cx="6733800" cy="3086280"/>
          </a:xfrm>
          <a:prstGeom prst="roundRect">
            <a:avLst>
              <a:gd name="adj" fmla="val 383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8D2F2F"/>
                </a:solidFill>
                <a:effectLst/>
                <a:uFillTx/>
                <a:latin typeface="Marianne Light"/>
              </a:rPr>
              <a:t>Description des actions mises en œuvre pour gérer les incidents confirmés</a:t>
            </a:r>
            <a:endParaRPr lang="fr-FR" sz="1200" b="0" u="none" strike="noStrike">
              <a:solidFill>
                <a:srgbClr val="000000"/>
              </a:solidFill>
              <a:effectLst/>
              <a:uFillTx/>
              <a:latin typeface="Arial"/>
            </a:endParaRPr>
          </a:p>
          <a:p>
            <a:pPr defTabSz="457200">
              <a:lnSpc>
                <a:spcPct val="100000"/>
              </a:lnSpc>
            </a:pPr>
            <a:r>
              <a:rPr lang="fr-FR" sz="1200" b="1" i="1" u="none" strike="noStrike">
                <a:solidFill>
                  <a:srgbClr val="000000"/>
                </a:solidFill>
                <a:effectLst/>
                <a:uFillTx/>
                <a:latin typeface="Marianne Medium"/>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8" name="Image 1"/>
          <p:cNvPicPr/>
          <p:nvPr/>
        </p:nvPicPr>
        <p:blipFill>
          <a:blip r:embed="rId1"/>
          <a:stretch/>
        </p:blipFill>
        <p:spPr>
          <a:xfrm>
            <a:off x="0" y="0"/>
            <a:ext cx="7554600" cy="10738080"/>
          </a:xfrm>
          <a:prstGeom prst="rect">
            <a:avLst/>
          </a:prstGeom>
          <a:noFill/>
          <a:ln w="0">
            <a:noFill/>
          </a:ln>
        </p:spPr>
      </p:pic>
      <p:grpSp>
        <p:nvGrpSpPr>
          <p:cNvPr id="849" name="Group 23"/>
          <p:cNvGrpSpPr/>
          <p:nvPr/>
        </p:nvGrpSpPr>
        <p:grpSpPr>
          <a:xfrm>
            <a:off x="0" y="3256920"/>
            <a:ext cx="7554600" cy="4173120"/>
            <a:chOff x="0" y="3256920"/>
            <a:chExt cx="7554600" cy="4173120"/>
          </a:xfrm>
        </p:grpSpPr>
        <p:sp>
          <p:nvSpPr>
            <p:cNvPr id="850" name="Rectangle 9"/>
            <p:cNvSpPr/>
            <p:nvPr/>
          </p:nvSpPr>
          <p:spPr>
            <a:xfrm>
              <a:off x="0" y="3256920"/>
              <a:ext cx="7554600" cy="41731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51" name="Round Same-side Corner of Rectangle 14"/>
            <p:cNvSpPr/>
            <p:nvPr/>
          </p:nvSpPr>
          <p:spPr>
            <a:xfrm rot="16200000">
              <a:off x="3996720" y="116640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B11</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Condamnations et amendes en matière de lutte contre la corruption et les actes de corruption</a:t>
              </a:r>
              <a:endParaRPr lang="fr-FR" sz="850" b="0" u="none" strike="noStrike">
                <a:solidFill>
                  <a:srgbClr val="FFFFFF"/>
                </a:solidFill>
                <a:effectLst/>
                <a:uFillTx/>
                <a:latin typeface="Arial"/>
              </a:endParaRPr>
            </a:p>
          </p:txBody>
        </p:sp>
        <p:cxnSp>
          <p:nvCxnSpPr>
            <p:cNvPr id="852" name="Straight Connector 15"/>
            <p:cNvCxnSpPr/>
            <p:nvPr/>
          </p:nvCxnSpPr>
          <p:spPr>
            <a:xfrm>
              <a:off x="1255320" y="3802680"/>
              <a:ext cx="5040" cy="426960"/>
            </a:xfrm>
            <a:prstGeom prst="straightConnector1">
              <a:avLst/>
            </a:prstGeom>
            <a:ln w="3175">
              <a:solidFill>
                <a:srgbClr val="A6A6A6"/>
              </a:solidFill>
              <a:round/>
            </a:ln>
          </p:spPr>
        </p:cxnSp>
        <p:sp>
          <p:nvSpPr>
            <p:cNvPr id="853" name="TextBox 16"/>
            <p:cNvSpPr/>
            <p:nvPr/>
          </p:nvSpPr>
          <p:spPr>
            <a:xfrm>
              <a:off x="1299960" y="3767400"/>
              <a:ext cx="5604840" cy="528480"/>
            </a:xfrm>
            <a:prstGeom prst="rect">
              <a:avLst/>
            </a:prstGeom>
            <a:noFill/>
            <a:ln w="0">
              <a:noFill/>
            </a:ln>
          </p:spPr>
          <p:style>
            <a:lnRef idx="0"/>
            <a:fillRef idx="0"/>
            <a:effectRef idx="0"/>
            <a:fontRef idx="minor"/>
          </p:style>
          <p:txBody>
            <a:bodyPr lIns="90000" tIns="45000" rIns="90000" bIns="45000" anchor="t">
              <a:spAutoFit/>
            </a:bodyPr>
            <a:p>
              <a:pPr marL="11160" defTabSz="457200">
                <a:lnSpc>
                  <a:spcPct val="120000"/>
                </a:lnSpc>
              </a:pPr>
              <a:r>
                <a:rPr lang="fr-FR" sz="2400" b="1" u="none" strike="noStrike">
                  <a:solidFill>
                    <a:schemeClr val="dk1"/>
                  </a:solidFill>
                  <a:effectLst/>
                  <a:uFillTx/>
                  <a:latin typeface="Marianne"/>
                  <a:ea typeface="Arial"/>
                </a:rPr>
                <a:t>Gouvernance</a:t>
              </a:r>
              <a:endParaRPr lang="fr-FR" sz="2400" b="0" u="none" strike="noStrike">
                <a:solidFill>
                  <a:srgbClr val="000000"/>
                </a:solidFill>
                <a:effectLst/>
                <a:uFillTx/>
                <a:latin typeface="Arial"/>
              </a:endParaRPr>
            </a:p>
          </p:txBody>
        </p:sp>
        <p:sp>
          <p:nvSpPr>
            <p:cNvPr id="854" name="Round Same-side Corner of Rectangle 17"/>
            <p:cNvSpPr/>
            <p:nvPr/>
          </p:nvSpPr>
          <p:spPr>
            <a:xfrm rot="16200000">
              <a:off x="3996720" y="145836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C8</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Recettes de certains secteurs et exclusion des indices de référence de l'UE</a:t>
              </a:r>
              <a:endParaRPr lang="fr-FR" sz="850" b="0" u="none" strike="noStrike">
                <a:solidFill>
                  <a:srgbClr val="FFFFFF"/>
                </a:solidFill>
                <a:effectLst/>
                <a:uFillTx/>
                <a:latin typeface="Arial"/>
              </a:endParaRPr>
            </a:p>
          </p:txBody>
        </p:sp>
        <p:sp>
          <p:nvSpPr>
            <p:cNvPr id="855" name="Round Same-side Corner of Rectangle 18"/>
            <p:cNvSpPr/>
            <p:nvPr/>
          </p:nvSpPr>
          <p:spPr>
            <a:xfrm rot="16200000">
              <a:off x="3996720" y="175068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C8</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Recettes de certains secteurs et exclusion des indices de référence de l'UE</a:t>
              </a:r>
              <a:endParaRPr lang="fr-FR" sz="850" b="0" u="none" strike="noStrike">
                <a:solidFill>
                  <a:srgbClr val="FFFFFF"/>
                </a:solidFill>
                <a:effectLst/>
                <a:uFillTx/>
                <a:latin typeface="Arial"/>
              </a:endParaRPr>
            </a:p>
          </p:txBody>
        </p:sp>
        <p:sp>
          <p:nvSpPr>
            <p:cNvPr id="856" name="Round Same-side Corner of Rectangle 20"/>
            <p:cNvSpPr/>
            <p:nvPr/>
          </p:nvSpPr>
          <p:spPr>
            <a:xfrm rot="16200000">
              <a:off x="3996720" y="2043000"/>
              <a:ext cx="235800" cy="6879600"/>
            </a:xfrm>
            <a:prstGeom prst="round2SameRect">
              <a:avLst>
                <a:gd name="adj1" fmla="val 26772"/>
                <a:gd name="adj2" fmla="val 0"/>
              </a:avLst>
            </a:prstGeom>
            <a:solidFill>
              <a:srgbClr val="0175E9">
                <a:alpha val="7000"/>
              </a:srgbClr>
            </a:solidFill>
            <a:ln>
              <a:noFill/>
            </a:ln>
          </p:spPr>
          <p:style>
            <a:lnRef idx="2">
              <a:schemeClr val="accent1">
                <a:shade val="15000"/>
              </a:schemeClr>
            </a:lnRef>
            <a:fillRef idx="1">
              <a:schemeClr val="accent1"/>
            </a:fillRef>
            <a:effectRef idx="0">
              <a:schemeClr val="accent1"/>
            </a:effectRef>
            <a:fontRef idx="minor"/>
          </p:style>
          <p:txBody>
            <a:bodyPr lIns="36000" tIns="72000" rIns="36000" bIns="72000" anchor="ctr" vert="vert">
              <a:noAutofit/>
            </a:bodyPr>
            <a:p>
              <a:pPr defTabSz="457200">
                <a:lnSpc>
                  <a:spcPct val="100000"/>
                </a:lnSpc>
              </a:pPr>
              <a:r>
                <a:rPr lang="fr-FR" sz="850" b="1" u="none" strike="noStrike">
                  <a:solidFill>
                    <a:srgbClr val="064E9D"/>
                  </a:solidFill>
                  <a:effectLst/>
                  <a:uFillTx/>
                  <a:latin typeface="Marianne"/>
                </a:rPr>
                <a:t>C9</a:t>
              </a:r>
              <a:r>
                <a:rPr lang="fr-FR" sz="850" b="0" u="none" strike="noStrike">
                  <a:solidFill>
                    <a:srgbClr val="064E9D"/>
                  </a:solidFill>
                  <a:effectLst/>
                  <a:uFillTx/>
                  <a:latin typeface="Marianne Medium"/>
                </a:rPr>
                <a:t> </a:t>
              </a:r>
              <a:r>
                <a:rPr lang="fr-FR" sz="850" b="0" u="none" strike="noStrike">
                  <a:solidFill>
                    <a:srgbClr val="064E9D"/>
                  </a:solidFill>
                  <a:effectLst/>
                  <a:uFillTx/>
                  <a:latin typeface="Marianne"/>
                </a:rPr>
                <a:t>Ratio femmes/hommes au sein de l'organe de gouvernance</a:t>
              </a:r>
              <a:endParaRPr lang="fr-FR" sz="850" b="0" u="none" strike="noStrike">
                <a:solidFill>
                  <a:srgbClr val="FFFFFF"/>
                </a:solidFill>
                <a:effectLst/>
                <a:uFillTx/>
                <a:latin typeface="Arial"/>
              </a:endParaRPr>
            </a:p>
          </p:txBody>
        </p:sp>
        <p:pic>
          <p:nvPicPr>
            <p:cNvPr id="857" name="Graphic 21"/>
            <p:cNvPicPr/>
            <p:nvPr/>
          </p:nvPicPr>
          <p:blipFill>
            <a:blip r:embed="rId2"/>
            <a:stretch/>
          </p:blipFill>
          <p:spPr>
            <a:xfrm>
              <a:off x="782280" y="3876480"/>
              <a:ext cx="291240" cy="291240"/>
            </a:xfrm>
            <a:prstGeom prst="rect">
              <a:avLst/>
            </a:prstGeom>
            <a:noFill/>
            <a:ln w="0">
              <a:noFill/>
            </a:ln>
          </p:spPr>
        </p:pic>
        <p:sp>
          <p:nvSpPr>
            <p:cNvPr id="858" name="TextBox 22"/>
            <p:cNvSpPr/>
            <p:nvPr/>
          </p:nvSpPr>
          <p:spPr>
            <a:xfrm>
              <a:off x="666360" y="5846760"/>
              <a:ext cx="6280920" cy="821160"/>
            </a:xfrm>
            <a:prstGeom prst="rect">
              <a:avLst/>
            </a:prstGeom>
            <a:noFill/>
            <a:ln w="0">
              <a:noFill/>
            </a:ln>
          </p:spPr>
          <p:style>
            <a:lnRef idx="0"/>
            <a:fillRef idx="0"/>
            <a:effectRef idx="0"/>
            <a:fontRef idx="minor"/>
          </p:style>
          <p:txBody>
            <a:bodyPr lIns="90000" tIns="45000" rIns="90000" bIns="45000" anchor="t">
              <a:spAutoFit/>
            </a:bodyPr>
            <a:p>
              <a:pPr marL="11160" algn="just" defTabSz="457200">
                <a:lnSpc>
                  <a:spcPct val="120000"/>
                </a:lnSpc>
                <a:spcAft>
                  <a:spcPts val="601"/>
                </a:spcAft>
              </a:pPr>
              <a:r>
                <a:rPr lang="en-US" sz="1000" b="0" u="none" strike="noStrike">
                  <a:solidFill>
                    <a:schemeClr val="dk1"/>
                  </a:solidFill>
                  <a:effectLst/>
                  <a:uFillTx/>
                  <a:latin typeface="Marianne Light"/>
                  <a:ea typeface="Arial"/>
                </a:rPr>
                <a:t>Les métriques de gouvernance permettent d’évaluer la manière dont notre entreprise est dirigée, contrôlée et responsabilisée. Elles apportent une vision claire et factuelle de nos pratiques de gouvernance, renforcent la crédibilité de notre démarche, soutiennent la confiance des parties prenantes et contribuent à une gestion transparente et durable de l’entreprise.</a:t>
              </a:r>
              <a:endParaRPr lang="fr-FR" sz="1000" b="0" u="none" strike="noStrike">
                <a:solidFill>
                  <a:srgbClr val="000000"/>
                </a:solidFill>
                <a:effectLst/>
                <a:uFillTx/>
                <a:latin typeface="Arial"/>
              </a:endParaRPr>
            </a:p>
          </p:txBody>
        </p:sp>
      </p:gr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59" name="Image 10"/>
          <p:cNvPicPr/>
          <p:nvPr/>
        </p:nvPicPr>
        <p:blipFill>
          <a:blip r:embed="rId1"/>
          <a:stretch/>
        </p:blipFill>
        <p:spPr>
          <a:xfrm>
            <a:off x="0" y="0"/>
            <a:ext cx="7554600" cy="10738080"/>
          </a:xfrm>
          <a:prstGeom prst="rect">
            <a:avLst/>
          </a:prstGeom>
          <a:noFill/>
          <a:ln w="0">
            <a:noFill/>
          </a:ln>
        </p:spPr>
      </p:pic>
      <p:sp>
        <p:nvSpPr>
          <p:cNvPr id="860"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61" name="Rounded Rectangle 3"/>
          <p:cNvSpPr/>
          <p:nvPr/>
        </p:nvSpPr>
        <p:spPr>
          <a:xfrm rot="16200000">
            <a:off x="3814920" y="-189720"/>
            <a:ext cx="700560" cy="6150960"/>
          </a:xfrm>
          <a:prstGeom prst="roundRect">
            <a:avLst>
              <a:gd name="adj" fmla="val 16667"/>
            </a:avLst>
          </a:prstGeom>
          <a:solidFill>
            <a:srgbClr val="0175E9">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064E9D"/>
                </a:solidFill>
                <a:effectLst/>
                <a:uFillTx/>
                <a:latin typeface="Marianne"/>
              </a:rPr>
              <a:t>B11</a:t>
            </a:r>
            <a:r>
              <a:rPr lang="fr-FR" sz="1400" b="0" u="none" strike="noStrike">
                <a:solidFill>
                  <a:srgbClr val="064E9D"/>
                </a:solidFill>
                <a:effectLst/>
                <a:uFillTx/>
                <a:latin typeface="Marianne Medium"/>
              </a:rPr>
              <a:t> </a:t>
            </a:r>
            <a:r>
              <a:rPr lang="fr-FR" sz="1400" b="0" u="none" strike="noStrike">
                <a:solidFill>
                  <a:srgbClr val="064E9D"/>
                </a:solidFill>
                <a:effectLst/>
                <a:uFillTx/>
                <a:latin typeface="Marianne"/>
              </a:rPr>
              <a:t>Condamnations et amendes en matière de lutte contre la corruption et les actes de corruption</a:t>
            </a:r>
            <a:endParaRPr lang="fr-FR" sz="1400" b="0" u="none" strike="noStrike">
              <a:solidFill>
                <a:srgbClr val="FFFFFF"/>
              </a:solidFill>
              <a:effectLst/>
              <a:uFillTx/>
              <a:latin typeface="Arial"/>
            </a:endParaRPr>
          </a:p>
        </p:txBody>
      </p:sp>
      <p:cxnSp>
        <p:nvCxnSpPr>
          <p:cNvPr id="862" name="Straight Connector 17"/>
          <p:cNvCxnSpPr/>
          <p:nvPr/>
        </p:nvCxnSpPr>
        <p:spPr>
          <a:xfrm>
            <a:off x="893160" y="2525400"/>
            <a:ext cx="5040" cy="642600"/>
          </a:xfrm>
          <a:prstGeom prst="straightConnector1">
            <a:avLst/>
          </a:prstGeom>
          <a:ln w="3175">
            <a:solidFill>
              <a:srgbClr val="A6A6A6"/>
            </a:solidFill>
            <a:round/>
          </a:ln>
        </p:spPr>
      </p:cxnSp>
      <p:pic>
        <p:nvPicPr>
          <p:cNvPr id="863" name="Graphic 1"/>
          <p:cNvPicPr/>
          <p:nvPr/>
        </p:nvPicPr>
        <p:blipFill>
          <a:blip r:embed="rId2"/>
          <a:stretch/>
        </p:blipFill>
        <p:spPr>
          <a:xfrm>
            <a:off x="348480" y="2563200"/>
            <a:ext cx="276120" cy="276120"/>
          </a:xfrm>
          <a:prstGeom prst="rect">
            <a:avLst/>
          </a:prstGeom>
          <a:noFill/>
          <a:ln w="0">
            <a:noFill/>
          </a:ln>
        </p:spPr>
      </p:pic>
      <p:sp>
        <p:nvSpPr>
          <p:cNvPr id="864" name="Rounded Rectangle 2"/>
          <p:cNvSpPr/>
          <p:nvPr/>
        </p:nvSpPr>
        <p:spPr>
          <a:xfrm>
            <a:off x="410400" y="3399840"/>
            <a:ext cx="6733800" cy="1531800"/>
          </a:xfrm>
          <a:prstGeom prst="roundRect">
            <a:avLst>
              <a:gd name="adj" fmla="val 483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457200">
              <a:lnSpc>
                <a:spcPct val="100000"/>
              </a:lnSpc>
            </a:pPr>
            <a:r>
              <a:rPr lang="en-FR" sz="1200" b="0" u="none" strike="noStrike">
                <a:solidFill>
                  <a:srgbClr val="064E9D"/>
                </a:solidFill>
                <a:effectLst/>
                <a:uFillTx/>
                <a:latin typeface="Marianne Light"/>
              </a:rPr>
              <a:t>Nombre de condamnations pour violations des lois anti-corruption</a:t>
            </a:r>
            <a:endParaRPr lang="fr-FR" sz="1200" b="0" u="none" strike="noStrike">
              <a:solidFill>
                <a:srgbClr val="000000"/>
              </a:solidFill>
              <a:effectLst/>
              <a:uFillTx/>
              <a:latin typeface="Arial"/>
            </a:endParaRPr>
          </a:p>
          <a:p>
            <a:pPr defTabSz="457200">
              <a:lnSpc>
                <a:spcPct val="100000"/>
              </a:lnSpc>
            </a:pPr>
            <a:r>
              <a:rPr lang="en-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865" name="TextBox 6"/>
          <p:cNvSpPr/>
          <p:nvPr/>
        </p:nvSpPr>
        <p:spPr>
          <a:xfrm>
            <a:off x="366480" y="187200"/>
            <a:ext cx="178164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66" name="TextBox 7"/>
          <p:cNvSpPr/>
          <p:nvPr/>
        </p:nvSpPr>
        <p:spPr>
          <a:xfrm>
            <a:off x="3666960" y="187200"/>
            <a:ext cx="61740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867" name="TextBox 8"/>
          <p:cNvSpPr/>
          <p:nvPr/>
        </p:nvSpPr>
        <p:spPr>
          <a:xfrm>
            <a:off x="2293920" y="187200"/>
            <a:ext cx="124848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68" name="TextBox 9"/>
          <p:cNvSpPr/>
          <p:nvPr/>
        </p:nvSpPr>
        <p:spPr>
          <a:xfrm>
            <a:off x="4383000" y="187200"/>
            <a:ext cx="116748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Gouvernance</a:t>
            </a:r>
            <a:endParaRPr lang="fr-FR" sz="1100" b="0" u="none" strike="noStrike">
              <a:solidFill>
                <a:srgbClr val="000000"/>
              </a:solidFill>
              <a:effectLst/>
              <a:uFillTx/>
              <a:latin typeface="Arial"/>
            </a:endParaRPr>
          </a:p>
        </p:txBody>
      </p:sp>
      <p:sp>
        <p:nvSpPr>
          <p:cNvPr id="869" name="Rounded Rectangle 13"/>
          <p:cNvSpPr/>
          <p:nvPr/>
        </p:nvSpPr>
        <p:spPr>
          <a:xfrm>
            <a:off x="410400" y="5109480"/>
            <a:ext cx="6733800" cy="1531800"/>
          </a:xfrm>
          <a:prstGeom prst="roundRect">
            <a:avLst>
              <a:gd name="adj" fmla="val 4838"/>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457200">
              <a:lnSpc>
                <a:spcPct val="100000"/>
              </a:lnSpc>
            </a:pPr>
            <a:r>
              <a:rPr lang="fr-FR" sz="1200" b="0" u="none" strike="noStrike">
                <a:solidFill>
                  <a:srgbClr val="064E9D"/>
                </a:solidFill>
                <a:effectLst/>
                <a:uFillTx/>
                <a:latin typeface="Marianne Light"/>
              </a:rPr>
              <a:t>Montant total des amendes infligées pour corruption</a:t>
            </a:r>
            <a:endParaRPr lang="fr-FR" sz="1200" b="0" u="none" strike="noStrike">
              <a:solidFill>
                <a:srgbClr val="000000"/>
              </a:solidFill>
              <a:effectLst/>
              <a:uFillTx/>
              <a:latin typeface="Arial"/>
            </a:endParaRPr>
          </a:p>
          <a:p>
            <a:pPr defTabSz="457200">
              <a:lnSpc>
                <a:spcPct val="100000"/>
              </a:lnSpc>
            </a:pPr>
            <a:r>
              <a:rPr lang="en-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70" name="Image 4"/>
          <p:cNvPicPr/>
          <p:nvPr/>
        </p:nvPicPr>
        <p:blipFill>
          <a:blip r:embed="rId1"/>
          <a:stretch/>
        </p:blipFill>
        <p:spPr>
          <a:xfrm>
            <a:off x="0" y="0"/>
            <a:ext cx="7554600" cy="10738080"/>
          </a:xfrm>
          <a:prstGeom prst="rect">
            <a:avLst/>
          </a:prstGeom>
          <a:noFill/>
          <a:ln w="0">
            <a:noFill/>
          </a:ln>
        </p:spPr>
      </p:pic>
      <p:sp>
        <p:nvSpPr>
          <p:cNvPr id="87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72" name="Rounded Rectangle 3"/>
          <p:cNvSpPr/>
          <p:nvPr/>
        </p:nvSpPr>
        <p:spPr>
          <a:xfrm rot="16200000">
            <a:off x="3814920" y="-189720"/>
            <a:ext cx="700560" cy="6150960"/>
          </a:xfrm>
          <a:prstGeom prst="roundRect">
            <a:avLst>
              <a:gd name="adj" fmla="val 16667"/>
            </a:avLst>
          </a:prstGeom>
          <a:solidFill>
            <a:srgbClr val="0175E9">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064E9D"/>
                </a:solidFill>
                <a:effectLst/>
                <a:uFillTx/>
                <a:latin typeface="Marianne"/>
              </a:rPr>
              <a:t>C8</a:t>
            </a:r>
            <a:r>
              <a:rPr lang="fr-FR" sz="1400" b="0" u="none" strike="noStrike">
                <a:solidFill>
                  <a:srgbClr val="064E9D"/>
                </a:solidFill>
                <a:effectLst/>
                <a:uFillTx/>
                <a:latin typeface="Marianne Medium"/>
              </a:rPr>
              <a:t> </a:t>
            </a:r>
            <a:r>
              <a:rPr lang="fr-FR" sz="1400" b="0" u="none" strike="noStrike">
                <a:solidFill>
                  <a:srgbClr val="064E9D"/>
                </a:solidFill>
                <a:effectLst/>
                <a:uFillTx/>
                <a:latin typeface="Marianne"/>
              </a:rPr>
              <a:t>Recettes de certains secteurs et exclusion des indices de référence de l'UE</a:t>
            </a:r>
            <a:endParaRPr lang="fr-FR" sz="1400" b="0" u="none" strike="noStrike">
              <a:solidFill>
                <a:srgbClr val="FFFFFF"/>
              </a:solidFill>
              <a:effectLst/>
              <a:uFillTx/>
              <a:latin typeface="Arial"/>
            </a:endParaRPr>
          </a:p>
        </p:txBody>
      </p:sp>
      <p:cxnSp>
        <p:nvCxnSpPr>
          <p:cNvPr id="873" name="Straight Connector 17"/>
          <p:cNvCxnSpPr/>
          <p:nvPr/>
        </p:nvCxnSpPr>
        <p:spPr>
          <a:xfrm>
            <a:off x="893160" y="2525400"/>
            <a:ext cx="5040" cy="642600"/>
          </a:xfrm>
          <a:prstGeom prst="straightConnector1">
            <a:avLst/>
          </a:prstGeom>
          <a:ln w="3175">
            <a:solidFill>
              <a:srgbClr val="A6A6A6"/>
            </a:solidFill>
            <a:round/>
          </a:ln>
        </p:spPr>
      </p:cxnSp>
      <p:pic>
        <p:nvPicPr>
          <p:cNvPr id="874" name="Graphic 1"/>
          <p:cNvPicPr/>
          <p:nvPr/>
        </p:nvPicPr>
        <p:blipFill>
          <a:blip r:embed="rId2"/>
          <a:stretch/>
        </p:blipFill>
        <p:spPr>
          <a:xfrm>
            <a:off x="348480" y="2563200"/>
            <a:ext cx="276120" cy="276120"/>
          </a:xfrm>
          <a:prstGeom prst="rect">
            <a:avLst/>
          </a:prstGeom>
          <a:noFill/>
          <a:ln w="0">
            <a:noFill/>
          </a:ln>
        </p:spPr>
      </p:pic>
      <p:sp>
        <p:nvSpPr>
          <p:cNvPr id="875" name="TextBox 1"/>
          <p:cNvSpPr/>
          <p:nvPr/>
        </p:nvSpPr>
        <p:spPr>
          <a:xfrm>
            <a:off x="366480" y="187200"/>
            <a:ext cx="178164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76" name="TextBox 5"/>
          <p:cNvSpPr/>
          <p:nvPr/>
        </p:nvSpPr>
        <p:spPr>
          <a:xfrm>
            <a:off x="3666960" y="187200"/>
            <a:ext cx="61740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877" name="TextBox 6"/>
          <p:cNvSpPr/>
          <p:nvPr/>
        </p:nvSpPr>
        <p:spPr>
          <a:xfrm>
            <a:off x="2293920" y="187200"/>
            <a:ext cx="124848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78" name="TextBox 7"/>
          <p:cNvSpPr/>
          <p:nvPr/>
        </p:nvSpPr>
        <p:spPr>
          <a:xfrm>
            <a:off x="4383000" y="187200"/>
            <a:ext cx="116748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Gouvernance</a:t>
            </a:r>
            <a:endParaRPr lang="fr-FR" sz="1100" b="0" u="none" strike="noStrike">
              <a:solidFill>
                <a:srgbClr val="000000"/>
              </a:solidFill>
              <a:effectLst/>
              <a:uFillTx/>
              <a:latin typeface="Arial"/>
            </a:endParaRPr>
          </a:p>
        </p:txBody>
      </p:sp>
      <p:sp>
        <p:nvSpPr>
          <p:cNvPr id="879" name="Rounded Rectangle 8"/>
          <p:cNvSpPr/>
          <p:nvPr/>
        </p:nvSpPr>
        <p:spPr>
          <a:xfrm>
            <a:off x="410400" y="3506400"/>
            <a:ext cx="6733800" cy="1029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des armes controversées (Mines antipersonnel, sous-munitions, armes chimiques, biologiques)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0" name="Rounded Rectangle 11"/>
          <p:cNvSpPr/>
          <p:nvPr/>
        </p:nvSpPr>
        <p:spPr>
          <a:xfrm>
            <a:off x="410400" y="467640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du tabac</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1" name="Rounded Rectangle 12"/>
          <p:cNvSpPr/>
          <p:nvPr/>
        </p:nvSpPr>
        <p:spPr>
          <a:xfrm>
            <a:off x="410400" y="560304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des combustibles fossiles du charbon</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2" name="Rounded Rectangle 13"/>
          <p:cNvSpPr/>
          <p:nvPr/>
        </p:nvSpPr>
        <p:spPr>
          <a:xfrm>
            <a:off x="410400" y="653004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des combustibles fossiles du pétrole</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3" name="Rounded Rectangle 14"/>
          <p:cNvSpPr/>
          <p:nvPr/>
        </p:nvSpPr>
        <p:spPr>
          <a:xfrm>
            <a:off x="410400" y="745668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des combustibles fossiles du gaz</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4" name="Rounded Rectangle 15"/>
          <p:cNvSpPr/>
          <p:nvPr/>
        </p:nvSpPr>
        <p:spPr>
          <a:xfrm>
            <a:off x="410400" y="838368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Total du chiffre d’affaires issu des combustibles fossiles (charbon, pétrole, gaz)</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885" name="Rounded Rectangle 18"/>
          <p:cNvSpPr/>
          <p:nvPr/>
        </p:nvSpPr>
        <p:spPr>
          <a:xfrm>
            <a:off x="410400" y="9310320"/>
            <a:ext cx="6733800" cy="786960"/>
          </a:xfrm>
          <a:prstGeom prst="roundRect">
            <a:avLst>
              <a:gd name="adj" fmla="val 10727"/>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72000" bIns="180000" anchor="t">
            <a:noAutofit/>
          </a:bodyPr>
          <a:p>
            <a:pPr defTabSz="756000">
              <a:lnSpc>
                <a:spcPct val="100000"/>
              </a:lnSpc>
            </a:pPr>
            <a:r>
              <a:rPr lang="fr-FR" sz="1200" b="0" u="none" strike="noStrike">
                <a:solidFill>
                  <a:srgbClr val="064E9D"/>
                </a:solidFill>
                <a:effectLst/>
                <a:uFillTx/>
                <a:latin typeface="Marianne Light"/>
              </a:rPr>
              <a:t>Chiffre d’affaires issu des pesticides et produits agrochimiques</a:t>
            </a:r>
            <a:endParaRPr lang="fr-FR" sz="1200" b="0" u="none" strike="noStrike">
              <a:solidFill>
                <a:srgbClr val="000000"/>
              </a:solidFill>
              <a:effectLst/>
              <a:uFillTx/>
              <a:latin typeface="Arial"/>
            </a:endParaRPr>
          </a:p>
          <a:p>
            <a:pPr defTabSz="457200">
              <a:lnSpc>
                <a:spcPct val="100000"/>
              </a:lnSpc>
            </a:pPr>
            <a:r>
              <a:rPr lang="fr-FR" sz="1200" b="1" u="none" strike="noStrike">
                <a:solidFill>
                  <a:srgbClr val="000000"/>
                </a:solidFill>
                <a:effectLst/>
                <a:uFillTx/>
                <a:latin typeface="Marianne Medium"/>
              </a:rPr>
              <a:t>- €</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86" name="Image 4"/>
          <p:cNvPicPr/>
          <p:nvPr/>
        </p:nvPicPr>
        <p:blipFill>
          <a:blip r:embed="rId1"/>
          <a:stretch/>
        </p:blipFill>
        <p:spPr>
          <a:xfrm>
            <a:off x="0" y="0"/>
            <a:ext cx="7554600" cy="10738080"/>
          </a:xfrm>
          <a:prstGeom prst="rect">
            <a:avLst/>
          </a:prstGeom>
          <a:noFill/>
          <a:ln w="0">
            <a:noFill/>
          </a:ln>
        </p:spPr>
      </p:pic>
      <p:sp>
        <p:nvSpPr>
          <p:cNvPr id="887"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888" name="Rounded Rectangle 3"/>
          <p:cNvSpPr/>
          <p:nvPr/>
        </p:nvSpPr>
        <p:spPr>
          <a:xfrm rot="16200000">
            <a:off x="3814920" y="-189720"/>
            <a:ext cx="700560" cy="6150960"/>
          </a:xfrm>
          <a:prstGeom prst="roundRect">
            <a:avLst>
              <a:gd name="adj" fmla="val 16667"/>
            </a:avLst>
          </a:prstGeom>
          <a:solidFill>
            <a:srgbClr val="0175E9">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20000"/>
              </a:lnSpc>
            </a:pPr>
            <a:r>
              <a:rPr lang="fr-FR" sz="1400" b="1" u="none" strike="noStrike">
                <a:solidFill>
                  <a:srgbClr val="064E9D"/>
                </a:solidFill>
                <a:effectLst/>
                <a:uFillTx/>
                <a:latin typeface="Marianne"/>
              </a:rPr>
              <a:t>C8</a:t>
            </a:r>
            <a:r>
              <a:rPr lang="fr-FR" sz="1400" b="0" u="none" strike="noStrike">
                <a:solidFill>
                  <a:srgbClr val="064E9D"/>
                </a:solidFill>
                <a:effectLst/>
                <a:uFillTx/>
                <a:latin typeface="Marianne Medium"/>
              </a:rPr>
              <a:t> </a:t>
            </a:r>
            <a:r>
              <a:rPr lang="fr-FR" sz="1400" b="0" u="none" strike="noStrike">
                <a:solidFill>
                  <a:srgbClr val="064E9D"/>
                </a:solidFill>
                <a:effectLst/>
                <a:uFillTx/>
                <a:latin typeface="Marianne"/>
              </a:rPr>
              <a:t>Recettes de certains secteurs et exclusion des indices de référence de l'UE</a:t>
            </a:r>
            <a:endParaRPr lang="fr-FR" sz="1400" b="0" u="none" strike="noStrike">
              <a:solidFill>
                <a:srgbClr val="FFFFFF"/>
              </a:solidFill>
              <a:effectLst/>
              <a:uFillTx/>
              <a:latin typeface="Arial"/>
            </a:endParaRPr>
          </a:p>
        </p:txBody>
      </p:sp>
      <p:cxnSp>
        <p:nvCxnSpPr>
          <p:cNvPr id="889" name="Straight Connector 17"/>
          <p:cNvCxnSpPr/>
          <p:nvPr/>
        </p:nvCxnSpPr>
        <p:spPr>
          <a:xfrm>
            <a:off x="893160" y="2525400"/>
            <a:ext cx="5040" cy="642600"/>
          </a:xfrm>
          <a:prstGeom prst="straightConnector1">
            <a:avLst/>
          </a:prstGeom>
          <a:ln w="3175">
            <a:solidFill>
              <a:srgbClr val="A6A6A6"/>
            </a:solidFill>
            <a:round/>
          </a:ln>
        </p:spPr>
      </p:cxnSp>
      <p:pic>
        <p:nvPicPr>
          <p:cNvPr id="890" name="Graphic 1"/>
          <p:cNvPicPr/>
          <p:nvPr/>
        </p:nvPicPr>
        <p:blipFill>
          <a:blip r:embed="rId2"/>
          <a:stretch/>
        </p:blipFill>
        <p:spPr>
          <a:xfrm>
            <a:off x="348480" y="2563200"/>
            <a:ext cx="276120" cy="276120"/>
          </a:xfrm>
          <a:prstGeom prst="rect">
            <a:avLst/>
          </a:prstGeom>
          <a:noFill/>
          <a:ln w="0">
            <a:noFill/>
          </a:ln>
        </p:spPr>
      </p:pic>
      <p:sp>
        <p:nvSpPr>
          <p:cNvPr id="891" name="TextBox 1"/>
          <p:cNvSpPr/>
          <p:nvPr/>
        </p:nvSpPr>
        <p:spPr>
          <a:xfrm>
            <a:off x="366480" y="187200"/>
            <a:ext cx="178164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92" name="TextBox 5"/>
          <p:cNvSpPr/>
          <p:nvPr/>
        </p:nvSpPr>
        <p:spPr>
          <a:xfrm>
            <a:off x="3666960" y="187200"/>
            <a:ext cx="61740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893" name="TextBox 6"/>
          <p:cNvSpPr/>
          <p:nvPr/>
        </p:nvSpPr>
        <p:spPr>
          <a:xfrm>
            <a:off x="2293920" y="187200"/>
            <a:ext cx="124848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894" name="TextBox 7"/>
          <p:cNvSpPr/>
          <p:nvPr/>
        </p:nvSpPr>
        <p:spPr>
          <a:xfrm>
            <a:off x="4383000" y="187200"/>
            <a:ext cx="116748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Gouvernance</a:t>
            </a:r>
            <a:endParaRPr lang="fr-FR" sz="1100" b="0" u="none" strike="noStrike">
              <a:solidFill>
                <a:srgbClr val="000000"/>
              </a:solidFill>
              <a:effectLst/>
              <a:uFillTx/>
              <a:latin typeface="Arial"/>
            </a:endParaRPr>
          </a:p>
        </p:txBody>
      </p:sp>
      <p:sp>
        <p:nvSpPr>
          <p:cNvPr id="895" name="Rounded Rectangle 9"/>
          <p:cNvSpPr/>
          <p:nvPr/>
        </p:nvSpPr>
        <p:spPr>
          <a:xfrm>
            <a:off x="410400" y="3425040"/>
            <a:ext cx="6733800" cy="1683000"/>
          </a:xfrm>
          <a:prstGeom prst="roundRect">
            <a:avLst>
              <a:gd name="adj" fmla="val 773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756000">
              <a:lnSpc>
                <a:spcPct val="100000"/>
              </a:lnSpc>
            </a:pPr>
            <a:r>
              <a:rPr lang="fr-FR" sz="1200" b="0" u="none" strike="noStrike">
                <a:solidFill>
                  <a:srgbClr val="064E9D"/>
                </a:solidFill>
                <a:effectLst/>
                <a:uFillTx/>
                <a:latin typeface="Marianne Light"/>
              </a:rPr>
              <a:t>L’entreprise est-elle exclue des indices de référence « Accord de Paris » de l’Union ?</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Light"/>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96" name="Image 9"/>
          <p:cNvPicPr/>
          <p:nvPr/>
        </p:nvPicPr>
        <p:blipFill>
          <a:blip r:embed="rId1"/>
          <a:stretch/>
        </p:blipFill>
        <p:spPr>
          <a:xfrm>
            <a:off x="0" y="0"/>
            <a:ext cx="7554600" cy="10738080"/>
          </a:xfrm>
          <a:prstGeom prst="rect">
            <a:avLst/>
          </a:prstGeom>
          <a:noFill/>
          <a:ln w="0">
            <a:noFill/>
          </a:ln>
        </p:spPr>
      </p:pic>
      <p:sp>
        <p:nvSpPr>
          <p:cNvPr id="897" name="TextBox 2"/>
          <p:cNvSpPr/>
          <p:nvPr/>
        </p:nvSpPr>
        <p:spPr>
          <a:xfrm>
            <a:off x="366480" y="187200"/>
            <a:ext cx="178164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898" name="TextBox 6"/>
          <p:cNvSpPr/>
          <p:nvPr/>
        </p:nvSpPr>
        <p:spPr>
          <a:xfrm>
            <a:off x="3666960" y="187200"/>
            <a:ext cx="61740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899" name="TextBox 7"/>
          <p:cNvSpPr/>
          <p:nvPr/>
        </p:nvSpPr>
        <p:spPr>
          <a:xfrm>
            <a:off x="2293920" y="187200"/>
            <a:ext cx="124848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900" name="TextBox 8"/>
          <p:cNvSpPr/>
          <p:nvPr/>
        </p:nvSpPr>
        <p:spPr>
          <a:xfrm>
            <a:off x="4383000" y="187200"/>
            <a:ext cx="116748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Gouvernance</a:t>
            </a:r>
            <a:endParaRPr lang="fr-FR" sz="1100" b="0" u="none" strike="noStrike">
              <a:solidFill>
                <a:srgbClr val="000000"/>
              </a:solidFill>
              <a:effectLst/>
              <a:uFillTx/>
              <a:latin typeface="Arial"/>
            </a:endParaRPr>
          </a:p>
        </p:txBody>
      </p:sp>
      <p:sp>
        <p:nvSpPr>
          <p:cNvPr id="90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902" name="Rounded Rectangle 3"/>
          <p:cNvSpPr/>
          <p:nvPr/>
        </p:nvSpPr>
        <p:spPr>
          <a:xfrm rot="16200000">
            <a:off x="3985560" y="-321840"/>
            <a:ext cx="394200" cy="6150960"/>
          </a:xfrm>
          <a:prstGeom prst="roundRect">
            <a:avLst>
              <a:gd name="adj" fmla="val 16667"/>
            </a:avLst>
          </a:prstGeom>
          <a:solidFill>
            <a:srgbClr val="0175E9">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064E9D"/>
                </a:solidFill>
                <a:effectLst/>
                <a:uFillTx/>
                <a:latin typeface="Marianne"/>
              </a:rPr>
              <a:t>C9</a:t>
            </a:r>
            <a:r>
              <a:rPr lang="fr-FR" sz="1400" b="0" u="none" strike="noStrike">
                <a:solidFill>
                  <a:srgbClr val="064E9D"/>
                </a:solidFill>
                <a:effectLst/>
                <a:uFillTx/>
                <a:latin typeface="Marianne Medium"/>
              </a:rPr>
              <a:t> </a:t>
            </a:r>
            <a:r>
              <a:rPr lang="fr-FR" sz="1400" b="0" u="none" strike="noStrike">
                <a:solidFill>
                  <a:srgbClr val="064E9D"/>
                </a:solidFill>
                <a:effectLst/>
                <a:uFillTx/>
                <a:latin typeface="Marianne"/>
              </a:rPr>
              <a:t>Ratio femmes/hommes au sein de l'organe de gouvernance</a:t>
            </a:r>
            <a:endParaRPr lang="fr-FR" sz="1400" b="0" u="none" strike="noStrike">
              <a:solidFill>
                <a:srgbClr val="FFFFFF"/>
              </a:solidFill>
              <a:effectLst/>
              <a:uFillTx/>
              <a:latin typeface="Arial"/>
            </a:endParaRPr>
          </a:p>
        </p:txBody>
      </p:sp>
      <p:cxnSp>
        <p:nvCxnSpPr>
          <p:cNvPr id="903" name="Straight Connector 17"/>
          <p:cNvCxnSpPr/>
          <p:nvPr/>
        </p:nvCxnSpPr>
        <p:spPr>
          <a:xfrm>
            <a:off x="893160" y="2525400"/>
            <a:ext cx="5040" cy="426600"/>
          </a:xfrm>
          <a:prstGeom prst="straightConnector1">
            <a:avLst/>
          </a:prstGeom>
          <a:ln w="3175">
            <a:solidFill>
              <a:srgbClr val="A6A6A6"/>
            </a:solidFill>
            <a:round/>
          </a:ln>
        </p:spPr>
      </p:cxnSp>
      <p:pic>
        <p:nvPicPr>
          <p:cNvPr id="904" name="Graphic 1"/>
          <p:cNvPicPr/>
          <p:nvPr/>
        </p:nvPicPr>
        <p:blipFill>
          <a:blip r:embed="rId2"/>
          <a:stretch/>
        </p:blipFill>
        <p:spPr>
          <a:xfrm>
            <a:off x="348480" y="2563200"/>
            <a:ext cx="276120" cy="276120"/>
          </a:xfrm>
          <a:prstGeom prst="rect">
            <a:avLst/>
          </a:prstGeom>
          <a:noFill/>
          <a:ln w="0">
            <a:noFill/>
          </a:ln>
        </p:spPr>
      </p:pic>
      <p:sp>
        <p:nvSpPr>
          <p:cNvPr id="905" name="Rounded Rectangle 1"/>
          <p:cNvSpPr/>
          <p:nvPr/>
        </p:nvSpPr>
        <p:spPr>
          <a:xfrm>
            <a:off x="410400" y="3425040"/>
            <a:ext cx="6733800" cy="1683000"/>
          </a:xfrm>
          <a:prstGeom prst="roundRect">
            <a:avLst>
              <a:gd name="adj" fmla="val 773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en-FR" sz="1200" b="0" u="none" strike="noStrike">
                <a:solidFill>
                  <a:srgbClr val="064E9D"/>
                </a:solidFill>
                <a:effectLst/>
                <a:uFillTx/>
                <a:latin typeface="Marianne Light"/>
              </a:rPr>
              <a:t>Ratio de mixité au sein de l’organe de gouvernance</a:t>
            </a:r>
            <a:endParaRPr lang="fr-FR" sz="1200" b="0" u="none" strike="noStrike">
              <a:solidFill>
                <a:srgbClr val="000000"/>
              </a:solidFill>
              <a:effectLst/>
              <a:uFillTx/>
              <a:latin typeface="Arial"/>
            </a:endParaRPr>
          </a:p>
          <a:p>
            <a:pPr defTabSz="457200">
              <a:lnSpc>
                <a:spcPct val="100000"/>
              </a:lnSpc>
            </a:pPr>
            <a:r>
              <a:rPr lang="fr-FR" sz="1200" b="1" u="none" strike="noStrike">
                <a:solidFill>
                  <a:schemeClr val="dk1"/>
                </a:solidFill>
                <a:effectLst/>
                <a:uFillTx/>
                <a:latin typeface="Marianne Medium"/>
              </a:rPr>
              <a:t>- %</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06" name="Image 9"/>
          <p:cNvPicPr/>
          <p:nvPr/>
        </p:nvPicPr>
        <p:blipFill>
          <a:blip r:embed="rId1"/>
          <a:stretch/>
        </p:blipFill>
        <p:spPr>
          <a:xfrm>
            <a:off x="0" y="0"/>
            <a:ext cx="7554600" cy="10738080"/>
          </a:xfrm>
          <a:prstGeom prst="rect">
            <a:avLst/>
          </a:prstGeom>
          <a:noFill/>
          <a:ln w="0">
            <a:noFill/>
          </a:ln>
        </p:spPr>
      </p:pic>
      <p:sp>
        <p:nvSpPr>
          <p:cNvPr id="907" name="TextBox 2"/>
          <p:cNvSpPr/>
          <p:nvPr/>
        </p:nvSpPr>
        <p:spPr>
          <a:xfrm>
            <a:off x="366480" y="187200"/>
            <a:ext cx="178164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Informations générales</a:t>
            </a:r>
            <a:endParaRPr lang="fr-FR" sz="1100" b="0" u="none" strike="noStrike">
              <a:solidFill>
                <a:srgbClr val="FFFFFF"/>
              </a:solidFill>
              <a:effectLst/>
              <a:uFillTx/>
              <a:latin typeface="Arial"/>
            </a:endParaRPr>
          </a:p>
        </p:txBody>
      </p:sp>
      <p:sp>
        <p:nvSpPr>
          <p:cNvPr id="908" name="TextBox 6"/>
          <p:cNvSpPr/>
          <p:nvPr/>
        </p:nvSpPr>
        <p:spPr>
          <a:xfrm>
            <a:off x="3666960" y="187200"/>
            <a:ext cx="61740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Social</a:t>
            </a:r>
            <a:endParaRPr lang="fr-FR" sz="1100" b="0" u="none" strike="noStrike">
              <a:solidFill>
                <a:srgbClr val="FFFFFF"/>
              </a:solidFill>
              <a:effectLst/>
              <a:uFillTx/>
              <a:latin typeface="Arial"/>
            </a:endParaRPr>
          </a:p>
        </p:txBody>
      </p:sp>
      <p:sp>
        <p:nvSpPr>
          <p:cNvPr id="909" name="TextBox 7"/>
          <p:cNvSpPr/>
          <p:nvPr/>
        </p:nvSpPr>
        <p:spPr>
          <a:xfrm>
            <a:off x="2293920" y="187200"/>
            <a:ext cx="1248480" cy="304920"/>
          </a:xfrm>
          <a:prstGeom prst="roundRect">
            <a:avLst>
              <a:gd name="adj" fmla="val 16667"/>
            </a:avLst>
          </a:prstGeom>
          <a:solidFill>
            <a:schemeClr val="dk1">
              <a:alpha val="35000"/>
            </a:schemeClr>
          </a:solidFill>
          <a:ln w="0">
            <a:noFill/>
          </a:ln>
        </p:spPr>
        <p:style>
          <a:lnRef idx="0"/>
          <a:fillRef idx="0"/>
          <a:effectRef idx="0"/>
          <a:fontRef idx="minor"/>
        </p:style>
        <p:txBody>
          <a:bodyPr wrap="none" lIns="108000" tIns="72000" rIns="108000" bIns="36000" anchor="t">
            <a:spAutoFit/>
          </a:bodyPr>
          <a:p>
            <a:pPr algn="ctr" defTabSz="457200">
              <a:lnSpc>
                <a:spcPct val="100000"/>
              </a:lnSpc>
            </a:pPr>
            <a:r>
              <a:rPr lang="fr-FR" sz="1100" b="0" u="none" strike="noStrike">
                <a:solidFill>
                  <a:schemeClr val="lt1">
                    <a:alpha val="41000"/>
                  </a:schemeClr>
                </a:solidFill>
                <a:effectLst/>
                <a:uFillTx/>
                <a:latin typeface="Marianne Light"/>
                <a:ea typeface="Arial"/>
              </a:rPr>
              <a:t>Environnement</a:t>
            </a:r>
            <a:endParaRPr lang="fr-FR" sz="1100" b="0" u="none" strike="noStrike">
              <a:solidFill>
                <a:srgbClr val="FFFFFF"/>
              </a:solidFill>
              <a:effectLst/>
              <a:uFillTx/>
              <a:latin typeface="Arial"/>
            </a:endParaRPr>
          </a:p>
        </p:txBody>
      </p:sp>
      <p:sp>
        <p:nvSpPr>
          <p:cNvPr id="910" name="TextBox 8"/>
          <p:cNvSpPr/>
          <p:nvPr/>
        </p:nvSpPr>
        <p:spPr>
          <a:xfrm>
            <a:off x="4383000" y="187200"/>
            <a:ext cx="1167480" cy="304920"/>
          </a:xfrm>
          <a:prstGeom prst="roundRect">
            <a:avLst>
              <a:gd name="adj" fmla="val 16667"/>
            </a:avLst>
          </a:prstGeom>
          <a:solidFill>
            <a:srgbClr val="FFFFFF"/>
          </a:solidFill>
          <a:ln w="3175">
            <a:solidFill>
              <a:srgbClr val="000000">
                <a:alpha val="61000"/>
              </a:srgbClr>
            </a:solidFill>
            <a:round/>
          </a:ln>
        </p:spPr>
        <p:style>
          <a:lnRef idx="0"/>
          <a:fillRef idx="0"/>
          <a:effectRef idx="0"/>
          <a:fontRef idx="minor"/>
        </p:style>
        <p:txBody>
          <a:bodyPr wrap="none" lIns="108000" tIns="72000" rIns="108000" bIns="36000" anchor="t">
            <a:spAutoFit/>
          </a:bodyPr>
          <a:p>
            <a:pPr algn="ctr" defTabSz="457200">
              <a:lnSpc>
                <a:spcPct val="100000"/>
              </a:lnSpc>
            </a:pPr>
            <a:r>
              <a:rPr lang="fr-FR" sz="1100" b="1" u="none" strike="noStrike">
                <a:solidFill>
                  <a:schemeClr val="dk1"/>
                </a:solidFill>
                <a:effectLst/>
                <a:uFillTx/>
                <a:latin typeface="Marianne"/>
                <a:ea typeface="Arial"/>
              </a:rPr>
              <a:t>Gouvernance</a:t>
            </a:r>
            <a:endParaRPr lang="fr-FR" sz="1100" b="0" u="none" strike="noStrike">
              <a:solidFill>
                <a:srgbClr val="000000"/>
              </a:solidFill>
              <a:effectLst/>
              <a:uFillTx/>
              <a:latin typeface="Arial"/>
            </a:endParaRPr>
          </a:p>
        </p:txBody>
      </p:sp>
      <p:sp>
        <p:nvSpPr>
          <p:cNvPr id="911" name="Rectangle 16"/>
          <p:cNvSpPr/>
          <p:nvPr/>
        </p:nvSpPr>
        <p:spPr>
          <a:xfrm>
            <a:off x="0" y="2268720"/>
            <a:ext cx="7554600" cy="8469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sp>
        <p:nvSpPr>
          <p:cNvPr id="912" name="Rounded Rectangle 3"/>
          <p:cNvSpPr/>
          <p:nvPr/>
        </p:nvSpPr>
        <p:spPr>
          <a:xfrm rot="16200000">
            <a:off x="3985560" y="-321840"/>
            <a:ext cx="394200" cy="6150960"/>
          </a:xfrm>
          <a:prstGeom prst="roundRect">
            <a:avLst>
              <a:gd name="adj" fmla="val 16667"/>
            </a:avLst>
          </a:prstGeom>
          <a:solidFill>
            <a:srgbClr val="0175E9">
              <a:alpha val="5000"/>
            </a:srgbClr>
          </a:solidFill>
          <a:ln>
            <a:noFill/>
          </a:ln>
        </p:spPr>
        <p:style>
          <a:lnRef idx="2">
            <a:schemeClr val="accent1">
              <a:shade val="15000"/>
            </a:schemeClr>
          </a:lnRef>
          <a:fillRef idx="1">
            <a:schemeClr val="accent1"/>
          </a:fillRef>
          <a:effectRef idx="0">
            <a:schemeClr val="accent1"/>
          </a:effectRef>
          <a:fontRef idx="minor"/>
        </p:style>
        <p:txBody>
          <a:bodyPr lIns="72000" tIns="108000" rIns="72000" bIns="72000" anchor="ctr" vert="vert">
            <a:noAutofit/>
          </a:bodyPr>
          <a:p>
            <a:pPr defTabSz="457200">
              <a:lnSpc>
                <a:spcPct val="100000"/>
              </a:lnSpc>
            </a:pPr>
            <a:r>
              <a:rPr lang="fr-FR" sz="1400" b="1" u="none" strike="noStrike">
                <a:solidFill>
                  <a:srgbClr val="064E9D"/>
                </a:solidFill>
                <a:effectLst/>
                <a:uFillTx/>
                <a:latin typeface="Marianne"/>
              </a:rPr>
              <a:t>C9</a:t>
            </a:r>
            <a:r>
              <a:rPr lang="fr-FR" sz="1400" b="0" u="none" strike="noStrike">
                <a:solidFill>
                  <a:srgbClr val="064E9D"/>
                </a:solidFill>
                <a:effectLst/>
                <a:uFillTx/>
                <a:latin typeface="Marianne Medium"/>
              </a:rPr>
              <a:t> </a:t>
            </a:r>
            <a:r>
              <a:rPr lang="fr-FR" sz="1400" b="0" u="none" strike="noStrike">
                <a:solidFill>
                  <a:srgbClr val="064E9D"/>
                </a:solidFill>
                <a:effectLst/>
                <a:uFillTx/>
                <a:latin typeface="Marianne"/>
              </a:rPr>
              <a:t>Ratio femmes/hommes au sein de l'organe de gouvernance</a:t>
            </a:r>
            <a:endParaRPr lang="fr-FR" sz="1400" b="0" u="none" strike="noStrike">
              <a:solidFill>
                <a:srgbClr val="FFFFFF"/>
              </a:solidFill>
              <a:effectLst/>
              <a:uFillTx/>
              <a:latin typeface="Arial"/>
            </a:endParaRPr>
          </a:p>
        </p:txBody>
      </p:sp>
      <p:cxnSp>
        <p:nvCxnSpPr>
          <p:cNvPr id="913" name="Straight Connector 17"/>
          <p:cNvCxnSpPr/>
          <p:nvPr/>
        </p:nvCxnSpPr>
        <p:spPr>
          <a:xfrm>
            <a:off x="893160" y="2525400"/>
            <a:ext cx="5040" cy="426600"/>
          </a:xfrm>
          <a:prstGeom prst="straightConnector1">
            <a:avLst/>
          </a:prstGeom>
          <a:ln w="3175">
            <a:solidFill>
              <a:srgbClr val="A6A6A6"/>
            </a:solidFill>
            <a:round/>
          </a:ln>
        </p:spPr>
      </p:cxnSp>
      <p:pic>
        <p:nvPicPr>
          <p:cNvPr id="914" name="Graphic 1"/>
          <p:cNvPicPr/>
          <p:nvPr/>
        </p:nvPicPr>
        <p:blipFill>
          <a:blip r:embed="rId2"/>
          <a:stretch/>
        </p:blipFill>
        <p:spPr>
          <a:xfrm>
            <a:off x="348480" y="2563200"/>
            <a:ext cx="276120" cy="276120"/>
          </a:xfrm>
          <a:prstGeom prst="rect">
            <a:avLst/>
          </a:prstGeom>
          <a:noFill/>
          <a:ln w="0">
            <a:noFill/>
          </a:ln>
        </p:spPr>
      </p:pic>
      <p:sp>
        <p:nvSpPr>
          <p:cNvPr id="915" name="Rounded Rectangle 1"/>
          <p:cNvSpPr/>
          <p:nvPr/>
        </p:nvSpPr>
        <p:spPr>
          <a:xfrm>
            <a:off x="410400" y="3425040"/>
            <a:ext cx="6733800" cy="1683000"/>
          </a:xfrm>
          <a:prstGeom prst="roundRect">
            <a:avLst>
              <a:gd name="adj" fmla="val 7735"/>
            </a:avLst>
          </a:prstGeom>
          <a:solidFill>
            <a:schemeClr val="lt1">
              <a:lumMod val="95000"/>
              <a:alpha val="30000"/>
            </a:schemeClr>
          </a:solidFill>
          <a:ln w="3175">
            <a:solidFill>
              <a:srgbClr val="D9D9D9"/>
            </a:solidFill>
          </a:ln>
        </p:spPr>
        <p:style>
          <a:lnRef idx="2">
            <a:schemeClr val="accent1">
              <a:shade val="15000"/>
            </a:schemeClr>
          </a:lnRef>
          <a:fillRef idx="1">
            <a:schemeClr val="accent1"/>
          </a:fillRef>
          <a:effectRef idx="0">
            <a:schemeClr val="accent1"/>
          </a:effectRef>
          <a:fontRef idx="minor"/>
        </p:style>
        <p:txBody>
          <a:bodyPr lIns="216000" tIns="180000" rIns="180000" bIns="180000" anchor="t">
            <a:noAutofit/>
          </a:bodyPr>
          <a:p>
            <a:pPr defTabSz="457200">
              <a:lnSpc>
                <a:spcPct val="100000"/>
              </a:lnSpc>
            </a:pPr>
            <a:r>
              <a:rPr lang="en-FR" sz="1200" b="0" u="none" strike="noStrike">
                <a:solidFill>
                  <a:srgbClr val="064E9D"/>
                </a:solidFill>
                <a:effectLst/>
                <a:uFillTx/>
                <a:latin typeface="Marianne Light"/>
              </a:rPr>
              <a:t>Ratio de mixité au sein de l’organe de gouvernance</a:t>
            </a:r>
            <a:endParaRPr lang="fr-FR" sz="1200" b="0" u="none" strike="noStrike">
              <a:solidFill>
                <a:srgbClr val="000000"/>
              </a:solidFill>
              <a:effectLst/>
              <a:uFillTx/>
              <a:latin typeface="Arial"/>
            </a:endParaRPr>
          </a:p>
          <a:p>
            <a:pPr defTabSz="914400">
              <a:lnSpc>
                <a:spcPct val="100000"/>
              </a:lnSpc>
            </a:pPr>
            <a:r>
              <a:rPr lang="en-FR" sz="1200" b="1" u="none" strike="noStrike">
                <a:solidFill>
                  <a:srgbClr val="3A3A3A"/>
                </a:solidFill>
                <a:effectLst/>
                <a:uFillTx/>
                <a:latin typeface="Marianne"/>
              </a:rPr>
              <a:t>L'entreprise ne dispose pas d'organe de gouvernance</a:t>
            </a:r>
            <a:r>
              <a:rPr lang="en-FR" sz="1200" b="1" u="none" strike="noStrike">
                <a:solidFill>
                  <a:schemeClr val="dk1"/>
                </a:solidFill>
                <a:effectLst/>
                <a:uFillTx/>
                <a:latin typeface="Arial"/>
              </a:rPr>
              <a:t>.</a:t>
            </a:r>
            <a:endParaRPr lang="fr-FR" sz="1200" b="0" u="none" strike="noStrike">
              <a:solidFill>
                <a:srgbClr val="000000"/>
              </a:solidFill>
              <a:effectLst/>
              <a:uFillTx/>
              <a:latin typeface="Arial"/>
            </a:endParaRPr>
          </a:p>
        </p:txBody>
      </p:sp>
      <p:sp>
        <p:nvSpPr>
          <p:cNvPr id="2" name="PlaceHolder 1"/>
          <p:cNvSpPr>
            <a:spLocks noGrp="1"/>
          </p:cNvSpPr>
          <p:nvPr>
            <p:ph type="ftr" idx="1"/>
          </p:nvPr>
        </p:nvSpPr>
        <p:spPr/>
        <p:txBody>
          <a:bodyPr/>
          <a:p>
            <a:r>
              <a:t>Nom de l'entreprise - Rapport VSME 2025</a:t>
            </a: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16" name="Picture 2" descr="A building with trees reflected in windows&#10;&#10;AI-generated content may be incorrect."/>
          <p:cNvPicPr/>
          <p:nvPr/>
        </p:nvPicPr>
        <p:blipFill>
          <a:blip r:embed="rId1"/>
          <a:stretch/>
        </p:blipFill>
        <p:spPr>
          <a:xfrm>
            <a:off x="0" y="0"/>
            <a:ext cx="7554600" cy="10686600"/>
          </a:xfrm>
          <a:prstGeom prst="rect">
            <a:avLst/>
          </a:prstGeom>
          <a:noFill/>
          <a:ln w="0">
            <a:noFill/>
          </a:ln>
        </p:spPr>
      </p:pic>
      <p:sp>
        <p:nvSpPr>
          <p:cNvPr id="917" name="Rectangle 4"/>
          <p:cNvSpPr/>
          <p:nvPr/>
        </p:nvSpPr>
        <p:spPr>
          <a:xfrm>
            <a:off x="0" y="0"/>
            <a:ext cx="7554600" cy="10686600"/>
          </a:xfrm>
          <a:prstGeom prst="rect">
            <a:avLst/>
          </a:prstGeom>
          <a:gradFill rotWithShape="0">
            <a:gsLst>
              <a:gs pos="14000">
                <a:srgbClr val="000000">
                  <a:alpha val="0"/>
                </a:srgbClr>
              </a:gs>
              <a:gs pos="100000">
                <a:srgbClr val="000000">
                  <a:alpha val="66000"/>
                </a:srgbClr>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grpSp>
        <p:nvGrpSpPr>
          <p:cNvPr id="918" name="Group 33"/>
          <p:cNvGrpSpPr/>
          <p:nvPr/>
        </p:nvGrpSpPr>
        <p:grpSpPr>
          <a:xfrm>
            <a:off x="1580760" y="4489920"/>
            <a:ext cx="4393080" cy="1706760"/>
            <a:chOff x="1580760" y="4489920"/>
            <a:chExt cx="4393080" cy="1706760"/>
          </a:xfrm>
        </p:grpSpPr>
        <p:sp>
          <p:nvSpPr>
            <p:cNvPr id="919" name="Rectangle 28"/>
            <p:cNvSpPr/>
            <p:nvPr/>
          </p:nvSpPr>
          <p:spPr>
            <a:xfrm>
              <a:off x="1580760" y="4489920"/>
              <a:ext cx="4393080" cy="17067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p>
              <a:pPr/>
              <a:endParaRPr lang="en-FR" sz="1800" b="0" u="none" strike="noStrike">
                <a:solidFill>
                  <a:schemeClr val="lt1"/>
                </a:solidFill>
                <a:effectLst/>
                <a:uFillTx/>
                <a:latin typeface="Aptos"/>
              </a:endParaRPr>
            </a:p>
          </p:txBody>
        </p:sp>
        <p:pic>
          <p:nvPicPr>
            <p:cNvPr id="920" name="Picture 4" descr="Fichier:Ministère de l'Économie des Finances et de la ..."/>
            <p:cNvPicPr/>
            <p:nvPr/>
          </p:nvPicPr>
          <p:blipFill>
            <a:blip r:embed="rId2"/>
            <a:stretch/>
          </p:blipFill>
          <p:spPr>
            <a:xfrm>
              <a:off x="1595880" y="4521600"/>
              <a:ext cx="2760840" cy="1675080"/>
            </a:xfrm>
            <a:prstGeom prst="rect">
              <a:avLst/>
            </a:prstGeom>
            <a:noFill/>
            <a:ln w="0">
              <a:noFill/>
            </a:ln>
          </p:spPr>
        </p:pic>
        <p:pic>
          <p:nvPicPr>
            <p:cNvPr id="921" name="Picture 32" descr="A logo of a building and a couple of people hugging&#10;&#10;AI-generated content may be incorrect."/>
            <p:cNvPicPr/>
            <p:nvPr/>
          </p:nvPicPr>
          <p:blipFill>
            <a:blip r:embed="rId3"/>
            <a:stretch/>
          </p:blipFill>
          <p:spPr>
            <a:xfrm>
              <a:off x="4395600" y="4780440"/>
              <a:ext cx="1384920" cy="1050120"/>
            </a:xfrm>
            <a:prstGeom prst="rect">
              <a:avLst/>
            </a:prstGeom>
            <a:noFill/>
            <a:ln w="0">
              <a:noFill/>
            </a:ln>
          </p:spPr>
        </p:pic>
      </p:grpSp>
      <p:sp>
        <p:nvSpPr>
          <p:cNvPr id="922" name="TextBox 1"/>
          <p:cNvSpPr/>
          <p:nvPr/>
        </p:nvSpPr>
        <p:spPr>
          <a:xfrm>
            <a:off x="2253600" y="9569160"/>
            <a:ext cx="3047040" cy="2696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FR" sz="1050" b="0" u="none" strike="noStrike">
                <a:solidFill>
                  <a:schemeClr val="lt1"/>
                </a:solidFill>
                <a:effectLst/>
                <a:uFillTx/>
                <a:latin typeface="Marianne Thin"/>
              </a:rPr>
              <a:t>Rendez-vous sur </a:t>
            </a:r>
            <a:r>
              <a:rPr lang="en-FR" sz="1050" b="0" u="sng" strike="noStrike">
                <a:solidFill>
                  <a:schemeClr val="lt1"/>
                </a:solidFill>
                <a:effectLst/>
                <a:uFillTx/>
                <a:latin typeface="Marianne Thin"/>
                <a:hlinkClick r:id="rId4"/>
              </a:rPr>
              <a:t>portail-rse.beta.gouv.fr</a:t>
            </a:r>
            <a:endParaRPr lang="fr-FR"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Thème Office">
  <a:themeElements>
    <a:clrScheme name="Thème 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489EED18C97664891FBABF60CE85E0C" ma:contentTypeVersion="18" ma:contentTypeDescription="Crée un document." ma:contentTypeScope="" ma:versionID="ed1179c15668db0c77eb89d8de1dbb5f">
  <xsd:schema xmlns:xsd="http://www.w3.org/2001/XMLSchema" xmlns:xs="http://www.w3.org/2001/XMLSchema" xmlns:p="http://schemas.microsoft.com/office/2006/metadata/properties" xmlns:ns2="5afdc98b-fce0-40ac-83a4-57138f1784c8" xmlns:ns3="6752113b-ca4c-47bc-8bea-19f6161a3152" targetNamespace="http://schemas.microsoft.com/office/2006/metadata/properties" ma:root="true" ma:fieldsID="28fc24cf4be06dad309e9de5afbd8d71" ns2:_="" ns3:_="">
    <xsd:import namespace="5afdc98b-fce0-40ac-83a4-57138f1784c8"/>
    <xsd:import namespace="6752113b-ca4c-47bc-8bea-19f6161a3152"/>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LengthInSeconds" minOccurs="0"/>
                <xsd:element ref="ns2:MediaServiceLocation"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afdc98b-fce0-40ac-83a4-57138f1784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lcf76f155ced4ddcb4097134ff3c332f" ma:index="22" nillable="true" ma:taxonomy="true" ma:internalName="lcf76f155ced4ddcb4097134ff3c332f" ma:taxonomyFieldName="MediaServiceImageTags" ma:displayName="Balises d’images" ma:readOnly="false" ma:fieldId="{5cf76f15-5ced-4ddc-b409-7134ff3c332f}" ma:taxonomyMulti="true" ma:sspId="34bdd932-de4c-4e83-b27c-d9de28fbbd8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752113b-ca4c-47bc-8bea-19f6161a3152"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23" nillable="true" ma:displayName="Taxonomy Catch All Column" ma:hidden="true" ma:list="{c2655910-b12f-438e-879f-c2dc70ee3c16}" ma:internalName="TaxCatchAll" ma:showField="CatchAllData" ma:web="6752113b-ca4c-47bc-8bea-19f6161a315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afdc98b-fce0-40ac-83a4-57138f1784c8">
      <Terms xmlns="http://schemas.microsoft.com/office/infopath/2007/PartnerControls"/>
    </lcf76f155ced4ddcb4097134ff3c332f>
    <TaxCatchAll xmlns="6752113b-ca4c-47bc-8bea-19f6161a3152" xsi:nil="true"/>
    <SharedWithUsers xmlns="6752113b-ca4c-47bc-8bea-19f6161a3152">
      <UserInfo>
        <DisplayName>Emma Keirle</DisplayName>
        <AccountId>35</AccountId>
        <AccountType/>
      </UserInfo>
      <UserInfo>
        <DisplayName>Olivier Baudry</DisplayName>
        <AccountId>23</AccountId>
        <AccountType/>
      </UserInfo>
    </SharedWithUsers>
  </documentManagement>
</p:properties>
</file>

<file path=customXml/itemProps1.xml><?xml version="1.0" encoding="utf-8"?>
<ds:datastoreItem xmlns:ds="http://schemas.openxmlformats.org/officeDocument/2006/customXml" ds:itemID="{9F6742B5-A9A7-41FD-9F6E-7A6C4CA19CD3}">
  <ds:schemaRefs>
    <ds:schemaRef ds:uri="http://schemas.microsoft.com/sharepoint/v3/contenttype/forms"/>
  </ds:schemaRefs>
</ds:datastoreItem>
</file>

<file path=customXml/itemProps2.xml><?xml version="1.0" encoding="utf-8"?>
<ds:datastoreItem xmlns:ds="http://schemas.openxmlformats.org/officeDocument/2006/customXml" ds:itemID="{0825DCEC-EFA0-4B05-9EFD-87183066E15C}">
  <ds:schemaRefs>
    <ds:schemaRef ds:uri="5afdc98b-fce0-40ac-83a4-57138f1784c8"/>
    <ds:schemaRef ds:uri="6752113b-ca4c-47bc-8bea-19f6161a315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6E9CE1-51C0-4799-8816-E914381F6E53}">
  <ds:schemaRefs>
    <ds:schemaRef ds:uri="5afdc98b-fce0-40ac-83a4-57138f1784c8"/>
    <ds:schemaRef ds:uri="6752113b-ca4c-47bc-8bea-19f6161a315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TM03090430[[fn=À bandes]]</Template>
  <TotalTime>19093</TotalTime>
  <Application>LibreOffice/26.8.1.1$Linux_X86_64 LibreOffice_project/680$Build-1</Application>
  <AppVersion>15.0000</AppVersion>
  <Words>6633</Words>
  <Paragraphs>1650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2024-04-10T08:39:20Z</dcterms:created>
  <dc:creator>Tess Kouati</dc:creator>
  <dc:description/>
  <dc:language>fr-FR</dc:language>
  <cp:lastModifiedBy/>
  <dcterms:modified xsi:type="dcterms:W3CDTF">2026-10-27T11:08:50Z</dcterms:modified>
  <cp:revision>216</cp:revision>
  <dc:subject/>
  <dc:title>Présentation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0x0101000489EED18C97664891FBABF60CE85E0C</vt:lpwstr>
  </property>
  <property fmtid="{D5CDD505-2E9C-101B-9397-08002B2CF9AE}" pid="3" name="HiddenSlides">
    <vt:i4>26</vt:i4>
  </property>
  <property fmtid="{D5CDD505-2E9C-101B-9397-08002B2CF9AE}" pid="4" name="MediaServiceImageTags">
    <vt:lpwstr/>
  </property>
  <property fmtid="{D5CDD505-2E9C-101B-9397-08002B2CF9AE}" pid="5" name="Notes">
    <vt:i4>2</vt:i4>
  </property>
  <property fmtid="{D5CDD505-2E9C-101B-9397-08002B2CF9AE}" pid="6" name="PresentationFormat">
    <vt:lpwstr>Custom</vt:lpwstr>
  </property>
  <property fmtid="{D5CDD505-2E9C-101B-9397-08002B2CF9AE}" pid="7" name="Slides">
    <vt:i4>83</vt:i4>
  </property>
</Properties>
</file>